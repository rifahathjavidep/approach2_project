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handoutMasterIdLst>
    <p:handoutMasterId r:id="rId40"/>
  </p:handoutMasterIdLst>
  <p:sldIdLst>
    <p:sldId id="283" r:id="rId5"/>
    <p:sldId id="293" r:id="rId6"/>
    <p:sldId id="2147470920" r:id="rId7"/>
    <p:sldId id="284" r:id="rId8"/>
    <p:sldId id="2147470881" r:id="rId9"/>
    <p:sldId id="286" r:id="rId10"/>
    <p:sldId id="2147470884" r:id="rId11"/>
    <p:sldId id="2147470885" r:id="rId12"/>
    <p:sldId id="2147470887" r:id="rId13"/>
    <p:sldId id="2147470921" r:id="rId14"/>
    <p:sldId id="2147470892" r:id="rId15"/>
    <p:sldId id="2147470891" r:id="rId16"/>
    <p:sldId id="2147470926" r:id="rId17"/>
    <p:sldId id="2147470923" r:id="rId18"/>
    <p:sldId id="2147470893" r:id="rId19"/>
    <p:sldId id="2147470907" r:id="rId20"/>
    <p:sldId id="2147470924" r:id="rId21"/>
    <p:sldId id="2147470895" r:id="rId22"/>
    <p:sldId id="2147470897" r:id="rId23"/>
    <p:sldId id="2147470927" r:id="rId24"/>
    <p:sldId id="2147470898" r:id="rId25"/>
    <p:sldId id="2147470909" r:id="rId26"/>
    <p:sldId id="2147470910" r:id="rId27"/>
    <p:sldId id="2147470911" r:id="rId28"/>
    <p:sldId id="2147470912" r:id="rId29"/>
    <p:sldId id="2147470913" r:id="rId30"/>
    <p:sldId id="2147470916" r:id="rId31"/>
    <p:sldId id="2147470925" r:id="rId32"/>
    <p:sldId id="2147470886" r:id="rId33"/>
    <p:sldId id="2147470890" r:id="rId34"/>
    <p:sldId id="2147470919" r:id="rId35"/>
    <p:sldId id="2147470889" r:id="rId36"/>
    <p:sldId id="2147470900" r:id="rId37"/>
    <p:sldId id="2147470894" r:id="rId3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8CF7"/>
    <a:srgbClr val="E8E8E8"/>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FCB09B-E5CC-C2CD-9F7B-4823F3C042EF}" v="166" dt="2026-01-21T20:17:39.7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96"/>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5919EA-FF40-A546-95D2-309CC9559EB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3EF5004B-E5EA-CC1E-D112-2710086F006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95D4D7-DFDA-45AC-ADF7-9990C55BF4D0}" type="datetimeFigureOut">
              <a:rPr lang="en-CA" smtClean="0"/>
              <a:t>1/22/26</a:t>
            </a:fld>
            <a:endParaRPr lang="en-CA"/>
          </a:p>
        </p:txBody>
      </p:sp>
      <p:sp>
        <p:nvSpPr>
          <p:cNvPr id="4" name="Footer Placeholder 3">
            <a:extLst>
              <a:ext uri="{FF2B5EF4-FFF2-40B4-BE49-F238E27FC236}">
                <a16:creationId xmlns:a16="http://schemas.microsoft.com/office/drawing/2014/main" id="{EEB8C4EF-E79F-E55D-2A02-7072C52853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31BC2896-E09C-F7E1-7D68-C9A196ECA6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7B1D24-CC55-46B3-8161-BBB386FAF6F1}" type="slidenum">
              <a:rPr lang="en-CA" smtClean="0"/>
              <a:t>‹#›</a:t>
            </a:fld>
            <a:endParaRPr lang="en-CA"/>
          </a:p>
        </p:txBody>
      </p:sp>
    </p:spTree>
    <p:extLst>
      <p:ext uri="{BB962C8B-B14F-4D97-AF65-F5344CB8AC3E}">
        <p14:creationId xmlns:p14="http://schemas.microsoft.com/office/powerpoint/2010/main" val="19248626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1/22/2026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CA2D21D1-52E2-420B-B491-CFF6D7BB79FB}" type="slidenum">
              <a:rPr lang="en-US" smtClean="0"/>
              <a:pPr/>
              <a:t>1</a:t>
            </a:fld>
            <a:endParaRPr lang="en-US"/>
          </a:p>
        </p:txBody>
      </p:sp>
    </p:spTree>
    <p:extLst>
      <p:ext uri="{BB962C8B-B14F-4D97-AF65-F5344CB8AC3E}">
        <p14:creationId xmlns:p14="http://schemas.microsoft.com/office/powerpoint/2010/main" val="337887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CA2D21D1-52E2-420B-B491-CFF6D7BB79FB}" type="slidenum">
              <a:rPr lang="en-US" smtClean="0"/>
              <a:pPr/>
              <a:t>31</a:t>
            </a:fld>
            <a:endParaRPr lang="en-US"/>
          </a:p>
        </p:txBody>
      </p:sp>
    </p:spTree>
    <p:extLst>
      <p:ext uri="{BB962C8B-B14F-4D97-AF65-F5344CB8AC3E}">
        <p14:creationId xmlns:p14="http://schemas.microsoft.com/office/powerpoint/2010/main" val="1490717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39667" y="1628799"/>
            <a:ext cx="5256583" cy="1577329"/>
          </a:xfrm>
        </p:spPr>
        <p:txBody>
          <a:bodyPr>
            <a:normAutofit/>
          </a:bodyPr>
          <a:lstStyle>
            <a:lvl1pPr algn="l">
              <a:defRPr lang="en-US" sz="4800" b="1" kern="1200" smtClean="0">
                <a:solidFill>
                  <a:schemeClr val="accent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2639667" y="3204686"/>
            <a:ext cx="5256584" cy="764440"/>
          </a:xfrm>
        </p:spPr>
        <p:txBody>
          <a:bodyPr>
            <a:normAutofit/>
          </a:bodyPr>
          <a:lstStyle>
            <a:lvl1pPr marL="0" indent="0" algn="l">
              <a:buNone/>
              <a:defRPr lang="en-US" sz="2400" b="1" kern="1200" smtClean="0">
                <a:solidFill>
                  <a:schemeClr val="tx1"/>
                </a:solidFill>
                <a:latin typeface="+mj-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DE275-BE14-4364-AEA2-5F5667C0FD49}" type="slidenum">
              <a:rPr lang="en-US" smtClean="0"/>
              <a:pPr/>
              <a:t>‹#›</a:t>
            </a:fld>
            <a:endParaRPr lang="en-US"/>
          </a:p>
        </p:txBody>
      </p:sp>
      <p:sp>
        <p:nvSpPr>
          <p:cNvPr id="8" name="Picture Placeholder 7">
            <a:extLst>
              <a:ext uri="{FF2B5EF4-FFF2-40B4-BE49-F238E27FC236}">
                <a16:creationId xmlns:a16="http://schemas.microsoft.com/office/drawing/2014/main" id="{D5D68B30-650E-7682-0DE9-1D95E20D4186}"/>
              </a:ext>
            </a:extLst>
          </p:cNvPr>
          <p:cNvSpPr>
            <a:spLocks noGrp="1"/>
          </p:cNvSpPr>
          <p:nvPr>
            <p:ph type="pic" sz="quarter" idx="13"/>
          </p:nvPr>
        </p:nvSpPr>
        <p:spPr>
          <a:xfrm>
            <a:off x="7867701" y="0"/>
            <a:ext cx="4321124" cy="5301206"/>
          </a:xfrm>
        </p:spPr>
        <p:txBody>
          <a:bodyPr anchor="ctr"/>
          <a:lstStyle>
            <a:lvl1pPr marL="0" indent="0" algn="ctr">
              <a:buNone/>
              <a:defRPr/>
            </a:lvl1pPr>
          </a:lstStyle>
          <a:p>
            <a:endParaRPr lang="en-PH"/>
          </a:p>
        </p:txBody>
      </p:sp>
      <p:sp>
        <p:nvSpPr>
          <p:cNvPr id="10" name="Text Placeholder 9">
            <a:extLst>
              <a:ext uri="{FF2B5EF4-FFF2-40B4-BE49-F238E27FC236}">
                <a16:creationId xmlns:a16="http://schemas.microsoft.com/office/drawing/2014/main" id="{B1FDE011-A43C-94A1-9B30-75949F4F6E6C}"/>
              </a:ext>
            </a:extLst>
          </p:cNvPr>
          <p:cNvSpPr>
            <a:spLocks noGrp="1"/>
          </p:cNvSpPr>
          <p:nvPr>
            <p:ph type="body" sz="quarter" idx="14" hasCustomPrompt="1"/>
          </p:nvPr>
        </p:nvSpPr>
        <p:spPr>
          <a:xfrm>
            <a:off x="2640013" y="3980847"/>
            <a:ext cx="5256212" cy="560852"/>
          </a:xfrm>
        </p:spPr>
        <p:txBody>
          <a:bodyPr anchor="ctr">
            <a:noAutofit/>
          </a:bodyPr>
          <a:lstStyle>
            <a:lvl1pPr marL="0" indent="0">
              <a:buNone/>
              <a:defRPr sz="2000"/>
            </a:lvl1pPr>
            <a:lvl2pPr marL="609494" indent="0">
              <a:buNone/>
              <a:defRPr sz="2000"/>
            </a:lvl2pPr>
            <a:lvl3pPr marL="1218986" indent="0">
              <a:buNone/>
              <a:defRPr sz="2000"/>
            </a:lvl3pPr>
            <a:lvl4pPr marL="1828480" indent="0">
              <a:buNone/>
              <a:defRPr sz="2000"/>
            </a:lvl4pPr>
            <a:lvl5pPr marL="2437973" indent="0">
              <a:buNone/>
              <a:defRPr sz="2000"/>
            </a:lvl5pPr>
          </a:lstStyle>
          <a:p>
            <a:pPr lvl="0"/>
            <a:r>
              <a:rPr lang="en-US"/>
              <a:t>Insert desired text here.</a:t>
            </a:r>
            <a:endParaRPr lang="en-PH"/>
          </a:p>
        </p:txBody>
      </p: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25404F2-BE9A-4460-8815-8F645183555F}"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957718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51923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5300" b="1" cap="all"/>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700">
                <a:solidFill>
                  <a:schemeClr val="tx1">
                    <a:tint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5404F2-BE9A-4460-8815-8F645183555F}"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118170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5404F2-BE9A-4460-8815-8F645183555F}"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05318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6" y="1535113"/>
            <a:ext cx="5387630"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1756" y="2174875"/>
            <a:ext cx="5387630"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5404F2-BE9A-4460-8815-8F645183555F}" type="datetimeFigureOut">
              <a:rPr lang="en-US" smtClean="0"/>
              <a:pPr/>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795899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pic>
        <p:nvPicPr>
          <p:cNvPr id="7" name="Picture 6">
            <a:extLst>
              <a:ext uri="{FF2B5EF4-FFF2-40B4-BE49-F238E27FC236}">
                <a16:creationId xmlns:a16="http://schemas.microsoft.com/office/drawing/2014/main" id="{EC431F8F-297E-431C-4E16-ACDFCFE94D13}"/>
              </a:ext>
            </a:extLst>
          </p:cNvPr>
          <p:cNvPicPr>
            <a:picLocks noChangeAspect="1"/>
          </p:cNvPicPr>
          <p:nvPr userDrawn="1"/>
        </p:nvPicPr>
        <p:blipFill>
          <a:blip r:embed="rId2"/>
          <a:stretch>
            <a:fillRect/>
          </a:stretch>
        </p:blipFill>
        <p:spPr>
          <a:xfrm>
            <a:off x="11065383" y="105604"/>
            <a:ext cx="1028002" cy="344535"/>
          </a:xfrm>
          <a:prstGeom prst="rect">
            <a:avLst/>
          </a:prstGeom>
        </p:spPr>
      </p:pic>
    </p:spTree>
    <p:extLst>
      <p:ext uri="{BB962C8B-B14F-4D97-AF65-F5344CB8AC3E}">
        <p14:creationId xmlns:p14="http://schemas.microsoft.com/office/powerpoint/2010/main" val="14298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7" name="Picture Placeholder 6">
            <a:extLst>
              <a:ext uri="{FF2B5EF4-FFF2-40B4-BE49-F238E27FC236}">
                <a16:creationId xmlns:a16="http://schemas.microsoft.com/office/drawing/2014/main" id="{9B5F4C6F-3D82-08CC-8364-7D69E5F86080}"/>
              </a:ext>
            </a:extLst>
          </p:cNvPr>
          <p:cNvSpPr>
            <a:spLocks noGrp="1"/>
          </p:cNvSpPr>
          <p:nvPr>
            <p:ph type="pic" sz="quarter" idx="13"/>
          </p:nvPr>
        </p:nvSpPr>
        <p:spPr>
          <a:xfrm>
            <a:off x="8850313" y="2236788"/>
            <a:ext cx="3338512" cy="4621212"/>
          </a:xfrm>
        </p:spPr>
        <p:txBody>
          <a:bodyPr anchor="ctr"/>
          <a:lstStyle>
            <a:lvl1pPr marL="0" indent="0" algn="ctr">
              <a:buNone/>
              <a:defRPr/>
            </a:lvl1pPr>
          </a:lstStyle>
          <a:p>
            <a:endParaRPr lang="en-PH"/>
          </a:p>
        </p:txBody>
      </p:sp>
    </p:spTree>
    <p:extLst>
      <p:ext uri="{BB962C8B-B14F-4D97-AF65-F5344CB8AC3E}">
        <p14:creationId xmlns:p14="http://schemas.microsoft.com/office/powerpoint/2010/main" val="972081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877952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441" y="1268760"/>
            <a:ext cx="5052923" cy="1152128"/>
          </a:xfrm>
        </p:spPr>
        <p:txBody>
          <a:bodyPr>
            <a:noAutofit/>
          </a:bodyPr>
          <a:lstStyle>
            <a:lvl1pPr>
              <a:defRPr sz="40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6" name="Text Placeholder 9">
            <a:extLst>
              <a:ext uri="{FF2B5EF4-FFF2-40B4-BE49-F238E27FC236}">
                <a16:creationId xmlns:a16="http://schemas.microsoft.com/office/drawing/2014/main" id="{68DD8890-F0B6-7E08-F41D-CC510A3B6F41}"/>
              </a:ext>
            </a:extLst>
          </p:cNvPr>
          <p:cNvSpPr>
            <a:spLocks noGrp="1"/>
          </p:cNvSpPr>
          <p:nvPr>
            <p:ph type="body" sz="quarter" idx="14" hasCustomPrompt="1"/>
          </p:nvPr>
        </p:nvSpPr>
        <p:spPr>
          <a:xfrm>
            <a:off x="609441" y="2708920"/>
            <a:ext cx="5052923" cy="1152128"/>
          </a:xfrm>
        </p:spPr>
        <p:txBody>
          <a:bodyPr anchor="ctr">
            <a:noAutofit/>
          </a:bodyPr>
          <a:lstStyle>
            <a:lvl1pPr marL="0" indent="0">
              <a:buNone/>
              <a:defRPr sz="2000"/>
            </a:lvl1pPr>
            <a:lvl2pPr marL="609494" indent="0">
              <a:buNone/>
              <a:defRPr sz="2000"/>
            </a:lvl2pPr>
            <a:lvl3pPr marL="1218986" indent="0">
              <a:buNone/>
              <a:defRPr sz="2000"/>
            </a:lvl3pPr>
            <a:lvl4pPr marL="1828480" indent="0">
              <a:buNone/>
              <a:defRPr sz="2000"/>
            </a:lvl4pPr>
            <a:lvl5pPr marL="2437973" indent="0">
              <a:buNone/>
              <a:defRPr sz="2000"/>
            </a:lvl5pPr>
          </a:lstStyle>
          <a:p>
            <a:pPr lvl="0"/>
            <a:r>
              <a:rPr lang="en-US"/>
              <a:t>Insert desired text here.</a:t>
            </a:r>
            <a:endParaRPr lang="en-PH"/>
          </a:p>
        </p:txBody>
      </p:sp>
      <p:pic>
        <p:nvPicPr>
          <p:cNvPr id="7" name="Picture 6">
            <a:extLst>
              <a:ext uri="{FF2B5EF4-FFF2-40B4-BE49-F238E27FC236}">
                <a16:creationId xmlns:a16="http://schemas.microsoft.com/office/drawing/2014/main" id="{75AE5661-B017-BAFA-CBB7-48935BA56FD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846940" y="136524"/>
            <a:ext cx="1160591" cy="388972"/>
          </a:xfrm>
          <a:prstGeom prst="rect">
            <a:avLst/>
          </a:prstGeom>
        </p:spPr>
      </p:pic>
    </p:spTree>
    <p:extLst>
      <p:ext uri="{BB962C8B-B14F-4D97-AF65-F5344CB8AC3E}">
        <p14:creationId xmlns:p14="http://schemas.microsoft.com/office/powerpoint/2010/main" val="4215677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441" y="1268760"/>
            <a:ext cx="5052923" cy="2592288"/>
          </a:xfrm>
        </p:spPr>
        <p:txBody>
          <a:bodyPr>
            <a:noAutofit/>
          </a:bodyPr>
          <a:lstStyle>
            <a:lvl1pPr>
              <a:defRPr sz="54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903818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441" y="1340768"/>
            <a:ext cx="5052923" cy="1152128"/>
          </a:xfrm>
        </p:spPr>
        <p:txBody>
          <a:bodyPr>
            <a:noAutofit/>
          </a:bodyPr>
          <a:lstStyle>
            <a:lvl1pPr>
              <a:defRPr sz="40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6" name="Text Placeholder 9">
            <a:extLst>
              <a:ext uri="{FF2B5EF4-FFF2-40B4-BE49-F238E27FC236}">
                <a16:creationId xmlns:a16="http://schemas.microsoft.com/office/drawing/2014/main" id="{68DD8890-F0B6-7E08-F41D-CC510A3B6F41}"/>
              </a:ext>
            </a:extLst>
          </p:cNvPr>
          <p:cNvSpPr>
            <a:spLocks noGrp="1"/>
          </p:cNvSpPr>
          <p:nvPr>
            <p:ph type="body" sz="quarter" idx="14" hasCustomPrompt="1"/>
          </p:nvPr>
        </p:nvSpPr>
        <p:spPr>
          <a:xfrm>
            <a:off x="609442" y="2636912"/>
            <a:ext cx="3859795" cy="1152128"/>
          </a:xfrm>
        </p:spPr>
        <p:txBody>
          <a:bodyPr anchor="t">
            <a:noAutofit/>
          </a:bodyPr>
          <a:lstStyle>
            <a:lvl1pPr marL="0" indent="0">
              <a:buNone/>
              <a:defRPr sz="2000"/>
            </a:lvl1pPr>
            <a:lvl2pPr marL="609494" indent="0">
              <a:buNone/>
              <a:defRPr sz="2000"/>
            </a:lvl2pPr>
            <a:lvl3pPr marL="1218986" indent="0">
              <a:buNone/>
              <a:defRPr sz="2000"/>
            </a:lvl3pPr>
            <a:lvl4pPr marL="1828480" indent="0">
              <a:buNone/>
              <a:defRPr sz="2000"/>
            </a:lvl4pPr>
            <a:lvl5pPr marL="2437973" indent="0">
              <a:buNone/>
              <a:defRPr sz="2000"/>
            </a:lvl5pPr>
          </a:lstStyle>
          <a:p>
            <a:pPr lvl="0"/>
            <a:r>
              <a:rPr lang="en-US"/>
              <a:t>Insert desired text here.</a:t>
            </a:r>
            <a:endParaRPr lang="en-PH"/>
          </a:p>
        </p:txBody>
      </p:sp>
      <p:pic>
        <p:nvPicPr>
          <p:cNvPr id="7" name="Picture 6">
            <a:extLst>
              <a:ext uri="{FF2B5EF4-FFF2-40B4-BE49-F238E27FC236}">
                <a16:creationId xmlns:a16="http://schemas.microsoft.com/office/drawing/2014/main" id="{99D08205-C63F-40F0-31E6-EB8E5218D2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87261" y="620688"/>
            <a:ext cx="1160591" cy="388972"/>
          </a:xfrm>
          <a:prstGeom prst="rect">
            <a:avLst/>
          </a:prstGeom>
        </p:spPr>
      </p:pic>
    </p:spTree>
    <p:extLst>
      <p:ext uri="{BB962C8B-B14F-4D97-AF65-F5344CB8AC3E}">
        <p14:creationId xmlns:p14="http://schemas.microsoft.com/office/powerpoint/2010/main" val="2108292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02524" y="1412776"/>
            <a:ext cx="4472668" cy="2016224"/>
          </a:xfrm>
        </p:spPr>
        <p:txBody>
          <a:bodyPr>
            <a:noAutofit/>
          </a:bodyPr>
          <a:lstStyle>
            <a:lvl1pPr>
              <a:defRPr sz="40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6" name="Text Placeholder 9">
            <a:extLst>
              <a:ext uri="{FF2B5EF4-FFF2-40B4-BE49-F238E27FC236}">
                <a16:creationId xmlns:a16="http://schemas.microsoft.com/office/drawing/2014/main" id="{68DD8890-F0B6-7E08-F41D-CC510A3B6F41}"/>
              </a:ext>
            </a:extLst>
          </p:cNvPr>
          <p:cNvSpPr>
            <a:spLocks noGrp="1"/>
          </p:cNvSpPr>
          <p:nvPr>
            <p:ph type="body" sz="quarter" idx="14" hasCustomPrompt="1"/>
          </p:nvPr>
        </p:nvSpPr>
        <p:spPr>
          <a:xfrm>
            <a:off x="7102524" y="3429000"/>
            <a:ext cx="3859795" cy="2016224"/>
          </a:xfrm>
        </p:spPr>
        <p:txBody>
          <a:bodyPr anchor="t">
            <a:noAutofit/>
          </a:bodyPr>
          <a:lstStyle>
            <a:lvl1pPr marL="0" indent="0">
              <a:buNone/>
              <a:defRPr sz="2000"/>
            </a:lvl1pPr>
            <a:lvl2pPr marL="609494" indent="0">
              <a:buNone/>
              <a:defRPr sz="2000"/>
            </a:lvl2pPr>
            <a:lvl3pPr marL="1218986" indent="0">
              <a:buNone/>
              <a:defRPr sz="2000"/>
            </a:lvl3pPr>
            <a:lvl4pPr marL="1828480" indent="0">
              <a:buNone/>
              <a:defRPr sz="2000"/>
            </a:lvl4pPr>
            <a:lvl5pPr marL="2437973" indent="0">
              <a:buNone/>
              <a:defRPr sz="2000"/>
            </a:lvl5pPr>
          </a:lstStyle>
          <a:p>
            <a:pPr lvl="0"/>
            <a:r>
              <a:rPr lang="en-US"/>
              <a:t>Insert desired text here.</a:t>
            </a:r>
            <a:endParaRPr lang="en-PH"/>
          </a:p>
        </p:txBody>
      </p:sp>
    </p:spTree>
    <p:extLst>
      <p:ext uri="{BB962C8B-B14F-4D97-AF65-F5344CB8AC3E}">
        <p14:creationId xmlns:p14="http://schemas.microsoft.com/office/powerpoint/2010/main" val="3769598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6812494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3_Vertical Title and Text">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EFA8E532-2E3C-03E0-C899-4BC2A0718B79}"/>
              </a:ext>
            </a:extLst>
          </p:cNvPr>
          <p:cNvSpPr>
            <a:spLocks noGrp="1"/>
          </p:cNvSpPr>
          <p:nvPr>
            <p:ph type="body" sz="quarter" idx="13" hasCustomPrompt="1"/>
          </p:nvPr>
        </p:nvSpPr>
        <p:spPr>
          <a:xfrm>
            <a:off x="694072" y="665349"/>
            <a:ext cx="5513244" cy="589313"/>
          </a:xfrm>
          <a:prstGeom prst="rect">
            <a:avLst/>
          </a:prstGeom>
        </p:spPr>
        <p:txBody>
          <a:bodyPr>
            <a:noAutofit/>
          </a:bodyPr>
          <a:lstStyle>
            <a:lvl1pPr marL="0" indent="0">
              <a:lnSpc>
                <a:spcPts val="4799"/>
              </a:lnSpc>
              <a:buNone/>
              <a:defRPr sz="3599" b="1" i="0">
                <a:latin typeface="Poppins SemiBold" pitchFamily="2" charset="77"/>
                <a:cs typeface="Poppins SemiBold" pitchFamily="2" charset="77"/>
              </a:defRPr>
            </a:lvl1pPr>
          </a:lstStyle>
          <a:p>
            <a:pPr lvl="0"/>
            <a:r>
              <a:rPr lang="en-US"/>
              <a:t>Slide Headline</a:t>
            </a:r>
          </a:p>
        </p:txBody>
      </p:sp>
      <p:sp>
        <p:nvSpPr>
          <p:cNvPr id="10" name="Text Placeholder 29">
            <a:extLst>
              <a:ext uri="{FF2B5EF4-FFF2-40B4-BE49-F238E27FC236}">
                <a16:creationId xmlns:a16="http://schemas.microsoft.com/office/drawing/2014/main" id="{57F1FEB9-ED3D-4CC7-7036-C9F78D7276C3}"/>
              </a:ext>
            </a:extLst>
          </p:cNvPr>
          <p:cNvSpPr>
            <a:spLocks noGrp="1"/>
          </p:cNvSpPr>
          <p:nvPr>
            <p:ph type="body" sz="quarter" idx="14" hasCustomPrompt="1"/>
          </p:nvPr>
        </p:nvSpPr>
        <p:spPr>
          <a:xfrm>
            <a:off x="690687" y="386047"/>
            <a:ext cx="5099309" cy="291506"/>
          </a:xfrm>
          <a:prstGeom prst="rect">
            <a:avLst/>
          </a:prstGeom>
        </p:spPr>
        <p:txBody>
          <a:bodyPr>
            <a:noAutofit/>
          </a:bodyPr>
          <a:lstStyle>
            <a:lvl1pPr marL="0" indent="0">
              <a:buNone/>
              <a:defRPr sz="1600" b="1" i="0" spc="200" baseline="0">
                <a:solidFill>
                  <a:schemeClr val="accent1"/>
                </a:solidFill>
                <a:latin typeface="Poppins SemiBold" pitchFamily="2" charset="77"/>
                <a:cs typeface="Poppins SemiBold" pitchFamily="2" charset="77"/>
              </a:defRPr>
            </a:lvl1pPr>
          </a:lstStyle>
          <a:p>
            <a:pPr lvl="0"/>
            <a:r>
              <a:rPr lang="en-US"/>
              <a:t>SECTION TITLE</a:t>
            </a:r>
          </a:p>
        </p:txBody>
      </p:sp>
      <p:pic>
        <p:nvPicPr>
          <p:cNvPr id="11" name="Picture 10">
            <a:extLst>
              <a:ext uri="{FF2B5EF4-FFF2-40B4-BE49-F238E27FC236}">
                <a16:creationId xmlns:a16="http://schemas.microsoft.com/office/drawing/2014/main" id="{C513A757-7414-6F58-5946-4E44370807C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61764" y="6309320"/>
            <a:ext cx="1160591" cy="388972"/>
          </a:xfrm>
          <a:prstGeom prst="rect">
            <a:avLst/>
          </a:prstGeom>
        </p:spPr>
      </p:pic>
    </p:spTree>
    <p:extLst>
      <p:ext uri="{BB962C8B-B14F-4D97-AF65-F5344CB8AC3E}">
        <p14:creationId xmlns:p14="http://schemas.microsoft.com/office/powerpoint/2010/main" val="2112334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1/22/2026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fld id="{96E69268-9C8B-4EBF-A9EE-DC5DC2D48DC3}" type="slidenum">
              <a:rPr lang="en-US" smtClean="0"/>
              <a:pPr/>
              <a:t>‹#›</a:t>
            </a:fld>
            <a:endParaRPr lang="en-US"/>
          </a:p>
        </p:txBody>
      </p:sp>
      <p:pic>
        <p:nvPicPr>
          <p:cNvPr id="7" name="Picture 6">
            <a:extLst>
              <a:ext uri="{FF2B5EF4-FFF2-40B4-BE49-F238E27FC236}">
                <a16:creationId xmlns:a16="http://schemas.microsoft.com/office/drawing/2014/main" id="{2968CAF3-7F5F-8E5D-FBDF-23656F12F443}"/>
              </a:ext>
            </a:extLst>
          </p:cNvPr>
          <p:cNvPicPr>
            <a:picLocks noChangeAspect="1"/>
          </p:cNvPicPr>
          <p:nvPr userDrawn="1"/>
        </p:nvPicPr>
        <p:blipFill>
          <a:blip r:embed="rId17"/>
          <a:stretch>
            <a:fillRect/>
          </a:stretch>
        </p:blipFill>
        <p:spPr>
          <a:xfrm>
            <a:off x="5455642" y="6274468"/>
            <a:ext cx="1277540" cy="487863"/>
          </a:xfrm>
          <a:prstGeom prst="rect">
            <a:avLst/>
          </a:prstGeom>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49" r:id="rId2"/>
    <p:sldLayoutId id="2147483650" r:id="rId3"/>
    <p:sldLayoutId id="2147483651" r:id="rId4"/>
    <p:sldLayoutId id="2147483652" r:id="rId5"/>
    <p:sldLayoutId id="2147483653" r:id="rId6"/>
    <p:sldLayoutId id="2147483654" r:id="rId7"/>
    <p:sldLayoutId id="2147483664" r:id="rId8"/>
    <p:sldLayoutId id="2147483663" r:id="rId9"/>
    <p:sldLayoutId id="2147483662" r:id="rId10"/>
    <p:sldLayoutId id="2147483667" r:id="rId11"/>
    <p:sldLayoutId id="2147483665" r:id="rId12"/>
    <p:sldLayoutId id="2147483666" r:id="rId13"/>
    <p:sldLayoutId id="2147483655" r:id="rId14"/>
    <p:sldLayoutId id="2147483668" r:id="rId15"/>
  </p:sldLayoutIdLst>
  <p:txStyles>
    <p:titleStyle>
      <a:lvl1pPr algn="l" defTabSz="1218987" rtl="0" eaLnBrk="1" latinLnBrk="0" hangingPunct="1">
        <a:spcBef>
          <a:spcPct val="0"/>
        </a:spcBef>
        <a:buNone/>
        <a:defRPr sz="3600" b="1" kern="1200">
          <a:solidFill>
            <a:schemeClr val="accent1"/>
          </a:solidFill>
          <a:latin typeface="+mj-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14.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8" Type="http://schemas.openxmlformats.org/officeDocument/2006/relationships/hyperlink" Target="mailto:%3cRichard.Hawkes@bellaliant.ca" TargetMode="External"/><Relationship Id="rId3" Type="http://schemas.openxmlformats.org/officeDocument/2006/relationships/hyperlink" Target="http://bell.ca/" TargetMode="External"/><Relationship Id="rId7" Type="http://schemas.openxmlformats.org/officeDocument/2006/relationships/hyperlink" Target="mailto:%3cjonathan.tersigni@bell.ca" TargetMode="External"/><Relationship Id="rId2" Type="http://schemas.openxmlformats.org/officeDocument/2006/relationships/hyperlink" Target="mailto:azeez_abiodun.rashid@bell.ca" TargetMode="External"/><Relationship Id="rId1" Type="http://schemas.openxmlformats.org/officeDocument/2006/relationships/slideLayout" Target="../slideLayouts/slideLayout14.xml"/><Relationship Id="rId6" Type="http://schemas.openxmlformats.org/officeDocument/2006/relationships/hyperlink" Target="mailto:maxime.villemin@bell.ca" TargetMode="External"/><Relationship Id="rId11" Type="http://schemas.openxmlformats.org/officeDocument/2006/relationships/image" Target="../media/image5.png"/><Relationship Id="rId5" Type="http://schemas.openxmlformats.org/officeDocument/2006/relationships/hyperlink" Target="mailto:Alexandria.mcilwaine@bell.ca" TargetMode="External"/><Relationship Id="rId10" Type="http://schemas.openxmlformats.org/officeDocument/2006/relationships/hyperlink" Target="mailto:mauricio.zambrano@bell.ca" TargetMode="External"/><Relationship Id="rId4" Type="http://schemas.openxmlformats.org/officeDocument/2006/relationships/hyperlink" Target="mailto:pratik.doshi@amdocs.com" TargetMode="External"/><Relationship Id="rId9" Type="http://schemas.openxmlformats.org/officeDocument/2006/relationships/hyperlink" Target="mailto:morgan.my@bell.ca"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4.xml"/><Relationship Id="rId5" Type="http://schemas.openxmlformats.org/officeDocument/2006/relationships/image" Target="../media/image11.emf"/><Relationship Id="rId4" Type="http://schemas.openxmlformats.org/officeDocument/2006/relationships/package" Target="../embeddings/Microsoft_Excel_Worksheet.xlsx"/></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14.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B6798EE-89E5-B485-3E4C-C0CC778C5156}"/>
              </a:ext>
            </a:extLst>
          </p:cNvPr>
          <p:cNvSpPr>
            <a:spLocks noGrp="1"/>
          </p:cNvSpPr>
          <p:nvPr>
            <p:ph type="ctrTitle"/>
          </p:nvPr>
        </p:nvSpPr>
        <p:spPr>
          <a:xfrm>
            <a:off x="2619816" y="2134961"/>
            <a:ext cx="4313637" cy="1071167"/>
          </a:xfrm>
        </p:spPr>
        <p:txBody>
          <a:bodyPr>
            <a:normAutofit/>
          </a:bodyPr>
          <a:lstStyle/>
          <a:p>
            <a:r>
              <a:rPr lang="en-US"/>
              <a:t> </a:t>
            </a:r>
            <a:r>
              <a:rPr lang="en-US">
                <a:latin typeface="Arial"/>
                <a:cs typeface="Arial"/>
              </a:rPr>
              <a:t>Test Strategy</a:t>
            </a:r>
            <a:endParaRPr lang="en-PH">
              <a:latin typeface="Arial"/>
              <a:cs typeface="Arial"/>
            </a:endParaRPr>
          </a:p>
        </p:txBody>
      </p:sp>
      <p:sp>
        <p:nvSpPr>
          <p:cNvPr id="14" name="Subtitle 13">
            <a:extLst>
              <a:ext uri="{FF2B5EF4-FFF2-40B4-BE49-F238E27FC236}">
                <a16:creationId xmlns:a16="http://schemas.microsoft.com/office/drawing/2014/main" id="{3038F7C1-C8A5-240B-FE6A-9381D8F85E6C}"/>
              </a:ext>
            </a:extLst>
          </p:cNvPr>
          <p:cNvSpPr>
            <a:spLocks noGrp="1"/>
          </p:cNvSpPr>
          <p:nvPr>
            <p:ph type="subTitle" idx="1"/>
          </p:nvPr>
        </p:nvSpPr>
        <p:spPr>
          <a:xfrm>
            <a:off x="2640013" y="3205163"/>
            <a:ext cx="5256212" cy="763587"/>
          </a:xfrm>
        </p:spPr>
        <p:txBody>
          <a:bodyPr/>
          <a:lstStyle/>
          <a:p>
            <a:r>
              <a:rPr lang="en-US" dirty="0"/>
              <a:t>Overall Program Strategy</a:t>
            </a:r>
            <a:endParaRPr lang="en-PH" dirty="0"/>
          </a:p>
        </p:txBody>
      </p:sp>
      <p:pic>
        <p:nvPicPr>
          <p:cNvPr id="32" name="Picture Placeholder 31" descr="A person and person sitting at a table&#10;&#10;Description automatically generated">
            <a:extLst>
              <a:ext uri="{FF2B5EF4-FFF2-40B4-BE49-F238E27FC236}">
                <a16:creationId xmlns:a16="http://schemas.microsoft.com/office/drawing/2014/main" id="{7084C770-40A1-7030-4287-620F62D01A0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5725" b="5725"/>
          <a:stretch/>
        </p:blipFill>
        <p:spPr>
          <a:xfrm>
            <a:off x="7867701" y="0"/>
            <a:ext cx="4321124" cy="5301206"/>
          </a:xfrm>
        </p:spPr>
      </p:pic>
      <p:grpSp>
        <p:nvGrpSpPr>
          <p:cNvPr id="35" name="Group 34">
            <a:extLst>
              <a:ext uri="{FF2B5EF4-FFF2-40B4-BE49-F238E27FC236}">
                <a16:creationId xmlns:a16="http://schemas.microsoft.com/office/drawing/2014/main" id="{2F56953C-59D2-C4FB-73E0-A78C9214A75B}"/>
              </a:ext>
            </a:extLst>
          </p:cNvPr>
          <p:cNvGrpSpPr/>
          <p:nvPr/>
        </p:nvGrpSpPr>
        <p:grpSpPr>
          <a:xfrm>
            <a:off x="0" y="0"/>
            <a:ext cx="2286971" cy="2348879"/>
            <a:chOff x="0" y="0"/>
            <a:chExt cx="3161556" cy="3048050"/>
          </a:xfrm>
        </p:grpSpPr>
        <p:grpSp>
          <p:nvGrpSpPr>
            <p:cNvPr id="34" name="Group 33">
              <a:extLst>
                <a:ext uri="{FF2B5EF4-FFF2-40B4-BE49-F238E27FC236}">
                  <a16:creationId xmlns:a16="http://schemas.microsoft.com/office/drawing/2014/main" id="{18C875C2-9904-5429-B767-91847C491A29}"/>
                </a:ext>
              </a:extLst>
            </p:cNvPr>
            <p:cNvGrpSpPr/>
            <p:nvPr/>
          </p:nvGrpSpPr>
          <p:grpSpPr>
            <a:xfrm>
              <a:off x="0" y="0"/>
              <a:ext cx="2107704" cy="1988840"/>
              <a:chOff x="0" y="0"/>
              <a:chExt cx="2107704" cy="1988840"/>
            </a:xfrm>
          </p:grpSpPr>
          <p:sp>
            <p:nvSpPr>
              <p:cNvPr id="4" name="Rectangle 3">
                <a:extLst>
                  <a:ext uri="{FF2B5EF4-FFF2-40B4-BE49-F238E27FC236}">
                    <a16:creationId xmlns:a16="http://schemas.microsoft.com/office/drawing/2014/main" id="{E091BCCB-F132-C1EC-068B-D0654651AA32}"/>
                  </a:ext>
                </a:extLst>
              </p:cNvPr>
              <p:cNvSpPr/>
              <p:nvPr/>
            </p:nvSpPr>
            <p:spPr>
              <a:xfrm>
                <a:off x="0" y="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8300284B-E851-32D5-B5A5-AA1E6B6550F3}"/>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9" name="Group 8">
              <a:extLst>
                <a:ext uri="{FF2B5EF4-FFF2-40B4-BE49-F238E27FC236}">
                  <a16:creationId xmlns:a16="http://schemas.microsoft.com/office/drawing/2014/main" id="{E3056729-A0A3-4211-ED94-E370761508B5}"/>
                </a:ext>
              </a:extLst>
            </p:cNvPr>
            <p:cNvGrpSpPr/>
            <p:nvPr/>
          </p:nvGrpSpPr>
          <p:grpSpPr>
            <a:xfrm flipH="1" flipV="1">
              <a:off x="1053852" y="1059210"/>
              <a:ext cx="2107704" cy="1988840"/>
              <a:chOff x="1580778" y="1268760"/>
              <a:chExt cx="2107704" cy="1988840"/>
            </a:xfrm>
          </p:grpSpPr>
          <p:sp>
            <p:nvSpPr>
              <p:cNvPr id="7" name="Rectangle 6">
                <a:extLst>
                  <a:ext uri="{FF2B5EF4-FFF2-40B4-BE49-F238E27FC236}">
                    <a16:creationId xmlns:a16="http://schemas.microsoft.com/office/drawing/2014/main" id="{46AD773B-3801-E7B1-4593-B1FA78EE2165}"/>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7">
                <a:extLst>
                  <a:ext uri="{FF2B5EF4-FFF2-40B4-BE49-F238E27FC236}">
                    <a16:creationId xmlns:a16="http://schemas.microsoft.com/office/drawing/2014/main" id="{69E00BEF-3FB6-7AC6-F08F-725E159C7CC6}"/>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46" name="Group 45">
            <a:extLst>
              <a:ext uri="{FF2B5EF4-FFF2-40B4-BE49-F238E27FC236}">
                <a16:creationId xmlns:a16="http://schemas.microsoft.com/office/drawing/2014/main" id="{54A88193-1E39-FC2B-45A7-08408AF63881}"/>
              </a:ext>
            </a:extLst>
          </p:cNvPr>
          <p:cNvGrpSpPr/>
          <p:nvPr/>
        </p:nvGrpSpPr>
        <p:grpSpPr>
          <a:xfrm>
            <a:off x="9867403" y="4476442"/>
            <a:ext cx="2321422" cy="2384262"/>
            <a:chOff x="0" y="0"/>
            <a:chExt cx="3161556" cy="3048050"/>
          </a:xfrm>
        </p:grpSpPr>
        <p:grpSp>
          <p:nvGrpSpPr>
            <p:cNvPr id="47" name="Group 46">
              <a:extLst>
                <a:ext uri="{FF2B5EF4-FFF2-40B4-BE49-F238E27FC236}">
                  <a16:creationId xmlns:a16="http://schemas.microsoft.com/office/drawing/2014/main" id="{A9D9AD15-4B50-CCCC-C9E2-E3B7BDEA0B3E}"/>
                </a:ext>
              </a:extLst>
            </p:cNvPr>
            <p:cNvGrpSpPr/>
            <p:nvPr/>
          </p:nvGrpSpPr>
          <p:grpSpPr>
            <a:xfrm>
              <a:off x="0" y="0"/>
              <a:ext cx="2107704" cy="1988840"/>
              <a:chOff x="0" y="0"/>
              <a:chExt cx="2107704" cy="1988840"/>
            </a:xfrm>
          </p:grpSpPr>
          <p:sp>
            <p:nvSpPr>
              <p:cNvPr id="51" name="Rectangle 50">
                <a:extLst>
                  <a:ext uri="{FF2B5EF4-FFF2-40B4-BE49-F238E27FC236}">
                    <a16:creationId xmlns:a16="http://schemas.microsoft.com/office/drawing/2014/main" id="{FB7F1DF6-D34E-E7D0-6FBF-1AA39BBD11C9}"/>
                  </a:ext>
                </a:extLst>
              </p:cNvPr>
              <p:cNvSpPr/>
              <p:nvPr/>
            </p:nvSpPr>
            <p:spPr>
              <a:xfrm>
                <a:off x="0" y="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2" name="Rectangle 51">
                <a:extLst>
                  <a:ext uri="{FF2B5EF4-FFF2-40B4-BE49-F238E27FC236}">
                    <a16:creationId xmlns:a16="http://schemas.microsoft.com/office/drawing/2014/main" id="{D4CE5DEA-1197-4679-1AFA-D4ED1C0693F8}"/>
                  </a:ext>
                </a:extLst>
              </p:cNvPr>
              <p:cNvSpPr/>
              <p:nvPr/>
            </p:nvSpPr>
            <p:spPr>
              <a:xfrm rot="5400000">
                <a:off x="1053852" y="0"/>
                <a:ext cx="1053852"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48" name="Group 47">
              <a:extLst>
                <a:ext uri="{FF2B5EF4-FFF2-40B4-BE49-F238E27FC236}">
                  <a16:creationId xmlns:a16="http://schemas.microsoft.com/office/drawing/2014/main" id="{FF625148-830F-2B21-4061-2B9BD7D86638}"/>
                </a:ext>
              </a:extLst>
            </p:cNvPr>
            <p:cNvGrpSpPr/>
            <p:nvPr/>
          </p:nvGrpSpPr>
          <p:grpSpPr>
            <a:xfrm flipH="1" flipV="1">
              <a:off x="1053852" y="1059210"/>
              <a:ext cx="2107704" cy="1988840"/>
              <a:chOff x="1580778" y="1268760"/>
              <a:chExt cx="2107704" cy="1988840"/>
            </a:xfrm>
          </p:grpSpPr>
          <p:sp>
            <p:nvSpPr>
              <p:cNvPr id="49" name="Rectangle 48">
                <a:extLst>
                  <a:ext uri="{FF2B5EF4-FFF2-40B4-BE49-F238E27FC236}">
                    <a16:creationId xmlns:a16="http://schemas.microsoft.com/office/drawing/2014/main" id="{DF874B29-42A3-56C3-7616-6BEA402B37DB}"/>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0" name="Rectangle 49">
                <a:extLst>
                  <a:ext uri="{FF2B5EF4-FFF2-40B4-BE49-F238E27FC236}">
                    <a16:creationId xmlns:a16="http://schemas.microsoft.com/office/drawing/2014/main" id="{60AF880D-67C7-CC8B-8FC7-C8C61F1056C1}"/>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sp>
        <p:nvSpPr>
          <p:cNvPr id="53" name="Rectangle 52">
            <a:extLst>
              <a:ext uri="{FF2B5EF4-FFF2-40B4-BE49-F238E27FC236}">
                <a16:creationId xmlns:a16="http://schemas.microsoft.com/office/drawing/2014/main" id="{F2A5A902-0811-68B2-ACE8-181F7BED469A}"/>
              </a:ext>
            </a:extLst>
          </p:cNvPr>
          <p:cNvSpPr/>
          <p:nvPr/>
        </p:nvSpPr>
        <p:spPr>
          <a:xfrm>
            <a:off x="7433989" y="5283584"/>
            <a:ext cx="433661" cy="4336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4" name="Rectangle 53">
            <a:extLst>
              <a:ext uri="{FF2B5EF4-FFF2-40B4-BE49-F238E27FC236}">
                <a16:creationId xmlns:a16="http://schemas.microsoft.com/office/drawing/2014/main" id="{21E23C5F-E490-1131-AB0E-1E1029B5D7F9}"/>
              </a:ext>
            </a:extLst>
          </p:cNvPr>
          <p:cNvSpPr/>
          <p:nvPr/>
        </p:nvSpPr>
        <p:spPr>
          <a:xfrm>
            <a:off x="7000327" y="4849923"/>
            <a:ext cx="433661" cy="43366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5" name="Rectangle 54">
            <a:extLst>
              <a:ext uri="{FF2B5EF4-FFF2-40B4-BE49-F238E27FC236}">
                <a16:creationId xmlns:a16="http://schemas.microsoft.com/office/drawing/2014/main" id="{DC189EE3-A634-B9FA-D1F2-FAD7D30FAEA1}"/>
              </a:ext>
            </a:extLst>
          </p:cNvPr>
          <p:cNvSpPr/>
          <p:nvPr/>
        </p:nvSpPr>
        <p:spPr>
          <a:xfrm>
            <a:off x="7869857" y="5717245"/>
            <a:ext cx="433661" cy="43366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6" name="Rectangle 55">
            <a:extLst>
              <a:ext uri="{FF2B5EF4-FFF2-40B4-BE49-F238E27FC236}">
                <a16:creationId xmlns:a16="http://schemas.microsoft.com/office/drawing/2014/main" id="{1462A445-F75A-F612-817B-6D6A1F5A06C1}"/>
              </a:ext>
            </a:extLst>
          </p:cNvPr>
          <p:cNvSpPr/>
          <p:nvPr/>
        </p:nvSpPr>
        <p:spPr>
          <a:xfrm>
            <a:off x="7433989" y="6150906"/>
            <a:ext cx="433661" cy="4336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7" name="Rectangle 56">
            <a:extLst>
              <a:ext uri="{FF2B5EF4-FFF2-40B4-BE49-F238E27FC236}">
                <a16:creationId xmlns:a16="http://schemas.microsoft.com/office/drawing/2014/main" id="{EB20B6FC-B2EB-E31F-0C13-857A897B3976}"/>
              </a:ext>
            </a:extLst>
          </p:cNvPr>
          <p:cNvSpPr/>
          <p:nvPr/>
        </p:nvSpPr>
        <p:spPr>
          <a:xfrm>
            <a:off x="7000327" y="6575589"/>
            <a:ext cx="433661" cy="2824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8" name="Rectangle 57">
            <a:extLst>
              <a:ext uri="{FF2B5EF4-FFF2-40B4-BE49-F238E27FC236}">
                <a16:creationId xmlns:a16="http://schemas.microsoft.com/office/drawing/2014/main" id="{9598005E-BEDE-9A32-A43E-C319BF79E6E7}"/>
              </a:ext>
            </a:extLst>
          </p:cNvPr>
          <p:cNvSpPr/>
          <p:nvPr/>
        </p:nvSpPr>
        <p:spPr>
          <a:xfrm>
            <a:off x="8303518" y="6150906"/>
            <a:ext cx="433661" cy="4336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75" name="Group 74">
            <a:extLst>
              <a:ext uri="{FF2B5EF4-FFF2-40B4-BE49-F238E27FC236}">
                <a16:creationId xmlns:a16="http://schemas.microsoft.com/office/drawing/2014/main" id="{09826777-46DE-7B3E-F0BA-E2EB771083C3}"/>
              </a:ext>
            </a:extLst>
          </p:cNvPr>
          <p:cNvGrpSpPr/>
          <p:nvPr/>
        </p:nvGrpSpPr>
        <p:grpSpPr>
          <a:xfrm>
            <a:off x="0" y="4555213"/>
            <a:ext cx="1566666" cy="2301248"/>
            <a:chOff x="0" y="4555213"/>
            <a:chExt cx="1566666" cy="2301248"/>
          </a:xfrm>
        </p:grpSpPr>
        <p:grpSp>
          <p:nvGrpSpPr>
            <p:cNvPr id="61" name="Group 60">
              <a:extLst>
                <a:ext uri="{FF2B5EF4-FFF2-40B4-BE49-F238E27FC236}">
                  <a16:creationId xmlns:a16="http://schemas.microsoft.com/office/drawing/2014/main" id="{006DACB5-CCFE-975A-D4F4-646486762448}"/>
                </a:ext>
              </a:extLst>
            </p:cNvPr>
            <p:cNvGrpSpPr/>
            <p:nvPr/>
          </p:nvGrpSpPr>
          <p:grpSpPr>
            <a:xfrm flipH="1">
              <a:off x="0" y="5281590"/>
              <a:ext cx="1566666" cy="1574871"/>
              <a:chOff x="5432558" y="5300663"/>
              <a:chExt cx="1566666" cy="1574871"/>
            </a:xfrm>
          </p:grpSpPr>
          <p:sp>
            <p:nvSpPr>
              <p:cNvPr id="59" name="Rectangle 58">
                <a:extLst>
                  <a:ext uri="{FF2B5EF4-FFF2-40B4-BE49-F238E27FC236}">
                    <a16:creationId xmlns:a16="http://schemas.microsoft.com/office/drawing/2014/main" id="{A5D9B693-A464-B90E-B07E-916CD2F5CBDF}"/>
                  </a:ext>
                </a:extLst>
              </p:cNvPr>
              <p:cNvSpPr/>
              <p:nvPr/>
            </p:nvSpPr>
            <p:spPr>
              <a:xfrm flipH="1" flipV="1">
                <a:off x="6215891" y="5300663"/>
                <a:ext cx="783333" cy="157487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0" name="Rectangle 59">
                <a:extLst>
                  <a:ext uri="{FF2B5EF4-FFF2-40B4-BE49-F238E27FC236}">
                    <a16:creationId xmlns:a16="http://schemas.microsoft.com/office/drawing/2014/main" id="{3C6E132F-D806-36B7-4533-063132E07119}"/>
                  </a:ext>
                </a:extLst>
              </p:cNvPr>
              <p:cNvSpPr/>
              <p:nvPr/>
            </p:nvSpPr>
            <p:spPr>
              <a:xfrm rot="5400000" flipH="1" flipV="1">
                <a:off x="5406976" y="6066619"/>
                <a:ext cx="834497" cy="7833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sp>
          <p:nvSpPr>
            <p:cNvPr id="62" name="Rectangle 61">
              <a:extLst>
                <a:ext uri="{FF2B5EF4-FFF2-40B4-BE49-F238E27FC236}">
                  <a16:creationId xmlns:a16="http://schemas.microsoft.com/office/drawing/2014/main" id="{D1BE6E7E-FA04-47C4-B5C6-28544C5F125E}"/>
                </a:ext>
              </a:extLst>
            </p:cNvPr>
            <p:cNvSpPr/>
            <p:nvPr/>
          </p:nvSpPr>
          <p:spPr>
            <a:xfrm>
              <a:off x="781858" y="4555213"/>
              <a:ext cx="742789" cy="74278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sp>
        <p:nvSpPr>
          <p:cNvPr id="74" name="Rectangle 73">
            <a:extLst>
              <a:ext uri="{FF2B5EF4-FFF2-40B4-BE49-F238E27FC236}">
                <a16:creationId xmlns:a16="http://schemas.microsoft.com/office/drawing/2014/main" id="{1D13D807-EB61-77B2-721A-BE33CBF82B43}"/>
              </a:ext>
            </a:extLst>
          </p:cNvPr>
          <p:cNvSpPr/>
          <p:nvPr/>
        </p:nvSpPr>
        <p:spPr>
          <a:xfrm>
            <a:off x="7867649" y="6575589"/>
            <a:ext cx="433661" cy="2824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3" name="Picture 2" descr="BEll company logo">
            <a:extLst>
              <a:ext uri="{FF2B5EF4-FFF2-40B4-BE49-F238E27FC236}">
                <a16:creationId xmlns:a16="http://schemas.microsoft.com/office/drawing/2014/main" id="{C8E17812-2857-DA2A-2F2C-9D177D59F78B}"/>
              </a:ext>
            </a:extLst>
          </p:cNvPr>
          <p:cNvPicPr>
            <a:picLocks noChangeAspect="1"/>
          </p:cNvPicPr>
          <p:nvPr/>
        </p:nvPicPr>
        <p:blipFill>
          <a:blip r:embed="rId4"/>
          <a:stretch>
            <a:fillRect/>
          </a:stretch>
        </p:blipFill>
        <p:spPr>
          <a:xfrm>
            <a:off x="4521878" y="6309185"/>
            <a:ext cx="514513" cy="400050"/>
          </a:xfrm>
          <a:prstGeom prst="rect">
            <a:avLst/>
          </a:prstGeom>
        </p:spPr>
      </p:pic>
      <p:sp>
        <p:nvSpPr>
          <p:cNvPr id="2" name="TextBox 1">
            <a:extLst>
              <a:ext uri="{FF2B5EF4-FFF2-40B4-BE49-F238E27FC236}">
                <a16:creationId xmlns:a16="http://schemas.microsoft.com/office/drawing/2014/main" id="{FA937C48-FCA5-C000-FBC4-2E03097AC006}"/>
              </a:ext>
            </a:extLst>
          </p:cNvPr>
          <p:cNvSpPr txBox="1"/>
          <p:nvPr/>
        </p:nvSpPr>
        <p:spPr>
          <a:xfrm>
            <a:off x="1701579" y="3735646"/>
            <a:ext cx="631333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dirty="0"/>
              <a:t>Play to Win SS Ph1 - Dashboard &amp; Warranty</a:t>
            </a:r>
            <a:endParaRPr lang="en-US" b="1" dirty="0">
              <a:latin typeface="+mj-lt"/>
              <a:ea typeface="+mj-ea"/>
              <a:cs typeface="+mj-cs"/>
            </a:endParaRPr>
          </a:p>
        </p:txBody>
      </p:sp>
    </p:spTree>
    <p:extLst>
      <p:ext uri="{BB962C8B-B14F-4D97-AF65-F5344CB8AC3E}">
        <p14:creationId xmlns:p14="http://schemas.microsoft.com/office/powerpoint/2010/main" val="226623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8000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0-#ppt_w/2"/>
                                          </p:val>
                                        </p:tav>
                                        <p:tav tm="100000">
                                          <p:val>
                                            <p:strVal val="#ppt_x"/>
                                          </p:val>
                                        </p:tav>
                                      </p:tavLst>
                                    </p:anim>
                                    <p:anim calcmode="lin" valueType="num">
                                      <p:cBhvr additive="base">
                                        <p:cTn id="8" dur="500" fill="hold"/>
                                        <p:tgtEl>
                                          <p:spTgt spid="35"/>
                                        </p:tgtEl>
                                        <p:attrNameLst>
                                          <p:attrName>ppt_y</p:attrName>
                                        </p:attrNameLst>
                                      </p:cBhvr>
                                      <p:tavLst>
                                        <p:tav tm="0">
                                          <p:val>
                                            <p:strVal val="0-#ppt_h/2"/>
                                          </p:val>
                                        </p:tav>
                                        <p:tav tm="100000">
                                          <p:val>
                                            <p:strVal val="#ppt_y"/>
                                          </p:val>
                                        </p:tav>
                                      </p:tavLst>
                                    </p:anim>
                                  </p:childTnLst>
                                </p:cTn>
                              </p:par>
                              <p:par>
                                <p:cTn id="9" presetID="2" presetClass="entr" presetSubtype="6" decel="80000"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1+#ppt_w/2"/>
                                          </p:val>
                                        </p:tav>
                                        <p:tav tm="100000">
                                          <p:val>
                                            <p:strVal val="#ppt_x"/>
                                          </p:val>
                                        </p:tav>
                                      </p:tavLst>
                                    </p:anim>
                                    <p:anim calcmode="lin" valueType="num">
                                      <p:cBhvr additive="base">
                                        <p:cTn id="12" dur="500" fill="hold"/>
                                        <p:tgtEl>
                                          <p:spTgt spid="46"/>
                                        </p:tgtEl>
                                        <p:attrNameLst>
                                          <p:attrName>ppt_y</p:attrName>
                                        </p:attrNameLst>
                                      </p:cBhvr>
                                      <p:tavLst>
                                        <p:tav tm="0">
                                          <p:val>
                                            <p:strVal val="1+#ppt_h/2"/>
                                          </p:val>
                                        </p:tav>
                                        <p:tav tm="100000">
                                          <p:val>
                                            <p:strVal val="#ppt_y"/>
                                          </p:val>
                                        </p:tav>
                                      </p:tavLst>
                                    </p:anim>
                                  </p:childTnLst>
                                </p:cTn>
                              </p:par>
                              <p:par>
                                <p:cTn id="13" presetID="2" presetClass="entr" presetSubtype="3" decel="80000" fill="hold" nodeType="withEffect">
                                  <p:stCondLst>
                                    <p:cond delay="25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500" fill="hold"/>
                                        <p:tgtEl>
                                          <p:spTgt spid="32"/>
                                        </p:tgtEl>
                                        <p:attrNameLst>
                                          <p:attrName>ppt_x</p:attrName>
                                        </p:attrNameLst>
                                      </p:cBhvr>
                                      <p:tavLst>
                                        <p:tav tm="0">
                                          <p:val>
                                            <p:strVal val="1+#ppt_w/2"/>
                                          </p:val>
                                        </p:tav>
                                        <p:tav tm="100000">
                                          <p:val>
                                            <p:strVal val="#ppt_x"/>
                                          </p:val>
                                        </p:tav>
                                      </p:tavLst>
                                    </p:anim>
                                    <p:anim calcmode="lin" valueType="num">
                                      <p:cBhvr additive="base">
                                        <p:cTn id="16" dur="500" fill="hold"/>
                                        <p:tgtEl>
                                          <p:spTgt spid="32"/>
                                        </p:tgtEl>
                                        <p:attrNameLst>
                                          <p:attrName>ppt_y</p:attrName>
                                        </p:attrNameLst>
                                      </p:cBhvr>
                                      <p:tavLst>
                                        <p:tav tm="0">
                                          <p:val>
                                            <p:strVal val="0-#ppt_h/2"/>
                                          </p:val>
                                        </p:tav>
                                        <p:tav tm="100000">
                                          <p:val>
                                            <p:strVal val="#ppt_y"/>
                                          </p:val>
                                        </p:tav>
                                      </p:tavLst>
                                    </p:anim>
                                  </p:childTnLst>
                                </p:cTn>
                              </p:par>
                              <p:par>
                                <p:cTn id="17" presetID="2" presetClass="entr" presetSubtype="12" decel="8000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500" fill="hold"/>
                                        <p:tgtEl>
                                          <p:spTgt spid="75"/>
                                        </p:tgtEl>
                                        <p:attrNameLst>
                                          <p:attrName>ppt_x</p:attrName>
                                        </p:attrNameLst>
                                      </p:cBhvr>
                                      <p:tavLst>
                                        <p:tav tm="0">
                                          <p:val>
                                            <p:strVal val="0-#ppt_w/2"/>
                                          </p:val>
                                        </p:tav>
                                        <p:tav tm="100000">
                                          <p:val>
                                            <p:strVal val="#ppt_x"/>
                                          </p:val>
                                        </p:tav>
                                      </p:tavLst>
                                    </p:anim>
                                    <p:anim calcmode="lin" valueType="num">
                                      <p:cBhvr additive="base">
                                        <p:cTn id="20" dur="500" fill="hold"/>
                                        <p:tgtEl>
                                          <p:spTgt spid="75"/>
                                        </p:tgtEl>
                                        <p:attrNameLst>
                                          <p:attrName>ppt_y</p:attrName>
                                        </p:attrNameLst>
                                      </p:cBhvr>
                                      <p:tavLst>
                                        <p:tav tm="0">
                                          <p:val>
                                            <p:strVal val="1+#ppt_h/2"/>
                                          </p:val>
                                        </p:tav>
                                        <p:tav tm="100000">
                                          <p:val>
                                            <p:strVal val="#ppt_y"/>
                                          </p:val>
                                        </p:tav>
                                      </p:tavLst>
                                    </p:anim>
                                  </p:childTnLst>
                                </p:cTn>
                              </p:par>
                              <p:par>
                                <p:cTn id="21" presetID="22" presetClass="entr" presetSubtype="4" fill="hold" grpId="0" nodeType="withEffect">
                                  <p:stCondLst>
                                    <p:cond delay="25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par>
                                <p:cTn id="24" presetID="22" presetClass="entr" presetSubtype="1" fill="hold" grpId="0" nodeType="withEffect">
                                  <p:stCondLst>
                                    <p:cond delay="250"/>
                                  </p:stCondLst>
                                  <p:childTnLst>
                                    <p:set>
                                      <p:cBhvr>
                                        <p:cTn id="25" dur="1" fill="hold">
                                          <p:stCondLst>
                                            <p:cond delay="0"/>
                                          </p:stCondLst>
                                        </p:cTn>
                                        <p:tgtEl>
                                          <p:spTgt spid="14">
                                            <p:txEl>
                                              <p:pRg st="0" end="0"/>
                                            </p:txEl>
                                          </p:spTgt>
                                        </p:tgtEl>
                                        <p:attrNameLst>
                                          <p:attrName>style.visibility</p:attrName>
                                        </p:attrNameLst>
                                      </p:cBhvr>
                                      <p:to>
                                        <p:strVal val="visible"/>
                                      </p:to>
                                    </p:set>
                                    <p:animEffect transition="in" filter="wipe(up)">
                                      <p:cBhvr>
                                        <p:cTn id="26" dur="500"/>
                                        <p:tgtEl>
                                          <p:spTgt spid="14">
                                            <p:txEl>
                                              <p:pRg st="0" end="0"/>
                                            </p:txEl>
                                          </p:spTgt>
                                        </p:tgtEl>
                                      </p:cBhvr>
                                    </p:animEffect>
                                  </p:childTnLst>
                                </p:cTn>
                              </p:par>
                              <p:par>
                                <p:cTn id="27" presetID="10" presetClass="entr" presetSubtype="0" fill="hold" grpId="0" nodeType="withEffect">
                                  <p:stCondLst>
                                    <p:cond delay="350"/>
                                  </p:stCondLst>
                                  <p:childTnLst>
                                    <p:set>
                                      <p:cBhvr>
                                        <p:cTn id="28" dur="1" fill="hold">
                                          <p:stCondLst>
                                            <p:cond delay="0"/>
                                          </p:stCondLst>
                                        </p:cTn>
                                        <p:tgtEl>
                                          <p:spTgt spid="54"/>
                                        </p:tgtEl>
                                        <p:attrNameLst>
                                          <p:attrName>style.visibility</p:attrName>
                                        </p:attrNameLst>
                                      </p:cBhvr>
                                      <p:to>
                                        <p:strVal val="visible"/>
                                      </p:to>
                                    </p:set>
                                    <p:animEffect transition="in" filter="fade">
                                      <p:cBhvr>
                                        <p:cTn id="29" dur="500"/>
                                        <p:tgtEl>
                                          <p:spTgt spid="54"/>
                                        </p:tgtEl>
                                      </p:cBhvr>
                                    </p:animEffect>
                                  </p:childTnLst>
                                </p:cTn>
                              </p:par>
                              <p:par>
                                <p:cTn id="30" presetID="10" presetClass="entr" presetSubtype="0" fill="hold" grpId="0" nodeType="withEffect">
                                  <p:stCondLst>
                                    <p:cond delay="550"/>
                                  </p:stCondLst>
                                  <p:childTnLst>
                                    <p:set>
                                      <p:cBhvr>
                                        <p:cTn id="31" dur="1" fill="hold">
                                          <p:stCondLst>
                                            <p:cond delay="0"/>
                                          </p:stCondLst>
                                        </p:cTn>
                                        <p:tgtEl>
                                          <p:spTgt spid="53"/>
                                        </p:tgtEl>
                                        <p:attrNameLst>
                                          <p:attrName>style.visibility</p:attrName>
                                        </p:attrNameLst>
                                      </p:cBhvr>
                                      <p:to>
                                        <p:strVal val="visible"/>
                                      </p:to>
                                    </p:set>
                                    <p:animEffect transition="in" filter="fade">
                                      <p:cBhvr>
                                        <p:cTn id="32" dur="500"/>
                                        <p:tgtEl>
                                          <p:spTgt spid="53"/>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500"/>
                                        <p:tgtEl>
                                          <p:spTgt spid="55"/>
                                        </p:tgtEl>
                                      </p:cBhvr>
                                    </p:animEffect>
                                  </p:childTnLst>
                                </p:cTn>
                              </p:par>
                              <p:par>
                                <p:cTn id="36" presetID="10" presetClass="entr" presetSubtype="0" fill="hold" grpId="0" nodeType="withEffect">
                                  <p:stCondLst>
                                    <p:cond delay="700"/>
                                  </p:stCondLst>
                                  <p:childTnLst>
                                    <p:set>
                                      <p:cBhvr>
                                        <p:cTn id="37" dur="1" fill="hold">
                                          <p:stCondLst>
                                            <p:cond delay="0"/>
                                          </p:stCondLst>
                                        </p:cTn>
                                        <p:tgtEl>
                                          <p:spTgt spid="56"/>
                                        </p:tgtEl>
                                        <p:attrNameLst>
                                          <p:attrName>style.visibility</p:attrName>
                                        </p:attrNameLst>
                                      </p:cBhvr>
                                      <p:to>
                                        <p:strVal val="visible"/>
                                      </p:to>
                                    </p:set>
                                    <p:animEffect transition="in" filter="fade">
                                      <p:cBhvr>
                                        <p:cTn id="38" dur="500"/>
                                        <p:tgtEl>
                                          <p:spTgt spid="56"/>
                                        </p:tgtEl>
                                      </p:cBhvr>
                                    </p:animEffect>
                                  </p:childTnLst>
                                </p:cTn>
                              </p:par>
                              <p:par>
                                <p:cTn id="39" presetID="10" presetClass="entr" presetSubtype="0" fill="hold" grpId="0" nodeType="withEffect">
                                  <p:stCondLst>
                                    <p:cond delay="850"/>
                                  </p:stCondLst>
                                  <p:childTnLst>
                                    <p:set>
                                      <p:cBhvr>
                                        <p:cTn id="40" dur="1" fill="hold">
                                          <p:stCondLst>
                                            <p:cond delay="0"/>
                                          </p:stCondLst>
                                        </p:cTn>
                                        <p:tgtEl>
                                          <p:spTgt spid="57"/>
                                        </p:tgtEl>
                                        <p:attrNameLst>
                                          <p:attrName>style.visibility</p:attrName>
                                        </p:attrNameLst>
                                      </p:cBhvr>
                                      <p:to>
                                        <p:strVal val="visible"/>
                                      </p:to>
                                    </p:set>
                                    <p:animEffect transition="in" filter="fade">
                                      <p:cBhvr>
                                        <p:cTn id="41" dur="500"/>
                                        <p:tgtEl>
                                          <p:spTgt spid="57"/>
                                        </p:tgtEl>
                                      </p:cBhvr>
                                    </p:animEffect>
                                  </p:childTnLst>
                                </p:cTn>
                              </p:par>
                              <p:par>
                                <p:cTn id="42" presetID="10" presetClass="entr" presetSubtype="0" fill="hold" grpId="0" nodeType="withEffect">
                                  <p:stCondLst>
                                    <p:cond delay="500"/>
                                  </p:stCondLst>
                                  <p:childTnLst>
                                    <p:set>
                                      <p:cBhvr>
                                        <p:cTn id="43" dur="1" fill="hold">
                                          <p:stCondLst>
                                            <p:cond delay="0"/>
                                          </p:stCondLst>
                                        </p:cTn>
                                        <p:tgtEl>
                                          <p:spTgt spid="74"/>
                                        </p:tgtEl>
                                        <p:attrNameLst>
                                          <p:attrName>style.visibility</p:attrName>
                                        </p:attrNameLst>
                                      </p:cBhvr>
                                      <p:to>
                                        <p:strVal val="visible"/>
                                      </p:to>
                                    </p:set>
                                    <p:animEffect transition="in" filter="fade">
                                      <p:cBhvr>
                                        <p:cTn id="44" dur="500"/>
                                        <p:tgtEl>
                                          <p:spTgt spid="74"/>
                                        </p:tgtEl>
                                      </p:cBhvr>
                                    </p:animEffect>
                                  </p:childTnLst>
                                </p:cTn>
                              </p:par>
                              <p:par>
                                <p:cTn id="45" presetID="10" presetClass="entr" presetSubtype="0" fill="hold" grpId="0" nodeType="withEffect">
                                  <p:stCondLst>
                                    <p:cond delay="85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bldP spid="53" grpId="0" animBg="1"/>
      <p:bldP spid="54" grpId="0" animBg="1"/>
      <p:bldP spid="55" grpId="0" animBg="1"/>
      <p:bldP spid="56" grpId="0" animBg="1"/>
      <p:bldP spid="57" grpId="0" animBg="1"/>
      <p:bldP spid="58" grpId="0" animBg="1"/>
      <p:bldP spid="7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54A2E8C0-58CD-4BCE-E9FB-079A05055295}"/>
              </a:ext>
            </a:extLst>
          </p:cNvPr>
          <p:cNvGrpSpPr/>
          <p:nvPr/>
        </p:nvGrpSpPr>
        <p:grpSpPr>
          <a:xfrm>
            <a:off x="10342891" y="4962097"/>
            <a:ext cx="1845934" cy="1895903"/>
            <a:chOff x="0" y="0"/>
            <a:chExt cx="3161556" cy="3048050"/>
          </a:xfrm>
        </p:grpSpPr>
        <p:grpSp>
          <p:nvGrpSpPr>
            <p:cNvPr id="26" name="Group 25">
              <a:extLst>
                <a:ext uri="{FF2B5EF4-FFF2-40B4-BE49-F238E27FC236}">
                  <a16:creationId xmlns:a16="http://schemas.microsoft.com/office/drawing/2014/main" id="{AEB6D5CF-622D-62B0-43D0-5BB750F190FB}"/>
                </a:ext>
              </a:extLst>
            </p:cNvPr>
            <p:cNvGrpSpPr/>
            <p:nvPr/>
          </p:nvGrpSpPr>
          <p:grpSpPr>
            <a:xfrm>
              <a:off x="0" y="0"/>
              <a:ext cx="2107704" cy="2241545"/>
              <a:chOff x="0" y="0"/>
              <a:chExt cx="2107704" cy="2241545"/>
            </a:xfrm>
          </p:grpSpPr>
          <p:sp>
            <p:nvSpPr>
              <p:cNvPr id="30" name="Rectangle 29">
                <a:extLst>
                  <a:ext uri="{FF2B5EF4-FFF2-40B4-BE49-F238E27FC236}">
                    <a16:creationId xmlns:a16="http://schemas.microsoft.com/office/drawing/2014/main" id="{1A129B17-D605-7571-0524-A7547B8B11E6}"/>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Rectangle 30">
                <a:extLst>
                  <a:ext uri="{FF2B5EF4-FFF2-40B4-BE49-F238E27FC236}">
                    <a16:creationId xmlns:a16="http://schemas.microsoft.com/office/drawing/2014/main" id="{EEEEC433-D74F-2C52-BBE0-1EEF9B34F27D}"/>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7" name="Group 26">
              <a:extLst>
                <a:ext uri="{FF2B5EF4-FFF2-40B4-BE49-F238E27FC236}">
                  <a16:creationId xmlns:a16="http://schemas.microsoft.com/office/drawing/2014/main" id="{A3232946-CF89-F244-EB15-E676FC97A262}"/>
                </a:ext>
              </a:extLst>
            </p:cNvPr>
            <p:cNvGrpSpPr/>
            <p:nvPr/>
          </p:nvGrpSpPr>
          <p:grpSpPr>
            <a:xfrm flipH="1" flipV="1">
              <a:off x="1053853" y="1059210"/>
              <a:ext cx="2107703" cy="1988840"/>
              <a:chOff x="1580778" y="1268760"/>
              <a:chExt cx="2107703" cy="1988840"/>
            </a:xfrm>
          </p:grpSpPr>
          <p:sp>
            <p:nvSpPr>
              <p:cNvPr id="28" name="Rectangle 27">
                <a:extLst>
                  <a:ext uri="{FF2B5EF4-FFF2-40B4-BE49-F238E27FC236}">
                    <a16:creationId xmlns:a16="http://schemas.microsoft.com/office/drawing/2014/main" id="{E211BD58-0047-47AF-FFF4-DD8189F8B08A}"/>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9" name="Rectangle 28">
                <a:extLst>
                  <a:ext uri="{FF2B5EF4-FFF2-40B4-BE49-F238E27FC236}">
                    <a16:creationId xmlns:a16="http://schemas.microsoft.com/office/drawing/2014/main" id="{1DAB478C-768E-FAA5-A127-5EDE53DC17C1}"/>
                  </a:ext>
                </a:extLst>
              </p:cNvPr>
              <p:cNvSpPr/>
              <p:nvPr/>
            </p:nvSpPr>
            <p:spPr>
              <a:xfrm rot="5400000">
                <a:off x="2758303" y="1145086"/>
                <a:ext cx="806504" cy="105385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10" name="Group 9">
            <a:extLst>
              <a:ext uri="{FF2B5EF4-FFF2-40B4-BE49-F238E27FC236}">
                <a16:creationId xmlns:a16="http://schemas.microsoft.com/office/drawing/2014/main" id="{533D8B3C-6C9E-C6FA-2C39-51964971009C}"/>
              </a:ext>
            </a:extLst>
          </p:cNvPr>
          <p:cNvGrpSpPr/>
          <p:nvPr/>
        </p:nvGrpSpPr>
        <p:grpSpPr>
          <a:xfrm>
            <a:off x="1" y="0"/>
            <a:ext cx="909836" cy="934465"/>
            <a:chOff x="0" y="0"/>
            <a:chExt cx="3161556" cy="3048050"/>
          </a:xfrm>
        </p:grpSpPr>
        <p:grpSp>
          <p:nvGrpSpPr>
            <p:cNvPr id="11" name="Group 10">
              <a:extLst>
                <a:ext uri="{FF2B5EF4-FFF2-40B4-BE49-F238E27FC236}">
                  <a16:creationId xmlns:a16="http://schemas.microsoft.com/office/drawing/2014/main" id="{F704A578-1099-28FD-5F33-0664A12AEC2E}"/>
                </a:ext>
              </a:extLst>
            </p:cNvPr>
            <p:cNvGrpSpPr/>
            <p:nvPr/>
          </p:nvGrpSpPr>
          <p:grpSpPr>
            <a:xfrm>
              <a:off x="0" y="0"/>
              <a:ext cx="2107704" cy="1988840"/>
              <a:chOff x="0" y="0"/>
              <a:chExt cx="2107704" cy="1988840"/>
            </a:xfrm>
          </p:grpSpPr>
          <p:sp>
            <p:nvSpPr>
              <p:cNvPr id="15" name="Rectangle 14">
                <a:extLst>
                  <a:ext uri="{FF2B5EF4-FFF2-40B4-BE49-F238E27FC236}">
                    <a16:creationId xmlns:a16="http://schemas.microsoft.com/office/drawing/2014/main" id="{8E4A59B0-7DCC-021C-6D19-7817F147D282}"/>
                  </a:ext>
                </a:extLst>
              </p:cNvPr>
              <p:cNvSpPr/>
              <p:nvPr/>
            </p:nvSpPr>
            <p:spPr>
              <a:xfrm>
                <a:off x="0" y="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EC124658-C6CF-ABEB-D73C-A3E1D1D85E3B}"/>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2" name="Group 11">
              <a:extLst>
                <a:ext uri="{FF2B5EF4-FFF2-40B4-BE49-F238E27FC236}">
                  <a16:creationId xmlns:a16="http://schemas.microsoft.com/office/drawing/2014/main" id="{A1574D4E-DC3D-4843-B0C2-B7E46061EE64}"/>
                </a:ext>
              </a:extLst>
            </p:cNvPr>
            <p:cNvGrpSpPr/>
            <p:nvPr/>
          </p:nvGrpSpPr>
          <p:grpSpPr>
            <a:xfrm flipH="1" flipV="1">
              <a:off x="1053852" y="1059210"/>
              <a:ext cx="2107704" cy="1988840"/>
              <a:chOff x="1580778" y="1268760"/>
              <a:chExt cx="2107704" cy="1988840"/>
            </a:xfrm>
          </p:grpSpPr>
          <p:sp>
            <p:nvSpPr>
              <p:cNvPr id="13" name="Rectangle 12">
                <a:extLst>
                  <a:ext uri="{FF2B5EF4-FFF2-40B4-BE49-F238E27FC236}">
                    <a16:creationId xmlns:a16="http://schemas.microsoft.com/office/drawing/2014/main" id="{96398BAB-1F34-A350-FEA6-9368C002CE95}"/>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Rectangle 13">
                <a:extLst>
                  <a:ext uri="{FF2B5EF4-FFF2-40B4-BE49-F238E27FC236}">
                    <a16:creationId xmlns:a16="http://schemas.microsoft.com/office/drawing/2014/main" id="{12641DAE-9013-D3BC-8080-21D21A9A8299}"/>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sp>
        <p:nvSpPr>
          <p:cNvPr id="32" name="TextBox 31">
            <a:extLst>
              <a:ext uri="{FF2B5EF4-FFF2-40B4-BE49-F238E27FC236}">
                <a16:creationId xmlns:a16="http://schemas.microsoft.com/office/drawing/2014/main" id="{BC4DDC80-1761-C557-CD15-348B6E9C89B5}"/>
              </a:ext>
            </a:extLst>
          </p:cNvPr>
          <p:cNvSpPr txBox="1"/>
          <p:nvPr/>
        </p:nvSpPr>
        <p:spPr>
          <a:xfrm>
            <a:off x="1407752" y="1246935"/>
            <a:ext cx="2520280" cy="461665"/>
          </a:xfrm>
          <a:prstGeom prst="rect">
            <a:avLst/>
          </a:prstGeom>
          <a:noFill/>
        </p:spPr>
        <p:txBody>
          <a:bodyPr wrap="square" rtlCol="0">
            <a:spAutoFit/>
          </a:bodyPr>
          <a:lstStyle/>
          <a:p>
            <a:r>
              <a:rPr lang="en-US" b="1">
                <a:solidFill>
                  <a:schemeClr val="accent4"/>
                </a:solidFill>
              </a:rPr>
              <a:t>Key Objectives</a:t>
            </a:r>
            <a:endParaRPr lang="en-PH" b="1">
              <a:solidFill>
                <a:schemeClr val="accent4"/>
              </a:solidFill>
            </a:endParaRPr>
          </a:p>
        </p:txBody>
      </p:sp>
      <p:sp>
        <p:nvSpPr>
          <p:cNvPr id="34" name="TextBox 33">
            <a:extLst>
              <a:ext uri="{FF2B5EF4-FFF2-40B4-BE49-F238E27FC236}">
                <a16:creationId xmlns:a16="http://schemas.microsoft.com/office/drawing/2014/main" id="{B2BB86A1-3C6A-A5EF-5603-309FF2988487}"/>
              </a:ext>
            </a:extLst>
          </p:cNvPr>
          <p:cNvSpPr txBox="1"/>
          <p:nvPr/>
        </p:nvSpPr>
        <p:spPr>
          <a:xfrm>
            <a:off x="1428440" y="1764498"/>
            <a:ext cx="795205" cy="276999"/>
          </a:xfrm>
          <a:prstGeom prst="rect">
            <a:avLst/>
          </a:prstGeom>
          <a:noFill/>
        </p:spPr>
        <p:txBody>
          <a:bodyPr wrap="square" rtlCol="0">
            <a:spAutoFit/>
          </a:bodyPr>
          <a:lstStyle/>
          <a:p>
            <a:r>
              <a:rPr lang="en-US" sz="1200">
                <a:solidFill>
                  <a:schemeClr val="accent4"/>
                </a:solidFill>
              </a:rPr>
              <a:t>01</a:t>
            </a:r>
            <a:endParaRPr lang="en-PH" sz="1200">
              <a:solidFill>
                <a:schemeClr val="accent4"/>
              </a:solidFill>
            </a:endParaRPr>
          </a:p>
        </p:txBody>
      </p:sp>
      <p:sp>
        <p:nvSpPr>
          <p:cNvPr id="35" name="TextBox 34">
            <a:extLst>
              <a:ext uri="{FF2B5EF4-FFF2-40B4-BE49-F238E27FC236}">
                <a16:creationId xmlns:a16="http://schemas.microsoft.com/office/drawing/2014/main" id="{31946E25-4452-01F0-326B-62273E8EBEAB}"/>
              </a:ext>
            </a:extLst>
          </p:cNvPr>
          <p:cNvSpPr txBox="1"/>
          <p:nvPr/>
        </p:nvSpPr>
        <p:spPr>
          <a:xfrm>
            <a:off x="2171851" y="1755863"/>
            <a:ext cx="3763975" cy="461665"/>
          </a:xfrm>
          <a:prstGeom prst="rect">
            <a:avLst/>
          </a:prstGeom>
          <a:noFill/>
        </p:spPr>
        <p:txBody>
          <a:bodyPr wrap="square" rtlCol="0">
            <a:spAutoFit/>
          </a:bodyPr>
          <a:lstStyle/>
          <a:p>
            <a:r>
              <a:rPr lang="en-US" sz="1200" b="1"/>
              <a:t>Version Control</a:t>
            </a:r>
          </a:p>
          <a:p>
            <a:r>
              <a:rPr lang="en-US" sz="1200"/>
              <a:t>Maintain version control of every change/approval</a:t>
            </a:r>
            <a:endParaRPr lang="en-PH" sz="1200"/>
          </a:p>
        </p:txBody>
      </p:sp>
      <p:sp>
        <p:nvSpPr>
          <p:cNvPr id="36" name="TextBox 35">
            <a:extLst>
              <a:ext uri="{FF2B5EF4-FFF2-40B4-BE49-F238E27FC236}">
                <a16:creationId xmlns:a16="http://schemas.microsoft.com/office/drawing/2014/main" id="{36C0946A-82C4-18E3-C4EA-66B078065286}"/>
              </a:ext>
            </a:extLst>
          </p:cNvPr>
          <p:cNvSpPr txBox="1"/>
          <p:nvPr/>
        </p:nvSpPr>
        <p:spPr>
          <a:xfrm>
            <a:off x="1424452" y="2229075"/>
            <a:ext cx="795205" cy="276999"/>
          </a:xfrm>
          <a:prstGeom prst="rect">
            <a:avLst/>
          </a:prstGeom>
          <a:noFill/>
        </p:spPr>
        <p:txBody>
          <a:bodyPr wrap="square" rtlCol="0">
            <a:spAutoFit/>
          </a:bodyPr>
          <a:lstStyle/>
          <a:p>
            <a:r>
              <a:rPr lang="en-US" sz="1200">
                <a:solidFill>
                  <a:schemeClr val="accent4"/>
                </a:solidFill>
              </a:rPr>
              <a:t>02</a:t>
            </a:r>
            <a:endParaRPr lang="en-PH" sz="1200">
              <a:solidFill>
                <a:schemeClr val="accent4"/>
              </a:solidFill>
            </a:endParaRPr>
          </a:p>
        </p:txBody>
      </p:sp>
      <p:sp>
        <p:nvSpPr>
          <p:cNvPr id="37" name="TextBox 36">
            <a:extLst>
              <a:ext uri="{FF2B5EF4-FFF2-40B4-BE49-F238E27FC236}">
                <a16:creationId xmlns:a16="http://schemas.microsoft.com/office/drawing/2014/main" id="{0A77C323-7F86-EF0F-4A2D-3DD301D76A1E}"/>
              </a:ext>
            </a:extLst>
          </p:cNvPr>
          <p:cNvSpPr txBox="1"/>
          <p:nvPr/>
        </p:nvSpPr>
        <p:spPr>
          <a:xfrm>
            <a:off x="2188265" y="2221110"/>
            <a:ext cx="3024354" cy="461665"/>
          </a:xfrm>
          <a:prstGeom prst="rect">
            <a:avLst/>
          </a:prstGeom>
          <a:noFill/>
        </p:spPr>
        <p:txBody>
          <a:bodyPr wrap="square" rtlCol="0">
            <a:spAutoFit/>
          </a:bodyPr>
          <a:lstStyle/>
          <a:p>
            <a:r>
              <a:rPr lang="en-US" sz="1200" b="1"/>
              <a:t>HL  Test Strategy and Approach</a:t>
            </a:r>
          </a:p>
          <a:p>
            <a:r>
              <a:rPr lang="en-US" sz="1200"/>
              <a:t>Open with Executive Summary</a:t>
            </a:r>
            <a:endParaRPr lang="en-PH" sz="1200"/>
          </a:p>
        </p:txBody>
      </p:sp>
      <p:sp>
        <p:nvSpPr>
          <p:cNvPr id="38" name="TextBox 37">
            <a:extLst>
              <a:ext uri="{FF2B5EF4-FFF2-40B4-BE49-F238E27FC236}">
                <a16:creationId xmlns:a16="http://schemas.microsoft.com/office/drawing/2014/main" id="{A1C6F0E7-57AF-AE3C-4E29-CAA2260A08ED}"/>
              </a:ext>
            </a:extLst>
          </p:cNvPr>
          <p:cNvSpPr txBox="1"/>
          <p:nvPr/>
        </p:nvSpPr>
        <p:spPr>
          <a:xfrm>
            <a:off x="1433155" y="2689404"/>
            <a:ext cx="795205" cy="276999"/>
          </a:xfrm>
          <a:prstGeom prst="rect">
            <a:avLst/>
          </a:prstGeom>
          <a:noFill/>
        </p:spPr>
        <p:txBody>
          <a:bodyPr wrap="square" rtlCol="0">
            <a:spAutoFit/>
          </a:bodyPr>
          <a:lstStyle/>
          <a:p>
            <a:r>
              <a:rPr lang="en-US" sz="1200">
                <a:solidFill>
                  <a:schemeClr val="accent4"/>
                </a:solidFill>
              </a:rPr>
              <a:t>03</a:t>
            </a:r>
            <a:endParaRPr lang="en-PH" sz="1200">
              <a:solidFill>
                <a:schemeClr val="accent4"/>
              </a:solidFill>
            </a:endParaRPr>
          </a:p>
        </p:txBody>
      </p:sp>
      <p:sp>
        <p:nvSpPr>
          <p:cNvPr id="39" name="TextBox 38">
            <a:extLst>
              <a:ext uri="{FF2B5EF4-FFF2-40B4-BE49-F238E27FC236}">
                <a16:creationId xmlns:a16="http://schemas.microsoft.com/office/drawing/2014/main" id="{037F4938-A3D5-CE1C-E330-0DE72D0066E4}"/>
              </a:ext>
            </a:extLst>
          </p:cNvPr>
          <p:cNvSpPr txBox="1"/>
          <p:nvPr/>
        </p:nvSpPr>
        <p:spPr>
          <a:xfrm>
            <a:off x="2196968" y="2688322"/>
            <a:ext cx="3024354" cy="276999"/>
          </a:xfrm>
          <a:prstGeom prst="rect">
            <a:avLst/>
          </a:prstGeom>
          <a:noFill/>
        </p:spPr>
        <p:txBody>
          <a:bodyPr wrap="square" rtlCol="0">
            <a:spAutoFit/>
          </a:bodyPr>
          <a:lstStyle/>
          <a:p>
            <a:r>
              <a:rPr lang="en-US" sz="1200" b="1" dirty="0"/>
              <a:t>In Scope Testing Cycles (&amp;Out)</a:t>
            </a:r>
          </a:p>
        </p:txBody>
      </p:sp>
      <p:sp>
        <p:nvSpPr>
          <p:cNvPr id="40" name="TextBox 39">
            <a:extLst>
              <a:ext uri="{FF2B5EF4-FFF2-40B4-BE49-F238E27FC236}">
                <a16:creationId xmlns:a16="http://schemas.microsoft.com/office/drawing/2014/main" id="{37FF260D-EE00-1E21-AFCB-3612E4F60071}"/>
              </a:ext>
            </a:extLst>
          </p:cNvPr>
          <p:cNvSpPr txBox="1"/>
          <p:nvPr/>
        </p:nvSpPr>
        <p:spPr>
          <a:xfrm>
            <a:off x="1433155" y="3147373"/>
            <a:ext cx="795205" cy="276999"/>
          </a:xfrm>
          <a:prstGeom prst="rect">
            <a:avLst/>
          </a:prstGeom>
          <a:noFill/>
        </p:spPr>
        <p:txBody>
          <a:bodyPr wrap="square" rtlCol="0">
            <a:spAutoFit/>
          </a:bodyPr>
          <a:lstStyle/>
          <a:p>
            <a:r>
              <a:rPr lang="en-US" sz="1200">
                <a:solidFill>
                  <a:schemeClr val="accent4"/>
                </a:solidFill>
              </a:rPr>
              <a:t>04</a:t>
            </a:r>
            <a:endParaRPr lang="en-PH" sz="1200">
              <a:solidFill>
                <a:schemeClr val="accent4"/>
              </a:solidFill>
            </a:endParaRPr>
          </a:p>
        </p:txBody>
      </p:sp>
      <p:sp>
        <p:nvSpPr>
          <p:cNvPr id="41" name="TextBox 40">
            <a:extLst>
              <a:ext uri="{FF2B5EF4-FFF2-40B4-BE49-F238E27FC236}">
                <a16:creationId xmlns:a16="http://schemas.microsoft.com/office/drawing/2014/main" id="{0067D50E-520E-6D99-B880-0C0027B362BD}"/>
              </a:ext>
            </a:extLst>
          </p:cNvPr>
          <p:cNvSpPr txBox="1"/>
          <p:nvPr/>
        </p:nvSpPr>
        <p:spPr>
          <a:xfrm>
            <a:off x="2196968" y="3143910"/>
            <a:ext cx="3024354" cy="276999"/>
          </a:xfrm>
          <a:prstGeom prst="rect">
            <a:avLst/>
          </a:prstGeom>
          <a:noFill/>
        </p:spPr>
        <p:txBody>
          <a:bodyPr wrap="square" rtlCol="0">
            <a:spAutoFit/>
          </a:bodyPr>
          <a:lstStyle/>
          <a:p>
            <a:r>
              <a:rPr lang="en-US" sz="1200" b="1" dirty="0"/>
              <a:t>Assumptions &amp; Dependencies</a:t>
            </a:r>
          </a:p>
        </p:txBody>
      </p:sp>
      <p:sp>
        <p:nvSpPr>
          <p:cNvPr id="4" name="TextBox 3">
            <a:extLst>
              <a:ext uri="{FF2B5EF4-FFF2-40B4-BE49-F238E27FC236}">
                <a16:creationId xmlns:a16="http://schemas.microsoft.com/office/drawing/2014/main" id="{CC7E25E5-E152-C735-DD47-2806EC9C346E}"/>
              </a:ext>
            </a:extLst>
          </p:cNvPr>
          <p:cNvSpPr txBox="1"/>
          <p:nvPr/>
        </p:nvSpPr>
        <p:spPr>
          <a:xfrm>
            <a:off x="1441768" y="3586310"/>
            <a:ext cx="795205" cy="276999"/>
          </a:xfrm>
          <a:prstGeom prst="rect">
            <a:avLst/>
          </a:prstGeom>
          <a:noFill/>
        </p:spPr>
        <p:txBody>
          <a:bodyPr wrap="square" rtlCol="0">
            <a:spAutoFit/>
          </a:bodyPr>
          <a:lstStyle/>
          <a:p>
            <a:r>
              <a:rPr lang="en-US" sz="1200">
                <a:solidFill>
                  <a:schemeClr val="accent4"/>
                </a:solidFill>
              </a:rPr>
              <a:t>05</a:t>
            </a:r>
            <a:endParaRPr lang="en-PH" sz="1200">
              <a:solidFill>
                <a:schemeClr val="accent4"/>
              </a:solidFill>
            </a:endParaRPr>
          </a:p>
        </p:txBody>
      </p:sp>
      <p:sp>
        <p:nvSpPr>
          <p:cNvPr id="5" name="TextBox 4">
            <a:extLst>
              <a:ext uri="{FF2B5EF4-FFF2-40B4-BE49-F238E27FC236}">
                <a16:creationId xmlns:a16="http://schemas.microsoft.com/office/drawing/2014/main" id="{1C40F15F-67A6-A0E1-9921-1B69A443E58F}"/>
              </a:ext>
            </a:extLst>
          </p:cNvPr>
          <p:cNvSpPr txBox="1"/>
          <p:nvPr/>
        </p:nvSpPr>
        <p:spPr>
          <a:xfrm>
            <a:off x="2185180" y="3577675"/>
            <a:ext cx="3024354" cy="461665"/>
          </a:xfrm>
          <a:prstGeom prst="rect">
            <a:avLst/>
          </a:prstGeom>
          <a:noFill/>
        </p:spPr>
        <p:txBody>
          <a:bodyPr wrap="square" rtlCol="0">
            <a:spAutoFit/>
          </a:bodyPr>
          <a:lstStyle/>
          <a:p>
            <a:r>
              <a:rPr lang="en-US" sz="1200" b="1" dirty="0"/>
              <a:t>Testing Support</a:t>
            </a:r>
          </a:p>
          <a:p>
            <a:r>
              <a:rPr lang="en-US" sz="1200" dirty="0"/>
              <a:t>Includes Env, OS, Data, and Resources.</a:t>
            </a:r>
            <a:endParaRPr lang="en-PH" sz="1200" dirty="0"/>
          </a:p>
        </p:txBody>
      </p:sp>
      <p:sp>
        <p:nvSpPr>
          <p:cNvPr id="6" name="TextBox 5">
            <a:extLst>
              <a:ext uri="{FF2B5EF4-FFF2-40B4-BE49-F238E27FC236}">
                <a16:creationId xmlns:a16="http://schemas.microsoft.com/office/drawing/2014/main" id="{B5D89D32-B26E-1A78-9629-E641A1128C98}"/>
              </a:ext>
            </a:extLst>
          </p:cNvPr>
          <p:cNvSpPr txBox="1"/>
          <p:nvPr/>
        </p:nvSpPr>
        <p:spPr>
          <a:xfrm>
            <a:off x="1437780" y="4050887"/>
            <a:ext cx="795205" cy="276999"/>
          </a:xfrm>
          <a:prstGeom prst="rect">
            <a:avLst/>
          </a:prstGeom>
          <a:noFill/>
        </p:spPr>
        <p:txBody>
          <a:bodyPr wrap="square" rtlCol="0">
            <a:spAutoFit/>
          </a:bodyPr>
          <a:lstStyle/>
          <a:p>
            <a:r>
              <a:rPr lang="en-US" sz="1200">
                <a:solidFill>
                  <a:schemeClr val="accent4"/>
                </a:solidFill>
              </a:rPr>
              <a:t>06</a:t>
            </a:r>
            <a:endParaRPr lang="en-PH" sz="1200">
              <a:solidFill>
                <a:schemeClr val="accent4"/>
              </a:solidFill>
            </a:endParaRPr>
          </a:p>
        </p:txBody>
      </p:sp>
      <p:sp>
        <p:nvSpPr>
          <p:cNvPr id="7" name="TextBox 6">
            <a:extLst>
              <a:ext uri="{FF2B5EF4-FFF2-40B4-BE49-F238E27FC236}">
                <a16:creationId xmlns:a16="http://schemas.microsoft.com/office/drawing/2014/main" id="{17724C9F-E381-AA65-62E8-539D317F66B7}"/>
              </a:ext>
            </a:extLst>
          </p:cNvPr>
          <p:cNvSpPr txBox="1"/>
          <p:nvPr/>
        </p:nvSpPr>
        <p:spPr>
          <a:xfrm>
            <a:off x="2201593" y="4042922"/>
            <a:ext cx="3024354" cy="276999"/>
          </a:xfrm>
          <a:prstGeom prst="rect">
            <a:avLst/>
          </a:prstGeom>
          <a:noFill/>
        </p:spPr>
        <p:txBody>
          <a:bodyPr wrap="square" rtlCol="0">
            <a:spAutoFit/>
          </a:bodyPr>
          <a:lstStyle/>
          <a:p>
            <a:r>
              <a:rPr lang="en-US" sz="1200" b="1" dirty="0"/>
              <a:t>RACI </a:t>
            </a:r>
          </a:p>
        </p:txBody>
      </p:sp>
      <p:sp>
        <p:nvSpPr>
          <p:cNvPr id="8" name="TextBox 7">
            <a:extLst>
              <a:ext uri="{FF2B5EF4-FFF2-40B4-BE49-F238E27FC236}">
                <a16:creationId xmlns:a16="http://schemas.microsoft.com/office/drawing/2014/main" id="{96713FC6-D30C-F0B8-3959-415539FEA740}"/>
              </a:ext>
            </a:extLst>
          </p:cNvPr>
          <p:cNvSpPr txBox="1"/>
          <p:nvPr/>
        </p:nvSpPr>
        <p:spPr>
          <a:xfrm>
            <a:off x="1446483" y="4511216"/>
            <a:ext cx="795205" cy="276999"/>
          </a:xfrm>
          <a:prstGeom prst="rect">
            <a:avLst/>
          </a:prstGeom>
          <a:noFill/>
        </p:spPr>
        <p:txBody>
          <a:bodyPr wrap="square" rtlCol="0">
            <a:spAutoFit/>
          </a:bodyPr>
          <a:lstStyle/>
          <a:p>
            <a:r>
              <a:rPr lang="en-US" sz="1200">
                <a:solidFill>
                  <a:schemeClr val="accent4"/>
                </a:solidFill>
              </a:rPr>
              <a:t>07</a:t>
            </a:r>
            <a:endParaRPr lang="en-PH" sz="1200">
              <a:solidFill>
                <a:schemeClr val="accent4"/>
              </a:solidFill>
            </a:endParaRPr>
          </a:p>
        </p:txBody>
      </p:sp>
      <p:sp>
        <p:nvSpPr>
          <p:cNvPr id="17" name="TextBox 16">
            <a:extLst>
              <a:ext uri="{FF2B5EF4-FFF2-40B4-BE49-F238E27FC236}">
                <a16:creationId xmlns:a16="http://schemas.microsoft.com/office/drawing/2014/main" id="{2B19F8FE-B603-A106-7853-9E474EDD6515}"/>
              </a:ext>
            </a:extLst>
          </p:cNvPr>
          <p:cNvSpPr txBox="1"/>
          <p:nvPr/>
        </p:nvSpPr>
        <p:spPr>
          <a:xfrm>
            <a:off x="2210296" y="4510134"/>
            <a:ext cx="3024354" cy="276999"/>
          </a:xfrm>
          <a:prstGeom prst="rect">
            <a:avLst/>
          </a:prstGeom>
          <a:noFill/>
        </p:spPr>
        <p:txBody>
          <a:bodyPr wrap="square" rtlCol="0">
            <a:spAutoFit/>
          </a:bodyPr>
          <a:lstStyle/>
          <a:p>
            <a:r>
              <a:rPr lang="en-US" sz="1200" b="1" dirty="0"/>
              <a:t>Roles &amp; Responsibilities</a:t>
            </a:r>
          </a:p>
        </p:txBody>
      </p:sp>
      <p:sp>
        <p:nvSpPr>
          <p:cNvPr id="22" name="TextBox 21">
            <a:extLst>
              <a:ext uri="{FF2B5EF4-FFF2-40B4-BE49-F238E27FC236}">
                <a16:creationId xmlns:a16="http://schemas.microsoft.com/office/drawing/2014/main" id="{248AAAAA-323F-080B-2B71-1D6A5F282515}"/>
              </a:ext>
            </a:extLst>
          </p:cNvPr>
          <p:cNvSpPr txBox="1"/>
          <p:nvPr/>
        </p:nvSpPr>
        <p:spPr>
          <a:xfrm>
            <a:off x="1446483" y="4969185"/>
            <a:ext cx="795205" cy="276999"/>
          </a:xfrm>
          <a:prstGeom prst="rect">
            <a:avLst/>
          </a:prstGeom>
          <a:noFill/>
        </p:spPr>
        <p:txBody>
          <a:bodyPr wrap="square" rtlCol="0">
            <a:spAutoFit/>
          </a:bodyPr>
          <a:lstStyle/>
          <a:p>
            <a:r>
              <a:rPr lang="en-US" sz="1200">
                <a:solidFill>
                  <a:schemeClr val="accent4"/>
                </a:solidFill>
              </a:rPr>
              <a:t>08</a:t>
            </a:r>
            <a:endParaRPr lang="en-PH" sz="1200">
              <a:solidFill>
                <a:schemeClr val="accent4"/>
              </a:solidFill>
            </a:endParaRPr>
          </a:p>
        </p:txBody>
      </p:sp>
      <p:sp>
        <p:nvSpPr>
          <p:cNvPr id="23" name="TextBox 22">
            <a:extLst>
              <a:ext uri="{FF2B5EF4-FFF2-40B4-BE49-F238E27FC236}">
                <a16:creationId xmlns:a16="http://schemas.microsoft.com/office/drawing/2014/main" id="{885136AF-9227-BFC1-4D33-AB4C21C473F9}"/>
              </a:ext>
            </a:extLst>
          </p:cNvPr>
          <p:cNvSpPr txBox="1"/>
          <p:nvPr/>
        </p:nvSpPr>
        <p:spPr>
          <a:xfrm>
            <a:off x="2220221" y="4965722"/>
            <a:ext cx="3461087" cy="830997"/>
          </a:xfrm>
          <a:prstGeom prst="rect">
            <a:avLst/>
          </a:prstGeom>
          <a:noFill/>
        </p:spPr>
        <p:txBody>
          <a:bodyPr wrap="square" rtlCol="0">
            <a:spAutoFit/>
          </a:bodyPr>
          <a:lstStyle/>
          <a:p>
            <a:r>
              <a:rPr lang="en-US" sz="1200" b="1"/>
              <a:t>High Level Timelines/Gantt </a:t>
            </a:r>
          </a:p>
          <a:p>
            <a:r>
              <a:rPr lang="en-US" sz="1200"/>
              <a:t>Specific timelines to be clarified specifically in Test Plans. This is representative of a Stacked Testing Approach</a:t>
            </a:r>
            <a:endParaRPr lang="en-PH" sz="1200"/>
          </a:p>
        </p:txBody>
      </p:sp>
      <p:sp>
        <p:nvSpPr>
          <p:cNvPr id="24" name="TextBox 23">
            <a:extLst>
              <a:ext uri="{FF2B5EF4-FFF2-40B4-BE49-F238E27FC236}">
                <a16:creationId xmlns:a16="http://schemas.microsoft.com/office/drawing/2014/main" id="{66AA81A3-A5E1-E779-7326-7939851118C7}"/>
              </a:ext>
            </a:extLst>
          </p:cNvPr>
          <p:cNvSpPr txBox="1"/>
          <p:nvPr/>
        </p:nvSpPr>
        <p:spPr>
          <a:xfrm>
            <a:off x="5956227" y="1773133"/>
            <a:ext cx="795205" cy="276999"/>
          </a:xfrm>
          <a:prstGeom prst="rect">
            <a:avLst/>
          </a:prstGeom>
          <a:noFill/>
        </p:spPr>
        <p:txBody>
          <a:bodyPr wrap="square" rtlCol="0">
            <a:spAutoFit/>
          </a:bodyPr>
          <a:lstStyle/>
          <a:p>
            <a:r>
              <a:rPr lang="en-US" sz="1200">
                <a:solidFill>
                  <a:schemeClr val="accent4"/>
                </a:solidFill>
              </a:rPr>
              <a:t>09</a:t>
            </a:r>
            <a:endParaRPr lang="en-PH" sz="1200">
              <a:solidFill>
                <a:schemeClr val="accent4"/>
              </a:solidFill>
            </a:endParaRPr>
          </a:p>
        </p:txBody>
      </p:sp>
      <p:sp>
        <p:nvSpPr>
          <p:cNvPr id="33" name="TextBox 32">
            <a:extLst>
              <a:ext uri="{FF2B5EF4-FFF2-40B4-BE49-F238E27FC236}">
                <a16:creationId xmlns:a16="http://schemas.microsoft.com/office/drawing/2014/main" id="{743106BD-5C3F-9B2B-27EC-C9CE6401662B}"/>
              </a:ext>
            </a:extLst>
          </p:cNvPr>
          <p:cNvSpPr txBox="1"/>
          <p:nvPr/>
        </p:nvSpPr>
        <p:spPr>
          <a:xfrm>
            <a:off x="6699639" y="1764498"/>
            <a:ext cx="3024354" cy="461665"/>
          </a:xfrm>
          <a:prstGeom prst="rect">
            <a:avLst/>
          </a:prstGeom>
          <a:noFill/>
        </p:spPr>
        <p:txBody>
          <a:bodyPr wrap="square" rtlCol="0">
            <a:spAutoFit/>
          </a:bodyPr>
          <a:lstStyle/>
          <a:p>
            <a:r>
              <a:rPr lang="en-US" sz="1200" b="1"/>
              <a:t>Test Scenarios/Features </a:t>
            </a:r>
          </a:p>
          <a:p>
            <a:r>
              <a:rPr lang="en-US" sz="1200"/>
              <a:t>Scope of Delivery</a:t>
            </a:r>
            <a:endParaRPr lang="en-PH" sz="1200"/>
          </a:p>
        </p:txBody>
      </p:sp>
      <p:sp>
        <p:nvSpPr>
          <p:cNvPr id="43" name="TextBox 42">
            <a:extLst>
              <a:ext uri="{FF2B5EF4-FFF2-40B4-BE49-F238E27FC236}">
                <a16:creationId xmlns:a16="http://schemas.microsoft.com/office/drawing/2014/main" id="{886F149B-089C-0B61-9E9A-E32856BAFF6F}"/>
              </a:ext>
            </a:extLst>
          </p:cNvPr>
          <p:cNvSpPr txBox="1"/>
          <p:nvPr/>
        </p:nvSpPr>
        <p:spPr>
          <a:xfrm>
            <a:off x="6675748" y="2909068"/>
            <a:ext cx="5168442" cy="461665"/>
          </a:xfrm>
          <a:prstGeom prst="rect">
            <a:avLst/>
          </a:prstGeom>
          <a:noFill/>
        </p:spPr>
        <p:txBody>
          <a:bodyPr wrap="square" rtlCol="0">
            <a:spAutoFit/>
          </a:bodyPr>
          <a:lstStyle/>
          <a:p>
            <a:r>
              <a:rPr lang="en-US" sz="1200" b="1"/>
              <a:t>Entry &amp; Exit Criteria (s): Gating</a:t>
            </a:r>
          </a:p>
          <a:p>
            <a:r>
              <a:rPr lang="en-US" sz="1200"/>
              <a:t>High level – this can and should be further defined in a specific test plan</a:t>
            </a:r>
            <a:endParaRPr lang="en-PH" sz="1200"/>
          </a:p>
        </p:txBody>
      </p:sp>
      <p:sp>
        <p:nvSpPr>
          <p:cNvPr id="44" name="TextBox 43">
            <a:extLst>
              <a:ext uri="{FF2B5EF4-FFF2-40B4-BE49-F238E27FC236}">
                <a16:creationId xmlns:a16="http://schemas.microsoft.com/office/drawing/2014/main" id="{21B0909E-A8EE-D83F-4790-B18B849B3FDA}"/>
              </a:ext>
            </a:extLst>
          </p:cNvPr>
          <p:cNvSpPr txBox="1"/>
          <p:nvPr/>
        </p:nvSpPr>
        <p:spPr>
          <a:xfrm>
            <a:off x="5950380" y="2498205"/>
            <a:ext cx="795205" cy="276999"/>
          </a:xfrm>
          <a:prstGeom prst="rect">
            <a:avLst/>
          </a:prstGeom>
          <a:noFill/>
        </p:spPr>
        <p:txBody>
          <a:bodyPr wrap="square" rtlCol="0">
            <a:spAutoFit/>
          </a:bodyPr>
          <a:lstStyle/>
          <a:p>
            <a:r>
              <a:rPr lang="en-US" sz="1200" dirty="0">
                <a:solidFill>
                  <a:schemeClr val="accent4"/>
                </a:solidFill>
              </a:rPr>
              <a:t>10</a:t>
            </a:r>
            <a:endParaRPr lang="en-PH" sz="1200" dirty="0">
              <a:solidFill>
                <a:schemeClr val="accent4"/>
              </a:solidFill>
            </a:endParaRPr>
          </a:p>
        </p:txBody>
      </p:sp>
      <p:sp>
        <p:nvSpPr>
          <p:cNvPr id="48" name="TextBox 47">
            <a:extLst>
              <a:ext uri="{FF2B5EF4-FFF2-40B4-BE49-F238E27FC236}">
                <a16:creationId xmlns:a16="http://schemas.microsoft.com/office/drawing/2014/main" id="{5CC82D96-62F7-C48B-98E1-08E5F2A49013}"/>
              </a:ext>
            </a:extLst>
          </p:cNvPr>
          <p:cNvSpPr txBox="1"/>
          <p:nvPr/>
        </p:nvSpPr>
        <p:spPr>
          <a:xfrm>
            <a:off x="5985135" y="2972242"/>
            <a:ext cx="795205" cy="276999"/>
          </a:xfrm>
          <a:prstGeom prst="rect">
            <a:avLst/>
          </a:prstGeom>
          <a:noFill/>
        </p:spPr>
        <p:txBody>
          <a:bodyPr wrap="square" rtlCol="0">
            <a:spAutoFit/>
          </a:bodyPr>
          <a:lstStyle/>
          <a:p>
            <a:r>
              <a:rPr lang="en-US" sz="1200" dirty="0">
                <a:solidFill>
                  <a:schemeClr val="accent4"/>
                </a:solidFill>
              </a:rPr>
              <a:t>11</a:t>
            </a:r>
            <a:endParaRPr lang="en-PH" sz="1200" dirty="0">
              <a:solidFill>
                <a:schemeClr val="accent4"/>
              </a:solidFill>
            </a:endParaRPr>
          </a:p>
        </p:txBody>
      </p:sp>
      <p:sp>
        <p:nvSpPr>
          <p:cNvPr id="49" name="TextBox 48">
            <a:extLst>
              <a:ext uri="{FF2B5EF4-FFF2-40B4-BE49-F238E27FC236}">
                <a16:creationId xmlns:a16="http://schemas.microsoft.com/office/drawing/2014/main" id="{1070E907-DC07-8A90-9CE5-E47752C92113}"/>
              </a:ext>
            </a:extLst>
          </p:cNvPr>
          <p:cNvSpPr txBox="1"/>
          <p:nvPr/>
        </p:nvSpPr>
        <p:spPr>
          <a:xfrm>
            <a:off x="6684451" y="2456741"/>
            <a:ext cx="3787261" cy="276999"/>
          </a:xfrm>
          <a:prstGeom prst="rect">
            <a:avLst/>
          </a:prstGeom>
          <a:noFill/>
        </p:spPr>
        <p:txBody>
          <a:bodyPr wrap="square" rtlCol="0">
            <a:spAutoFit/>
          </a:bodyPr>
          <a:lstStyle/>
          <a:p>
            <a:r>
              <a:rPr lang="en-US" sz="1200" b="1" dirty="0"/>
              <a:t>Defect Management</a:t>
            </a:r>
          </a:p>
        </p:txBody>
      </p:sp>
      <p:sp>
        <p:nvSpPr>
          <p:cNvPr id="50" name="TextBox 49">
            <a:extLst>
              <a:ext uri="{FF2B5EF4-FFF2-40B4-BE49-F238E27FC236}">
                <a16:creationId xmlns:a16="http://schemas.microsoft.com/office/drawing/2014/main" id="{AEF9A2DD-2009-D8A3-489D-0547D5006782}"/>
              </a:ext>
            </a:extLst>
          </p:cNvPr>
          <p:cNvSpPr txBox="1"/>
          <p:nvPr/>
        </p:nvSpPr>
        <p:spPr>
          <a:xfrm>
            <a:off x="5950380" y="3525409"/>
            <a:ext cx="795205" cy="276999"/>
          </a:xfrm>
          <a:prstGeom prst="rect">
            <a:avLst/>
          </a:prstGeom>
          <a:noFill/>
        </p:spPr>
        <p:txBody>
          <a:bodyPr wrap="square" rtlCol="0">
            <a:spAutoFit/>
          </a:bodyPr>
          <a:lstStyle/>
          <a:p>
            <a:r>
              <a:rPr lang="en-US" sz="1200" dirty="0">
                <a:solidFill>
                  <a:schemeClr val="accent4"/>
                </a:solidFill>
              </a:rPr>
              <a:t>12</a:t>
            </a:r>
            <a:endParaRPr lang="en-PH" sz="1200" dirty="0">
              <a:solidFill>
                <a:schemeClr val="accent4"/>
              </a:solidFill>
            </a:endParaRPr>
          </a:p>
        </p:txBody>
      </p:sp>
      <p:sp>
        <p:nvSpPr>
          <p:cNvPr id="51" name="TextBox 50">
            <a:extLst>
              <a:ext uri="{FF2B5EF4-FFF2-40B4-BE49-F238E27FC236}">
                <a16:creationId xmlns:a16="http://schemas.microsoft.com/office/drawing/2014/main" id="{33840002-E6F6-D0B1-3AC9-ABA8462843EB}"/>
              </a:ext>
            </a:extLst>
          </p:cNvPr>
          <p:cNvSpPr txBox="1"/>
          <p:nvPr/>
        </p:nvSpPr>
        <p:spPr>
          <a:xfrm>
            <a:off x="6675748" y="3567771"/>
            <a:ext cx="3062799" cy="276999"/>
          </a:xfrm>
          <a:prstGeom prst="rect">
            <a:avLst/>
          </a:prstGeom>
          <a:noFill/>
        </p:spPr>
        <p:txBody>
          <a:bodyPr wrap="square" rtlCol="0">
            <a:spAutoFit/>
          </a:bodyPr>
          <a:lstStyle/>
          <a:p>
            <a:r>
              <a:rPr lang="en-US" sz="1200" b="1" dirty="0"/>
              <a:t>Daily Dashboards</a:t>
            </a:r>
          </a:p>
        </p:txBody>
      </p:sp>
      <p:sp>
        <p:nvSpPr>
          <p:cNvPr id="52" name="TextBox 51">
            <a:extLst>
              <a:ext uri="{FF2B5EF4-FFF2-40B4-BE49-F238E27FC236}">
                <a16:creationId xmlns:a16="http://schemas.microsoft.com/office/drawing/2014/main" id="{826EF49C-CFB5-CC9A-61CA-E71145B4FCDD}"/>
              </a:ext>
            </a:extLst>
          </p:cNvPr>
          <p:cNvSpPr txBox="1"/>
          <p:nvPr/>
        </p:nvSpPr>
        <p:spPr>
          <a:xfrm>
            <a:off x="5959083" y="4105542"/>
            <a:ext cx="795205" cy="276999"/>
          </a:xfrm>
          <a:prstGeom prst="rect">
            <a:avLst/>
          </a:prstGeom>
          <a:noFill/>
        </p:spPr>
        <p:txBody>
          <a:bodyPr wrap="square" rtlCol="0">
            <a:spAutoFit/>
          </a:bodyPr>
          <a:lstStyle/>
          <a:p>
            <a:r>
              <a:rPr lang="en-US" sz="1200" dirty="0">
                <a:solidFill>
                  <a:schemeClr val="accent4"/>
                </a:solidFill>
              </a:rPr>
              <a:t>13</a:t>
            </a:r>
            <a:endParaRPr lang="en-PH" sz="1200" dirty="0">
              <a:solidFill>
                <a:schemeClr val="accent4"/>
              </a:solidFill>
            </a:endParaRPr>
          </a:p>
        </p:txBody>
      </p:sp>
      <p:sp>
        <p:nvSpPr>
          <p:cNvPr id="53" name="TextBox 52">
            <a:extLst>
              <a:ext uri="{FF2B5EF4-FFF2-40B4-BE49-F238E27FC236}">
                <a16:creationId xmlns:a16="http://schemas.microsoft.com/office/drawing/2014/main" id="{A356A74D-59CB-683F-3FC2-46EE24627DA7}"/>
              </a:ext>
            </a:extLst>
          </p:cNvPr>
          <p:cNvSpPr txBox="1"/>
          <p:nvPr/>
        </p:nvSpPr>
        <p:spPr>
          <a:xfrm>
            <a:off x="6684451" y="4104460"/>
            <a:ext cx="4651358" cy="461665"/>
          </a:xfrm>
          <a:prstGeom prst="rect">
            <a:avLst/>
          </a:prstGeom>
          <a:noFill/>
        </p:spPr>
        <p:txBody>
          <a:bodyPr wrap="square" rtlCol="0">
            <a:spAutoFit/>
          </a:bodyPr>
          <a:lstStyle/>
          <a:p>
            <a:r>
              <a:rPr lang="en-US" sz="1200" b="1"/>
              <a:t>Cadence and Reporting Tools</a:t>
            </a:r>
          </a:p>
          <a:p>
            <a:r>
              <a:rPr lang="en-US" sz="1200"/>
              <a:t>Meeting and communication commitments</a:t>
            </a:r>
            <a:endParaRPr lang="en-PH" sz="1200"/>
          </a:p>
        </p:txBody>
      </p:sp>
      <p:pic>
        <p:nvPicPr>
          <p:cNvPr id="3" name="Picture 2" descr="BEll company logo">
            <a:extLst>
              <a:ext uri="{FF2B5EF4-FFF2-40B4-BE49-F238E27FC236}">
                <a16:creationId xmlns:a16="http://schemas.microsoft.com/office/drawing/2014/main" id="{EB455D78-DCB2-0074-9436-E99ABB50ABBB}"/>
              </a:ext>
            </a:extLst>
          </p:cNvPr>
          <p:cNvPicPr>
            <a:picLocks noChangeAspect="1"/>
          </p:cNvPicPr>
          <p:nvPr/>
        </p:nvPicPr>
        <p:blipFill>
          <a:blip r:embed="rId2"/>
          <a:stretch>
            <a:fillRect/>
          </a:stretch>
        </p:blipFill>
        <p:spPr>
          <a:xfrm>
            <a:off x="11009240" y="406805"/>
            <a:ext cx="514513" cy="400050"/>
          </a:xfrm>
          <a:prstGeom prst="rect">
            <a:avLst/>
          </a:prstGeom>
        </p:spPr>
      </p:pic>
      <p:sp>
        <p:nvSpPr>
          <p:cNvPr id="21" name="Title 8">
            <a:extLst>
              <a:ext uri="{FF2B5EF4-FFF2-40B4-BE49-F238E27FC236}">
                <a16:creationId xmlns:a16="http://schemas.microsoft.com/office/drawing/2014/main" id="{EC52A8DF-1A23-A484-82B3-9A1AF5BAF692}"/>
              </a:ext>
            </a:extLst>
          </p:cNvPr>
          <p:cNvSpPr txBox="1">
            <a:spLocks/>
          </p:cNvSpPr>
          <p:nvPr/>
        </p:nvSpPr>
        <p:spPr>
          <a:xfrm>
            <a:off x="1449161" y="509175"/>
            <a:ext cx="5053013" cy="595154"/>
          </a:xfrm>
          <a:prstGeom prst="rect">
            <a:avLst/>
          </a:prstGeom>
        </p:spPr>
        <p:txBody>
          <a:bodyPr vert="horz" lIns="0" tIns="60949" rIns="0" bIns="60949" rtlCol="0" anchor="ctr">
            <a:noAutofit/>
          </a:bodyPr>
          <a:lstStyle>
            <a:lvl1pPr algn="l" defTabSz="1218987" rtl="0" eaLnBrk="1" latinLnBrk="0" hangingPunct="1">
              <a:spcBef>
                <a:spcPct val="0"/>
              </a:spcBef>
              <a:buNone/>
              <a:defRPr sz="3600" b="1" kern="1200">
                <a:solidFill>
                  <a:schemeClr val="accent1"/>
                </a:solidFill>
                <a:latin typeface="+mj-lt"/>
                <a:ea typeface="+mj-ea"/>
                <a:cs typeface="+mj-cs"/>
              </a:defRPr>
            </a:lvl1pPr>
          </a:lstStyle>
          <a:p>
            <a:r>
              <a:rPr lang="en-US" sz="3200">
                <a:latin typeface="Arial"/>
                <a:cs typeface="Arial"/>
              </a:rPr>
              <a:t>Test Strategy Index</a:t>
            </a:r>
            <a:endParaRPr lang="en-PH" sz="3200">
              <a:latin typeface="Arial"/>
              <a:cs typeface="Arial"/>
            </a:endParaRPr>
          </a:p>
        </p:txBody>
      </p:sp>
    </p:spTree>
    <p:extLst>
      <p:ext uri="{BB962C8B-B14F-4D97-AF65-F5344CB8AC3E}">
        <p14:creationId xmlns:p14="http://schemas.microsoft.com/office/powerpoint/2010/main" val="229275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8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6" decel="8000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1+#ppt_w/2"/>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par>
                                <p:cTn id="13" presetID="16" presetClass="entr" presetSubtype="42" fill="hold" grpId="0" nodeType="withEffect">
                                  <p:stCondLst>
                                    <p:cond delay="250"/>
                                  </p:stCondLst>
                                  <p:childTnLst>
                                    <p:set>
                                      <p:cBhvr>
                                        <p:cTn id="14" dur="1" fill="hold">
                                          <p:stCondLst>
                                            <p:cond delay="0"/>
                                          </p:stCondLst>
                                        </p:cTn>
                                        <p:tgtEl>
                                          <p:spTgt spid="32"/>
                                        </p:tgtEl>
                                        <p:attrNameLst>
                                          <p:attrName>style.visibility</p:attrName>
                                        </p:attrNameLst>
                                      </p:cBhvr>
                                      <p:to>
                                        <p:strVal val="visible"/>
                                      </p:to>
                                    </p:set>
                                    <p:animEffect transition="in" filter="barn(outHorizontal)">
                                      <p:cBhvr>
                                        <p:cTn id="15" dur="500"/>
                                        <p:tgtEl>
                                          <p:spTgt spid="32"/>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34"/>
                                        </p:tgtEl>
                                        <p:attrNameLst>
                                          <p:attrName>style.visibility</p:attrName>
                                        </p:attrNameLst>
                                      </p:cBhvr>
                                      <p:to>
                                        <p:strVal val="visible"/>
                                      </p:to>
                                    </p:set>
                                    <p:anim calcmode="lin" valueType="num">
                                      <p:cBhvr>
                                        <p:cTn id="18" dur="300" fill="hold"/>
                                        <p:tgtEl>
                                          <p:spTgt spid="34"/>
                                        </p:tgtEl>
                                        <p:attrNameLst>
                                          <p:attrName>ppt_w</p:attrName>
                                        </p:attrNameLst>
                                      </p:cBhvr>
                                      <p:tavLst>
                                        <p:tav tm="0">
                                          <p:val>
                                            <p:fltVal val="0"/>
                                          </p:val>
                                        </p:tav>
                                        <p:tav tm="100000">
                                          <p:val>
                                            <p:strVal val="#ppt_w"/>
                                          </p:val>
                                        </p:tav>
                                      </p:tavLst>
                                    </p:anim>
                                    <p:anim calcmode="lin" valueType="num">
                                      <p:cBhvr>
                                        <p:cTn id="19" dur="300" fill="hold"/>
                                        <p:tgtEl>
                                          <p:spTgt spid="34"/>
                                        </p:tgtEl>
                                        <p:attrNameLst>
                                          <p:attrName>ppt_h</p:attrName>
                                        </p:attrNameLst>
                                      </p:cBhvr>
                                      <p:tavLst>
                                        <p:tav tm="0">
                                          <p:val>
                                            <p:fltVal val="0"/>
                                          </p:val>
                                        </p:tav>
                                        <p:tav tm="100000">
                                          <p:val>
                                            <p:strVal val="#ppt_h"/>
                                          </p:val>
                                        </p:tav>
                                      </p:tavLst>
                                    </p:anim>
                                    <p:animEffect transition="in" filter="fade">
                                      <p:cBhvr>
                                        <p:cTn id="20" dur="300"/>
                                        <p:tgtEl>
                                          <p:spTgt spid="34"/>
                                        </p:tgtEl>
                                      </p:cBhvr>
                                    </p:animEffect>
                                  </p:childTnLst>
                                </p:cTn>
                              </p:par>
                              <p:par>
                                <p:cTn id="21" presetID="53" presetClass="entr" presetSubtype="16" fill="hold" grpId="0" nodeType="withEffect">
                                  <p:stCondLst>
                                    <p:cond delay="400"/>
                                  </p:stCondLst>
                                  <p:childTnLst>
                                    <p:set>
                                      <p:cBhvr>
                                        <p:cTn id="22" dur="1" fill="hold">
                                          <p:stCondLst>
                                            <p:cond delay="0"/>
                                          </p:stCondLst>
                                        </p:cTn>
                                        <p:tgtEl>
                                          <p:spTgt spid="36"/>
                                        </p:tgtEl>
                                        <p:attrNameLst>
                                          <p:attrName>style.visibility</p:attrName>
                                        </p:attrNameLst>
                                      </p:cBhvr>
                                      <p:to>
                                        <p:strVal val="visible"/>
                                      </p:to>
                                    </p:set>
                                    <p:anim calcmode="lin" valueType="num">
                                      <p:cBhvr>
                                        <p:cTn id="23" dur="300" fill="hold"/>
                                        <p:tgtEl>
                                          <p:spTgt spid="36"/>
                                        </p:tgtEl>
                                        <p:attrNameLst>
                                          <p:attrName>ppt_w</p:attrName>
                                        </p:attrNameLst>
                                      </p:cBhvr>
                                      <p:tavLst>
                                        <p:tav tm="0">
                                          <p:val>
                                            <p:fltVal val="0"/>
                                          </p:val>
                                        </p:tav>
                                        <p:tav tm="100000">
                                          <p:val>
                                            <p:strVal val="#ppt_w"/>
                                          </p:val>
                                        </p:tav>
                                      </p:tavLst>
                                    </p:anim>
                                    <p:anim calcmode="lin" valueType="num">
                                      <p:cBhvr>
                                        <p:cTn id="24" dur="300" fill="hold"/>
                                        <p:tgtEl>
                                          <p:spTgt spid="36"/>
                                        </p:tgtEl>
                                        <p:attrNameLst>
                                          <p:attrName>ppt_h</p:attrName>
                                        </p:attrNameLst>
                                      </p:cBhvr>
                                      <p:tavLst>
                                        <p:tav tm="0">
                                          <p:val>
                                            <p:fltVal val="0"/>
                                          </p:val>
                                        </p:tav>
                                        <p:tav tm="100000">
                                          <p:val>
                                            <p:strVal val="#ppt_h"/>
                                          </p:val>
                                        </p:tav>
                                      </p:tavLst>
                                    </p:anim>
                                    <p:animEffect transition="in" filter="fade">
                                      <p:cBhvr>
                                        <p:cTn id="25" dur="300"/>
                                        <p:tgtEl>
                                          <p:spTgt spid="36"/>
                                        </p:tgtEl>
                                      </p:cBhvr>
                                    </p:animEffect>
                                  </p:childTnLst>
                                </p:cTn>
                              </p:par>
                              <p:par>
                                <p:cTn id="26" presetID="53" presetClass="entr" presetSubtype="16" fill="hold" grpId="0" nodeType="withEffect">
                                  <p:stCondLst>
                                    <p:cond delay="550"/>
                                  </p:stCondLst>
                                  <p:childTnLst>
                                    <p:set>
                                      <p:cBhvr>
                                        <p:cTn id="27" dur="1" fill="hold">
                                          <p:stCondLst>
                                            <p:cond delay="0"/>
                                          </p:stCondLst>
                                        </p:cTn>
                                        <p:tgtEl>
                                          <p:spTgt spid="38"/>
                                        </p:tgtEl>
                                        <p:attrNameLst>
                                          <p:attrName>style.visibility</p:attrName>
                                        </p:attrNameLst>
                                      </p:cBhvr>
                                      <p:to>
                                        <p:strVal val="visible"/>
                                      </p:to>
                                    </p:set>
                                    <p:anim calcmode="lin" valueType="num">
                                      <p:cBhvr>
                                        <p:cTn id="28" dur="300" fill="hold"/>
                                        <p:tgtEl>
                                          <p:spTgt spid="38"/>
                                        </p:tgtEl>
                                        <p:attrNameLst>
                                          <p:attrName>ppt_w</p:attrName>
                                        </p:attrNameLst>
                                      </p:cBhvr>
                                      <p:tavLst>
                                        <p:tav tm="0">
                                          <p:val>
                                            <p:fltVal val="0"/>
                                          </p:val>
                                        </p:tav>
                                        <p:tav tm="100000">
                                          <p:val>
                                            <p:strVal val="#ppt_w"/>
                                          </p:val>
                                        </p:tav>
                                      </p:tavLst>
                                    </p:anim>
                                    <p:anim calcmode="lin" valueType="num">
                                      <p:cBhvr>
                                        <p:cTn id="29" dur="300" fill="hold"/>
                                        <p:tgtEl>
                                          <p:spTgt spid="38"/>
                                        </p:tgtEl>
                                        <p:attrNameLst>
                                          <p:attrName>ppt_h</p:attrName>
                                        </p:attrNameLst>
                                      </p:cBhvr>
                                      <p:tavLst>
                                        <p:tav tm="0">
                                          <p:val>
                                            <p:fltVal val="0"/>
                                          </p:val>
                                        </p:tav>
                                        <p:tav tm="100000">
                                          <p:val>
                                            <p:strVal val="#ppt_h"/>
                                          </p:val>
                                        </p:tav>
                                      </p:tavLst>
                                    </p:anim>
                                    <p:animEffect transition="in" filter="fade">
                                      <p:cBhvr>
                                        <p:cTn id="30" dur="300"/>
                                        <p:tgtEl>
                                          <p:spTgt spid="38"/>
                                        </p:tgtEl>
                                      </p:cBhvr>
                                    </p:animEffect>
                                  </p:childTnLst>
                                </p:cTn>
                              </p:par>
                              <p:par>
                                <p:cTn id="31" presetID="53" presetClass="entr" presetSubtype="16" fill="hold" grpId="0" nodeType="withEffect">
                                  <p:stCondLst>
                                    <p:cond delay="650"/>
                                  </p:stCondLst>
                                  <p:childTnLst>
                                    <p:set>
                                      <p:cBhvr>
                                        <p:cTn id="32" dur="1" fill="hold">
                                          <p:stCondLst>
                                            <p:cond delay="0"/>
                                          </p:stCondLst>
                                        </p:cTn>
                                        <p:tgtEl>
                                          <p:spTgt spid="40"/>
                                        </p:tgtEl>
                                        <p:attrNameLst>
                                          <p:attrName>style.visibility</p:attrName>
                                        </p:attrNameLst>
                                      </p:cBhvr>
                                      <p:to>
                                        <p:strVal val="visible"/>
                                      </p:to>
                                    </p:set>
                                    <p:anim calcmode="lin" valueType="num">
                                      <p:cBhvr>
                                        <p:cTn id="33" dur="300" fill="hold"/>
                                        <p:tgtEl>
                                          <p:spTgt spid="40"/>
                                        </p:tgtEl>
                                        <p:attrNameLst>
                                          <p:attrName>ppt_w</p:attrName>
                                        </p:attrNameLst>
                                      </p:cBhvr>
                                      <p:tavLst>
                                        <p:tav tm="0">
                                          <p:val>
                                            <p:fltVal val="0"/>
                                          </p:val>
                                        </p:tav>
                                        <p:tav tm="100000">
                                          <p:val>
                                            <p:strVal val="#ppt_w"/>
                                          </p:val>
                                        </p:tav>
                                      </p:tavLst>
                                    </p:anim>
                                    <p:anim calcmode="lin" valueType="num">
                                      <p:cBhvr>
                                        <p:cTn id="34" dur="300" fill="hold"/>
                                        <p:tgtEl>
                                          <p:spTgt spid="40"/>
                                        </p:tgtEl>
                                        <p:attrNameLst>
                                          <p:attrName>ppt_h</p:attrName>
                                        </p:attrNameLst>
                                      </p:cBhvr>
                                      <p:tavLst>
                                        <p:tav tm="0">
                                          <p:val>
                                            <p:fltVal val="0"/>
                                          </p:val>
                                        </p:tav>
                                        <p:tav tm="100000">
                                          <p:val>
                                            <p:strVal val="#ppt_h"/>
                                          </p:val>
                                        </p:tav>
                                      </p:tavLst>
                                    </p:anim>
                                    <p:animEffect transition="in" filter="fade">
                                      <p:cBhvr>
                                        <p:cTn id="35" dur="300"/>
                                        <p:tgtEl>
                                          <p:spTgt spid="40"/>
                                        </p:tgtEl>
                                      </p:cBhvr>
                                    </p:animEffect>
                                  </p:childTnLst>
                                </p:cTn>
                              </p:par>
                              <p:par>
                                <p:cTn id="36" presetID="16" presetClass="entr" presetSubtype="42" fill="hold" grpId="0" nodeType="withEffect">
                                  <p:stCondLst>
                                    <p:cond delay="400"/>
                                  </p:stCondLst>
                                  <p:childTnLst>
                                    <p:set>
                                      <p:cBhvr>
                                        <p:cTn id="37" dur="1" fill="hold">
                                          <p:stCondLst>
                                            <p:cond delay="0"/>
                                          </p:stCondLst>
                                        </p:cTn>
                                        <p:tgtEl>
                                          <p:spTgt spid="35"/>
                                        </p:tgtEl>
                                        <p:attrNameLst>
                                          <p:attrName>style.visibility</p:attrName>
                                        </p:attrNameLst>
                                      </p:cBhvr>
                                      <p:to>
                                        <p:strVal val="visible"/>
                                      </p:to>
                                    </p:set>
                                    <p:animEffect transition="in" filter="barn(outHorizontal)">
                                      <p:cBhvr>
                                        <p:cTn id="38" dur="500"/>
                                        <p:tgtEl>
                                          <p:spTgt spid="35"/>
                                        </p:tgtEl>
                                      </p:cBhvr>
                                    </p:animEffect>
                                  </p:childTnLst>
                                </p:cTn>
                              </p:par>
                              <p:par>
                                <p:cTn id="39" presetID="16" presetClass="entr" presetSubtype="42" fill="hold" grpId="0" nodeType="withEffect">
                                  <p:stCondLst>
                                    <p:cond delay="550"/>
                                  </p:stCondLst>
                                  <p:childTnLst>
                                    <p:set>
                                      <p:cBhvr>
                                        <p:cTn id="40" dur="1" fill="hold">
                                          <p:stCondLst>
                                            <p:cond delay="0"/>
                                          </p:stCondLst>
                                        </p:cTn>
                                        <p:tgtEl>
                                          <p:spTgt spid="37"/>
                                        </p:tgtEl>
                                        <p:attrNameLst>
                                          <p:attrName>style.visibility</p:attrName>
                                        </p:attrNameLst>
                                      </p:cBhvr>
                                      <p:to>
                                        <p:strVal val="visible"/>
                                      </p:to>
                                    </p:set>
                                    <p:animEffect transition="in" filter="barn(outHorizontal)">
                                      <p:cBhvr>
                                        <p:cTn id="41" dur="500"/>
                                        <p:tgtEl>
                                          <p:spTgt spid="37"/>
                                        </p:tgtEl>
                                      </p:cBhvr>
                                    </p:animEffect>
                                  </p:childTnLst>
                                </p:cTn>
                              </p:par>
                              <p:par>
                                <p:cTn id="42" presetID="16" presetClass="entr" presetSubtype="42" fill="hold" grpId="0" nodeType="withEffect">
                                  <p:stCondLst>
                                    <p:cond delay="700"/>
                                  </p:stCondLst>
                                  <p:childTnLst>
                                    <p:set>
                                      <p:cBhvr>
                                        <p:cTn id="43" dur="1" fill="hold">
                                          <p:stCondLst>
                                            <p:cond delay="0"/>
                                          </p:stCondLst>
                                        </p:cTn>
                                        <p:tgtEl>
                                          <p:spTgt spid="39"/>
                                        </p:tgtEl>
                                        <p:attrNameLst>
                                          <p:attrName>style.visibility</p:attrName>
                                        </p:attrNameLst>
                                      </p:cBhvr>
                                      <p:to>
                                        <p:strVal val="visible"/>
                                      </p:to>
                                    </p:set>
                                    <p:animEffect transition="in" filter="barn(outHorizontal)">
                                      <p:cBhvr>
                                        <p:cTn id="44" dur="500"/>
                                        <p:tgtEl>
                                          <p:spTgt spid="39"/>
                                        </p:tgtEl>
                                      </p:cBhvr>
                                    </p:animEffect>
                                  </p:childTnLst>
                                </p:cTn>
                              </p:par>
                              <p:par>
                                <p:cTn id="45" presetID="16" presetClass="entr" presetSubtype="42" fill="hold" grpId="0" nodeType="withEffect">
                                  <p:stCondLst>
                                    <p:cond delay="850"/>
                                  </p:stCondLst>
                                  <p:childTnLst>
                                    <p:set>
                                      <p:cBhvr>
                                        <p:cTn id="46" dur="1" fill="hold">
                                          <p:stCondLst>
                                            <p:cond delay="0"/>
                                          </p:stCondLst>
                                        </p:cTn>
                                        <p:tgtEl>
                                          <p:spTgt spid="41"/>
                                        </p:tgtEl>
                                        <p:attrNameLst>
                                          <p:attrName>style.visibility</p:attrName>
                                        </p:attrNameLst>
                                      </p:cBhvr>
                                      <p:to>
                                        <p:strVal val="visible"/>
                                      </p:to>
                                    </p:set>
                                    <p:animEffect transition="in" filter="barn(outHorizontal)">
                                      <p:cBhvr>
                                        <p:cTn id="47" dur="500"/>
                                        <p:tgtEl>
                                          <p:spTgt spid="41"/>
                                        </p:tgtEl>
                                      </p:cBhvr>
                                    </p:animEffect>
                                  </p:childTnLst>
                                </p:cTn>
                              </p:par>
                              <p:par>
                                <p:cTn id="48" presetID="53" presetClass="entr" presetSubtype="16" fill="hold" grpId="0" nodeType="withEffect">
                                  <p:stCondLst>
                                    <p:cond delay="250"/>
                                  </p:stCondLst>
                                  <p:childTnLst>
                                    <p:set>
                                      <p:cBhvr>
                                        <p:cTn id="49" dur="1" fill="hold">
                                          <p:stCondLst>
                                            <p:cond delay="0"/>
                                          </p:stCondLst>
                                        </p:cTn>
                                        <p:tgtEl>
                                          <p:spTgt spid="4"/>
                                        </p:tgtEl>
                                        <p:attrNameLst>
                                          <p:attrName>style.visibility</p:attrName>
                                        </p:attrNameLst>
                                      </p:cBhvr>
                                      <p:to>
                                        <p:strVal val="visible"/>
                                      </p:to>
                                    </p:set>
                                    <p:anim calcmode="lin" valueType="num">
                                      <p:cBhvr>
                                        <p:cTn id="50" dur="300" fill="hold"/>
                                        <p:tgtEl>
                                          <p:spTgt spid="4"/>
                                        </p:tgtEl>
                                        <p:attrNameLst>
                                          <p:attrName>ppt_w</p:attrName>
                                        </p:attrNameLst>
                                      </p:cBhvr>
                                      <p:tavLst>
                                        <p:tav tm="0">
                                          <p:val>
                                            <p:fltVal val="0"/>
                                          </p:val>
                                        </p:tav>
                                        <p:tav tm="100000">
                                          <p:val>
                                            <p:strVal val="#ppt_w"/>
                                          </p:val>
                                        </p:tav>
                                      </p:tavLst>
                                    </p:anim>
                                    <p:anim calcmode="lin" valueType="num">
                                      <p:cBhvr>
                                        <p:cTn id="51" dur="300" fill="hold"/>
                                        <p:tgtEl>
                                          <p:spTgt spid="4"/>
                                        </p:tgtEl>
                                        <p:attrNameLst>
                                          <p:attrName>ppt_h</p:attrName>
                                        </p:attrNameLst>
                                      </p:cBhvr>
                                      <p:tavLst>
                                        <p:tav tm="0">
                                          <p:val>
                                            <p:fltVal val="0"/>
                                          </p:val>
                                        </p:tav>
                                        <p:tav tm="100000">
                                          <p:val>
                                            <p:strVal val="#ppt_h"/>
                                          </p:val>
                                        </p:tav>
                                      </p:tavLst>
                                    </p:anim>
                                    <p:animEffect transition="in" filter="fade">
                                      <p:cBhvr>
                                        <p:cTn id="52" dur="300"/>
                                        <p:tgtEl>
                                          <p:spTgt spid="4"/>
                                        </p:tgtEl>
                                      </p:cBhvr>
                                    </p:animEffect>
                                  </p:childTnLst>
                                </p:cTn>
                              </p:par>
                              <p:par>
                                <p:cTn id="53" presetID="53" presetClass="entr" presetSubtype="16" fill="hold" grpId="0" nodeType="withEffect">
                                  <p:stCondLst>
                                    <p:cond delay="400"/>
                                  </p:stCondLst>
                                  <p:childTnLst>
                                    <p:set>
                                      <p:cBhvr>
                                        <p:cTn id="54" dur="1" fill="hold">
                                          <p:stCondLst>
                                            <p:cond delay="0"/>
                                          </p:stCondLst>
                                        </p:cTn>
                                        <p:tgtEl>
                                          <p:spTgt spid="6"/>
                                        </p:tgtEl>
                                        <p:attrNameLst>
                                          <p:attrName>style.visibility</p:attrName>
                                        </p:attrNameLst>
                                      </p:cBhvr>
                                      <p:to>
                                        <p:strVal val="visible"/>
                                      </p:to>
                                    </p:set>
                                    <p:anim calcmode="lin" valueType="num">
                                      <p:cBhvr>
                                        <p:cTn id="55" dur="300" fill="hold"/>
                                        <p:tgtEl>
                                          <p:spTgt spid="6"/>
                                        </p:tgtEl>
                                        <p:attrNameLst>
                                          <p:attrName>ppt_w</p:attrName>
                                        </p:attrNameLst>
                                      </p:cBhvr>
                                      <p:tavLst>
                                        <p:tav tm="0">
                                          <p:val>
                                            <p:fltVal val="0"/>
                                          </p:val>
                                        </p:tav>
                                        <p:tav tm="100000">
                                          <p:val>
                                            <p:strVal val="#ppt_w"/>
                                          </p:val>
                                        </p:tav>
                                      </p:tavLst>
                                    </p:anim>
                                    <p:anim calcmode="lin" valueType="num">
                                      <p:cBhvr>
                                        <p:cTn id="56" dur="300" fill="hold"/>
                                        <p:tgtEl>
                                          <p:spTgt spid="6"/>
                                        </p:tgtEl>
                                        <p:attrNameLst>
                                          <p:attrName>ppt_h</p:attrName>
                                        </p:attrNameLst>
                                      </p:cBhvr>
                                      <p:tavLst>
                                        <p:tav tm="0">
                                          <p:val>
                                            <p:fltVal val="0"/>
                                          </p:val>
                                        </p:tav>
                                        <p:tav tm="100000">
                                          <p:val>
                                            <p:strVal val="#ppt_h"/>
                                          </p:val>
                                        </p:tav>
                                      </p:tavLst>
                                    </p:anim>
                                    <p:animEffect transition="in" filter="fade">
                                      <p:cBhvr>
                                        <p:cTn id="57" dur="300"/>
                                        <p:tgtEl>
                                          <p:spTgt spid="6"/>
                                        </p:tgtEl>
                                      </p:cBhvr>
                                    </p:animEffect>
                                  </p:childTnLst>
                                </p:cTn>
                              </p:par>
                              <p:par>
                                <p:cTn id="58" presetID="53" presetClass="entr" presetSubtype="16" fill="hold" grpId="0" nodeType="withEffect">
                                  <p:stCondLst>
                                    <p:cond delay="550"/>
                                  </p:stCondLst>
                                  <p:childTnLst>
                                    <p:set>
                                      <p:cBhvr>
                                        <p:cTn id="59" dur="1" fill="hold">
                                          <p:stCondLst>
                                            <p:cond delay="0"/>
                                          </p:stCondLst>
                                        </p:cTn>
                                        <p:tgtEl>
                                          <p:spTgt spid="8"/>
                                        </p:tgtEl>
                                        <p:attrNameLst>
                                          <p:attrName>style.visibility</p:attrName>
                                        </p:attrNameLst>
                                      </p:cBhvr>
                                      <p:to>
                                        <p:strVal val="visible"/>
                                      </p:to>
                                    </p:set>
                                    <p:anim calcmode="lin" valueType="num">
                                      <p:cBhvr>
                                        <p:cTn id="60" dur="300" fill="hold"/>
                                        <p:tgtEl>
                                          <p:spTgt spid="8"/>
                                        </p:tgtEl>
                                        <p:attrNameLst>
                                          <p:attrName>ppt_w</p:attrName>
                                        </p:attrNameLst>
                                      </p:cBhvr>
                                      <p:tavLst>
                                        <p:tav tm="0">
                                          <p:val>
                                            <p:fltVal val="0"/>
                                          </p:val>
                                        </p:tav>
                                        <p:tav tm="100000">
                                          <p:val>
                                            <p:strVal val="#ppt_w"/>
                                          </p:val>
                                        </p:tav>
                                      </p:tavLst>
                                    </p:anim>
                                    <p:anim calcmode="lin" valueType="num">
                                      <p:cBhvr>
                                        <p:cTn id="61" dur="300" fill="hold"/>
                                        <p:tgtEl>
                                          <p:spTgt spid="8"/>
                                        </p:tgtEl>
                                        <p:attrNameLst>
                                          <p:attrName>ppt_h</p:attrName>
                                        </p:attrNameLst>
                                      </p:cBhvr>
                                      <p:tavLst>
                                        <p:tav tm="0">
                                          <p:val>
                                            <p:fltVal val="0"/>
                                          </p:val>
                                        </p:tav>
                                        <p:tav tm="100000">
                                          <p:val>
                                            <p:strVal val="#ppt_h"/>
                                          </p:val>
                                        </p:tav>
                                      </p:tavLst>
                                    </p:anim>
                                    <p:animEffect transition="in" filter="fade">
                                      <p:cBhvr>
                                        <p:cTn id="62" dur="300"/>
                                        <p:tgtEl>
                                          <p:spTgt spid="8"/>
                                        </p:tgtEl>
                                      </p:cBhvr>
                                    </p:animEffect>
                                  </p:childTnLst>
                                </p:cTn>
                              </p:par>
                              <p:par>
                                <p:cTn id="63" presetID="53" presetClass="entr" presetSubtype="16" fill="hold" grpId="0" nodeType="withEffect">
                                  <p:stCondLst>
                                    <p:cond delay="650"/>
                                  </p:stCondLst>
                                  <p:childTnLst>
                                    <p:set>
                                      <p:cBhvr>
                                        <p:cTn id="64" dur="1" fill="hold">
                                          <p:stCondLst>
                                            <p:cond delay="0"/>
                                          </p:stCondLst>
                                        </p:cTn>
                                        <p:tgtEl>
                                          <p:spTgt spid="22"/>
                                        </p:tgtEl>
                                        <p:attrNameLst>
                                          <p:attrName>style.visibility</p:attrName>
                                        </p:attrNameLst>
                                      </p:cBhvr>
                                      <p:to>
                                        <p:strVal val="visible"/>
                                      </p:to>
                                    </p:set>
                                    <p:anim calcmode="lin" valueType="num">
                                      <p:cBhvr>
                                        <p:cTn id="65" dur="300" fill="hold"/>
                                        <p:tgtEl>
                                          <p:spTgt spid="22"/>
                                        </p:tgtEl>
                                        <p:attrNameLst>
                                          <p:attrName>ppt_w</p:attrName>
                                        </p:attrNameLst>
                                      </p:cBhvr>
                                      <p:tavLst>
                                        <p:tav tm="0">
                                          <p:val>
                                            <p:fltVal val="0"/>
                                          </p:val>
                                        </p:tav>
                                        <p:tav tm="100000">
                                          <p:val>
                                            <p:strVal val="#ppt_w"/>
                                          </p:val>
                                        </p:tav>
                                      </p:tavLst>
                                    </p:anim>
                                    <p:anim calcmode="lin" valueType="num">
                                      <p:cBhvr>
                                        <p:cTn id="66" dur="300" fill="hold"/>
                                        <p:tgtEl>
                                          <p:spTgt spid="22"/>
                                        </p:tgtEl>
                                        <p:attrNameLst>
                                          <p:attrName>ppt_h</p:attrName>
                                        </p:attrNameLst>
                                      </p:cBhvr>
                                      <p:tavLst>
                                        <p:tav tm="0">
                                          <p:val>
                                            <p:fltVal val="0"/>
                                          </p:val>
                                        </p:tav>
                                        <p:tav tm="100000">
                                          <p:val>
                                            <p:strVal val="#ppt_h"/>
                                          </p:val>
                                        </p:tav>
                                      </p:tavLst>
                                    </p:anim>
                                    <p:animEffect transition="in" filter="fade">
                                      <p:cBhvr>
                                        <p:cTn id="67" dur="300"/>
                                        <p:tgtEl>
                                          <p:spTgt spid="22"/>
                                        </p:tgtEl>
                                      </p:cBhvr>
                                    </p:animEffect>
                                  </p:childTnLst>
                                </p:cTn>
                              </p:par>
                              <p:par>
                                <p:cTn id="68" presetID="16" presetClass="entr" presetSubtype="42" fill="hold" grpId="0" nodeType="withEffect">
                                  <p:stCondLst>
                                    <p:cond delay="400"/>
                                  </p:stCondLst>
                                  <p:childTnLst>
                                    <p:set>
                                      <p:cBhvr>
                                        <p:cTn id="69" dur="1" fill="hold">
                                          <p:stCondLst>
                                            <p:cond delay="0"/>
                                          </p:stCondLst>
                                        </p:cTn>
                                        <p:tgtEl>
                                          <p:spTgt spid="5"/>
                                        </p:tgtEl>
                                        <p:attrNameLst>
                                          <p:attrName>style.visibility</p:attrName>
                                        </p:attrNameLst>
                                      </p:cBhvr>
                                      <p:to>
                                        <p:strVal val="visible"/>
                                      </p:to>
                                    </p:set>
                                    <p:animEffect transition="in" filter="barn(outHorizontal)">
                                      <p:cBhvr>
                                        <p:cTn id="70" dur="500"/>
                                        <p:tgtEl>
                                          <p:spTgt spid="5"/>
                                        </p:tgtEl>
                                      </p:cBhvr>
                                    </p:animEffect>
                                  </p:childTnLst>
                                </p:cTn>
                              </p:par>
                              <p:par>
                                <p:cTn id="71" presetID="16" presetClass="entr" presetSubtype="42" fill="hold" grpId="0" nodeType="withEffect">
                                  <p:stCondLst>
                                    <p:cond delay="550"/>
                                  </p:stCondLst>
                                  <p:childTnLst>
                                    <p:set>
                                      <p:cBhvr>
                                        <p:cTn id="72" dur="1" fill="hold">
                                          <p:stCondLst>
                                            <p:cond delay="0"/>
                                          </p:stCondLst>
                                        </p:cTn>
                                        <p:tgtEl>
                                          <p:spTgt spid="7"/>
                                        </p:tgtEl>
                                        <p:attrNameLst>
                                          <p:attrName>style.visibility</p:attrName>
                                        </p:attrNameLst>
                                      </p:cBhvr>
                                      <p:to>
                                        <p:strVal val="visible"/>
                                      </p:to>
                                    </p:set>
                                    <p:animEffect transition="in" filter="barn(outHorizontal)">
                                      <p:cBhvr>
                                        <p:cTn id="73" dur="500"/>
                                        <p:tgtEl>
                                          <p:spTgt spid="7"/>
                                        </p:tgtEl>
                                      </p:cBhvr>
                                    </p:animEffect>
                                  </p:childTnLst>
                                </p:cTn>
                              </p:par>
                              <p:par>
                                <p:cTn id="74" presetID="16" presetClass="entr" presetSubtype="42" fill="hold" grpId="0" nodeType="withEffect">
                                  <p:stCondLst>
                                    <p:cond delay="700"/>
                                  </p:stCondLst>
                                  <p:childTnLst>
                                    <p:set>
                                      <p:cBhvr>
                                        <p:cTn id="75" dur="1" fill="hold">
                                          <p:stCondLst>
                                            <p:cond delay="0"/>
                                          </p:stCondLst>
                                        </p:cTn>
                                        <p:tgtEl>
                                          <p:spTgt spid="17"/>
                                        </p:tgtEl>
                                        <p:attrNameLst>
                                          <p:attrName>style.visibility</p:attrName>
                                        </p:attrNameLst>
                                      </p:cBhvr>
                                      <p:to>
                                        <p:strVal val="visible"/>
                                      </p:to>
                                    </p:set>
                                    <p:animEffect transition="in" filter="barn(outHorizontal)">
                                      <p:cBhvr>
                                        <p:cTn id="76" dur="500"/>
                                        <p:tgtEl>
                                          <p:spTgt spid="17"/>
                                        </p:tgtEl>
                                      </p:cBhvr>
                                    </p:animEffect>
                                  </p:childTnLst>
                                </p:cTn>
                              </p:par>
                              <p:par>
                                <p:cTn id="77" presetID="16" presetClass="entr" presetSubtype="42" fill="hold" grpId="0" nodeType="withEffect">
                                  <p:stCondLst>
                                    <p:cond delay="850"/>
                                  </p:stCondLst>
                                  <p:childTnLst>
                                    <p:set>
                                      <p:cBhvr>
                                        <p:cTn id="78" dur="1" fill="hold">
                                          <p:stCondLst>
                                            <p:cond delay="0"/>
                                          </p:stCondLst>
                                        </p:cTn>
                                        <p:tgtEl>
                                          <p:spTgt spid="23"/>
                                        </p:tgtEl>
                                        <p:attrNameLst>
                                          <p:attrName>style.visibility</p:attrName>
                                        </p:attrNameLst>
                                      </p:cBhvr>
                                      <p:to>
                                        <p:strVal val="visible"/>
                                      </p:to>
                                    </p:set>
                                    <p:animEffect transition="in" filter="barn(outHorizontal)">
                                      <p:cBhvr>
                                        <p:cTn id="79" dur="500"/>
                                        <p:tgtEl>
                                          <p:spTgt spid="23"/>
                                        </p:tgtEl>
                                      </p:cBhvr>
                                    </p:animEffect>
                                  </p:childTnLst>
                                </p:cTn>
                              </p:par>
                              <p:par>
                                <p:cTn id="80" presetID="53" presetClass="entr" presetSubtype="16" fill="hold" grpId="0" nodeType="withEffect">
                                  <p:stCondLst>
                                    <p:cond delay="250"/>
                                  </p:stCondLst>
                                  <p:childTnLst>
                                    <p:set>
                                      <p:cBhvr>
                                        <p:cTn id="81" dur="1" fill="hold">
                                          <p:stCondLst>
                                            <p:cond delay="0"/>
                                          </p:stCondLst>
                                        </p:cTn>
                                        <p:tgtEl>
                                          <p:spTgt spid="24"/>
                                        </p:tgtEl>
                                        <p:attrNameLst>
                                          <p:attrName>style.visibility</p:attrName>
                                        </p:attrNameLst>
                                      </p:cBhvr>
                                      <p:to>
                                        <p:strVal val="visible"/>
                                      </p:to>
                                    </p:set>
                                    <p:anim calcmode="lin" valueType="num">
                                      <p:cBhvr>
                                        <p:cTn id="82" dur="300" fill="hold"/>
                                        <p:tgtEl>
                                          <p:spTgt spid="24"/>
                                        </p:tgtEl>
                                        <p:attrNameLst>
                                          <p:attrName>ppt_w</p:attrName>
                                        </p:attrNameLst>
                                      </p:cBhvr>
                                      <p:tavLst>
                                        <p:tav tm="0">
                                          <p:val>
                                            <p:fltVal val="0"/>
                                          </p:val>
                                        </p:tav>
                                        <p:tav tm="100000">
                                          <p:val>
                                            <p:strVal val="#ppt_w"/>
                                          </p:val>
                                        </p:tav>
                                      </p:tavLst>
                                    </p:anim>
                                    <p:anim calcmode="lin" valueType="num">
                                      <p:cBhvr>
                                        <p:cTn id="83" dur="300" fill="hold"/>
                                        <p:tgtEl>
                                          <p:spTgt spid="24"/>
                                        </p:tgtEl>
                                        <p:attrNameLst>
                                          <p:attrName>ppt_h</p:attrName>
                                        </p:attrNameLst>
                                      </p:cBhvr>
                                      <p:tavLst>
                                        <p:tav tm="0">
                                          <p:val>
                                            <p:fltVal val="0"/>
                                          </p:val>
                                        </p:tav>
                                        <p:tav tm="100000">
                                          <p:val>
                                            <p:strVal val="#ppt_h"/>
                                          </p:val>
                                        </p:tav>
                                      </p:tavLst>
                                    </p:anim>
                                    <p:animEffect transition="in" filter="fade">
                                      <p:cBhvr>
                                        <p:cTn id="84" dur="300"/>
                                        <p:tgtEl>
                                          <p:spTgt spid="24"/>
                                        </p:tgtEl>
                                      </p:cBhvr>
                                    </p:animEffect>
                                  </p:childTnLst>
                                </p:cTn>
                              </p:par>
                              <p:par>
                                <p:cTn id="85" presetID="53" presetClass="entr" presetSubtype="16" fill="hold" grpId="0" nodeType="withEffect">
                                  <p:stCondLst>
                                    <p:cond delay="550"/>
                                  </p:stCondLst>
                                  <p:childTnLst>
                                    <p:set>
                                      <p:cBhvr>
                                        <p:cTn id="86" dur="1" fill="hold">
                                          <p:stCondLst>
                                            <p:cond delay="0"/>
                                          </p:stCondLst>
                                        </p:cTn>
                                        <p:tgtEl>
                                          <p:spTgt spid="44"/>
                                        </p:tgtEl>
                                        <p:attrNameLst>
                                          <p:attrName>style.visibility</p:attrName>
                                        </p:attrNameLst>
                                      </p:cBhvr>
                                      <p:to>
                                        <p:strVal val="visible"/>
                                      </p:to>
                                    </p:set>
                                    <p:anim calcmode="lin" valueType="num">
                                      <p:cBhvr>
                                        <p:cTn id="87" dur="300" fill="hold"/>
                                        <p:tgtEl>
                                          <p:spTgt spid="44"/>
                                        </p:tgtEl>
                                        <p:attrNameLst>
                                          <p:attrName>ppt_w</p:attrName>
                                        </p:attrNameLst>
                                      </p:cBhvr>
                                      <p:tavLst>
                                        <p:tav tm="0">
                                          <p:val>
                                            <p:fltVal val="0"/>
                                          </p:val>
                                        </p:tav>
                                        <p:tav tm="100000">
                                          <p:val>
                                            <p:strVal val="#ppt_w"/>
                                          </p:val>
                                        </p:tav>
                                      </p:tavLst>
                                    </p:anim>
                                    <p:anim calcmode="lin" valueType="num">
                                      <p:cBhvr>
                                        <p:cTn id="88" dur="300" fill="hold"/>
                                        <p:tgtEl>
                                          <p:spTgt spid="44"/>
                                        </p:tgtEl>
                                        <p:attrNameLst>
                                          <p:attrName>ppt_h</p:attrName>
                                        </p:attrNameLst>
                                      </p:cBhvr>
                                      <p:tavLst>
                                        <p:tav tm="0">
                                          <p:val>
                                            <p:fltVal val="0"/>
                                          </p:val>
                                        </p:tav>
                                        <p:tav tm="100000">
                                          <p:val>
                                            <p:strVal val="#ppt_h"/>
                                          </p:val>
                                        </p:tav>
                                      </p:tavLst>
                                    </p:anim>
                                    <p:animEffect transition="in" filter="fade">
                                      <p:cBhvr>
                                        <p:cTn id="89" dur="300"/>
                                        <p:tgtEl>
                                          <p:spTgt spid="44"/>
                                        </p:tgtEl>
                                      </p:cBhvr>
                                    </p:animEffect>
                                  </p:childTnLst>
                                </p:cTn>
                              </p:par>
                              <p:par>
                                <p:cTn id="90" presetID="16" presetClass="entr" presetSubtype="42" fill="hold" grpId="0" nodeType="withEffect">
                                  <p:stCondLst>
                                    <p:cond delay="400"/>
                                  </p:stCondLst>
                                  <p:childTnLst>
                                    <p:set>
                                      <p:cBhvr>
                                        <p:cTn id="91" dur="1" fill="hold">
                                          <p:stCondLst>
                                            <p:cond delay="0"/>
                                          </p:stCondLst>
                                        </p:cTn>
                                        <p:tgtEl>
                                          <p:spTgt spid="33"/>
                                        </p:tgtEl>
                                        <p:attrNameLst>
                                          <p:attrName>style.visibility</p:attrName>
                                        </p:attrNameLst>
                                      </p:cBhvr>
                                      <p:to>
                                        <p:strVal val="visible"/>
                                      </p:to>
                                    </p:set>
                                    <p:animEffect transition="in" filter="barn(outHorizontal)">
                                      <p:cBhvr>
                                        <p:cTn id="92" dur="500"/>
                                        <p:tgtEl>
                                          <p:spTgt spid="33"/>
                                        </p:tgtEl>
                                      </p:cBhvr>
                                    </p:animEffect>
                                  </p:childTnLst>
                                </p:cTn>
                              </p:par>
                              <p:par>
                                <p:cTn id="93" presetID="16" presetClass="entr" presetSubtype="42" fill="hold" grpId="0" nodeType="withEffect">
                                  <p:stCondLst>
                                    <p:cond delay="550"/>
                                  </p:stCondLst>
                                  <p:childTnLst>
                                    <p:set>
                                      <p:cBhvr>
                                        <p:cTn id="94" dur="1" fill="hold">
                                          <p:stCondLst>
                                            <p:cond delay="0"/>
                                          </p:stCondLst>
                                        </p:cTn>
                                        <p:tgtEl>
                                          <p:spTgt spid="43"/>
                                        </p:tgtEl>
                                        <p:attrNameLst>
                                          <p:attrName>style.visibility</p:attrName>
                                        </p:attrNameLst>
                                      </p:cBhvr>
                                      <p:to>
                                        <p:strVal val="visible"/>
                                      </p:to>
                                    </p:set>
                                    <p:animEffect transition="in" filter="barn(outHorizontal)">
                                      <p:cBhvr>
                                        <p:cTn id="95" dur="500"/>
                                        <p:tgtEl>
                                          <p:spTgt spid="43"/>
                                        </p:tgtEl>
                                      </p:cBhvr>
                                    </p:animEffect>
                                  </p:childTnLst>
                                </p:cTn>
                              </p:par>
                              <p:par>
                                <p:cTn id="96" presetID="53" presetClass="entr" presetSubtype="16" fill="hold" grpId="0" nodeType="withEffect">
                                  <p:stCondLst>
                                    <p:cond delay="250"/>
                                  </p:stCondLst>
                                  <p:childTnLst>
                                    <p:set>
                                      <p:cBhvr>
                                        <p:cTn id="97" dur="1" fill="hold">
                                          <p:stCondLst>
                                            <p:cond delay="0"/>
                                          </p:stCondLst>
                                        </p:cTn>
                                        <p:tgtEl>
                                          <p:spTgt spid="48"/>
                                        </p:tgtEl>
                                        <p:attrNameLst>
                                          <p:attrName>style.visibility</p:attrName>
                                        </p:attrNameLst>
                                      </p:cBhvr>
                                      <p:to>
                                        <p:strVal val="visible"/>
                                      </p:to>
                                    </p:set>
                                    <p:anim calcmode="lin" valueType="num">
                                      <p:cBhvr>
                                        <p:cTn id="98" dur="300" fill="hold"/>
                                        <p:tgtEl>
                                          <p:spTgt spid="48"/>
                                        </p:tgtEl>
                                        <p:attrNameLst>
                                          <p:attrName>ppt_w</p:attrName>
                                        </p:attrNameLst>
                                      </p:cBhvr>
                                      <p:tavLst>
                                        <p:tav tm="0">
                                          <p:val>
                                            <p:fltVal val="0"/>
                                          </p:val>
                                        </p:tav>
                                        <p:tav tm="100000">
                                          <p:val>
                                            <p:strVal val="#ppt_w"/>
                                          </p:val>
                                        </p:tav>
                                      </p:tavLst>
                                    </p:anim>
                                    <p:anim calcmode="lin" valueType="num">
                                      <p:cBhvr>
                                        <p:cTn id="99" dur="300" fill="hold"/>
                                        <p:tgtEl>
                                          <p:spTgt spid="48"/>
                                        </p:tgtEl>
                                        <p:attrNameLst>
                                          <p:attrName>ppt_h</p:attrName>
                                        </p:attrNameLst>
                                      </p:cBhvr>
                                      <p:tavLst>
                                        <p:tav tm="0">
                                          <p:val>
                                            <p:fltVal val="0"/>
                                          </p:val>
                                        </p:tav>
                                        <p:tav tm="100000">
                                          <p:val>
                                            <p:strVal val="#ppt_h"/>
                                          </p:val>
                                        </p:tav>
                                      </p:tavLst>
                                    </p:anim>
                                    <p:animEffect transition="in" filter="fade">
                                      <p:cBhvr>
                                        <p:cTn id="100" dur="300"/>
                                        <p:tgtEl>
                                          <p:spTgt spid="48"/>
                                        </p:tgtEl>
                                      </p:cBhvr>
                                    </p:animEffect>
                                  </p:childTnLst>
                                </p:cTn>
                              </p:par>
                              <p:par>
                                <p:cTn id="101" presetID="53" presetClass="entr" presetSubtype="16" fill="hold" grpId="0" nodeType="withEffect">
                                  <p:stCondLst>
                                    <p:cond delay="400"/>
                                  </p:stCondLst>
                                  <p:childTnLst>
                                    <p:set>
                                      <p:cBhvr>
                                        <p:cTn id="102" dur="1" fill="hold">
                                          <p:stCondLst>
                                            <p:cond delay="0"/>
                                          </p:stCondLst>
                                        </p:cTn>
                                        <p:tgtEl>
                                          <p:spTgt spid="50"/>
                                        </p:tgtEl>
                                        <p:attrNameLst>
                                          <p:attrName>style.visibility</p:attrName>
                                        </p:attrNameLst>
                                      </p:cBhvr>
                                      <p:to>
                                        <p:strVal val="visible"/>
                                      </p:to>
                                    </p:set>
                                    <p:anim calcmode="lin" valueType="num">
                                      <p:cBhvr>
                                        <p:cTn id="103" dur="300" fill="hold"/>
                                        <p:tgtEl>
                                          <p:spTgt spid="50"/>
                                        </p:tgtEl>
                                        <p:attrNameLst>
                                          <p:attrName>ppt_w</p:attrName>
                                        </p:attrNameLst>
                                      </p:cBhvr>
                                      <p:tavLst>
                                        <p:tav tm="0">
                                          <p:val>
                                            <p:fltVal val="0"/>
                                          </p:val>
                                        </p:tav>
                                        <p:tav tm="100000">
                                          <p:val>
                                            <p:strVal val="#ppt_w"/>
                                          </p:val>
                                        </p:tav>
                                      </p:tavLst>
                                    </p:anim>
                                    <p:anim calcmode="lin" valueType="num">
                                      <p:cBhvr>
                                        <p:cTn id="104" dur="300" fill="hold"/>
                                        <p:tgtEl>
                                          <p:spTgt spid="50"/>
                                        </p:tgtEl>
                                        <p:attrNameLst>
                                          <p:attrName>ppt_h</p:attrName>
                                        </p:attrNameLst>
                                      </p:cBhvr>
                                      <p:tavLst>
                                        <p:tav tm="0">
                                          <p:val>
                                            <p:fltVal val="0"/>
                                          </p:val>
                                        </p:tav>
                                        <p:tav tm="100000">
                                          <p:val>
                                            <p:strVal val="#ppt_h"/>
                                          </p:val>
                                        </p:tav>
                                      </p:tavLst>
                                    </p:anim>
                                    <p:animEffect transition="in" filter="fade">
                                      <p:cBhvr>
                                        <p:cTn id="105" dur="300"/>
                                        <p:tgtEl>
                                          <p:spTgt spid="50"/>
                                        </p:tgtEl>
                                      </p:cBhvr>
                                    </p:animEffect>
                                  </p:childTnLst>
                                </p:cTn>
                              </p:par>
                              <p:par>
                                <p:cTn id="106" presetID="53" presetClass="entr" presetSubtype="16" fill="hold" grpId="0" nodeType="withEffect">
                                  <p:stCondLst>
                                    <p:cond delay="550"/>
                                  </p:stCondLst>
                                  <p:childTnLst>
                                    <p:set>
                                      <p:cBhvr>
                                        <p:cTn id="107" dur="1" fill="hold">
                                          <p:stCondLst>
                                            <p:cond delay="0"/>
                                          </p:stCondLst>
                                        </p:cTn>
                                        <p:tgtEl>
                                          <p:spTgt spid="52"/>
                                        </p:tgtEl>
                                        <p:attrNameLst>
                                          <p:attrName>style.visibility</p:attrName>
                                        </p:attrNameLst>
                                      </p:cBhvr>
                                      <p:to>
                                        <p:strVal val="visible"/>
                                      </p:to>
                                    </p:set>
                                    <p:anim calcmode="lin" valueType="num">
                                      <p:cBhvr>
                                        <p:cTn id="108" dur="300" fill="hold"/>
                                        <p:tgtEl>
                                          <p:spTgt spid="52"/>
                                        </p:tgtEl>
                                        <p:attrNameLst>
                                          <p:attrName>ppt_w</p:attrName>
                                        </p:attrNameLst>
                                      </p:cBhvr>
                                      <p:tavLst>
                                        <p:tav tm="0">
                                          <p:val>
                                            <p:fltVal val="0"/>
                                          </p:val>
                                        </p:tav>
                                        <p:tav tm="100000">
                                          <p:val>
                                            <p:strVal val="#ppt_w"/>
                                          </p:val>
                                        </p:tav>
                                      </p:tavLst>
                                    </p:anim>
                                    <p:anim calcmode="lin" valueType="num">
                                      <p:cBhvr>
                                        <p:cTn id="109" dur="300" fill="hold"/>
                                        <p:tgtEl>
                                          <p:spTgt spid="52"/>
                                        </p:tgtEl>
                                        <p:attrNameLst>
                                          <p:attrName>ppt_h</p:attrName>
                                        </p:attrNameLst>
                                      </p:cBhvr>
                                      <p:tavLst>
                                        <p:tav tm="0">
                                          <p:val>
                                            <p:fltVal val="0"/>
                                          </p:val>
                                        </p:tav>
                                        <p:tav tm="100000">
                                          <p:val>
                                            <p:strVal val="#ppt_h"/>
                                          </p:val>
                                        </p:tav>
                                      </p:tavLst>
                                    </p:anim>
                                    <p:animEffect transition="in" filter="fade">
                                      <p:cBhvr>
                                        <p:cTn id="110" dur="300"/>
                                        <p:tgtEl>
                                          <p:spTgt spid="52"/>
                                        </p:tgtEl>
                                      </p:cBhvr>
                                    </p:animEffect>
                                  </p:childTnLst>
                                </p:cTn>
                              </p:par>
                              <p:par>
                                <p:cTn id="111" presetID="16" presetClass="entr" presetSubtype="42" fill="hold" grpId="0" nodeType="withEffect">
                                  <p:stCondLst>
                                    <p:cond delay="400"/>
                                  </p:stCondLst>
                                  <p:childTnLst>
                                    <p:set>
                                      <p:cBhvr>
                                        <p:cTn id="112" dur="1" fill="hold">
                                          <p:stCondLst>
                                            <p:cond delay="0"/>
                                          </p:stCondLst>
                                        </p:cTn>
                                        <p:tgtEl>
                                          <p:spTgt spid="49"/>
                                        </p:tgtEl>
                                        <p:attrNameLst>
                                          <p:attrName>style.visibility</p:attrName>
                                        </p:attrNameLst>
                                      </p:cBhvr>
                                      <p:to>
                                        <p:strVal val="visible"/>
                                      </p:to>
                                    </p:set>
                                    <p:animEffect transition="in" filter="barn(outHorizontal)">
                                      <p:cBhvr>
                                        <p:cTn id="113" dur="500"/>
                                        <p:tgtEl>
                                          <p:spTgt spid="49"/>
                                        </p:tgtEl>
                                      </p:cBhvr>
                                    </p:animEffect>
                                  </p:childTnLst>
                                </p:cTn>
                              </p:par>
                              <p:par>
                                <p:cTn id="114" presetID="16" presetClass="entr" presetSubtype="42" fill="hold" grpId="0" nodeType="withEffect">
                                  <p:stCondLst>
                                    <p:cond delay="550"/>
                                  </p:stCondLst>
                                  <p:childTnLst>
                                    <p:set>
                                      <p:cBhvr>
                                        <p:cTn id="115" dur="1" fill="hold">
                                          <p:stCondLst>
                                            <p:cond delay="0"/>
                                          </p:stCondLst>
                                        </p:cTn>
                                        <p:tgtEl>
                                          <p:spTgt spid="51"/>
                                        </p:tgtEl>
                                        <p:attrNameLst>
                                          <p:attrName>style.visibility</p:attrName>
                                        </p:attrNameLst>
                                      </p:cBhvr>
                                      <p:to>
                                        <p:strVal val="visible"/>
                                      </p:to>
                                    </p:set>
                                    <p:animEffect transition="in" filter="barn(outHorizontal)">
                                      <p:cBhvr>
                                        <p:cTn id="116" dur="500"/>
                                        <p:tgtEl>
                                          <p:spTgt spid="51"/>
                                        </p:tgtEl>
                                      </p:cBhvr>
                                    </p:animEffect>
                                  </p:childTnLst>
                                </p:cTn>
                              </p:par>
                              <p:par>
                                <p:cTn id="117" presetID="16" presetClass="entr" presetSubtype="42" fill="hold" grpId="0" nodeType="withEffect">
                                  <p:stCondLst>
                                    <p:cond delay="700"/>
                                  </p:stCondLst>
                                  <p:childTnLst>
                                    <p:set>
                                      <p:cBhvr>
                                        <p:cTn id="118" dur="1" fill="hold">
                                          <p:stCondLst>
                                            <p:cond delay="0"/>
                                          </p:stCondLst>
                                        </p:cTn>
                                        <p:tgtEl>
                                          <p:spTgt spid="53"/>
                                        </p:tgtEl>
                                        <p:attrNameLst>
                                          <p:attrName>style.visibility</p:attrName>
                                        </p:attrNameLst>
                                      </p:cBhvr>
                                      <p:to>
                                        <p:strVal val="visible"/>
                                      </p:to>
                                    </p:set>
                                    <p:animEffect transition="in" filter="barn(outHorizontal)">
                                      <p:cBhvr>
                                        <p:cTn id="119" dur="500"/>
                                        <p:tgtEl>
                                          <p:spTgt spid="53"/>
                                        </p:tgtEl>
                                      </p:cBhvr>
                                    </p:animEffect>
                                  </p:childTnLst>
                                </p:cTn>
                              </p:par>
                              <p:par>
                                <p:cTn id="120" presetID="22" presetClass="entr" presetSubtype="4" fill="hold" grpId="0" nodeType="withEffect">
                                  <p:stCondLst>
                                    <p:cond delay="250"/>
                                  </p:stCondLst>
                                  <p:childTnLst>
                                    <p:set>
                                      <p:cBhvr>
                                        <p:cTn id="121" dur="1" fill="hold">
                                          <p:stCondLst>
                                            <p:cond delay="0"/>
                                          </p:stCondLst>
                                        </p:cTn>
                                        <p:tgtEl>
                                          <p:spTgt spid="21"/>
                                        </p:tgtEl>
                                        <p:attrNameLst>
                                          <p:attrName>style.visibility</p:attrName>
                                        </p:attrNameLst>
                                      </p:cBhvr>
                                      <p:to>
                                        <p:strVal val="visible"/>
                                      </p:to>
                                    </p:set>
                                    <p:animEffect transition="in" filter="wipe(down)">
                                      <p:cBhvr>
                                        <p:cTn id="1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35" grpId="0"/>
      <p:bldP spid="36" grpId="0"/>
      <p:bldP spid="37" grpId="0"/>
      <p:bldP spid="38" grpId="0"/>
      <p:bldP spid="39" grpId="0"/>
      <p:bldP spid="40" grpId="0"/>
      <p:bldP spid="41" grpId="0"/>
      <p:bldP spid="4" grpId="0"/>
      <p:bldP spid="5" grpId="0"/>
      <p:bldP spid="6" grpId="0"/>
      <p:bldP spid="7" grpId="0"/>
      <p:bldP spid="8" grpId="0"/>
      <p:bldP spid="17" grpId="0"/>
      <p:bldP spid="22" grpId="0"/>
      <p:bldP spid="23" grpId="0"/>
      <p:bldP spid="24" grpId="0"/>
      <p:bldP spid="33" grpId="0"/>
      <p:bldP spid="43" grpId="0"/>
      <p:bldP spid="44" grpId="0"/>
      <p:bldP spid="48" grpId="0"/>
      <p:bldP spid="49" grpId="0"/>
      <p:bldP spid="50" grpId="0"/>
      <p:bldP spid="51" grpId="0"/>
      <p:bldP spid="52" grpId="0"/>
      <p:bldP spid="53"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B7DF253D-28A8-868B-95EC-103CDE3C75E3}"/>
              </a:ext>
            </a:extLst>
          </p:cNvPr>
          <p:cNvGraphicFramePr>
            <a:graphicFrameLocks noGrp="1"/>
          </p:cNvGraphicFramePr>
          <p:nvPr>
            <p:extLst>
              <p:ext uri="{D42A27DB-BD31-4B8C-83A1-F6EECF244321}">
                <p14:modId xmlns:p14="http://schemas.microsoft.com/office/powerpoint/2010/main" val="507023120"/>
              </p:ext>
            </p:extLst>
          </p:nvPr>
        </p:nvGraphicFramePr>
        <p:xfrm>
          <a:off x="605566" y="1953695"/>
          <a:ext cx="10907563" cy="2553028"/>
        </p:xfrm>
        <a:graphic>
          <a:graphicData uri="http://schemas.openxmlformats.org/drawingml/2006/table">
            <a:tbl>
              <a:tblPr firstRow="1" bandRow="1">
                <a:tableStyleId>{0E3FDE45-AF77-4B5C-9715-49D594BDF05E}</a:tableStyleId>
              </a:tblPr>
              <a:tblGrid>
                <a:gridCol w="228387">
                  <a:extLst>
                    <a:ext uri="{9D8B030D-6E8A-4147-A177-3AD203B41FA5}">
                      <a16:colId xmlns:a16="http://schemas.microsoft.com/office/drawing/2014/main" val="1461541507"/>
                    </a:ext>
                  </a:extLst>
                </a:gridCol>
                <a:gridCol w="2448272">
                  <a:extLst>
                    <a:ext uri="{9D8B030D-6E8A-4147-A177-3AD203B41FA5}">
                      <a16:colId xmlns:a16="http://schemas.microsoft.com/office/drawing/2014/main" val="2088104375"/>
                    </a:ext>
                  </a:extLst>
                </a:gridCol>
                <a:gridCol w="2522227">
                  <a:extLst>
                    <a:ext uri="{9D8B030D-6E8A-4147-A177-3AD203B41FA5}">
                      <a16:colId xmlns:a16="http://schemas.microsoft.com/office/drawing/2014/main" val="3436745765"/>
                    </a:ext>
                  </a:extLst>
                </a:gridCol>
                <a:gridCol w="1870261">
                  <a:extLst>
                    <a:ext uri="{9D8B030D-6E8A-4147-A177-3AD203B41FA5}">
                      <a16:colId xmlns:a16="http://schemas.microsoft.com/office/drawing/2014/main" val="3399109481"/>
                    </a:ext>
                  </a:extLst>
                </a:gridCol>
                <a:gridCol w="1919208">
                  <a:extLst>
                    <a:ext uri="{9D8B030D-6E8A-4147-A177-3AD203B41FA5}">
                      <a16:colId xmlns:a16="http://schemas.microsoft.com/office/drawing/2014/main" val="3594737378"/>
                    </a:ext>
                  </a:extLst>
                </a:gridCol>
                <a:gridCol w="1919208">
                  <a:extLst>
                    <a:ext uri="{9D8B030D-6E8A-4147-A177-3AD203B41FA5}">
                      <a16:colId xmlns:a16="http://schemas.microsoft.com/office/drawing/2014/main" val="921458271"/>
                    </a:ext>
                  </a:extLst>
                </a:gridCol>
              </a:tblGrid>
              <a:tr h="335193">
                <a:tc>
                  <a:txBody>
                    <a:bodyPr/>
                    <a:lstStyle/>
                    <a:p>
                      <a:r>
                        <a:rPr kumimoji="0" lang="en-US" sz="1200" b="1" u="none" strike="noStrike" kern="1200" cap="none" spc="0" normalizeH="0" baseline="0">
                          <a:ln>
                            <a:noFill/>
                          </a:ln>
                          <a:solidFill>
                            <a:schemeClr val="bg1"/>
                          </a:solidFill>
                          <a:effectLst/>
                          <a:uLnTx/>
                          <a:uFillTx/>
                        </a:rPr>
                        <a:t>#</a:t>
                      </a:r>
                      <a:endParaRPr kumimoji="0" lang="en-US" sz="1200" b="1" i="0" u="none" strike="noStrike" kern="1200" cap="none" spc="0" normalizeH="0" baseline="0">
                        <a:ln>
                          <a:noFill/>
                        </a:ln>
                        <a:solidFill>
                          <a:schemeClr val="bg1"/>
                        </a:solidFill>
                        <a:effectLst/>
                        <a:uLnTx/>
                        <a:uFillTx/>
                        <a:latin typeface="Poppins"/>
                        <a:ea typeface="+mn-ea"/>
                        <a:cs typeface="+mn-cs"/>
                      </a:endParaRPr>
                    </a:p>
                  </a:txBody>
                  <a:tcPr marL="91416" marR="91416" marT="45708" marB="45708"/>
                </a:tc>
                <a:tc>
                  <a:txBody>
                    <a:bodyPr/>
                    <a:lstStyle/>
                    <a:p>
                      <a:pPr algn="l"/>
                      <a:r>
                        <a:rPr kumimoji="0" lang="en-US" sz="1200" b="1" u="none" strike="noStrike" kern="1200" cap="none" spc="0" normalizeH="0" baseline="0">
                          <a:ln>
                            <a:noFill/>
                          </a:ln>
                          <a:solidFill>
                            <a:schemeClr val="bg1"/>
                          </a:solidFill>
                          <a:effectLst/>
                          <a:uLnTx/>
                          <a:uFillTx/>
                        </a:rPr>
                        <a:t>Version </a:t>
                      </a:r>
                      <a:endParaRPr kumimoji="0" lang="en-US" sz="1200" b="1" i="0" u="none" strike="noStrike" kern="1200" cap="none" spc="0" normalizeH="0" baseline="0">
                        <a:ln>
                          <a:noFill/>
                        </a:ln>
                        <a:solidFill>
                          <a:schemeClr val="bg1"/>
                        </a:solidFill>
                        <a:effectLst/>
                        <a:uLnTx/>
                        <a:uFillTx/>
                        <a:latin typeface="Poppins"/>
                        <a:ea typeface="+mn-ea"/>
                        <a:cs typeface="+mn-cs"/>
                      </a:endParaRPr>
                    </a:p>
                  </a:txBody>
                  <a:tcPr marL="91416" marR="91416" marT="45708" marB="45708"/>
                </a:tc>
                <a:tc>
                  <a:txBody>
                    <a:bodyPr/>
                    <a:lstStyle/>
                    <a:p>
                      <a:pPr algn="l"/>
                      <a:r>
                        <a:rPr kumimoji="0" lang="en-US" sz="1200" b="1" u="none" strike="noStrike" kern="1200" cap="none" spc="0" normalizeH="0" baseline="0">
                          <a:ln>
                            <a:noFill/>
                          </a:ln>
                          <a:solidFill>
                            <a:schemeClr val="bg1"/>
                          </a:solidFill>
                          <a:effectLst/>
                          <a:uLnTx/>
                          <a:uFillTx/>
                        </a:rPr>
                        <a:t>Key Updates</a:t>
                      </a:r>
                      <a:endParaRPr kumimoji="0" lang="en-US" sz="1200" b="1" i="0" u="none" strike="noStrike" kern="1200" cap="none" spc="0" normalizeH="0" baseline="0">
                        <a:ln>
                          <a:noFill/>
                        </a:ln>
                        <a:solidFill>
                          <a:schemeClr val="bg1"/>
                        </a:solidFill>
                        <a:effectLst/>
                        <a:uLnTx/>
                        <a:uFillTx/>
                        <a:latin typeface="Poppins"/>
                        <a:ea typeface="+mn-ea"/>
                        <a:cs typeface="+mn-cs"/>
                      </a:endParaRPr>
                    </a:p>
                  </a:txBody>
                  <a:tcPr marL="91416" marR="91416" marT="45708" marB="45708"/>
                </a:tc>
                <a:tc>
                  <a:txBody>
                    <a:bodyPr/>
                    <a:lstStyle/>
                    <a:p>
                      <a:pPr algn="l"/>
                      <a:r>
                        <a:rPr kumimoji="0" lang="en-US" sz="1200" b="1" u="none" strike="noStrike" kern="1200" cap="none" spc="0" normalizeH="0" baseline="0">
                          <a:ln>
                            <a:noFill/>
                          </a:ln>
                          <a:solidFill>
                            <a:schemeClr val="bg1"/>
                          </a:solidFill>
                          <a:effectLst/>
                          <a:uLnTx/>
                          <a:uFillTx/>
                        </a:rPr>
                        <a:t>Date</a:t>
                      </a:r>
                      <a:endParaRPr kumimoji="0" lang="en-US" sz="1200" b="1" i="0" u="none" strike="noStrike" kern="1200" cap="none" spc="0" normalizeH="0" baseline="0">
                        <a:ln>
                          <a:noFill/>
                        </a:ln>
                        <a:solidFill>
                          <a:schemeClr val="bg1"/>
                        </a:solidFill>
                        <a:effectLst/>
                        <a:uLnTx/>
                        <a:uFillTx/>
                        <a:latin typeface="Poppins"/>
                        <a:ea typeface="+mn-ea"/>
                        <a:cs typeface="+mn-cs"/>
                      </a:endParaRPr>
                    </a:p>
                  </a:txBody>
                  <a:tcPr marL="91416" marR="91416" marT="45708" marB="45708"/>
                </a:tc>
                <a:tc>
                  <a:txBody>
                    <a:bodyPr/>
                    <a:lstStyle/>
                    <a:p>
                      <a:pPr algn="l"/>
                      <a:r>
                        <a:rPr kumimoji="0" lang="en-US" sz="1200" b="1" u="none" strike="noStrike" kern="1200" cap="none" spc="0" normalizeH="0" baseline="0">
                          <a:ln>
                            <a:noFill/>
                          </a:ln>
                          <a:solidFill>
                            <a:schemeClr val="bg1"/>
                          </a:solidFill>
                          <a:effectLst/>
                          <a:uLnTx/>
                          <a:uFillTx/>
                        </a:rPr>
                        <a:t>Author</a:t>
                      </a:r>
                      <a:endParaRPr kumimoji="0" lang="en-US" sz="1200" b="1" i="0" u="none" strike="noStrike" kern="1200" cap="none" spc="0" normalizeH="0" baseline="0">
                        <a:ln>
                          <a:noFill/>
                        </a:ln>
                        <a:solidFill>
                          <a:schemeClr val="bg1"/>
                        </a:solidFill>
                        <a:effectLst/>
                        <a:uLnTx/>
                        <a:uFillTx/>
                        <a:latin typeface="Poppins"/>
                        <a:ea typeface="+mn-ea"/>
                        <a:cs typeface="+mn-cs"/>
                      </a:endParaRPr>
                    </a:p>
                  </a:txBody>
                  <a:tcPr marL="91416" marR="91416" marT="45708" marB="45708"/>
                </a:tc>
                <a:tc>
                  <a:txBody>
                    <a:bodyPr/>
                    <a:lstStyle/>
                    <a:p>
                      <a:pPr algn="l"/>
                      <a:r>
                        <a:rPr kumimoji="0" lang="en-US" sz="1200" b="1" u="none" strike="noStrike" kern="1200" cap="none" spc="0" normalizeH="0" baseline="0">
                          <a:ln>
                            <a:noFill/>
                          </a:ln>
                          <a:solidFill>
                            <a:schemeClr val="bg1"/>
                          </a:solidFill>
                          <a:effectLst/>
                          <a:uLnTx/>
                          <a:uFillTx/>
                        </a:rPr>
                        <a:t>Sign off</a:t>
                      </a:r>
                      <a:endParaRPr kumimoji="0" lang="en-US" sz="1200" b="1" i="0" u="none" strike="noStrike" kern="1200" cap="none" spc="0" normalizeH="0" baseline="0">
                        <a:ln>
                          <a:noFill/>
                        </a:ln>
                        <a:solidFill>
                          <a:schemeClr val="bg1"/>
                        </a:solidFill>
                        <a:effectLst/>
                        <a:uLnTx/>
                        <a:uFillTx/>
                        <a:latin typeface="Poppins"/>
                        <a:ea typeface="+mn-ea"/>
                        <a:cs typeface="+mn-cs"/>
                      </a:endParaRPr>
                    </a:p>
                  </a:txBody>
                  <a:tcPr marL="91416" marR="91416" marT="45708" marB="45708"/>
                </a:tc>
                <a:extLst>
                  <a:ext uri="{0D108BD9-81ED-4DB2-BD59-A6C34878D82A}">
                    <a16:rowId xmlns:a16="http://schemas.microsoft.com/office/drawing/2014/main" val="1918454326"/>
                  </a:ext>
                </a:extLst>
              </a:tr>
              <a:tr h="7313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rPr>
                        <a:t>1</a:t>
                      </a: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rPr>
                        <a:t>Initial version of Test Strategy </a:t>
                      </a:r>
                      <a:endParaRPr lang="en-US" sz="1200" kern="1200" dirty="0">
                        <a:solidFill>
                          <a:schemeClr val="tx1"/>
                        </a:solidFill>
                        <a:latin typeface="Poppins"/>
                        <a:ea typeface="+mn-ea"/>
                        <a:cs typeface="+mn-cs"/>
                      </a:endParaRPr>
                    </a:p>
                  </a:txBody>
                  <a:tcPr marL="91416" marR="91416" marT="45708" marB="45708"/>
                </a:tc>
                <a:tc>
                  <a:txBody>
                    <a:bodyPr/>
                    <a:lstStyle/>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US" sz="1200" kern="1200" dirty="0">
                          <a:solidFill>
                            <a:schemeClr val="tx1"/>
                          </a:solidFill>
                        </a:rPr>
                        <a:t>Draft version presented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Poppins"/>
                        <a:ea typeface="+mn-ea"/>
                        <a:cs typeface="+mn-cs"/>
                      </a:endParaRPr>
                    </a:p>
                  </a:txBody>
                  <a:tcPr marL="91416" marR="91416" marT="45708" marB="45708"/>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dirty="0">
                          <a:solidFill>
                            <a:schemeClr val="tx1"/>
                          </a:solidFill>
                        </a:rPr>
                        <a:t>22</a:t>
                      </a:r>
                      <a:r>
                        <a:rPr lang="en-US" sz="1200" kern="1200" baseline="30000" dirty="0">
                          <a:solidFill>
                            <a:schemeClr val="tx1"/>
                          </a:solidFill>
                        </a:rPr>
                        <a:t>nd</a:t>
                      </a:r>
                      <a:r>
                        <a:rPr lang="en-US" sz="1200" kern="1200" dirty="0">
                          <a:solidFill>
                            <a:schemeClr val="tx1"/>
                          </a:solidFill>
                        </a:rPr>
                        <a:t> January 2026</a:t>
                      </a:r>
                      <a:endParaRPr lang="en-US" sz="1200" kern="1200" dirty="0">
                        <a:solidFill>
                          <a:schemeClr val="tx1"/>
                        </a:solidFill>
                        <a:latin typeface="Poppins"/>
                        <a:ea typeface="+mn-ea"/>
                        <a:cs typeface="+mn-cs"/>
                      </a:endParaRPr>
                    </a:p>
                  </a:txBody>
                  <a:tcPr marL="91416" marR="91416" marT="45708" marB="45708"/>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dirty="0">
                          <a:solidFill>
                            <a:schemeClr val="tx1"/>
                          </a:solidFill>
                        </a:rPr>
                        <a:t>Vishal Kumar</a:t>
                      </a: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rPr>
                        <a:t>Insert PDF of sign off or link to a shared site where sign off evidence is maintained</a:t>
                      </a:r>
                      <a:endParaRPr lang="en-US" sz="1200" kern="1200" dirty="0">
                        <a:solidFill>
                          <a:schemeClr val="tx1"/>
                        </a:solidFill>
                        <a:latin typeface="Poppins"/>
                        <a:ea typeface="+mn-ea"/>
                        <a:cs typeface="+mn-cs"/>
                      </a:endParaRPr>
                    </a:p>
                  </a:txBody>
                  <a:tcPr marL="91416" marR="91416" marT="45708" marB="45708"/>
                </a:tc>
                <a:extLst>
                  <a:ext uri="{0D108BD9-81ED-4DB2-BD59-A6C34878D82A}">
                    <a16:rowId xmlns:a16="http://schemas.microsoft.com/office/drawing/2014/main" val="429128784"/>
                  </a:ext>
                </a:extLst>
              </a:tr>
              <a:tr h="3588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rPr>
                        <a:t>2</a:t>
                      </a: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extLst>
                  <a:ext uri="{0D108BD9-81ED-4DB2-BD59-A6C34878D82A}">
                    <a16:rowId xmlns:a16="http://schemas.microsoft.com/office/drawing/2014/main" val="3351467976"/>
                  </a:ext>
                </a:extLst>
              </a:tr>
              <a:tr h="304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rPr>
                        <a:t>3</a:t>
                      </a: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extLst>
                  <a:ext uri="{0D108BD9-81ED-4DB2-BD59-A6C34878D82A}">
                    <a16:rowId xmlns:a16="http://schemas.microsoft.com/office/drawing/2014/main" val="3707121667"/>
                  </a:ext>
                </a:extLst>
              </a:tr>
              <a:tr h="7313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rPr>
                        <a:t>4</a:t>
                      </a: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Poppins"/>
                        <a:ea typeface="+mn-ea"/>
                        <a:cs typeface="+mn-cs"/>
                      </a:endParaRP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Poppins"/>
                        <a:ea typeface="+mn-ea"/>
                        <a:cs typeface="+mn-cs"/>
                      </a:endParaRPr>
                    </a:p>
                  </a:txBody>
                  <a:tcPr marL="91416" marR="91416" marT="45708" marB="45708"/>
                </a:tc>
                <a:extLst>
                  <a:ext uri="{0D108BD9-81ED-4DB2-BD59-A6C34878D82A}">
                    <a16:rowId xmlns:a16="http://schemas.microsoft.com/office/drawing/2014/main" val="545178940"/>
                  </a:ext>
                </a:extLst>
              </a:tr>
            </a:tbl>
          </a:graphicData>
        </a:graphic>
      </p:graphicFrame>
      <p:pic>
        <p:nvPicPr>
          <p:cNvPr id="7" name="Picture 6" descr="BEll company logo">
            <a:extLst>
              <a:ext uri="{FF2B5EF4-FFF2-40B4-BE49-F238E27FC236}">
                <a16:creationId xmlns:a16="http://schemas.microsoft.com/office/drawing/2014/main" id="{B43F5BF1-325E-6AC7-2F49-C9F497FD0DE4}"/>
              </a:ext>
            </a:extLst>
          </p:cNvPr>
          <p:cNvPicPr>
            <a:picLocks noChangeAspect="1"/>
          </p:cNvPicPr>
          <p:nvPr/>
        </p:nvPicPr>
        <p:blipFill>
          <a:blip r:embed="rId2"/>
          <a:stretch>
            <a:fillRect/>
          </a:stretch>
        </p:blipFill>
        <p:spPr>
          <a:xfrm>
            <a:off x="10999313" y="535827"/>
            <a:ext cx="514513" cy="400050"/>
          </a:xfrm>
          <a:prstGeom prst="rect">
            <a:avLst/>
          </a:prstGeom>
        </p:spPr>
      </p:pic>
      <p:sp>
        <p:nvSpPr>
          <p:cNvPr id="9" name="Title 8">
            <a:extLst>
              <a:ext uri="{FF2B5EF4-FFF2-40B4-BE49-F238E27FC236}">
                <a16:creationId xmlns:a16="http://schemas.microsoft.com/office/drawing/2014/main" id="{54BFEB93-7D77-7D82-2594-48978F1524F4}"/>
              </a:ext>
            </a:extLst>
          </p:cNvPr>
          <p:cNvSpPr txBox="1">
            <a:spLocks/>
          </p:cNvSpPr>
          <p:nvPr/>
        </p:nvSpPr>
        <p:spPr>
          <a:xfrm>
            <a:off x="1191092" y="469477"/>
            <a:ext cx="5053013" cy="595154"/>
          </a:xfrm>
          <a:prstGeom prst="rect">
            <a:avLst/>
          </a:prstGeom>
        </p:spPr>
        <p:txBody>
          <a:bodyPr vert="horz" lIns="0" tIns="60949" rIns="0" bIns="60949" rtlCol="0" anchor="ctr">
            <a:noAutofit/>
          </a:bodyPr>
          <a:lstStyle>
            <a:lvl1pPr algn="l" defTabSz="1218987" rtl="0" eaLnBrk="1" latinLnBrk="0" hangingPunct="1">
              <a:spcBef>
                <a:spcPct val="0"/>
              </a:spcBef>
              <a:buNone/>
              <a:defRPr sz="3600" b="1" kern="1200">
                <a:solidFill>
                  <a:schemeClr val="accent1"/>
                </a:solidFill>
                <a:latin typeface="+mj-lt"/>
                <a:ea typeface="+mj-ea"/>
                <a:cs typeface="+mj-cs"/>
              </a:defRPr>
            </a:lvl1pPr>
          </a:lstStyle>
          <a:p>
            <a:r>
              <a:rPr lang="en-US" sz="3200">
                <a:latin typeface="Arial"/>
                <a:cs typeface="Arial"/>
              </a:rPr>
              <a:t>Version Control</a:t>
            </a:r>
            <a:endParaRPr lang="en-PH" sz="3200">
              <a:latin typeface="Arial"/>
              <a:cs typeface="Arial"/>
            </a:endParaRPr>
          </a:p>
        </p:txBody>
      </p:sp>
      <p:grpSp>
        <p:nvGrpSpPr>
          <p:cNvPr id="17" name="Group 16">
            <a:extLst>
              <a:ext uri="{FF2B5EF4-FFF2-40B4-BE49-F238E27FC236}">
                <a16:creationId xmlns:a16="http://schemas.microsoft.com/office/drawing/2014/main" id="{DC4EBF06-DF03-0865-35CC-A53DA2530011}"/>
              </a:ext>
            </a:extLst>
          </p:cNvPr>
          <p:cNvGrpSpPr/>
          <p:nvPr/>
        </p:nvGrpSpPr>
        <p:grpSpPr>
          <a:xfrm>
            <a:off x="1" y="0"/>
            <a:ext cx="909836" cy="934466"/>
            <a:chOff x="0" y="0"/>
            <a:chExt cx="3161556" cy="3048050"/>
          </a:xfrm>
        </p:grpSpPr>
        <p:grpSp>
          <p:nvGrpSpPr>
            <p:cNvPr id="11" name="Group 10">
              <a:extLst>
                <a:ext uri="{FF2B5EF4-FFF2-40B4-BE49-F238E27FC236}">
                  <a16:creationId xmlns:a16="http://schemas.microsoft.com/office/drawing/2014/main" id="{65B69A51-462B-AB51-28AF-E146552FF7C1}"/>
                </a:ext>
              </a:extLst>
            </p:cNvPr>
            <p:cNvGrpSpPr/>
            <p:nvPr/>
          </p:nvGrpSpPr>
          <p:grpSpPr>
            <a:xfrm>
              <a:off x="0" y="0"/>
              <a:ext cx="2107704" cy="1988840"/>
              <a:chOff x="0" y="0"/>
              <a:chExt cx="2107704" cy="1988840"/>
            </a:xfrm>
          </p:grpSpPr>
          <p:sp>
            <p:nvSpPr>
              <p:cNvPr id="15" name="Rectangle 14">
                <a:extLst>
                  <a:ext uri="{FF2B5EF4-FFF2-40B4-BE49-F238E27FC236}">
                    <a16:creationId xmlns:a16="http://schemas.microsoft.com/office/drawing/2014/main" id="{F9D01D48-7DB2-7F99-1093-B2F39C387E3D}"/>
                  </a:ext>
                </a:extLst>
              </p:cNvPr>
              <p:cNvSpPr/>
              <p:nvPr/>
            </p:nvSpPr>
            <p:spPr>
              <a:xfrm>
                <a:off x="0" y="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C10AA37D-A7EE-B60C-D749-E69CDBAB0E4F}"/>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2" name="Group 11">
              <a:extLst>
                <a:ext uri="{FF2B5EF4-FFF2-40B4-BE49-F238E27FC236}">
                  <a16:creationId xmlns:a16="http://schemas.microsoft.com/office/drawing/2014/main" id="{E7C2BB98-9EA6-14BA-E386-71AD21BF4EEC}"/>
                </a:ext>
              </a:extLst>
            </p:cNvPr>
            <p:cNvGrpSpPr/>
            <p:nvPr/>
          </p:nvGrpSpPr>
          <p:grpSpPr>
            <a:xfrm flipH="1" flipV="1">
              <a:off x="1053852" y="1059210"/>
              <a:ext cx="2107704" cy="1988840"/>
              <a:chOff x="1580778" y="1268760"/>
              <a:chExt cx="2107704" cy="1988840"/>
            </a:xfrm>
          </p:grpSpPr>
          <p:sp>
            <p:nvSpPr>
              <p:cNvPr id="13" name="Rectangle 12">
                <a:extLst>
                  <a:ext uri="{FF2B5EF4-FFF2-40B4-BE49-F238E27FC236}">
                    <a16:creationId xmlns:a16="http://schemas.microsoft.com/office/drawing/2014/main" id="{0E5A3647-8C45-CFFC-26FD-8D7322AC4441}"/>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Rectangle 13">
                <a:extLst>
                  <a:ext uri="{FF2B5EF4-FFF2-40B4-BE49-F238E27FC236}">
                    <a16:creationId xmlns:a16="http://schemas.microsoft.com/office/drawing/2014/main" id="{DF72A3EB-08E5-D0BD-6615-8796F6F0933B}"/>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25" name="Group 24">
            <a:extLst>
              <a:ext uri="{FF2B5EF4-FFF2-40B4-BE49-F238E27FC236}">
                <a16:creationId xmlns:a16="http://schemas.microsoft.com/office/drawing/2014/main" id="{12317923-8F37-5A1E-3315-894F6990EE48}"/>
              </a:ext>
            </a:extLst>
          </p:cNvPr>
          <p:cNvGrpSpPr/>
          <p:nvPr/>
        </p:nvGrpSpPr>
        <p:grpSpPr>
          <a:xfrm>
            <a:off x="10342891" y="4962097"/>
            <a:ext cx="1845935" cy="1895903"/>
            <a:chOff x="0" y="0"/>
            <a:chExt cx="3161556" cy="3048050"/>
          </a:xfrm>
        </p:grpSpPr>
        <p:grpSp>
          <p:nvGrpSpPr>
            <p:cNvPr id="19" name="Group 18">
              <a:extLst>
                <a:ext uri="{FF2B5EF4-FFF2-40B4-BE49-F238E27FC236}">
                  <a16:creationId xmlns:a16="http://schemas.microsoft.com/office/drawing/2014/main" id="{813E2721-C479-8D40-A6C7-34E47536D148}"/>
                </a:ext>
              </a:extLst>
            </p:cNvPr>
            <p:cNvGrpSpPr/>
            <p:nvPr/>
          </p:nvGrpSpPr>
          <p:grpSpPr>
            <a:xfrm>
              <a:off x="0" y="0"/>
              <a:ext cx="2107704" cy="2241545"/>
              <a:chOff x="0" y="0"/>
              <a:chExt cx="2107704" cy="2241545"/>
            </a:xfrm>
          </p:grpSpPr>
          <p:sp>
            <p:nvSpPr>
              <p:cNvPr id="23" name="Rectangle 22">
                <a:extLst>
                  <a:ext uri="{FF2B5EF4-FFF2-40B4-BE49-F238E27FC236}">
                    <a16:creationId xmlns:a16="http://schemas.microsoft.com/office/drawing/2014/main" id="{788396A5-D9F3-4337-BF77-C45348FC453C}"/>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Rectangle 23">
                <a:extLst>
                  <a:ext uri="{FF2B5EF4-FFF2-40B4-BE49-F238E27FC236}">
                    <a16:creationId xmlns:a16="http://schemas.microsoft.com/office/drawing/2014/main" id="{37A7C939-424B-FE54-D99B-9A2B227718E3}"/>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0" name="Group 19">
              <a:extLst>
                <a:ext uri="{FF2B5EF4-FFF2-40B4-BE49-F238E27FC236}">
                  <a16:creationId xmlns:a16="http://schemas.microsoft.com/office/drawing/2014/main" id="{33E55220-8AE1-7AFA-5F80-079761A61261}"/>
                </a:ext>
              </a:extLst>
            </p:cNvPr>
            <p:cNvGrpSpPr/>
            <p:nvPr/>
          </p:nvGrpSpPr>
          <p:grpSpPr>
            <a:xfrm flipH="1" flipV="1">
              <a:off x="1053853" y="1059210"/>
              <a:ext cx="2107703" cy="1988840"/>
              <a:chOff x="1580778" y="1268760"/>
              <a:chExt cx="2107703" cy="1988840"/>
            </a:xfrm>
          </p:grpSpPr>
          <p:sp>
            <p:nvSpPr>
              <p:cNvPr id="21" name="Rectangle 20">
                <a:extLst>
                  <a:ext uri="{FF2B5EF4-FFF2-40B4-BE49-F238E27FC236}">
                    <a16:creationId xmlns:a16="http://schemas.microsoft.com/office/drawing/2014/main" id="{FB54872D-9D73-33E6-0C9A-2A009B058919}"/>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Rectangle 21">
                <a:extLst>
                  <a:ext uri="{FF2B5EF4-FFF2-40B4-BE49-F238E27FC236}">
                    <a16:creationId xmlns:a16="http://schemas.microsoft.com/office/drawing/2014/main" id="{3160345F-9F2E-81E1-F7FC-EEA28662D1AD}"/>
                  </a:ext>
                </a:extLst>
              </p:cNvPr>
              <p:cNvSpPr/>
              <p:nvPr/>
            </p:nvSpPr>
            <p:spPr>
              <a:xfrm rot="5400000">
                <a:off x="2758303" y="1145086"/>
                <a:ext cx="806504" cy="105385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spTree>
    <p:extLst>
      <p:ext uri="{BB962C8B-B14F-4D97-AF65-F5344CB8AC3E}">
        <p14:creationId xmlns:p14="http://schemas.microsoft.com/office/powerpoint/2010/main" val="126324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 presetClass="entr" presetSubtype="9" decel="8000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 calcmode="lin" valueType="num">
                                      <p:cBhvr additive="base">
                                        <p:cTn id="10" dur="500" fill="hold"/>
                                        <p:tgtEl>
                                          <p:spTgt spid="17"/>
                                        </p:tgtEl>
                                        <p:attrNameLst>
                                          <p:attrName>ppt_x</p:attrName>
                                        </p:attrNameLst>
                                      </p:cBhvr>
                                      <p:tavLst>
                                        <p:tav tm="0">
                                          <p:val>
                                            <p:strVal val="0-#ppt_w/2"/>
                                          </p:val>
                                        </p:tav>
                                        <p:tav tm="100000">
                                          <p:val>
                                            <p:strVal val="#ppt_x"/>
                                          </p:val>
                                        </p:tav>
                                      </p:tavLst>
                                    </p:anim>
                                    <p:anim calcmode="lin" valueType="num">
                                      <p:cBhvr additive="base">
                                        <p:cTn id="11" dur="500" fill="hold"/>
                                        <p:tgtEl>
                                          <p:spTgt spid="17"/>
                                        </p:tgtEl>
                                        <p:attrNameLst>
                                          <p:attrName>ppt_y</p:attrName>
                                        </p:attrNameLst>
                                      </p:cBhvr>
                                      <p:tavLst>
                                        <p:tav tm="0">
                                          <p:val>
                                            <p:strVal val="0-#ppt_h/2"/>
                                          </p:val>
                                        </p:tav>
                                        <p:tav tm="100000">
                                          <p:val>
                                            <p:strVal val="#ppt_y"/>
                                          </p:val>
                                        </p:tav>
                                      </p:tavLst>
                                    </p:anim>
                                  </p:childTnLst>
                                </p:cTn>
                              </p:par>
                              <p:par>
                                <p:cTn id="12" presetID="2" presetClass="entr" presetSubtype="6" decel="80000" fill="hold" nodeType="with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additive="base">
                                        <p:cTn id="14" dur="500" fill="hold"/>
                                        <p:tgtEl>
                                          <p:spTgt spid="25"/>
                                        </p:tgtEl>
                                        <p:attrNameLst>
                                          <p:attrName>ppt_x</p:attrName>
                                        </p:attrNameLst>
                                      </p:cBhvr>
                                      <p:tavLst>
                                        <p:tav tm="0">
                                          <p:val>
                                            <p:strVal val="1+#ppt_w/2"/>
                                          </p:val>
                                        </p:tav>
                                        <p:tav tm="100000">
                                          <p:val>
                                            <p:strVal val="#ppt_x"/>
                                          </p:val>
                                        </p:tav>
                                      </p:tavLst>
                                    </p:anim>
                                    <p:anim calcmode="lin" valueType="num">
                                      <p:cBhvr additive="base">
                                        <p:cTn id="15"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6EF6FDEB-D1BD-4E85-41BF-DBA3265DD136}"/>
              </a:ext>
            </a:extLst>
          </p:cNvPr>
          <p:cNvSpPr/>
          <p:nvPr/>
        </p:nvSpPr>
        <p:spPr>
          <a:xfrm>
            <a:off x="913167" y="1171835"/>
            <a:ext cx="9310363" cy="4385098"/>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itle 3">
            <a:extLst>
              <a:ext uri="{FF2B5EF4-FFF2-40B4-BE49-F238E27FC236}">
                <a16:creationId xmlns:a16="http://schemas.microsoft.com/office/drawing/2014/main" id="{4B9B70CA-2875-E22A-7B10-B56E08D09A59}"/>
              </a:ext>
            </a:extLst>
          </p:cNvPr>
          <p:cNvSpPr>
            <a:spLocks noGrp="1"/>
          </p:cNvSpPr>
          <p:nvPr>
            <p:ph type="title" idx="4294967295"/>
          </p:nvPr>
        </p:nvSpPr>
        <p:spPr>
          <a:xfrm>
            <a:off x="1131536" y="433434"/>
            <a:ext cx="9452573" cy="721125"/>
          </a:xfrm>
        </p:spPr>
        <p:txBody>
          <a:bodyPr>
            <a:normAutofit/>
          </a:bodyPr>
          <a:lstStyle/>
          <a:p>
            <a:r>
              <a:rPr lang="en-CA" sz="3200" dirty="0"/>
              <a:t>Play to Win SS Ph1 - Dashboard &amp; Warranty</a:t>
            </a:r>
            <a:endParaRPr lang="en-US" sz="32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EB9B36D7-9849-288C-4D51-EADD04A90577}"/>
              </a:ext>
            </a:extLst>
          </p:cNvPr>
          <p:cNvSpPr txBox="1"/>
          <p:nvPr/>
        </p:nvSpPr>
        <p:spPr>
          <a:xfrm>
            <a:off x="1074734" y="1286775"/>
            <a:ext cx="3754609" cy="461665"/>
          </a:xfrm>
          <a:prstGeom prst="rect">
            <a:avLst/>
          </a:prstGeom>
          <a:noFill/>
        </p:spPr>
        <p:txBody>
          <a:bodyPr wrap="square" lIns="91440" tIns="45720" rIns="91440" bIns="45720" rtlCol="0" anchor="t">
            <a:spAutoFit/>
          </a:bodyPr>
          <a:lstStyle/>
          <a:p>
            <a:r>
              <a:rPr lang="en-US" b="1" dirty="0">
                <a:solidFill>
                  <a:schemeClr val="tx2"/>
                </a:solidFill>
                <a:latin typeface="Arial"/>
                <a:cs typeface="Arial"/>
              </a:rPr>
              <a:t>Executive Summary</a:t>
            </a:r>
            <a:endParaRPr lang="en-PH" b="1" dirty="0">
              <a:solidFill>
                <a:schemeClr val="tx2"/>
              </a:solidFill>
              <a:latin typeface="Arial"/>
              <a:cs typeface="Arial"/>
            </a:endParaRPr>
          </a:p>
        </p:txBody>
      </p:sp>
      <p:sp>
        <p:nvSpPr>
          <p:cNvPr id="21" name="TextBox 20">
            <a:extLst>
              <a:ext uri="{FF2B5EF4-FFF2-40B4-BE49-F238E27FC236}">
                <a16:creationId xmlns:a16="http://schemas.microsoft.com/office/drawing/2014/main" id="{A67365E6-5441-8D91-1FE8-B23C00EAEFEC}"/>
              </a:ext>
            </a:extLst>
          </p:cNvPr>
          <p:cNvSpPr txBox="1"/>
          <p:nvPr/>
        </p:nvSpPr>
        <p:spPr>
          <a:xfrm>
            <a:off x="1074734" y="1765716"/>
            <a:ext cx="9020671" cy="3539430"/>
          </a:xfrm>
          <a:prstGeom prst="rect">
            <a:avLst/>
          </a:prstGeom>
          <a:noFill/>
        </p:spPr>
        <p:txBody>
          <a:bodyPr wrap="square" lIns="91440" tIns="45720" rIns="91440" bIns="45720" rtlCol="0" anchor="t">
            <a:spAutoFit/>
          </a:bodyPr>
          <a:lstStyle/>
          <a:p>
            <a:pPr algn="just"/>
            <a:r>
              <a:rPr lang="en-US" sz="1600" dirty="0">
                <a:solidFill>
                  <a:schemeClr val="bg1"/>
                </a:solidFill>
              </a:rPr>
              <a:t>This document defines the overall test strategy, methodology and test approach for </a:t>
            </a:r>
            <a:r>
              <a:rPr lang="en-CA" sz="1600" dirty="0">
                <a:solidFill>
                  <a:schemeClr val="bg1"/>
                </a:solidFill>
              </a:rPr>
              <a:t>Play to Win SS Ph1 - Dashboard &amp; Warranty</a:t>
            </a:r>
            <a:r>
              <a:rPr lang="en-US" sz="1600" dirty="0">
                <a:solidFill>
                  <a:schemeClr val="bg1"/>
                </a:solidFill>
              </a:rPr>
              <a:t>. The Test Strategy ensures that completed functionalities are properly tested, validated and meet the acceptance criteria defined in the project requirements. </a:t>
            </a:r>
          </a:p>
          <a:p>
            <a:pPr algn="just"/>
            <a:endParaRPr lang="en-US" sz="1600" dirty="0">
              <a:solidFill>
                <a:schemeClr val="bg1"/>
              </a:solidFill>
            </a:endParaRPr>
          </a:p>
          <a:p>
            <a:pPr algn="just"/>
            <a:r>
              <a:rPr lang="en-US" sz="1600" dirty="0">
                <a:solidFill>
                  <a:schemeClr val="bg1"/>
                </a:solidFill>
              </a:rPr>
              <a:t>The test process includes objectives, scope, assumptions, constraints, and risk management. In this  Test Strategy, the test planning will also be incorporated addressing environment requirements, test scope of each phase (</a:t>
            </a:r>
            <a:r>
              <a:rPr lang="en-CA" sz="1600" dirty="0">
                <a:solidFill>
                  <a:schemeClr val="bg1"/>
                </a:solidFill>
              </a:rPr>
              <a:t>Dashboard &amp; Warranty</a:t>
            </a:r>
            <a:r>
              <a:rPr lang="en-US" sz="1600" dirty="0">
                <a:solidFill>
                  <a:schemeClr val="bg1"/>
                </a:solidFill>
              </a:rPr>
              <a:t>), required resources and timelines. </a:t>
            </a:r>
            <a:endParaRPr lang="en-US" sz="1600" dirty="0">
              <a:solidFill>
                <a:schemeClr val="bg1"/>
              </a:solidFill>
              <a:cs typeface="Segoe UI"/>
            </a:endParaRPr>
          </a:p>
          <a:p>
            <a:pPr algn="just"/>
            <a:endParaRPr lang="en-US" sz="1600" dirty="0">
              <a:solidFill>
                <a:schemeClr val="bg1"/>
              </a:solidFill>
            </a:endParaRPr>
          </a:p>
          <a:p>
            <a:pPr algn="just"/>
            <a:r>
              <a:rPr lang="en-US" sz="1600" dirty="0">
                <a:solidFill>
                  <a:schemeClr val="bg1"/>
                </a:solidFill>
              </a:rPr>
              <a:t>This document will serve to communicate expectations of how each stream will engage participants from each team. </a:t>
            </a:r>
          </a:p>
          <a:p>
            <a:pPr algn="just"/>
            <a:endParaRPr lang="en-US" sz="1600" dirty="0">
              <a:solidFill>
                <a:schemeClr val="bg1"/>
              </a:solidFill>
            </a:endParaRPr>
          </a:p>
          <a:p>
            <a:pPr algn="just"/>
            <a:r>
              <a:rPr lang="en-US" sz="1600" dirty="0">
                <a:solidFill>
                  <a:schemeClr val="bg1"/>
                </a:solidFill>
              </a:rPr>
              <a:t>To ensure there is no impact to Business operations of </a:t>
            </a:r>
            <a:r>
              <a:rPr lang="en-CA" sz="1600" dirty="0">
                <a:solidFill>
                  <a:schemeClr val="bg1"/>
                </a:solidFill>
              </a:rPr>
              <a:t>Dashboard &amp; Warranty</a:t>
            </a:r>
            <a:r>
              <a:rPr lang="en-US" sz="1600" dirty="0">
                <a:solidFill>
                  <a:schemeClr val="bg1"/>
                </a:solidFill>
              </a:rPr>
              <a:t>, Test team will conduct thorough testing of a new/existing system and integration between these and existing systems in the Sandbox environments as well as Production, before a Go-Live of each System</a:t>
            </a:r>
            <a:endParaRPr lang="en-US" sz="1600" dirty="0">
              <a:solidFill>
                <a:schemeClr val="bg1"/>
              </a:solidFill>
              <a:cs typeface="Segoe UI"/>
            </a:endParaRPr>
          </a:p>
        </p:txBody>
      </p:sp>
      <p:grpSp>
        <p:nvGrpSpPr>
          <p:cNvPr id="20" name="Group 19">
            <a:extLst>
              <a:ext uri="{FF2B5EF4-FFF2-40B4-BE49-F238E27FC236}">
                <a16:creationId xmlns:a16="http://schemas.microsoft.com/office/drawing/2014/main" id="{7000EF69-F3F0-C517-C124-DD4CC9FEA479}"/>
              </a:ext>
            </a:extLst>
          </p:cNvPr>
          <p:cNvGrpSpPr/>
          <p:nvPr/>
        </p:nvGrpSpPr>
        <p:grpSpPr>
          <a:xfrm>
            <a:off x="1" y="0"/>
            <a:ext cx="909836" cy="934466"/>
            <a:chOff x="0" y="0"/>
            <a:chExt cx="3161556" cy="3048050"/>
          </a:xfrm>
        </p:grpSpPr>
        <p:grpSp>
          <p:nvGrpSpPr>
            <p:cNvPr id="6" name="Group 5">
              <a:extLst>
                <a:ext uri="{FF2B5EF4-FFF2-40B4-BE49-F238E27FC236}">
                  <a16:creationId xmlns:a16="http://schemas.microsoft.com/office/drawing/2014/main" id="{80F4BE01-AA58-94D1-43CF-4A0C8CE354BE}"/>
                </a:ext>
              </a:extLst>
            </p:cNvPr>
            <p:cNvGrpSpPr/>
            <p:nvPr/>
          </p:nvGrpSpPr>
          <p:grpSpPr>
            <a:xfrm>
              <a:off x="0" y="0"/>
              <a:ext cx="2107704" cy="1988840"/>
              <a:chOff x="0" y="0"/>
              <a:chExt cx="2107704" cy="1988840"/>
            </a:xfrm>
          </p:grpSpPr>
          <p:sp>
            <p:nvSpPr>
              <p:cNvPr id="17" name="Rectangle 16">
                <a:extLst>
                  <a:ext uri="{FF2B5EF4-FFF2-40B4-BE49-F238E27FC236}">
                    <a16:creationId xmlns:a16="http://schemas.microsoft.com/office/drawing/2014/main" id="{290B0A73-303F-BB91-C0CA-11E036B0C528}"/>
                  </a:ext>
                </a:extLst>
              </p:cNvPr>
              <p:cNvSpPr/>
              <p:nvPr/>
            </p:nvSpPr>
            <p:spPr>
              <a:xfrm>
                <a:off x="0" y="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C28EC1AE-8417-7934-6016-CBC621096AC0}"/>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7" name="Group 6">
              <a:extLst>
                <a:ext uri="{FF2B5EF4-FFF2-40B4-BE49-F238E27FC236}">
                  <a16:creationId xmlns:a16="http://schemas.microsoft.com/office/drawing/2014/main" id="{2CA0532E-6D43-5D26-17F9-38104D32BE66}"/>
                </a:ext>
              </a:extLst>
            </p:cNvPr>
            <p:cNvGrpSpPr/>
            <p:nvPr/>
          </p:nvGrpSpPr>
          <p:grpSpPr>
            <a:xfrm flipH="1" flipV="1">
              <a:off x="1053852" y="1059210"/>
              <a:ext cx="2107704" cy="1988840"/>
              <a:chOff x="1580778" y="1268760"/>
              <a:chExt cx="2107704" cy="1988840"/>
            </a:xfrm>
          </p:grpSpPr>
          <p:sp>
            <p:nvSpPr>
              <p:cNvPr id="8" name="Rectangle 7">
                <a:extLst>
                  <a:ext uri="{FF2B5EF4-FFF2-40B4-BE49-F238E27FC236}">
                    <a16:creationId xmlns:a16="http://schemas.microsoft.com/office/drawing/2014/main" id="{A0AFA088-6EA9-5623-BA59-59E18D60270C}"/>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6FDC5A5E-5E0C-97F3-AC85-EA12FD373D17}"/>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29" name="Group 28">
            <a:extLst>
              <a:ext uri="{FF2B5EF4-FFF2-40B4-BE49-F238E27FC236}">
                <a16:creationId xmlns:a16="http://schemas.microsoft.com/office/drawing/2014/main" id="{96A4F93F-09CF-C6B0-4077-42CC27340E5C}"/>
              </a:ext>
            </a:extLst>
          </p:cNvPr>
          <p:cNvGrpSpPr/>
          <p:nvPr/>
        </p:nvGrpSpPr>
        <p:grpSpPr>
          <a:xfrm>
            <a:off x="10342891" y="4962097"/>
            <a:ext cx="1845935" cy="1895903"/>
            <a:chOff x="0" y="0"/>
            <a:chExt cx="3161556" cy="3048050"/>
          </a:xfrm>
        </p:grpSpPr>
        <p:grpSp>
          <p:nvGrpSpPr>
            <p:cNvPr id="23" name="Group 22">
              <a:extLst>
                <a:ext uri="{FF2B5EF4-FFF2-40B4-BE49-F238E27FC236}">
                  <a16:creationId xmlns:a16="http://schemas.microsoft.com/office/drawing/2014/main" id="{E0B46E58-B151-0502-AD70-25C96CB84C1F}"/>
                </a:ext>
              </a:extLst>
            </p:cNvPr>
            <p:cNvGrpSpPr/>
            <p:nvPr/>
          </p:nvGrpSpPr>
          <p:grpSpPr>
            <a:xfrm>
              <a:off x="0" y="0"/>
              <a:ext cx="2107704" cy="2241545"/>
              <a:chOff x="0" y="0"/>
              <a:chExt cx="2107704" cy="2241545"/>
            </a:xfrm>
          </p:grpSpPr>
          <p:sp>
            <p:nvSpPr>
              <p:cNvPr id="27" name="Rectangle 26">
                <a:extLst>
                  <a:ext uri="{FF2B5EF4-FFF2-40B4-BE49-F238E27FC236}">
                    <a16:creationId xmlns:a16="http://schemas.microsoft.com/office/drawing/2014/main" id="{04BA77A9-BAE6-72B1-4F11-70780AAF14A3}"/>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27">
                <a:extLst>
                  <a:ext uri="{FF2B5EF4-FFF2-40B4-BE49-F238E27FC236}">
                    <a16:creationId xmlns:a16="http://schemas.microsoft.com/office/drawing/2014/main" id="{C1AA7960-D24F-AD5E-B74F-6C742F8907F5}"/>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4" name="Group 23">
              <a:extLst>
                <a:ext uri="{FF2B5EF4-FFF2-40B4-BE49-F238E27FC236}">
                  <a16:creationId xmlns:a16="http://schemas.microsoft.com/office/drawing/2014/main" id="{06D29FD4-A10F-A329-0BCE-8D38255B71AE}"/>
                </a:ext>
              </a:extLst>
            </p:cNvPr>
            <p:cNvGrpSpPr/>
            <p:nvPr/>
          </p:nvGrpSpPr>
          <p:grpSpPr>
            <a:xfrm flipH="1" flipV="1">
              <a:off x="1053853" y="1059210"/>
              <a:ext cx="2107703" cy="1988840"/>
              <a:chOff x="1580778" y="1268760"/>
              <a:chExt cx="2107703" cy="1988840"/>
            </a:xfrm>
          </p:grpSpPr>
          <p:sp>
            <p:nvSpPr>
              <p:cNvPr id="25" name="Rectangle 24">
                <a:extLst>
                  <a:ext uri="{FF2B5EF4-FFF2-40B4-BE49-F238E27FC236}">
                    <a16:creationId xmlns:a16="http://schemas.microsoft.com/office/drawing/2014/main" id="{FC17570E-FF6F-A885-3DA2-7B1D4D13B2EF}"/>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25">
                <a:extLst>
                  <a:ext uri="{FF2B5EF4-FFF2-40B4-BE49-F238E27FC236}">
                    <a16:creationId xmlns:a16="http://schemas.microsoft.com/office/drawing/2014/main" id="{FEB3D21D-9A51-9D64-CB00-1E05B813263C}"/>
                  </a:ext>
                </a:extLst>
              </p:cNvPr>
              <p:cNvSpPr/>
              <p:nvPr/>
            </p:nvSpPr>
            <p:spPr>
              <a:xfrm rot="5400000">
                <a:off x="2758303" y="1145086"/>
                <a:ext cx="806504" cy="105385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1" name="Picture 30" descr="BEll company logo">
            <a:extLst>
              <a:ext uri="{FF2B5EF4-FFF2-40B4-BE49-F238E27FC236}">
                <a16:creationId xmlns:a16="http://schemas.microsoft.com/office/drawing/2014/main" id="{E7D1BFD3-C78F-DC82-20E7-3D42D8AC46B2}"/>
              </a:ext>
            </a:extLst>
          </p:cNvPr>
          <p:cNvPicPr>
            <a:picLocks noChangeAspect="1"/>
          </p:cNvPicPr>
          <p:nvPr/>
        </p:nvPicPr>
        <p:blipFill>
          <a:blip r:embed="rId2"/>
          <a:stretch>
            <a:fillRect/>
          </a:stretch>
        </p:blipFill>
        <p:spPr>
          <a:xfrm>
            <a:off x="11009239" y="595375"/>
            <a:ext cx="514513" cy="400050"/>
          </a:xfrm>
          <a:prstGeom prst="rect">
            <a:avLst/>
          </a:prstGeom>
        </p:spPr>
      </p:pic>
    </p:spTree>
    <p:extLst>
      <p:ext uri="{BB962C8B-B14F-4D97-AF65-F5344CB8AC3E}">
        <p14:creationId xmlns:p14="http://schemas.microsoft.com/office/powerpoint/2010/main" val="164660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 presetClass="entr" presetSubtype="2" decel="80000" fill="hold" grpId="0" nodeType="withEffect">
                                  <p:stCondLst>
                                    <p:cond delay="200"/>
                                  </p:stCondLst>
                                  <p:childTnLst>
                                    <p:set>
                                      <p:cBhvr>
                                        <p:cTn id="9" dur="1" fill="hold">
                                          <p:stCondLst>
                                            <p:cond delay="0"/>
                                          </p:stCondLst>
                                        </p:cTn>
                                        <p:tgtEl>
                                          <p:spTgt spid="42"/>
                                        </p:tgtEl>
                                        <p:attrNameLst>
                                          <p:attrName>style.visibility</p:attrName>
                                        </p:attrNameLst>
                                      </p:cBhvr>
                                      <p:to>
                                        <p:strVal val="visible"/>
                                      </p:to>
                                    </p:set>
                                    <p:anim calcmode="lin" valueType="num">
                                      <p:cBhvr additive="base">
                                        <p:cTn id="10" dur="500" fill="hold"/>
                                        <p:tgtEl>
                                          <p:spTgt spid="42"/>
                                        </p:tgtEl>
                                        <p:attrNameLst>
                                          <p:attrName>ppt_x</p:attrName>
                                        </p:attrNameLst>
                                      </p:cBhvr>
                                      <p:tavLst>
                                        <p:tav tm="0">
                                          <p:val>
                                            <p:strVal val="1+#ppt_w/2"/>
                                          </p:val>
                                        </p:tav>
                                        <p:tav tm="100000">
                                          <p:val>
                                            <p:strVal val="#ppt_x"/>
                                          </p:val>
                                        </p:tav>
                                      </p:tavLst>
                                    </p:anim>
                                    <p:anim calcmode="lin" valueType="num">
                                      <p:cBhvr additive="base">
                                        <p:cTn id="11" dur="500" fill="hold"/>
                                        <p:tgtEl>
                                          <p:spTgt spid="42"/>
                                        </p:tgtEl>
                                        <p:attrNameLst>
                                          <p:attrName>ppt_y</p:attrName>
                                        </p:attrNameLst>
                                      </p:cBhvr>
                                      <p:tavLst>
                                        <p:tav tm="0">
                                          <p:val>
                                            <p:strVal val="#ppt_y"/>
                                          </p:val>
                                        </p:tav>
                                        <p:tav tm="100000">
                                          <p:val>
                                            <p:strVal val="#ppt_y"/>
                                          </p:val>
                                        </p:tav>
                                      </p:tavLst>
                                    </p:anim>
                                  </p:childTnLst>
                                </p:cTn>
                              </p:par>
                              <p:par>
                                <p:cTn id="12" presetID="16" presetClass="entr" presetSubtype="42" fill="hold" grpId="0" nodeType="withEffect">
                                  <p:stCondLst>
                                    <p:cond delay="500"/>
                                  </p:stCondLst>
                                  <p:childTnLst>
                                    <p:set>
                                      <p:cBhvr>
                                        <p:cTn id="13" dur="1" fill="hold">
                                          <p:stCondLst>
                                            <p:cond delay="0"/>
                                          </p:stCondLst>
                                        </p:cTn>
                                        <p:tgtEl>
                                          <p:spTgt spid="19"/>
                                        </p:tgtEl>
                                        <p:attrNameLst>
                                          <p:attrName>style.visibility</p:attrName>
                                        </p:attrNameLst>
                                      </p:cBhvr>
                                      <p:to>
                                        <p:strVal val="visible"/>
                                      </p:to>
                                    </p:set>
                                    <p:animEffect transition="in" filter="barn(outHorizontal)">
                                      <p:cBhvr>
                                        <p:cTn id="14" dur="500"/>
                                        <p:tgtEl>
                                          <p:spTgt spid="19"/>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21"/>
                                        </p:tgtEl>
                                        <p:attrNameLst>
                                          <p:attrName>style.visibility</p:attrName>
                                        </p:attrNameLst>
                                      </p:cBhvr>
                                      <p:to>
                                        <p:strVal val="visible"/>
                                      </p:to>
                                    </p:set>
                                    <p:anim calcmode="lin" valueType="num">
                                      <p:cBhvr>
                                        <p:cTn id="17" dur="300" fill="hold"/>
                                        <p:tgtEl>
                                          <p:spTgt spid="21"/>
                                        </p:tgtEl>
                                        <p:attrNameLst>
                                          <p:attrName>ppt_w</p:attrName>
                                        </p:attrNameLst>
                                      </p:cBhvr>
                                      <p:tavLst>
                                        <p:tav tm="0">
                                          <p:val>
                                            <p:fltVal val="0"/>
                                          </p:val>
                                        </p:tav>
                                        <p:tav tm="100000">
                                          <p:val>
                                            <p:strVal val="#ppt_w"/>
                                          </p:val>
                                        </p:tav>
                                      </p:tavLst>
                                    </p:anim>
                                    <p:anim calcmode="lin" valueType="num">
                                      <p:cBhvr>
                                        <p:cTn id="18" dur="300" fill="hold"/>
                                        <p:tgtEl>
                                          <p:spTgt spid="21"/>
                                        </p:tgtEl>
                                        <p:attrNameLst>
                                          <p:attrName>ppt_h</p:attrName>
                                        </p:attrNameLst>
                                      </p:cBhvr>
                                      <p:tavLst>
                                        <p:tav tm="0">
                                          <p:val>
                                            <p:fltVal val="0"/>
                                          </p:val>
                                        </p:tav>
                                        <p:tav tm="100000">
                                          <p:val>
                                            <p:strVal val="#ppt_h"/>
                                          </p:val>
                                        </p:tav>
                                      </p:tavLst>
                                    </p:anim>
                                    <p:animEffect transition="in" filter="fade">
                                      <p:cBhvr>
                                        <p:cTn id="19" dur="300"/>
                                        <p:tgtEl>
                                          <p:spTgt spid="21"/>
                                        </p:tgtEl>
                                      </p:cBhvr>
                                    </p:animEffect>
                                  </p:childTnLst>
                                </p:cTn>
                              </p:par>
                              <p:par>
                                <p:cTn id="20" presetID="2" presetClass="entr" presetSubtype="9" decel="8000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0-#ppt_w/2"/>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par>
                                <p:cTn id="24" presetID="2" presetClass="entr" presetSubtype="6" decel="80000"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 calcmode="lin" valueType="num">
                                      <p:cBhvr additive="base">
                                        <p:cTn id="26" dur="500" fill="hold"/>
                                        <p:tgtEl>
                                          <p:spTgt spid="29"/>
                                        </p:tgtEl>
                                        <p:attrNameLst>
                                          <p:attrName>ppt_x</p:attrName>
                                        </p:attrNameLst>
                                      </p:cBhvr>
                                      <p:tavLst>
                                        <p:tav tm="0">
                                          <p:val>
                                            <p:strVal val="1+#ppt_w/2"/>
                                          </p:val>
                                        </p:tav>
                                        <p:tav tm="100000">
                                          <p:val>
                                            <p:strVal val="#ppt_x"/>
                                          </p:val>
                                        </p:tav>
                                      </p:tavLst>
                                    </p:anim>
                                    <p:anim calcmode="lin" valueType="num">
                                      <p:cBhvr additive="base">
                                        <p:cTn id="27"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 grpId="0"/>
      <p:bldP spid="19"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FDDFF9-FB09-37AC-091A-8B62D76ECC5F}"/>
              </a:ext>
            </a:extLst>
          </p:cNvPr>
          <p:cNvSpPr>
            <a:spLocks noGrp="1"/>
          </p:cNvSpPr>
          <p:nvPr>
            <p:ph type="title"/>
          </p:nvPr>
        </p:nvSpPr>
        <p:spPr>
          <a:xfrm>
            <a:off x="1010313" y="501650"/>
            <a:ext cx="9852473" cy="609735"/>
          </a:xfrm>
        </p:spPr>
        <p:txBody>
          <a:bodyPr/>
          <a:lstStyle/>
          <a:p>
            <a:r>
              <a:rPr lang="en-US" sz="3200" dirty="0"/>
              <a:t>PTW SS Ph 1: </a:t>
            </a:r>
            <a:r>
              <a:rPr lang="en-CA" sz="3200" dirty="0"/>
              <a:t>Dashboard &amp; Warranty </a:t>
            </a:r>
            <a:r>
              <a:rPr lang="en-US" sz="3200" dirty="0">
                <a:latin typeface="Arial"/>
                <a:ea typeface="Calibri"/>
                <a:cs typeface="Calibri"/>
              </a:rPr>
              <a:t>– Overview </a:t>
            </a:r>
            <a:endParaRPr lang="en-US" sz="2200" dirty="0">
              <a:latin typeface="Calibri"/>
              <a:ea typeface="Calibri"/>
              <a:cs typeface="Calibri"/>
            </a:endParaRPr>
          </a:p>
        </p:txBody>
      </p:sp>
      <p:sp>
        <p:nvSpPr>
          <p:cNvPr id="6" name="TextBox 5">
            <a:extLst>
              <a:ext uri="{FF2B5EF4-FFF2-40B4-BE49-F238E27FC236}">
                <a16:creationId xmlns:a16="http://schemas.microsoft.com/office/drawing/2014/main" id="{C76F7E20-EF91-07A8-1170-F773C7AFE7CB}"/>
              </a:ext>
            </a:extLst>
          </p:cNvPr>
          <p:cNvSpPr txBox="1"/>
          <p:nvPr/>
        </p:nvSpPr>
        <p:spPr>
          <a:xfrm>
            <a:off x="1102505" y="1259434"/>
            <a:ext cx="9479715" cy="1077218"/>
          </a:xfrm>
          <a:prstGeom prst="rect">
            <a:avLst/>
          </a:prstGeom>
          <a:noFill/>
        </p:spPr>
        <p:txBody>
          <a:bodyPr wrap="square" lIns="91440" tIns="45720" rIns="91440" bIns="45720" rtlCol="0" anchor="t">
            <a:spAutoFit/>
          </a:bodyPr>
          <a:lstStyle/>
          <a:p>
            <a:r>
              <a:rPr lang="en-US" sz="1600" dirty="0"/>
              <a:t>The PTW SS Ph 1 - </a:t>
            </a:r>
            <a:r>
              <a:rPr lang="en-CA" sz="1600" dirty="0"/>
              <a:t>Dashboard &amp; Warranty</a:t>
            </a:r>
            <a:r>
              <a:rPr lang="en-US" sz="1600" dirty="0"/>
              <a:t> project's primary goal is to </a:t>
            </a:r>
            <a:r>
              <a:rPr lang="en-CA" sz="1600" dirty="0"/>
              <a:t>implement key enhancements within BBSSC to improve user experience and functionality for users managing wireless services</a:t>
            </a:r>
            <a:r>
              <a:rPr lang="en-US" sz="1600" dirty="0"/>
              <a:t>. </a:t>
            </a:r>
            <a:r>
              <a:rPr lang="en-CA" sz="1600" dirty="0"/>
              <a:t>Bell needs to introduce these enhancements to streamline wireless device management, improve data privacy, and close the competitive gap with DMI &amp; Telus IQ</a:t>
            </a:r>
            <a:r>
              <a:rPr lang="en-US" sz="1600" dirty="0"/>
              <a:t>.</a:t>
            </a:r>
          </a:p>
        </p:txBody>
      </p:sp>
      <p:grpSp>
        <p:nvGrpSpPr>
          <p:cNvPr id="20" name="Group 19">
            <a:extLst>
              <a:ext uri="{FF2B5EF4-FFF2-40B4-BE49-F238E27FC236}">
                <a16:creationId xmlns:a16="http://schemas.microsoft.com/office/drawing/2014/main" id="{D1F8D6F6-692C-7004-0731-CDE6047BBDB3}"/>
              </a:ext>
            </a:extLst>
          </p:cNvPr>
          <p:cNvGrpSpPr/>
          <p:nvPr/>
        </p:nvGrpSpPr>
        <p:grpSpPr>
          <a:xfrm>
            <a:off x="1" y="0"/>
            <a:ext cx="909836" cy="934466"/>
            <a:chOff x="0" y="0"/>
            <a:chExt cx="3161556" cy="3048050"/>
          </a:xfrm>
        </p:grpSpPr>
        <p:grpSp>
          <p:nvGrpSpPr>
            <p:cNvPr id="4" name="Group 3">
              <a:extLst>
                <a:ext uri="{FF2B5EF4-FFF2-40B4-BE49-F238E27FC236}">
                  <a16:creationId xmlns:a16="http://schemas.microsoft.com/office/drawing/2014/main" id="{92965F0E-25BE-DD59-28CE-B0B7DCB7F2DD}"/>
                </a:ext>
              </a:extLst>
            </p:cNvPr>
            <p:cNvGrpSpPr/>
            <p:nvPr/>
          </p:nvGrpSpPr>
          <p:grpSpPr>
            <a:xfrm>
              <a:off x="0" y="0"/>
              <a:ext cx="2107704" cy="1988840"/>
              <a:chOff x="0" y="0"/>
              <a:chExt cx="2107704" cy="1988840"/>
            </a:xfrm>
          </p:grpSpPr>
          <p:sp>
            <p:nvSpPr>
              <p:cNvPr id="18" name="Rectangle 17">
                <a:extLst>
                  <a:ext uri="{FF2B5EF4-FFF2-40B4-BE49-F238E27FC236}">
                    <a16:creationId xmlns:a16="http://schemas.microsoft.com/office/drawing/2014/main" id="{AEB49AA0-CEC6-23D2-C905-8B42E07B68EC}"/>
                  </a:ext>
                </a:extLst>
              </p:cNvPr>
              <p:cNvSpPr/>
              <p:nvPr/>
            </p:nvSpPr>
            <p:spPr>
              <a:xfrm>
                <a:off x="0" y="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Rectangle 18">
                <a:extLst>
                  <a:ext uri="{FF2B5EF4-FFF2-40B4-BE49-F238E27FC236}">
                    <a16:creationId xmlns:a16="http://schemas.microsoft.com/office/drawing/2014/main" id="{24448E26-B4FC-2E4B-6070-98F0DBF61E7C}"/>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5" name="Group 14">
              <a:extLst>
                <a:ext uri="{FF2B5EF4-FFF2-40B4-BE49-F238E27FC236}">
                  <a16:creationId xmlns:a16="http://schemas.microsoft.com/office/drawing/2014/main" id="{A3577EFD-1C8A-92D6-A9B4-1E177C34E7BF}"/>
                </a:ext>
              </a:extLst>
            </p:cNvPr>
            <p:cNvGrpSpPr/>
            <p:nvPr/>
          </p:nvGrpSpPr>
          <p:grpSpPr>
            <a:xfrm flipH="1" flipV="1">
              <a:off x="1053852" y="1059210"/>
              <a:ext cx="2107704" cy="1988840"/>
              <a:chOff x="1580778" y="1268760"/>
              <a:chExt cx="2107704" cy="1988840"/>
            </a:xfrm>
          </p:grpSpPr>
          <p:sp>
            <p:nvSpPr>
              <p:cNvPr id="16" name="Rectangle 15">
                <a:extLst>
                  <a:ext uri="{FF2B5EF4-FFF2-40B4-BE49-F238E27FC236}">
                    <a16:creationId xmlns:a16="http://schemas.microsoft.com/office/drawing/2014/main" id="{21C8FF98-F599-E872-441A-4F0796267B05}"/>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7" name="Rectangle 16">
                <a:extLst>
                  <a:ext uri="{FF2B5EF4-FFF2-40B4-BE49-F238E27FC236}">
                    <a16:creationId xmlns:a16="http://schemas.microsoft.com/office/drawing/2014/main" id="{BF83512F-3251-D8B2-4190-A96E9A45B07E}"/>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31" name="Group 30">
            <a:extLst>
              <a:ext uri="{FF2B5EF4-FFF2-40B4-BE49-F238E27FC236}">
                <a16:creationId xmlns:a16="http://schemas.microsoft.com/office/drawing/2014/main" id="{9E715240-D4A6-DB7F-762C-68BD160700A2}"/>
              </a:ext>
            </a:extLst>
          </p:cNvPr>
          <p:cNvGrpSpPr/>
          <p:nvPr/>
        </p:nvGrpSpPr>
        <p:grpSpPr>
          <a:xfrm>
            <a:off x="10342891" y="4962097"/>
            <a:ext cx="1845935" cy="1895903"/>
            <a:chOff x="0" y="0"/>
            <a:chExt cx="3161556" cy="3048050"/>
          </a:xfrm>
        </p:grpSpPr>
        <p:grpSp>
          <p:nvGrpSpPr>
            <p:cNvPr id="23" name="Group 22">
              <a:extLst>
                <a:ext uri="{FF2B5EF4-FFF2-40B4-BE49-F238E27FC236}">
                  <a16:creationId xmlns:a16="http://schemas.microsoft.com/office/drawing/2014/main" id="{7481AD35-F6B3-5EA7-801B-72A65A41B0BC}"/>
                </a:ext>
              </a:extLst>
            </p:cNvPr>
            <p:cNvGrpSpPr/>
            <p:nvPr/>
          </p:nvGrpSpPr>
          <p:grpSpPr>
            <a:xfrm>
              <a:off x="0" y="0"/>
              <a:ext cx="2107704" cy="2241545"/>
              <a:chOff x="0" y="0"/>
              <a:chExt cx="2107704" cy="2241545"/>
            </a:xfrm>
          </p:grpSpPr>
          <p:sp>
            <p:nvSpPr>
              <p:cNvPr id="29" name="Rectangle 28">
                <a:extLst>
                  <a:ext uri="{FF2B5EF4-FFF2-40B4-BE49-F238E27FC236}">
                    <a16:creationId xmlns:a16="http://schemas.microsoft.com/office/drawing/2014/main" id="{5E085203-C457-4B6D-990C-67E2EE6B51B4}"/>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Rectangle 29">
                <a:extLst>
                  <a:ext uri="{FF2B5EF4-FFF2-40B4-BE49-F238E27FC236}">
                    <a16:creationId xmlns:a16="http://schemas.microsoft.com/office/drawing/2014/main" id="{D33F4E65-7DDB-D4DD-1DB7-096E057C6071}"/>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5" name="Group 24">
              <a:extLst>
                <a:ext uri="{FF2B5EF4-FFF2-40B4-BE49-F238E27FC236}">
                  <a16:creationId xmlns:a16="http://schemas.microsoft.com/office/drawing/2014/main" id="{3488C401-622C-8ECD-D575-2D2395A857D8}"/>
                </a:ext>
              </a:extLst>
            </p:cNvPr>
            <p:cNvGrpSpPr/>
            <p:nvPr/>
          </p:nvGrpSpPr>
          <p:grpSpPr>
            <a:xfrm flipH="1" flipV="1">
              <a:off x="1053853" y="1059210"/>
              <a:ext cx="2107703" cy="1988840"/>
              <a:chOff x="1580778" y="1268760"/>
              <a:chExt cx="2107703" cy="1988840"/>
            </a:xfrm>
          </p:grpSpPr>
          <p:sp>
            <p:nvSpPr>
              <p:cNvPr id="27" name="Rectangle 26">
                <a:extLst>
                  <a:ext uri="{FF2B5EF4-FFF2-40B4-BE49-F238E27FC236}">
                    <a16:creationId xmlns:a16="http://schemas.microsoft.com/office/drawing/2014/main" id="{1D4329CB-03D4-E982-FC25-CC66EC320A84}"/>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27">
                <a:extLst>
                  <a:ext uri="{FF2B5EF4-FFF2-40B4-BE49-F238E27FC236}">
                    <a16:creationId xmlns:a16="http://schemas.microsoft.com/office/drawing/2014/main" id="{45F9A7C8-1CC0-5324-BB90-04164F9168F1}"/>
                  </a:ext>
                </a:extLst>
              </p:cNvPr>
              <p:cNvSpPr/>
              <p:nvPr/>
            </p:nvSpPr>
            <p:spPr>
              <a:xfrm rot="5400000">
                <a:off x="2758303" y="1145086"/>
                <a:ext cx="806504" cy="105385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3" name="Picture 32" descr="BEll company logo">
            <a:extLst>
              <a:ext uri="{FF2B5EF4-FFF2-40B4-BE49-F238E27FC236}">
                <a16:creationId xmlns:a16="http://schemas.microsoft.com/office/drawing/2014/main" id="{457E29F1-DDEF-017B-AE49-C8DD594C0207}"/>
              </a:ext>
            </a:extLst>
          </p:cNvPr>
          <p:cNvPicPr>
            <a:picLocks noChangeAspect="1"/>
          </p:cNvPicPr>
          <p:nvPr/>
        </p:nvPicPr>
        <p:blipFill>
          <a:blip r:embed="rId2"/>
          <a:stretch>
            <a:fillRect/>
          </a:stretch>
        </p:blipFill>
        <p:spPr>
          <a:xfrm>
            <a:off x="10751169" y="595376"/>
            <a:ext cx="514513" cy="400050"/>
          </a:xfrm>
          <a:prstGeom prst="rect">
            <a:avLst/>
          </a:prstGeom>
        </p:spPr>
      </p:pic>
      <p:pic>
        <p:nvPicPr>
          <p:cNvPr id="3" name="Picture 2" descr="A diagram of a software company&#10;&#10;AI-generated content may be incorrect.">
            <a:extLst>
              <a:ext uri="{FF2B5EF4-FFF2-40B4-BE49-F238E27FC236}">
                <a16:creationId xmlns:a16="http://schemas.microsoft.com/office/drawing/2014/main" id="{A6FAAEAD-254E-9938-3DD1-7EBA53720461}"/>
              </a:ext>
            </a:extLst>
          </p:cNvPr>
          <p:cNvPicPr>
            <a:picLocks noChangeAspect="1"/>
          </p:cNvPicPr>
          <p:nvPr/>
        </p:nvPicPr>
        <p:blipFill>
          <a:blip r:embed="rId3"/>
          <a:stretch>
            <a:fillRect/>
          </a:stretch>
        </p:blipFill>
        <p:spPr>
          <a:xfrm>
            <a:off x="1741777" y="2336652"/>
            <a:ext cx="7529444" cy="3981295"/>
          </a:xfrm>
          <a:prstGeom prst="rect">
            <a:avLst/>
          </a:prstGeom>
        </p:spPr>
      </p:pic>
    </p:spTree>
    <p:extLst>
      <p:ext uri="{BB962C8B-B14F-4D97-AF65-F5344CB8AC3E}">
        <p14:creationId xmlns:p14="http://schemas.microsoft.com/office/powerpoint/2010/main" val="322015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8000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6" decel="8000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1+#ppt_w/2"/>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93F4B-820A-06CA-BA98-E1868C5690DB}"/>
              </a:ext>
            </a:extLst>
          </p:cNvPr>
          <p:cNvSpPr>
            <a:spLocks noGrp="1"/>
          </p:cNvSpPr>
          <p:nvPr>
            <p:ph type="title" idx="4294967295"/>
          </p:nvPr>
        </p:nvSpPr>
        <p:spPr>
          <a:xfrm>
            <a:off x="1188492" y="464607"/>
            <a:ext cx="3715636" cy="703456"/>
          </a:xfrm>
        </p:spPr>
        <p:txBody>
          <a:bodyPr>
            <a:normAutofit/>
          </a:bodyPr>
          <a:lstStyle/>
          <a:p>
            <a:r>
              <a:rPr lang="en-US" sz="3200">
                <a:latin typeface="Arial"/>
                <a:cs typeface="Arial"/>
              </a:rPr>
              <a:t>Testing Objectives</a:t>
            </a:r>
            <a:endParaRPr lang="en-PH" sz="3200">
              <a:latin typeface="Arial"/>
              <a:cs typeface="Arial"/>
            </a:endParaRPr>
          </a:p>
        </p:txBody>
      </p:sp>
      <p:grpSp>
        <p:nvGrpSpPr>
          <p:cNvPr id="62" name="Group 61">
            <a:extLst>
              <a:ext uri="{FF2B5EF4-FFF2-40B4-BE49-F238E27FC236}">
                <a16:creationId xmlns:a16="http://schemas.microsoft.com/office/drawing/2014/main" id="{737CC228-E879-88CE-D484-DE4E2763D362}"/>
              </a:ext>
            </a:extLst>
          </p:cNvPr>
          <p:cNvGrpSpPr/>
          <p:nvPr/>
        </p:nvGrpSpPr>
        <p:grpSpPr>
          <a:xfrm>
            <a:off x="5058740" y="728098"/>
            <a:ext cx="1757945" cy="738490"/>
            <a:chOff x="5404270" y="812282"/>
            <a:chExt cx="2024952" cy="979169"/>
          </a:xfrm>
        </p:grpSpPr>
        <p:grpSp>
          <p:nvGrpSpPr>
            <p:cNvPr id="27" name="Group 26">
              <a:extLst>
                <a:ext uri="{FF2B5EF4-FFF2-40B4-BE49-F238E27FC236}">
                  <a16:creationId xmlns:a16="http://schemas.microsoft.com/office/drawing/2014/main" id="{687410DD-A84E-BDD7-1F66-F3AE0A0080CD}"/>
                </a:ext>
              </a:extLst>
            </p:cNvPr>
            <p:cNvGrpSpPr/>
            <p:nvPr/>
          </p:nvGrpSpPr>
          <p:grpSpPr>
            <a:xfrm>
              <a:off x="5404270" y="812282"/>
              <a:ext cx="2004765" cy="979169"/>
              <a:chOff x="5025750" y="1144513"/>
              <a:chExt cx="2425356" cy="1184595"/>
            </a:xfrm>
          </p:grpSpPr>
          <p:sp>
            <p:nvSpPr>
              <p:cNvPr id="24" name="Rectangle 23">
                <a:extLst>
                  <a:ext uri="{FF2B5EF4-FFF2-40B4-BE49-F238E27FC236}">
                    <a16:creationId xmlns:a16="http://schemas.microsoft.com/office/drawing/2014/main" id="{61AD8906-14B9-E7C0-0D8C-195572DCDFCE}"/>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sp>
            <p:nvSpPr>
              <p:cNvPr id="25" name="Rectangle 24">
                <a:extLst>
                  <a:ext uri="{FF2B5EF4-FFF2-40B4-BE49-F238E27FC236}">
                    <a16:creationId xmlns:a16="http://schemas.microsoft.com/office/drawing/2014/main" id="{C5724985-7FBB-1DFB-2DC5-6AE7DE9C7E8E}"/>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sp>
            <p:nvSpPr>
              <p:cNvPr id="26" name="Rectangle 25">
                <a:extLst>
                  <a:ext uri="{FF2B5EF4-FFF2-40B4-BE49-F238E27FC236}">
                    <a16:creationId xmlns:a16="http://schemas.microsoft.com/office/drawing/2014/main" id="{D0231B7C-5BA0-26D3-ACAC-F26306E59B5C}"/>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grpSp>
        <p:sp>
          <p:nvSpPr>
            <p:cNvPr id="40" name="TextBox 39">
              <a:extLst>
                <a:ext uri="{FF2B5EF4-FFF2-40B4-BE49-F238E27FC236}">
                  <a16:creationId xmlns:a16="http://schemas.microsoft.com/office/drawing/2014/main" id="{AC09E613-9600-4A35-8782-CECEEAC1AAAA}"/>
                </a:ext>
              </a:extLst>
            </p:cNvPr>
            <p:cNvSpPr txBox="1"/>
            <p:nvPr/>
          </p:nvSpPr>
          <p:spPr>
            <a:xfrm>
              <a:off x="5792370" y="1157657"/>
              <a:ext cx="1636852" cy="367275"/>
            </a:xfrm>
            <a:prstGeom prst="rect">
              <a:avLst/>
            </a:prstGeom>
            <a:noFill/>
          </p:spPr>
          <p:txBody>
            <a:bodyPr wrap="square" rtlCol="0">
              <a:spAutoFit/>
            </a:bodyPr>
            <a:lstStyle/>
            <a:p>
              <a:r>
                <a:rPr lang="en-US" sz="1200" b="1">
                  <a:solidFill>
                    <a:schemeClr val="bg1"/>
                  </a:solidFill>
                </a:rPr>
                <a:t>Objective 01</a:t>
              </a:r>
              <a:endParaRPr lang="en-PH" sz="1200" b="1">
                <a:solidFill>
                  <a:schemeClr val="bg1"/>
                </a:solidFill>
              </a:endParaRPr>
            </a:p>
          </p:txBody>
        </p:sp>
      </p:grpSp>
      <p:grpSp>
        <p:nvGrpSpPr>
          <p:cNvPr id="63" name="Group 62">
            <a:extLst>
              <a:ext uri="{FF2B5EF4-FFF2-40B4-BE49-F238E27FC236}">
                <a16:creationId xmlns:a16="http://schemas.microsoft.com/office/drawing/2014/main" id="{1423F774-6BF7-DD56-F954-6F8667BD22DB}"/>
              </a:ext>
            </a:extLst>
          </p:cNvPr>
          <p:cNvGrpSpPr/>
          <p:nvPr/>
        </p:nvGrpSpPr>
        <p:grpSpPr>
          <a:xfrm>
            <a:off x="5058738" y="1826087"/>
            <a:ext cx="1820550" cy="738490"/>
            <a:chOff x="5404270" y="2290922"/>
            <a:chExt cx="2097066" cy="979169"/>
          </a:xfrm>
        </p:grpSpPr>
        <p:grpSp>
          <p:nvGrpSpPr>
            <p:cNvPr id="28" name="Group 27">
              <a:extLst>
                <a:ext uri="{FF2B5EF4-FFF2-40B4-BE49-F238E27FC236}">
                  <a16:creationId xmlns:a16="http://schemas.microsoft.com/office/drawing/2014/main" id="{61659F5A-13A1-BDDA-368D-E907FE6ECA9D}"/>
                </a:ext>
              </a:extLst>
            </p:cNvPr>
            <p:cNvGrpSpPr/>
            <p:nvPr/>
          </p:nvGrpSpPr>
          <p:grpSpPr>
            <a:xfrm>
              <a:off x="5404270" y="2290922"/>
              <a:ext cx="2004765" cy="979169"/>
              <a:chOff x="5025750" y="1144513"/>
              <a:chExt cx="2425356" cy="1184595"/>
            </a:xfrm>
          </p:grpSpPr>
          <p:sp>
            <p:nvSpPr>
              <p:cNvPr id="29" name="Rectangle 28">
                <a:extLst>
                  <a:ext uri="{FF2B5EF4-FFF2-40B4-BE49-F238E27FC236}">
                    <a16:creationId xmlns:a16="http://schemas.microsoft.com/office/drawing/2014/main" id="{6D64FB75-4BA6-FABF-E7E0-E71098C73550}"/>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sp>
            <p:nvSpPr>
              <p:cNvPr id="30" name="Rectangle 29">
                <a:extLst>
                  <a:ext uri="{FF2B5EF4-FFF2-40B4-BE49-F238E27FC236}">
                    <a16:creationId xmlns:a16="http://schemas.microsoft.com/office/drawing/2014/main" id="{4C263D76-E31B-B8FD-1D96-CEFD8B125E07}"/>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sp>
            <p:nvSpPr>
              <p:cNvPr id="31" name="Rectangle 30">
                <a:extLst>
                  <a:ext uri="{FF2B5EF4-FFF2-40B4-BE49-F238E27FC236}">
                    <a16:creationId xmlns:a16="http://schemas.microsoft.com/office/drawing/2014/main" id="{EB250A1A-4194-78AA-7ED4-1B3D116F71F6}"/>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grpSp>
        <p:sp>
          <p:nvSpPr>
            <p:cNvPr id="41" name="TextBox 40">
              <a:extLst>
                <a:ext uri="{FF2B5EF4-FFF2-40B4-BE49-F238E27FC236}">
                  <a16:creationId xmlns:a16="http://schemas.microsoft.com/office/drawing/2014/main" id="{497A91E7-B48B-C19F-1657-59CB7BC33E52}"/>
                </a:ext>
              </a:extLst>
            </p:cNvPr>
            <p:cNvSpPr txBox="1"/>
            <p:nvPr/>
          </p:nvSpPr>
          <p:spPr>
            <a:xfrm>
              <a:off x="5864484" y="2694967"/>
              <a:ext cx="1636852" cy="367275"/>
            </a:xfrm>
            <a:prstGeom prst="rect">
              <a:avLst/>
            </a:prstGeom>
            <a:noFill/>
          </p:spPr>
          <p:txBody>
            <a:bodyPr wrap="square" rtlCol="0">
              <a:spAutoFit/>
            </a:bodyPr>
            <a:lstStyle/>
            <a:p>
              <a:r>
                <a:rPr lang="en-US" sz="1200" b="1">
                  <a:solidFill>
                    <a:schemeClr val="bg1"/>
                  </a:solidFill>
                </a:rPr>
                <a:t>Objective 02</a:t>
              </a:r>
              <a:endParaRPr lang="en-PH" sz="1200" b="1">
                <a:solidFill>
                  <a:schemeClr val="bg1"/>
                </a:solidFill>
              </a:endParaRPr>
            </a:p>
          </p:txBody>
        </p:sp>
      </p:grpSp>
      <p:grpSp>
        <p:nvGrpSpPr>
          <p:cNvPr id="64" name="Group 63">
            <a:extLst>
              <a:ext uri="{FF2B5EF4-FFF2-40B4-BE49-F238E27FC236}">
                <a16:creationId xmlns:a16="http://schemas.microsoft.com/office/drawing/2014/main" id="{55F53CC2-0283-BF43-930F-0D9D48D3BD96}"/>
              </a:ext>
            </a:extLst>
          </p:cNvPr>
          <p:cNvGrpSpPr/>
          <p:nvPr/>
        </p:nvGrpSpPr>
        <p:grpSpPr>
          <a:xfrm>
            <a:off x="5086910" y="3061635"/>
            <a:ext cx="1798141" cy="738490"/>
            <a:chOff x="5404270" y="3660141"/>
            <a:chExt cx="2071253" cy="979169"/>
          </a:xfrm>
        </p:grpSpPr>
        <p:grpSp>
          <p:nvGrpSpPr>
            <p:cNvPr id="32" name="Group 31">
              <a:extLst>
                <a:ext uri="{FF2B5EF4-FFF2-40B4-BE49-F238E27FC236}">
                  <a16:creationId xmlns:a16="http://schemas.microsoft.com/office/drawing/2014/main" id="{E83B73A5-DB36-FCA9-3421-6F718575A905}"/>
                </a:ext>
              </a:extLst>
            </p:cNvPr>
            <p:cNvGrpSpPr/>
            <p:nvPr/>
          </p:nvGrpSpPr>
          <p:grpSpPr>
            <a:xfrm>
              <a:off x="5404270" y="3660141"/>
              <a:ext cx="2004765" cy="979169"/>
              <a:chOff x="5025750" y="1144513"/>
              <a:chExt cx="2425356" cy="1184595"/>
            </a:xfrm>
          </p:grpSpPr>
          <p:sp>
            <p:nvSpPr>
              <p:cNvPr id="33" name="Rectangle 32">
                <a:extLst>
                  <a:ext uri="{FF2B5EF4-FFF2-40B4-BE49-F238E27FC236}">
                    <a16:creationId xmlns:a16="http://schemas.microsoft.com/office/drawing/2014/main" id="{E23B9E46-5FEA-2775-7AD1-36DCBBCBCB7C}"/>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sp>
            <p:nvSpPr>
              <p:cNvPr id="34" name="Rectangle 33">
                <a:extLst>
                  <a:ext uri="{FF2B5EF4-FFF2-40B4-BE49-F238E27FC236}">
                    <a16:creationId xmlns:a16="http://schemas.microsoft.com/office/drawing/2014/main" id="{A588B8B3-0E3B-ECAF-5A95-2E94B25902A4}"/>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sp>
            <p:nvSpPr>
              <p:cNvPr id="35" name="Rectangle 34">
                <a:extLst>
                  <a:ext uri="{FF2B5EF4-FFF2-40B4-BE49-F238E27FC236}">
                    <a16:creationId xmlns:a16="http://schemas.microsoft.com/office/drawing/2014/main" id="{5E2A232D-8F75-3D4B-8AD4-BDC01CAF3D53}"/>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grpSp>
        <p:sp>
          <p:nvSpPr>
            <p:cNvPr id="42" name="TextBox 41">
              <a:extLst>
                <a:ext uri="{FF2B5EF4-FFF2-40B4-BE49-F238E27FC236}">
                  <a16:creationId xmlns:a16="http://schemas.microsoft.com/office/drawing/2014/main" id="{422114B6-6EB7-CF76-C30F-D50E7727A831}"/>
                </a:ext>
              </a:extLst>
            </p:cNvPr>
            <p:cNvSpPr txBox="1"/>
            <p:nvPr/>
          </p:nvSpPr>
          <p:spPr>
            <a:xfrm>
              <a:off x="5838671" y="4022617"/>
              <a:ext cx="1636852" cy="367275"/>
            </a:xfrm>
            <a:prstGeom prst="rect">
              <a:avLst/>
            </a:prstGeom>
            <a:noFill/>
          </p:spPr>
          <p:txBody>
            <a:bodyPr wrap="square" rtlCol="0">
              <a:spAutoFit/>
            </a:bodyPr>
            <a:lstStyle/>
            <a:p>
              <a:r>
                <a:rPr lang="en-PH" sz="1200" b="1">
                  <a:solidFill>
                    <a:schemeClr val="bg1"/>
                  </a:solidFill>
                </a:rPr>
                <a:t>Objective 03</a:t>
              </a:r>
            </a:p>
          </p:txBody>
        </p:sp>
      </p:grpSp>
      <p:grpSp>
        <p:nvGrpSpPr>
          <p:cNvPr id="80" name="Group 79">
            <a:extLst>
              <a:ext uri="{FF2B5EF4-FFF2-40B4-BE49-F238E27FC236}">
                <a16:creationId xmlns:a16="http://schemas.microsoft.com/office/drawing/2014/main" id="{42CC62C9-7719-D050-0E68-5DAD5D4594CF}"/>
              </a:ext>
            </a:extLst>
          </p:cNvPr>
          <p:cNvGrpSpPr/>
          <p:nvPr/>
        </p:nvGrpSpPr>
        <p:grpSpPr>
          <a:xfrm>
            <a:off x="713893" y="735516"/>
            <a:ext cx="6625070" cy="2617468"/>
            <a:chOff x="1125978" y="1047969"/>
            <a:chExt cx="6752050" cy="2617468"/>
          </a:xfrm>
        </p:grpSpPr>
        <p:pic>
          <p:nvPicPr>
            <p:cNvPr id="44" name="Graphic 43" descr="Circle with left arrow with solid fill">
              <a:extLst>
                <a:ext uri="{FF2B5EF4-FFF2-40B4-BE49-F238E27FC236}">
                  <a16:creationId xmlns:a16="http://schemas.microsoft.com/office/drawing/2014/main" id="{BD585984-B950-6E95-6293-3A999DC0105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7631272" y="1047969"/>
              <a:ext cx="246756" cy="246756"/>
            </a:xfrm>
            <a:prstGeom prst="rect">
              <a:avLst/>
            </a:prstGeom>
          </p:spPr>
        </p:pic>
        <p:sp>
          <p:nvSpPr>
            <p:cNvPr id="45" name="TextBox 44">
              <a:extLst>
                <a:ext uri="{FF2B5EF4-FFF2-40B4-BE49-F238E27FC236}">
                  <a16:creationId xmlns:a16="http://schemas.microsoft.com/office/drawing/2014/main" id="{CF0721E0-09B3-4276-F742-44F390B61AF3}"/>
                </a:ext>
              </a:extLst>
            </p:cNvPr>
            <p:cNvSpPr txBox="1"/>
            <p:nvPr/>
          </p:nvSpPr>
          <p:spPr>
            <a:xfrm>
              <a:off x="1125978" y="2711330"/>
              <a:ext cx="3297378" cy="954107"/>
            </a:xfrm>
            <a:prstGeom prst="rect">
              <a:avLst/>
            </a:prstGeom>
            <a:noFill/>
          </p:spPr>
          <p:txBody>
            <a:bodyPr wrap="square" lIns="91440" tIns="45720" rIns="91440" bIns="45720" rtlCol="0" anchor="t">
              <a:spAutoFit/>
            </a:bodyPr>
            <a:lstStyle/>
            <a:p>
              <a:pPr>
                <a:spcAft>
                  <a:spcPts val="600"/>
                </a:spcAft>
              </a:pPr>
              <a:r>
                <a:rPr lang="en-US" sz="1400" dirty="0">
                  <a:solidFill>
                    <a:srgbClr val="1A2F45"/>
                  </a:solidFill>
                  <a:latin typeface="Segoe UI."/>
                  <a:cs typeface="Calibri"/>
                </a:rPr>
                <a:t>Be able to offer </a:t>
              </a:r>
              <a:r>
                <a:rPr lang="en-US" sz="1400" b="1" dirty="0">
                  <a:solidFill>
                    <a:srgbClr val="1A2F45"/>
                  </a:solidFill>
                  <a:latin typeface="Segoe UI."/>
                  <a:cs typeface="Calibri"/>
                </a:rPr>
                <a:t>visualization </a:t>
              </a:r>
              <a:r>
                <a:rPr lang="en-US" sz="1400" dirty="0">
                  <a:solidFill>
                    <a:srgbClr val="1A2F45"/>
                  </a:solidFill>
                  <a:latin typeface="Segoe UI."/>
                  <a:cs typeface="Calibri"/>
                </a:rPr>
                <a:t>of the </a:t>
              </a:r>
              <a:r>
                <a:rPr lang="en-CA" sz="1400" dirty="0">
                  <a:solidFill>
                    <a:srgbClr val="1A2F45"/>
                  </a:solidFill>
                  <a:latin typeface="Segoe UI."/>
                  <a:cs typeface="Calibri"/>
                </a:rPr>
                <a:t>key wireless management insights and actions in a single dashboard for wireless services</a:t>
              </a:r>
              <a:endParaRPr lang="en-US" sz="1400" dirty="0">
                <a:solidFill>
                  <a:srgbClr val="1A2F45"/>
                </a:solidFill>
                <a:latin typeface="Segoe UI."/>
                <a:cs typeface="Calibri"/>
              </a:endParaRPr>
            </a:p>
          </p:txBody>
        </p:sp>
      </p:grpSp>
      <p:grpSp>
        <p:nvGrpSpPr>
          <p:cNvPr id="82" name="Group 81">
            <a:extLst>
              <a:ext uri="{FF2B5EF4-FFF2-40B4-BE49-F238E27FC236}">
                <a16:creationId xmlns:a16="http://schemas.microsoft.com/office/drawing/2014/main" id="{BCE54DA2-3B18-9A40-6E6E-8209358764EC}"/>
              </a:ext>
            </a:extLst>
          </p:cNvPr>
          <p:cNvGrpSpPr/>
          <p:nvPr/>
        </p:nvGrpSpPr>
        <p:grpSpPr>
          <a:xfrm>
            <a:off x="7096841" y="1874987"/>
            <a:ext cx="3028240" cy="1417617"/>
            <a:chOff x="7631272" y="2462145"/>
            <a:chExt cx="2771398" cy="1417617"/>
          </a:xfrm>
        </p:grpSpPr>
        <p:pic>
          <p:nvPicPr>
            <p:cNvPr id="50" name="Graphic 49" descr="Circle with left arrow with solid fill">
              <a:extLst>
                <a:ext uri="{FF2B5EF4-FFF2-40B4-BE49-F238E27FC236}">
                  <a16:creationId xmlns:a16="http://schemas.microsoft.com/office/drawing/2014/main" id="{5E5F8BED-0385-CE3D-4BDB-918AAD3BC05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7631272" y="2462145"/>
              <a:ext cx="246756" cy="246756"/>
            </a:xfrm>
            <a:prstGeom prst="rect">
              <a:avLst/>
            </a:prstGeom>
          </p:spPr>
        </p:pic>
        <p:sp>
          <p:nvSpPr>
            <p:cNvPr id="51" name="TextBox 50">
              <a:extLst>
                <a:ext uri="{FF2B5EF4-FFF2-40B4-BE49-F238E27FC236}">
                  <a16:creationId xmlns:a16="http://schemas.microsoft.com/office/drawing/2014/main" id="{29871625-F969-F372-ADB3-8DA5197A1AD1}"/>
                </a:ext>
              </a:extLst>
            </p:cNvPr>
            <p:cNvSpPr txBox="1"/>
            <p:nvPr/>
          </p:nvSpPr>
          <p:spPr>
            <a:xfrm>
              <a:off x="7947737" y="3418097"/>
              <a:ext cx="2454933" cy="461665"/>
            </a:xfrm>
            <a:prstGeom prst="rect">
              <a:avLst/>
            </a:prstGeom>
            <a:noFill/>
          </p:spPr>
          <p:txBody>
            <a:bodyPr wrap="square" lIns="91440" tIns="45720" rIns="91440" bIns="45720" rtlCol="0" anchor="t">
              <a:spAutoFit/>
            </a:bodyPr>
            <a:lstStyle/>
            <a:p>
              <a:pPr>
                <a:spcAft>
                  <a:spcPts val="600"/>
                </a:spcAft>
              </a:pPr>
              <a:r>
                <a:rPr lang="en-US" sz="1200" dirty="0">
                  <a:solidFill>
                    <a:srgbClr val="1A2F45"/>
                  </a:solidFill>
                  <a:latin typeface="Segoe UI."/>
                  <a:cs typeface="Calibri"/>
                </a:rPr>
                <a:t>Be able to represent and provide ability to compare difference metrics</a:t>
              </a:r>
            </a:p>
          </p:txBody>
        </p:sp>
      </p:grpSp>
      <p:grpSp>
        <p:nvGrpSpPr>
          <p:cNvPr id="83" name="Group 82">
            <a:extLst>
              <a:ext uri="{FF2B5EF4-FFF2-40B4-BE49-F238E27FC236}">
                <a16:creationId xmlns:a16="http://schemas.microsoft.com/office/drawing/2014/main" id="{1AED9376-59C8-A458-01E8-D2084B9A28C4}"/>
              </a:ext>
            </a:extLst>
          </p:cNvPr>
          <p:cNvGrpSpPr/>
          <p:nvPr/>
        </p:nvGrpSpPr>
        <p:grpSpPr>
          <a:xfrm>
            <a:off x="7113172" y="3877145"/>
            <a:ext cx="3007855" cy="461665"/>
            <a:chOff x="7631272" y="2880432"/>
            <a:chExt cx="3007855" cy="461665"/>
          </a:xfrm>
        </p:grpSpPr>
        <p:pic>
          <p:nvPicPr>
            <p:cNvPr id="52" name="Graphic 51" descr="Circle with left arrow with solid fill">
              <a:extLst>
                <a:ext uri="{FF2B5EF4-FFF2-40B4-BE49-F238E27FC236}">
                  <a16:creationId xmlns:a16="http://schemas.microsoft.com/office/drawing/2014/main" id="{BDC49842-3C32-B51C-473B-FFFAF92AF6F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7631272" y="2881978"/>
              <a:ext cx="246756" cy="246756"/>
            </a:xfrm>
            <a:prstGeom prst="rect">
              <a:avLst/>
            </a:prstGeom>
          </p:spPr>
        </p:pic>
        <p:sp>
          <p:nvSpPr>
            <p:cNvPr id="53" name="TextBox 52">
              <a:extLst>
                <a:ext uri="{FF2B5EF4-FFF2-40B4-BE49-F238E27FC236}">
                  <a16:creationId xmlns:a16="http://schemas.microsoft.com/office/drawing/2014/main" id="{F7D07A73-B862-0365-91B8-48B359EC1AFC}"/>
                </a:ext>
              </a:extLst>
            </p:cNvPr>
            <p:cNvSpPr txBox="1"/>
            <p:nvPr/>
          </p:nvSpPr>
          <p:spPr>
            <a:xfrm>
              <a:off x="7954509" y="2880432"/>
              <a:ext cx="2684618" cy="461665"/>
            </a:xfrm>
            <a:prstGeom prst="rect">
              <a:avLst/>
            </a:prstGeom>
            <a:noFill/>
          </p:spPr>
          <p:txBody>
            <a:bodyPr wrap="square" rtlCol="0">
              <a:spAutoFit/>
            </a:bodyPr>
            <a:lstStyle/>
            <a:p>
              <a:r>
                <a:rPr lang="en-US" sz="1200" dirty="0"/>
                <a:t>Be able to display different </a:t>
              </a:r>
              <a:r>
                <a:rPr lang="en-US" sz="1200" b="1" dirty="0"/>
                <a:t>type of usage</a:t>
              </a:r>
              <a:r>
                <a:rPr lang="en-US" sz="1200" dirty="0"/>
                <a:t> at glance</a:t>
              </a:r>
              <a:endParaRPr lang="en-PH" sz="1200" dirty="0"/>
            </a:p>
          </p:txBody>
        </p:sp>
      </p:grpSp>
      <p:grpSp>
        <p:nvGrpSpPr>
          <p:cNvPr id="84" name="Group 83">
            <a:extLst>
              <a:ext uri="{FF2B5EF4-FFF2-40B4-BE49-F238E27FC236}">
                <a16:creationId xmlns:a16="http://schemas.microsoft.com/office/drawing/2014/main" id="{1FCA8200-A279-F50C-8C5B-3B1DC0135981}"/>
              </a:ext>
            </a:extLst>
          </p:cNvPr>
          <p:cNvGrpSpPr/>
          <p:nvPr/>
        </p:nvGrpSpPr>
        <p:grpSpPr>
          <a:xfrm>
            <a:off x="7094121" y="611678"/>
            <a:ext cx="2967880" cy="2589175"/>
            <a:chOff x="7631272" y="1534322"/>
            <a:chExt cx="2967880" cy="2589175"/>
          </a:xfrm>
        </p:grpSpPr>
        <p:pic>
          <p:nvPicPr>
            <p:cNvPr id="56" name="Graphic 55" descr="Circle with left arrow with solid fill">
              <a:extLst>
                <a:ext uri="{FF2B5EF4-FFF2-40B4-BE49-F238E27FC236}">
                  <a16:creationId xmlns:a16="http://schemas.microsoft.com/office/drawing/2014/main" id="{DFFA3558-DE9A-D9F3-52CC-6B6433B70F7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7631272" y="3876741"/>
              <a:ext cx="246756" cy="246756"/>
            </a:xfrm>
            <a:prstGeom prst="rect">
              <a:avLst/>
            </a:prstGeom>
          </p:spPr>
        </p:pic>
        <p:sp>
          <p:nvSpPr>
            <p:cNvPr id="57" name="TextBox 56">
              <a:extLst>
                <a:ext uri="{FF2B5EF4-FFF2-40B4-BE49-F238E27FC236}">
                  <a16:creationId xmlns:a16="http://schemas.microsoft.com/office/drawing/2014/main" id="{6CF186AE-A29A-1383-4E65-1A0D013E63E3}"/>
                </a:ext>
              </a:extLst>
            </p:cNvPr>
            <p:cNvSpPr txBox="1"/>
            <p:nvPr/>
          </p:nvSpPr>
          <p:spPr>
            <a:xfrm>
              <a:off x="7881879" y="1534322"/>
              <a:ext cx="2717273" cy="855489"/>
            </a:xfrm>
            <a:prstGeom prst="rect">
              <a:avLst/>
            </a:prstGeom>
            <a:noFill/>
          </p:spPr>
          <p:txBody>
            <a:bodyPr wrap="square" rtlCol="0">
              <a:spAutoFit/>
            </a:bodyPr>
            <a:lstStyle/>
            <a:p>
              <a:r>
                <a:rPr lang="en-US" sz="1200" dirty="0">
                  <a:solidFill>
                    <a:srgbClr val="1A2F45"/>
                  </a:solidFill>
                  <a:latin typeface="Segoe UI."/>
                  <a:cs typeface="Calibri" panose="020F0502020204030204" pitchFamily="34" charset="0"/>
                </a:rPr>
                <a:t>Be able to </a:t>
              </a:r>
              <a:r>
                <a:rPr lang="en-CA" sz="1200" dirty="0">
                  <a:solidFill>
                    <a:srgbClr val="1A2F45"/>
                  </a:solidFill>
                  <a:latin typeface="Segoe UI."/>
                  <a:cs typeface="Calibri" panose="020F0502020204030204" pitchFamily="34" charset="0"/>
                </a:rPr>
                <a:t>display </a:t>
              </a:r>
              <a:r>
                <a:rPr lang="en-CA" sz="1200" b="1" dirty="0">
                  <a:solidFill>
                    <a:srgbClr val="1A2F45"/>
                  </a:solidFill>
                  <a:latin typeface="Segoe UI."/>
                  <a:cs typeface="Calibri" panose="020F0502020204030204" pitchFamily="34" charset="0"/>
                </a:rPr>
                <a:t>warranty expiry date</a:t>
              </a:r>
              <a:r>
                <a:rPr lang="en-CA" sz="1200" dirty="0">
                  <a:solidFill>
                    <a:srgbClr val="1A2F45"/>
                  </a:solidFill>
                  <a:latin typeface="Segoe UI."/>
                  <a:cs typeface="Calibri" panose="020F0502020204030204" pitchFamily="34" charset="0"/>
                </a:rPr>
                <a:t> information in BBSSC for wireless device based on the purchase date</a:t>
              </a:r>
              <a:endParaRPr lang="en-US" sz="1200" dirty="0">
                <a:solidFill>
                  <a:srgbClr val="1A2F45"/>
                </a:solidFill>
                <a:latin typeface="Segoe UI."/>
                <a:cs typeface="Calibri" panose="020F0502020204030204" pitchFamily="34" charset="0"/>
              </a:endParaRPr>
            </a:p>
          </p:txBody>
        </p:sp>
      </p:grpSp>
      <p:grpSp>
        <p:nvGrpSpPr>
          <p:cNvPr id="86" name="Group 85">
            <a:extLst>
              <a:ext uri="{FF2B5EF4-FFF2-40B4-BE49-F238E27FC236}">
                <a16:creationId xmlns:a16="http://schemas.microsoft.com/office/drawing/2014/main" id="{74762594-5620-B0C8-37C7-D3EB648F6D56}"/>
              </a:ext>
            </a:extLst>
          </p:cNvPr>
          <p:cNvGrpSpPr/>
          <p:nvPr/>
        </p:nvGrpSpPr>
        <p:grpSpPr>
          <a:xfrm>
            <a:off x="7120491" y="3287244"/>
            <a:ext cx="3000536" cy="646331"/>
            <a:chOff x="7631272" y="5261559"/>
            <a:chExt cx="3000536" cy="646331"/>
          </a:xfrm>
        </p:grpSpPr>
        <p:pic>
          <p:nvPicPr>
            <p:cNvPr id="66" name="Graphic 65" descr="Circle with left arrow with solid fill">
              <a:extLst>
                <a:ext uri="{FF2B5EF4-FFF2-40B4-BE49-F238E27FC236}">
                  <a16:creationId xmlns:a16="http://schemas.microsoft.com/office/drawing/2014/main" id="{3A233071-0CF0-BC30-966E-A157F4E6C19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7631272" y="5342472"/>
              <a:ext cx="246756" cy="246756"/>
            </a:xfrm>
            <a:prstGeom prst="rect">
              <a:avLst/>
            </a:prstGeom>
          </p:spPr>
        </p:pic>
        <p:sp>
          <p:nvSpPr>
            <p:cNvPr id="67" name="TextBox 66">
              <a:extLst>
                <a:ext uri="{FF2B5EF4-FFF2-40B4-BE49-F238E27FC236}">
                  <a16:creationId xmlns:a16="http://schemas.microsoft.com/office/drawing/2014/main" id="{CD80CBB0-8188-29DC-2E32-4C620D807FED}"/>
                </a:ext>
              </a:extLst>
            </p:cNvPr>
            <p:cNvSpPr txBox="1"/>
            <p:nvPr/>
          </p:nvSpPr>
          <p:spPr>
            <a:xfrm>
              <a:off x="7955354" y="5261559"/>
              <a:ext cx="2676454" cy="646331"/>
            </a:xfrm>
            <a:prstGeom prst="rect">
              <a:avLst/>
            </a:prstGeom>
            <a:noFill/>
          </p:spPr>
          <p:txBody>
            <a:bodyPr wrap="square" rtlCol="0">
              <a:spAutoFit/>
            </a:bodyPr>
            <a:lstStyle/>
            <a:p>
              <a:pPr>
                <a:spcAft>
                  <a:spcPts val="600"/>
                </a:spcAft>
              </a:pPr>
              <a:r>
                <a:rPr lang="en-US" sz="1200" dirty="0">
                  <a:solidFill>
                    <a:srgbClr val="1A2F45"/>
                  </a:solidFill>
                  <a:latin typeface="Segoe UI."/>
                  <a:cs typeface="Calibri" panose="020F0502020204030204" pitchFamily="34" charset="0"/>
                </a:rPr>
                <a:t>Be able to </a:t>
              </a:r>
              <a:r>
                <a:rPr lang="en-US" sz="1200" b="1" dirty="0">
                  <a:solidFill>
                    <a:srgbClr val="1A2F45"/>
                  </a:solidFill>
                  <a:latin typeface="Segoe UI."/>
                  <a:cs typeface="Calibri" panose="020F0502020204030204" pitchFamily="34" charset="0"/>
                </a:rPr>
                <a:t>breakout usage display </a:t>
              </a:r>
              <a:r>
                <a:rPr lang="en-US" sz="1200" dirty="0">
                  <a:solidFill>
                    <a:srgbClr val="1A2F45"/>
                  </a:solidFill>
                  <a:latin typeface="Segoe UI."/>
                  <a:cs typeface="Calibri" panose="020F0502020204030204" pitchFamily="34" charset="0"/>
                </a:rPr>
                <a:t>based on source system and the month</a:t>
              </a:r>
            </a:p>
          </p:txBody>
        </p:sp>
      </p:grpSp>
      <p:cxnSp>
        <p:nvCxnSpPr>
          <p:cNvPr id="73" name="Straight Connector 72">
            <a:extLst>
              <a:ext uri="{FF2B5EF4-FFF2-40B4-BE49-F238E27FC236}">
                <a16:creationId xmlns:a16="http://schemas.microsoft.com/office/drawing/2014/main" id="{74F09FDD-F66F-E754-9783-D2496888D44F}"/>
              </a:ext>
            </a:extLst>
          </p:cNvPr>
          <p:cNvCxnSpPr>
            <a:cxnSpLocks/>
          </p:cNvCxnSpPr>
          <p:nvPr/>
        </p:nvCxnSpPr>
        <p:spPr>
          <a:xfrm>
            <a:off x="4911799" y="2723950"/>
            <a:ext cx="506062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9DE1C9E7-2662-2AFA-E106-CC8D7FF17E21}"/>
              </a:ext>
            </a:extLst>
          </p:cNvPr>
          <p:cNvCxnSpPr>
            <a:cxnSpLocks/>
          </p:cNvCxnSpPr>
          <p:nvPr/>
        </p:nvCxnSpPr>
        <p:spPr>
          <a:xfrm>
            <a:off x="5061314" y="4496564"/>
            <a:ext cx="506062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DF7EBC54-1386-1185-7356-C5CD24FAC6AA}"/>
              </a:ext>
            </a:extLst>
          </p:cNvPr>
          <p:cNvGrpSpPr/>
          <p:nvPr/>
        </p:nvGrpSpPr>
        <p:grpSpPr>
          <a:xfrm>
            <a:off x="5210649" y="4706508"/>
            <a:ext cx="1762361" cy="738490"/>
            <a:chOff x="5404270" y="5138781"/>
            <a:chExt cx="2030038" cy="979169"/>
          </a:xfrm>
        </p:grpSpPr>
        <p:grpSp>
          <p:nvGrpSpPr>
            <p:cNvPr id="61" name="Group 60">
              <a:extLst>
                <a:ext uri="{FF2B5EF4-FFF2-40B4-BE49-F238E27FC236}">
                  <a16:creationId xmlns:a16="http://schemas.microsoft.com/office/drawing/2014/main" id="{F090CFB3-9791-BB2E-7BA7-887051E487C5}"/>
                </a:ext>
              </a:extLst>
            </p:cNvPr>
            <p:cNvGrpSpPr/>
            <p:nvPr/>
          </p:nvGrpSpPr>
          <p:grpSpPr>
            <a:xfrm>
              <a:off x="5404270" y="5138781"/>
              <a:ext cx="2004765" cy="979169"/>
              <a:chOff x="5025750" y="1144513"/>
              <a:chExt cx="2425356" cy="1184595"/>
            </a:xfrm>
          </p:grpSpPr>
          <p:sp>
            <p:nvSpPr>
              <p:cNvPr id="72" name="Rectangle 71">
                <a:extLst>
                  <a:ext uri="{FF2B5EF4-FFF2-40B4-BE49-F238E27FC236}">
                    <a16:creationId xmlns:a16="http://schemas.microsoft.com/office/drawing/2014/main" id="{1352B016-F2BB-BA12-DB00-173DFDBAC29F}"/>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sp>
            <p:nvSpPr>
              <p:cNvPr id="88" name="Rectangle 87">
                <a:extLst>
                  <a:ext uri="{FF2B5EF4-FFF2-40B4-BE49-F238E27FC236}">
                    <a16:creationId xmlns:a16="http://schemas.microsoft.com/office/drawing/2014/main" id="{27727501-D2B9-88A7-9BD9-76303F68F01F}"/>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sp>
            <p:nvSpPr>
              <p:cNvPr id="89" name="Rectangle 88">
                <a:extLst>
                  <a:ext uri="{FF2B5EF4-FFF2-40B4-BE49-F238E27FC236}">
                    <a16:creationId xmlns:a16="http://schemas.microsoft.com/office/drawing/2014/main" id="{F604733D-D667-1A0A-EEB7-91C669B936A7}"/>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grpSp>
        <p:sp>
          <p:nvSpPr>
            <p:cNvPr id="70" name="TextBox 69">
              <a:extLst>
                <a:ext uri="{FF2B5EF4-FFF2-40B4-BE49-F238E27FC236}">
                  <a16:creationId xmlns:a16="http://schemas.microsoft.com/office/drawing/2014/main" id="{5505D264-DF38-A493-0994-853A9274589B}"/>
                </a:ext>
              </a:extLst>
            </p:cNvPr>
            <p:cNvSpPr txBox="1"/>
            <p:nvPr/>
          </p:nvSpPr>
          <p:spPr>
            <a:xfrm>
              <a:off x="5797456" y="5555907"/>
              <a:ext cx="1636852" cy="367275"/>
            </a:xfrm>
            <a:prstGeom prst="rect">
              <a:avLst/>
            </a:prstGeom>
            <a:noFill/>
          </p:spPr>
          <p:txBody>
            <a:bodyPr wrap="square" lIns="91440" tIns="45720" rIns="91440" bIns="45720" rtlCol="0" anchor="t">
              <a:spAutoFit/>
            </a:bodyPr>
            <a:lstStyle/>
            <a:p>
              <a:r>
                <a:rPr lang="en-US" sz="1200" b="1">
                  <a:solidFill>
                    <a:schemeClr val="bg1"/>
                  </a:solidFill>
                </a:rPr>
                <a:t>Objective 04</a:t>
              </a:r>
              <a:endParaRPr lang="en-PH" sz="1200" b="1">
                <a:solidFill>
                  <a:schemeClr val="bg1"/>
                </a:solidFill>
              </a:endParaRPr>
            </a:p>
          </p:txBody>
        </p:sp>
      </p:grpSp>
      <p:grpSp>
        <p:nvGrpSpPr>
          <p:cNvPr id="90" name="Group 89">
            <a:extLst>
              <a:ext uri="{FF2B5EF4-FFF2-40B4-BE49-F238E27FC236}">
                <a16:creationId xmlns:a16="http://schemas.microsoft.com/office/drawing/2014/main" id="{EFEAB690-8069-1CE1-C59B-55D6EF4A1700}"/>
              </a:ext>
            </a:extLst>
          </p:cNvPr>
          <p:cNvGrpSpPr/>
          <p:nvPr/>
        </p:nvGrpSpPr>
        <p:grpSpPr>
          <a:xfrm>
            <a:off x="7119891" y="1731624"/>
            <a:ext cx="3001136" cy="3231479"/>
            <a:chOff x="7655764" y="1810742"/>
            <a:chExt cx="3001136" cy="3231479"/>
          </a:xfrm>
        </p:grpSpPr>
        <p:pic>
          <p:nvPicPr>
            <p:cNvPr id="91" name="Graphic 90" descr="Circle with left arrow with solid fill">
              <a:extLst>
                <a:ext uri="{FF2B5EF4-FFF2-40B4-BE49-F238E27FC236}">
                  <a16:creationId xmlns:a16="http://schemas.microsoft.com/office/drawing/2014/main" id="{DE52AE50-EEFF-DB68-10E3-3760D638ECB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7655764" y="4795465"/>
              <a:ext cx="246756" cy="246756"/>
            </a:xfrm>
            <a:prstGeom prst="rect">
              <a:avLst/>
            </a:prstGeom>
          </p:spPr>
        </p:pic>
        <p:sp>
          <p:nvSpPr>
            <p:cNvPr id="92" name="TextBox 91">
              <a:extLst>
                <a:ext uri="{FF2B5EF4-FFF2-40B4-BE49-F238E27FC236}">
                  <a16:creationId xmlns:a16="http://schemas.microsoft.com/office/drawing/2014/main" id="{11F07052-F5C2-1DC2-40FD-5CB130DB69F6}"/>
                </a:ext>
              </a:extLst>
            </p:cNvPr>
            <p:cNvSpPr txBox="1"/>
            <p:nvPr/>
          </p:nvSpPr>
          <p:spPr>
            <a:xfrm>
              <a:off x="7882480" y="1810742"/>
              <a:ext cx="2774420" cy="1015663"/>
            </a:xfrm>
            <a:prstGeom prst="rect">
              <a:avLst/>
            </a:prstGeom>
            <a:noFill/>
          </p:spPr>
          <p:txBody>
            <a:bodyPr wrap="square" lIns="91440" tIns="45720" rIns="91440" bIns="45720" rtlCol="0" anchor="t">
              <a:spAutoFit/>
            </a:bodyPr>
            <a:lstStyle/>
            <a:p>
              <a:pPr>
                <a:spcAft>
                  <a:spcPts val="600"/>
                </a:spcAft>
              </a:pPr>
              <a:r>
                <a:rPr lang="en-US" sz="1200" dirty="0">
                  <a:solidFill>
                    <a:srgbClr val="1A2F45"/>
                  </a:solidFill>
                  <a:latin typeface="Segoe UI."/>
                  <a:cs typeface="Calibri"/>
                </a:rPr>
                <a:t>Be able to </a:t>
              </a:r>
              <a:r>
                <a:rPr lang="en-CA" sz="1200" dirty="0">
                  <a:solidFill>
                    <a:srgbClr val="1A2F45"/>
                  </a:solidFill>
                  <a:latin typeface="Segoe UI."/>
                  <a:cs typeface="Calibri"/>
                </a:rPr>
                <a:t>fetch data to display on dashboard based on the </a:t>
              </a:r>
              <a:r>
                <a:rPr lang="en-CA" sz="1200" b="1" dirty="0">
                  <a:solidFill>
                    <a:srgbClr val="1A2F45"/>
                  </a:solidFill>
                  <a:latin typeface="Segoe UI."/>
                  <a:cs typeface="Calibri"/>
                </a:rPr>
                <a:t>Nag and logged in customer </a:t>
              </a:r>
              <a:r>
                <a:rPr lang="en-CA" sz="1200" dirty="0">
                  <a:solidFill>
                    <a:srgbClr val="1A2F45"/>
                  </a:solidFill>
                  <a:latin typeface="Segoe UI."/>
                  <a:cs typeface="Calibri"/>
                </a:rPr>
                <a:t>and ensure different system's integration/ data flow.</a:t>
              </a:r>
              <a:endParaRPr lang="en-US" sz="1200" dirty="0">
                <a:solidFill>
                  <a:srgbClr val="1A2F45"/>
                </a:solidFill>
                <a:latin typeface="Segoe UI."/>
                <a:cs typeface="Calibri"/>
              </a:endParaRPr>
            </a:p>
          </p:txBody>
        </p:sp>
      </p:grpSp>
      <p:grpSp>
        <p:nvGrpSpPr>
          <p:cNvPr id="19" name="Group 18">
            <a:extLst>
              <a:ext uri="{FF2B5EF4-FFF2-40B4-BE49-F238E27FC236}">
                <a16:creationId xmlns:a16="http://schemas.microsoft.com/office/drawing/2014/main" id="{949FF9BC-B265-738C-5AC7-DA43A5CF3A83}"/>
              </a:ext>
            </a:extLst>
          </p:cNvPr>
          <p:cNvGrpSpPr/>
          <p:nvPr/>
        </p:nvGrpSpPr>
        <p:grpSpPr>
          <a:xfrm>
            <a:off x="1" y="0"/>
            <a:ext cx="909836" cy="934466"/>
            <a:chOff x="0" y="0"/>
            <a:chExt cx="3161556" cy="3048050"/>
          </a:xfrm>
        </p:grpSpPr>
        <p:grpSp>
          <p:nvGrpSpPr>
            <p:cNvPr id="4" name="Group 3">
              <a:extLst>
                <a:ext uri="{FF2B5EF4-FFF2-40B4-BE49-F238E27FC236}">
                  <a16:creationId xmlns:a16="http://schemas.microsoft.com/office/drawing/2014/main" id="{4EC9DEA9-40AF-2A53-CC7F-D24999521F2D}"/>
                </a:ext>
              </a:extLst>
            </p:cNvPr>
            <p:cNvGrpSpPr/>
            <p:nvPr/>
          </p:nvGrpSpPr>
          <p:grpSpPr>
            <a:xfrm>
              <a:off x="0" y="0"/>
              <a:ext cx="2107704" cy="1988840"/>
              <a:chOff x="0" y="0"/>
              <a:chExt cx="2107704" cy="1988840"/>
            </a:xfrm>
          </p:grpSpPr>
          <p:sp>
            <p:nvSpPr>
              <p:cNvPr id="17" name="Rectangle 16">
                <a:extLst>
                  <a:ext uri="{FF2B5EF4-FFF2-40B4-BE49-F238E27FC236}">
                    <a16:creationId xmlns:a16="http://schemas.microsoft.com/office/drawing/2014/main" id="{DCC437BB-5EF6-A311-0085-0CEA5B50FF6B}"/>
                  </a:ext>
                </a:extLst>
              </p:cNvPr>
              <p:cNvSpPr/>
              <p:nvPr/>
            </p:nvSpPr>
            <p:spPr>
              <a:xfrm>
                <a:off x="0" y="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CB25449A-271F-ABA7-08CC-B8CAFEEB00E3}"/>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4" name="Group 13">
              <a:extLst>
                <a:ext uri="{FF2B5EF4-FFF2-40B4-BE49-F238E27FC236}">
                  <a16:creationId xmlns:a16="http://schemas.microsoft.com/office/drawing/2014/main" id="{9845DBD5-7754-D4D2-296F-BD4A1194CFBB}"/>
                </a:ext>
              </a:extLst>
            </p:cNvPr>
            <p:cNvGrpSpPr/>
            <p:nvPr/>
          </p:nvGrpSpPr>
          <p:grpSpPr>
            <a:xfrm flipH="1" flipV="1">
              <a:off x="1053852" y="1059210"/>
              <a:ext cx="2107704" cy="1988840"/>
              <a:chOff x="1580778" y="1268760"/>
              <a:chExt cx="2107704" cy="1988840"/>
            </a:xfrm>
          </p:grpSpPr>
          <p:sp>
            <p:nvSpPr>
              <p:cNvPr id="15" name="Rectangle 14">
                <a:extLst>
                  <a:ext uri="{FF2B5EF4-FFF2-40B4-BE49-F238E27FC236}">
                    <a16:creationId xmlns:a16="http://schemas.microsoft.com/office/drawing/2014/main" id="{E00381C7-230E-E9D4-2D04-B17261C0E561}"/>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0B0560E5-628D-82FE-A218-5BD00B1FC326}"/>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55" name="Group 54">
            <a:extLst>
              <a:ext uri="{FF2B5EF4-FFF2-40B4-BE49-F238E27FC236}">
                <a16:creationId xmlns:a16="http://schemas.microsoft.com/office/drawing/2014/main" id="{0C66FC51-DF10-AF0A-FEF1-C7E956D59B18}"/>
              </a:ext>
            </a:extLst>
          </p:cNvPr>
          <p:cNvGrpSpPr/>
          <p:nvPr/>
        </p:nvGrpSpPr>
        <p:grpSpPr>
          <a:xfrm>
            <a:off x="10342891" y="4962097"/>
            <a:ext cx="1845935" cy="1895903"/>
            <a:chOff x="0" y="0"/>
            <a:chExt cx="3161556" cy="3048050"/>
          </a:xfrm>
        </p:grpSpPr>
        <p:grpSp>
          <p:nvGrpSpPr>
            <p:cNvPr id="21" name="Group 20">
              <a:extLst>
                <a:ext uri="{FF2B5EF4-FFF2-40B4-BE49-F238E27FC236}">
                  <a16:creationId xmlns:a16="http://schemas.microsoft.com/office/drawing/2014/main" id="{C446911F-2355-DC42-D316-743D0C8C740E}"/>
                </a:ext>
              </a:extLst>
            </p:cNvPr>
            <p:cNvGrpSpPr/>
            <p:nvPr/>
          </p:nvGrpSpPr>
          <p:grpSpPr>
            <a:xfrm>
              <a:off x="0" y="0"/>
              <a:ext cx="2107704" cy="2241545"/>
              <a:chOff x="0" y="0"/>
              <a:chExt cx="2107704" cy="2241545"/>
            </a:xfrm>
          </p:grpSpPr>
          <p:sp>
            <p:nvSpPr>
              <p:cNvPr id="49" name="Rectangle 48">
                <a:extLst>
                  <a:ext uri="{FF2B5EF4-FFF2-40B4-BE49-F238E27FC236}">
                    <a16:creationId xmlns:a16="http://schemas.microsoft.com/office/drawing/2014/main" id="{C2752BF6-277F-FABC-F3A5-66055A032441}"/>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4" name="Rectangle 53">
                <a:extLst>
                  <a:ext uri="{FF2B5EF4-FFF2-40B4-BE49-F238E27FC236}">
                    <a16:creationId xmlns:a16="http://schemas.microsoft.com/office/drawing/2014/main" id="{E80423AF-E346-1B08-B3A9-1178C9091304}"/>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2" name="Group 21">
              <a:extLst>
                <a:ext uri="{FF2B5EF4-FFF2-40B4-BE49-F238E27FC236}">
                  <a16:creationId xmlns:a16="http://schemas.microsoft.com/office/drawing/2014/main" id="{4B83DFA1-F440-F492-796E-B2EE44DAE9B6}"/>
                </a:ext>
              </a:extLst>
            </p:cNvPr>
            <p:cNvGrpSpPr/>
            <p:nvPr/>
          </p:nvGrpSpPr>
          <p:grpSpPr>
            <a:xfrm flipH="1" flipV="1">
              <a:off x="1053853" y="1059210"/>
              <a:ext cx="2107703" cy="1988840"/>
              <a:chOff x="1580778" y="1268760"/>
              <a:chExt cx="2107703" cy="1988840"/>
            </a:xfrm>
          </p:grpSpPr>
          <p:sp>
            <p:nvSpPr>
              <p:cNvPr id="23" name="Rectangle 22">
                <a:extLst>
                  <a:ext uri="{FF2B5EF4-FFF2-40B4-BE49-F238E27FC236}">
                    <a16:creationId xmlns:a16="http://schemas.microsoft.com/office/drawing/2014/main" id="{4F357D61-BC3E-5C82-B2BA-182AA87B3AD6}"/>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8" name="Rectangle 47">
                <a:extLst>
                  <a:ext uri="{FF2B5EF4-FFF2-40B4-BE49-F238E27FC236}">
                    <a16:creationId xmlns:a16="http://schemas.microsoft.com/office/drawing/2014/main" id="{0CD5D388-6075-E774-B0F9-6AA16DBF62C1}"/>
                  </a:ext>
                </a:extLst>
              </p:cNvPr>
              <p:cNvSpPr/>
              <p:nvPr/>
            </p:nvSpPr>
            <p:spPr>
              <a:xfrm rot="5400000">
                <a:off x="2758303" y="1145086"/>
                <a:ext cx="806504" cy="105385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98" name="Picture 97" descr="BEll company logo">
            <a:extLst>
              <a:ext uri="{FF2B5EF4-FFF2-40B4-BE49-F238E27FC236}">
                <a16:creationId xmlns:a16="http://schemas.microsoft.com/office/drawing/2014/main" id="{641BDF75-F5CA-8F92-91CD-648F770DFF88}"/>
              </a:ext>
            </a:extLst>
          </p:cNvPr>
          <p:cNvPicPr>
            <a:picLocks noChangeAspect="1"/>
          </p:cNvPicPr>
          <p:nvPr/>
        </p:nvPicPr>
        <p:blipFill>
          <a:blip r:embed="rId4"/>
          <a:stretch>
            <a:fillRect/>
          </a:stretch>
        </p:blipFill>
        <p:spPr>
          <a:xfrm>
            <a:off x="11009239" y="605301"/>
            <a:ext cx="514513" cy="400050"/>
          </a:xfrm>
          <a:prstGeom prst="rect">
            <a:avLst/>
          </a:prstGeom>
        </p:spPr>
      </p:pic>
      <p:cxnSp>
        <p:nvCxnSpPr>
          <p:cNvPr id="102" name="Straight Connector 101">
            <a:extLst>
              <a:ext uri="{FF2B5EF4-FFF2-40B4-BE49-F238E27FC236}">
                <a16:creationId xmlns:a16="http://schemas.microsoft.com/office/drawing/2014/main" id="{4F52A92F-B853-159D-1079-F186622C43D5}"/>
              </a:ext>
            </a:extLst>
          </p:cNvPr>
          <p:cNvCxnSpPr>
            <a:cxnSpLocks/>
          </p:cNvCxnSpPr>
          <p:nvPr/>
        </p:nvCxnSpPr>
        <p:spPr>
          <a:xfrm>
            <a:off x="4915313" y="1655606"/>
            <a:ext cx="506062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5B544ED-5E92-591F-3DD6-F927751F4125}"/>
              </a:ext>
            </a:extLst>
          </p:cNvPr>
          <p:cNvSpPr/>
          <p:nvPr/>
        </p:nvSpPr>
        <p:spPr>
          <a:xfrm>
            <a:off x="714898" y="1540022"/>
            <a:ext cx="1550174" cy="58357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PH" sz="1200" dirty="0">
              <a:cs typeface="Segoe UI"/>
            </a:endParaRPr>
          </a:p>
          <a:p>
            <a:pPr algn="ctr"/>
            <a:r>
              <a:rPr lang="en-PH" sz="1200">
                <a:cs typeface="Segoe UI"/>
              </a:rPr>
              <a:t>Overall Objective</a:t>
            </a:r>
            <a:endParaRPr lang="en-US">
              <a:cs typeface="Segoe UI"/>
            </a:endParaRPr>
          </a:p>
        </p:txBody>
      </p:sp>
      <p:sp>
        <p:nvSpPr>
          <p:cNvPr id="9" name="Rectangle 8">
            <a:extLst>
              <a:ext uri="{FF2B5EF4-FFF2-40B4-BE49-F238E27FC236}">
                <a16:creationId xmlns:a16="http://schemas.microsoft.com/office/drawing/2014/main" id="{EB01F5CA-FD25-33AE-35E0-21399B88CE61}"/>
              </a:ext>
            </a:extLst>
          </p:cNvPr>
          <p:cNvSpPr/>
          <p:nvPr/>
        </p:nvSpPr>
        <p:spPr>
          <a:xfrm>
            <a:off x="823788" y="1617480"/>
            <a:ext cx="1511915" cy="583576"/>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sp>
        <p:nvSpPr>
          <p:cNvPr id="11" name="Rectangle 10">
            <a:extLst>
              <a:ext uri="{FF2B5EF4-FFF2-40B4-BE49-F238E27FC236}">
                <a16:creationId xmlns:a16="http://schemas.microsoft.com/office/drawing/2014/main" id="{E55155AF-040A-6E6A-58FD-851B3D04C2EB}"/>
              </a:ext>
            </a:extLst>
          </p:cNvPr>
          <p:cNvSpPr/>
          <p:nvPr/>
        </p:nvSpPr>
        <p:spPr>
          <a:xfrm>
            <a:off x="611612" y="1405416"/>
            <a:ext cx="1574665" cy="64889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200"/>
          </a:p>
        </p:txBody>
      </p:sp>
      <p:sp>
        <p:nvSpPr>
          <p:cNvPr id="13" name="TextBox 12">
            <a:extLst>
              <a:ext uri="{FF2B5EF4-FFF2-40B4-BE49-F238E27FC236}">
                <a16:creationId xmlns:a16="http://schemas.microsoft.com/office/drawing/2014/main" id="{9C797D59-46FC-1AD5-5290-53F6E92754A2}"/>
              </a:ext>
            </a:extLst>
          </p:cNvPr>
          <p:cNvSpPr txBox="1"/>
          <p:nvPr/>
        </p:nvSpPr>
        <p:spPr>
          <a:xfrm>
            <a:off x="7439921" y="4616196"/>
            <a:ext cx="2682448" cy="830997"/>
          </a:xfrm>
          <a:prstGeom prst="rect">
            <a:avLst/>
          </a:prstGeom>
          <a:noFill/>
        </p:spPr>
        <p:txBody>
          <a:bodyPr wrap="square" lIns="91440" tIns="45720" rIns="91440" bIns="45720" rtlCol="0" anchor="t">
            <a:spAutoFit/>
          </a:bodyPr>
          <a:lstStyle/>
          <a:p>
            <a:pPr>
              <a:spcAft>
                <a:spcPts val="600"/>
              </a:spcAft>
            </a:pPr>
            <a:r>
              <a:rPr lang="en-US" sz="1200" dirty="0">
                <a:solidFill>
                  <a:srgbClr val="1A2F45"/>
                </a:solidFill>
                <a:latin typeface="Segoe UI."/>
                <a:cs typeface="Calibri"/>
              </a:rPr>
              <a:t>Be able to display "Shopping and Orders" widget with ability to shop and show orders as Request ID for </a:t>
            </a:r>
            <a:r>
              <a:rPr lang="en-US" sz="1200" b="1" dirty="0">
                <a:solidFill>
                  <a:srgbClr val="1A2F45"/>
                </a:solidFill>
                <a:latin typeface="Segoe UI."/>
                <a:cs typeface="Calibri"/>
              </a:rPr>
              <a:t>"Mobile devices and Plans" service</a:t>
            </a:r>
          </a:p>
        </p:txBody>
      </p:sp>
    </p:spTree>
    <p:extLst>
      <p:ext uri="{BB962C8B-B14F-4D97-AF65-F5344CB8AC3E}">
        <p14:creationId xmlns:p14="http://schemas.microsoft.com/office/powerpoint/2010/main" val="335268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4" decel="80000" fill="hold" nodeType="withEffect">
                                  <p:stCondLst>
                                    <p:cond delay="200"/>
                                  </p:stCondLst>
                                  <p:childTnLst>
                                    <p:set>
                                      <p:cBhvr>
                                        <p:cTn id="9" dur="1" fill="hold">
                                          <p:stCondLst>
                                            <p:cond delay="0"/>
                                          </p:stCondLst>
                                        </p:cTn>
                                        <p:tgtEl>
                                          <p:spTgt spid="62"/>
                                        </p:tgtEl>
                                        <p:attrNameLst>
                                          <p:attrName>style.visibility</p:attrName>
                                        </p:attrNameLst>
                                      </p:cBhvr>
                                      <p:to>
                                        <p:strVal val="visible"/>
                                      </p:to>
                                    </p:set>
                                    <p:anim calcmode="lin" valueType="num">
                                      <p:cBhvr additive="base">
                                        <p:cTn id="10" dur="500" fill="hold"/>
                                        <p:tgtEl>
                                          <p:spTgt spid="62"/>
                                        </p:tgtEl>
                                        <p:attrNameLst>
                                          <p:attrName>ppt_x</p:attrName>
                                        </p:attrNameLst>
                                      </p:cBhvr>
                                      <p:tavLst>
                                        <p:tav tm="0">
                                          <p:val>
                                            <p:strVal val="#ppt_x"/>
                                          </p:val>
                                        </p:tav>
                                        <p:tav tm="100000">
                                          <p:val>
                                            <p:strVal val="#ppt_x"/>
                                          </p:val>
                                        </p:tav>
                                      </p:tavLst>
                                    </p:anim>
                                    <p:anim calcmode="lin" valueType="num">
                                      <p:cBhvr additive="base">
                                        <p:cTn id="11" dur="500" fill="hold"/>
                                        <p:tgtEl>
                                          <p:spTgt spid="62"/>
                                        </p:tgtEl>
                                        <p:attrNameLst>
                                          <p:attrName>ppt_y</p:attrName>
                                        </p:attrNameLst>
                                      </p:cBhvr>
                                      <p:tavLst>
                                        <p:tav tm="0">
                                          <p:val>
                                            <p:strVal val="1+#ppt_h/2"/>
                                          </p:val>
                                        </p:tav>
                                        <p:tav tm="100000">
                                          <p:val>
                                            <p:strVal val="#ppt_y"/>
                                          </p:val>
                                        </p:tav>
                                      </p:tavLst>
                                    </p:anim>
                                  </p:childTnLst>
                                </p:cTn>
                              </p:par>
                              <p:par>
                                <p:cTn id="12" presetID="2" presetClass="entr" presetSubtype="4" decel="80000" fill="hold" nodeType="withEffect">
                                  <p:stCondLst>
                                    <p:cond delay="400"/>
                                  </p:stCondLst>
                                  <p:childTnLst>
                                    <p:set>
                                      <p:cBhvr>
                                        <p:cTn id="13" dur="1" fill="hold">
                                          <p:stCondLst>
                                            <p:cond delay="0"/>
                                          </p:stCondLst>
                                        </p:cTn>
                                        <p:tgtEl>
                                          <p:spTgt spid="63"/>
                                        </p:tgtEl>
                                        <p:attrNameLst>
                                          <p:attrName>style.visibility</p:attrName>
                                        </p:attrNameLst>
                                      </p:cBhvr>
                                      <p:to>
                                        <p:strVal val="visible"/>
                                      </p:to>
                                    </p:set>
                                    <p:anim calcmode="lin" valueType="num">
                                      <p:cBhvr additive="base">
                                        <p:cTn id="14" dur="500" fill="hold"/>
                                        <p:tgtEl>
                                          <p:spTgt spid="63"/>
                                        </p:tgtEl>
                                        <p:attrNameLst>
                                          <p:attrName>ppt_x</p:attrName>
                                        </p:attrNameLst>
                                      </p:cBhvr>
                                      <p:tavLst>
                                        <p:tav tm="0">
                                          <p:val>
                                            <p:strVal val="#ppt_x"/>
                                          </p:val>
                                        </p:tav>
                                        <p:tav tm="100000">
                                          <p:val>
                                            <p:strVal val="#ppt_x"/>
                                          </p:val>
                                        </p:tav>
                                      </p:tavLst>
                                    </p:anim>
                                    <p:anim calcmode="lin" valueType="num">
                                      <p:cBhvr additive="base">
                                        <p:cTn id="15" dur="500" fill="hold"/>
                                        <p:tgtEl>
                                          <p:spTgt spid="63"/>
                                        </p:tgtEl>
                                        <p:attrNameLst>
                                          <p:attrName>ppt_y</p:attrName>
                                        </p:attrNameLst>
                                      </p:cBhvr>
                                      <p:tavLst>
                                        <p:tav tm="0">
                                          <p:val>
                                            <p:strVal val="1+#ppt_h/2"/>
                                          </p:val>
                                        </p:tav>
                                        <p:tav tm="100000">
                                          <p:val>
                                            <p:strVal val="#ppt_y"/>
                                          </p:val>
                                        </p:tav>
                                      </p:tavLst>
                                    </p:anim>
                                  </p:childTnLst>
                                </p:cTn>
                              </p:par>
                              <p:par>
                                <p:cTn id="16" presetID="2" presetClass="entr" presetSubtype="4" decel="80000" fill="hold" nodeType="withEffect">
                                  <p:stCondLst>
                                    <p:cond delay="600"/>
                                  </p:stCondLst>
                                  <p:childTnLst>
                                    <p:set>
                                      <p:cBhvr>
                                        <p:cTn id="17" dur="1" fill="hold">
                                          <p:stCondLst>
                                            <p:cond delay="0"/>
                                          </p:stCondLst>
                                        </p:cTn>
                                        <p:tgtEl>
                                          <p:spTgt spid="64"/>
                                        </p:tgtEl>
                                        <p:attrNameLst>
                                          <p:attrName>style.visibility</p:attrName>
                                        </p:attrNameLst>
                                      </p:cBhvr>
                                      <p:to>
                                        <p:strVal val="visible"/>
                                      </p:to>
                                    </p:set>
                                    <p:anim calcmode="lin" valueType="num">
                                      <p:cBhvr additive="base">
                                        <p:cTn id="18" dur="500" fill="hold"/>
                                        <p:tgtEl>
                                          <p:spTgt spid="64"/>
                                        </p:tgtEl>
                                        <p:attrNameLst>
                                          <p:attrName>ppt_x</p:attrName>
                                        </p:attrNameLst>
                                      </p:cBhvr>
                                      <p:tavLst>
                                        <p:tav tm="0">
                                          <p:val>
                                            <p:strVal val="#ppt_x"/>
                                          </p:val>
                                        </p:tav>
                                        <p:tav tm="100000">
                                          <p:val>
                                            <p:strVal val="#ppt_x"/>
                                          </p:val>
                                        </p:tav>
                                      </p:tavLst>
                                    </p:anim>
                                    <p:anim calcmode="lin" valueType="num">
                                      <p:cBhvr additive="base">
                                        <p:cTn id="19" dur="500" fill="hold"/>
                                        <p:tgtEl>
                                          <p:spTgt spid="64"/>
                                        </p:tgtEl>
                                        <p:attrNameLst>
                                          <p:attrName>ppt_y</p:attrName>
                                        </p:attrNameLst>
                                      </p:cBhvr>
                                      <p:tavLst>
                                        <p:tav tm="0">
                                          <p:val>
                                            <p:strVal val="1+#ppt_h/2"/>
                                          </p:val>
                                        </p:tav>
                                        <p:tav tm="100000">
                                          <p:val>
                                            <p:strVal val="#ppt_y"/>
                                          </p:val>
                                        </p:tav>
                                      </p:tavLst>
                                    </p:anim>
                                  </p:childTnLst>
                                </p:cTn>
                              </p:par>
                              <p:par>
                                <p:cTn id="20" presetID="10" presetClass="entr" presetSubtype="0" fill="hold" nodeType="withEffect">
                                  <p:stCondLst>
                                    <p:cond delay="400"/>
                                  </p:stCondLst>
                                  <p:childTnLst>
                                    <p:set>
                                      <p:cBhvr>
                                        <p:cTn id="21" dur="1" fill="hold">
                                          <p:stCondLst>
                                            <p:cond delay="0"/>
                                          </p:stCondLst>
                                        </p:cTn>
                                        <p:tgtEl>
                                          <p:spTgt spid="80"/>
                                        </p:tgtEl>
                                        <p:attrNameLst>
                                          <p:attrName>style.visibility</p:attrName>
                                        </p:attrNameLst>
                                      </p:cBhvr>
                                      <p:to>
                                        <p:strVal val="visible"/>
                                      </p:to>
                                    </p:set>
                                    <p:animEffect transition="in" filter="fade">
                                      <p:cBhvr>
                                        <p:cTn id="22" dur="500"/>
                                        <p:tgtEl>
                                          <p:spTgt spid="80"/>
                                        </p:tgtEl>
                                      </p:cBhvr>
                                    </p:animEffect>
                                  </p:childTnLst>
                                </p:cTn>
                              </p:par>
                              <p:par>
                                <p:cTn id="23" presetID="10" presetClass="entr" presetSubtype="0" fill="hold" nodeType="withEffect">
                                  <p:stCondLst>
                                    <p:cond delay="550"/>
                                  </p:stCondLst>
                                  <p:childTnLst>
                                    <p:set>
                                      <p:cBhvr>
                                        <p:cTn id="24" dur="1" fill="hold">
                                          <p:stCondLst>
                                            <p:cond delay="0"/>
                                          </p:stCondLst>
                                        </p:cTn>
                                        <p:tgtEl>
                                          <p:spTgt spid="82"/>
                                        </p:tgtEl>
                                        <p:attrNameLst>
                                          <p:attrName>style.visibility</p:attrName>
                                        </p:attrNameLst>
                                      </p:cBhvr>
                                      <p:to>
                                        <p:strVal val="visible"/>
                                      </p:to>
                                    </p:set>
                                    <p:animEffect transition="in" filter="fade">
                                      <p:cBhvr>
                                        <p:cTn id="25" dur="500"/>
                                        <p:tgtEl>
                                          <p:spTgt spid="82"/>
                                        </p:tgtEl>
                                      </p:cBhvr>
                                    </p:animEffect>
                                  </p:childTnLst>
                                </p:cTn>
                              </p:par>
                              <p:par>
                                <p:cTn id="26" presetID="10" presetClass="entr" presetSubtype="0" fill="hold" nodeType="withEffect">
                                  <p:stCondLst>
                                    <p:cond delay="700"/>
                                  </p:stCondLst>
                                  <p:childTnLst>
                                    <p:set>
                                      <p:cBhvr>
                                        <p:cTn id="27" dur="1" fill="hold">
                                          <p:stCondLst>
                                            <p:cond delay="0"/>
                                          </p:stCondLst>
                                        </p:cTn>
                                        <p:tgtEl>
                                          <p:spTgt spid="83"/>
                                        </p:tgtEl>
                                        <p:attrNameLst>
                                          <p:attrName>style.visibility</p:attrName>
                                        </p:attrNameLst>
                                      </p:cBhvr>
                                      <p:to>
                                        <p:strVal val="visible"/>
                                      </p:to>
                                    </p:set>
                                    <p:animEffect transition="in" filter="fade">
                                      <p:cBhvr>
                                        <p:cTn id="28" dur="500"/>
                                        <p:tgtEl>
                                          <p:spTgt spid="83"/>
                                        </p:tgtEl>
                                      </p:cBhvr>
                                    </p:animEffect>
                                  </p:childTnLst>
                                </p:cTn>
                              </p:par>
                              <p:par>
                                <p:cTn id="29" presetID="10" presetClass="entr" presetSubtype="0" fill="hold" nodeType="withEffect">
                                  <p:stCondLst>
                                    <p:cond delay="700"/>
                                  </p:stCondLst>
                                  <p:childTnLst>
                                    <p:set>
                                      <p:cBhvr>
                                        <p:cTn id="30" dur="1" fill="hold">
                                          <p:stCondLst>
                                            <p:cond delay="0"/>
                                          </p:stCondLst>
                                        </p:cTn>
                                        <p:tgtEl>
                                          <p:spTgt spid="84"/>
                                        </p:tgtEl>
                                        <p:attrNameLst>
                                          <p:attrName>style.visibility</p:attrName>
                                        </p:attrNameLst>
                                      </p:cBhvr>
                                      <p:to>
                                        <p:strVal val="visible"/>
                                      </p:to>
                                    </p:set>
                                    <p:animEffect transition="in" filter="fade">
                                      <p:cBhvr>
                                        <p:cTn id="31" dur="500"/>
                                        <p:tgtEl>
                                          <p:spTgt spid="84"/>
                                        </p:tgtEl>
                                      </p:cBhvr>
                                    </p:animEffect>
                                  </p:childTnLst>
                                </p:cTn>
                              </p:par>
                              <p:par>
                                <p:cTn id="32" presetID="10" presetClass="entr" presetSubtype="0" fill="hold" nodeType="withEffect">
                                  <p:stCondLst>
                                    <p:cond delay="900"/>
                                  </p:stCondLst>
                                  <p:childTnLst>
                                    <p:set>
                                      <p:cBhvr>
                                        <p:cTn id="33" dur="1" fill="hold">
                                          <p:stCondLst>
                                            <p:cond delay="0"/>
                                          </p:stCondLst>
                                        </p:cTn>
                                        <p:tgtEl>
                                          <p:spTgt spid="86"/>
                                        </p:tgtEl>
                                        <p:attrNameLst>
                                          <p:attrName>style.visibility</p:attrName>
                                        </p:attrNameLst>
                                      </p:cBhvr>
                                      <p:to>
                                        <p:strVal val="visible"/>
                                      </p:to>
                                    </p:set>
                                    <p:animEffect transition="in" filter="fade">
                                      <p:cBhvr>
                                        <p:cTn id="34" dur="500"/>
                                        <p:tgtEl>
                                          <p:spTgt spid="86"/>
                                        </p:tgtEl>
                                      </p:cBhvr>
                                    </p:animEffect>
                                  </p:childTnLst>
                                </p:cTn>
                              </p:par>
                              <p:par>
                                <p:cTn id="35" presetID="16" presetClass="entr" presetSubtype="37" fill="hold" nodeType="withEffect">
                                  <p:stCondLst>
                                    <p:cond delay="1100"/>
                                  </p:stCondLst>
                                  <p:childTnLst>
                                    <p:set>
                                      <p:cBhvr>
                                        <p:cTn id="36" dur="1" fill="hold">
                                          <p:stCondLst>
                                            <p:cond delay="0"/>
                                          </p:stCondLst>
                                        </p:cTn>
                                        <p:tgtEl>
                                          <p:spTgt spid="73"/>
                                        </p:tgtEl>
                                        <p:attrNameLst>
                                          <p:attrName>style.visibility</p:attrName>
                                        </p:attrNameLst>
                                      </p:cBhvr>
                                      <p:to>
                                        <p:strVal val="visible"/>
                                      </p:to>
                                    </p:set>
                                    <p:animEffect transition="in" filter="barn(outVertical)">
                                      <p:cBhvr>
                                        <p:cTn id="37" dur="500"/>
                                        <p:tgtEl>
                                          <p:spTgt spid="73"/>
                                        </p:tgtEl>
                                      </p:cBhvr>
                                    </p:animEffect>
                                  </p:childTnLst>
                                </p:cTn>
                              </p:par>
                              <p:par>
                                <p:cTn id="38" presetID="16" presetClass="entr" presetSubtype="37" fill="hold" nodeType="withEffect">
                                  <p:stCondLst>
                                    <p:cond delay="1300"/>
                                  </p:stCondLst>
                                  <p:childTnLst>
                                    <p:set>
                                      <p:cBhvr>
                                        <p:cTn id="39" dur="1" fill="hold">
                                          <p:stCondLst>
                                            <p:cond delay="0"/>
                                          </p:stCondLst>
                                        </p:cTn>
                                        <p:tgtEl>
                                          <p:spTgt spid="74"/>
                                        </p:tgtEl>
                                        <p:attrNameLst>
                                          <p:attrName>style.visibility</p:attrName>
                                        </p:attrNameLst>
                                      </p:cBhvr>
                                      <p:to>
                                        <p:strVal val="visible"/>
                                      </p:to>
                                    </p:set>
                                    <p:animEffect transition="in" filter="barn(outVertical)">
                                      <p:cBhvr>
                                        <p:cTn id="40" dur="500"/>
                                        <p:tgtEl>
                                          <p:spTgt spid="74"/>
                                        </p:tgtEl>
                                      </p:cBhvr>
                                    </p:animEffect>
                                  </p:childTnLst>
                                </p:cTn>
                              </p:par>
                              <p:par>
                                <p:cTn id="41" presetID="2" presetClass="entr" presetSubtype="4" decel="80000" fill="hold" nodeType="withEffect">
                                  <p:stCondLst>
                                    <p:cond delay="800"/>
                                  </p:stCondLst>
                                  <p:childTnLst>
                                    <p:set>
                                      <p:cBhvr>
                                        <p:cTn id="42" dur="1" fill="hold">
                                          <p:stCondLst>
                                            <p:cond delay="0"/>
                                          </p:stCondLst>
                                        </p:cTn>
                                        <p:tgtEl>
                                          <p:spTgt spid="60"/>
                                        </p:tgtEl>
                                        <p:attrNameLst>
                                          <p:attrName>style.visibility</p:attrName>
                                        </p:attrNameLst>
                                      </p:cBhvr>
                                      <p:to>
                                        <p:strVal val="visible"/>
                                      </p:to>
                                    </p:set>
                                    <p:anim calcmode="lin" valueType="num">
                                      <p:cBhvr additive="base">
                                        <p:cTn id="43" dur="500" fill="hold"/>
                                        <p:tgtEl>
                                          <p:spTgt spid="60"/>
                                        </p:tgtEl>
                                        <p:attrNameLst>
                                          <p:attrName>ppt_x</p:attrName>
                                        </p:attrNameLst>
                                      </p:cBhvr>
                                      <p:tavLst>
                                        <p:tav tm="0">
                                          <p:val>
                                            <p:strVal val="#ppt_x"/>
                                          </p:val>
                                        </p:tav>
                                        <p:tav tm="100000">
                                          <p:val>
                                            <p:strVal val="#ppt_x"/>
                                          </p:val>
                                        </p:tav>
                                      </p:tavLst>
                                    </p:anim>
                                    <p:anim calcmode="lin" valueType="num">
                                      <p:cBhvr additive="base">
                                        <p:cTn id="44" dur="500" fill="hold"/>
                                        <p:tgtEl>
                                          <p:spTgt spid="60"/>
                                        </p:tgtEl>
                                        <p:attrNameLst>
                                          <p:attrName>ppt_y</p:attrName>
                                        </p:attrNameLst>
                                      </p:cBhvr>
                                      <p:tavLst>
                                        <p:tav tm="0">
                                          <p:val>
                                            <p:strVal val="1+#ppt_h/2"/>
                                          </p:val>
                                        </p:tav>
                                        <p:tav tm="100000">
                                          <p:val>
                                            <p:strVal val="#ppt_y"/>
                                          </p:val>
                                        </p:tav>
                                      </p:tavLst>
                                    </p:anim>
                                  </p:childTnLst>
                                </p:cTn>
                              </p:par>
                              <p:par>
                                <p:cTn id="45" presetID="10" presetClass="entr" presetSubtype="0" fill="hold" nodeType="withEffect">
                                  <p:stCondLst>
                                    <p:cond delay="900"/>
                                  </p:stCondLst>
                                  <p:childTnLst>
                                    <p:set>
                                      <p:cBhvr>
                                        <p:cTn id="46" dur="1" fill="hold">
                                          <p:stCondLst>
                                            <p:cond delay="0"/>
                                          </p:stCondLst>
                                        </p:cTn>
                                        <p:tgtEl>
                                          <p:spTgt spid="90"/>
                                        </p:tgtEl>
                                        <p:attrNameLst>
                                          <p:attrName>style.visibility</p:attrName>
                                        </p:attrNameLst>
                                      </p:cBhvr>
                                      <p:to>
                                        <p:strVal val="visible"/>
                                      </p:to>
                                    </p:set>
                                    <p:animEffect transition="in" filter="fade">
                                      <p:cBhvr>
                                        <p:cTn id="47" dur="500"/>
                                        <p:tgtEl>
                                          <p:spTgt spid="90"/>
                                        </p:tgtEl>
                                      </p:cBhvr>
                                    </p:animEffect>
                                  </p:childTnLst>
                                </p:cTn>
                              </p:par>
                              <p:par>
                                <p:cTn id="48" presetID="2" presetClass="entr" presetSubtype="9" decel="80000" fill="hold"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0-#ppt_w/2"/>
                                          </p:val>
                                        </p:tav>
                                        <p:tav tm="100000">
                                          <p:val>
                                            <p:strVal val="#ppt_x"/>
                                          </p:val>
                                        </p:tav>
                                      </p:tavLst>
                                    </p:anim>
                                    <p:anim calcmode="lin" valueType="num">
                                      <p:cBhvr additive="base">
                                        <p:cTn id="51" dur="500" fill="hold"/>
                                        <p:tgtEl>
                                          <p:spTgt spid="19"/>
                                        </p:tgtEl>
                                        <p:attrNameLst>
                                          <p:attrName>ppt_y</p:attrName>
                                        </p:attrNameLst>
                                      </p:cBhvr>
                                      <p:tavLst>
                                        <p:tav tm="0">
                                          <p:val>
                                            <p:strVal val="0-#ppt_h/2"/>
                                          </p:val>
                                        </p:tav>
                                        <p:tav tm="100000">
                                          <p:val>
                                            <p:strVal val="#ppt_y"/>
                                          </p:val>
                                        </p:tav>
                                      </p:tavLst>
                                    </p:anim>
                                  </p:childTnLst>
                                </p:cTn>
                              </p:par>
                              <p:par>
                                <p:cTn id="52" presetID="2" presetClass="entr" presetSubtype="6" decel="80000" fill="hold" nodeType="withEffect">
                                  <p:stCondLst>
                                    <p:cond delay="0"/>
                                  </p:stCondLst>
                                  <p:childTnLst>
                                    <p:set>
                                      <p:cBhvr>
                                        <p:cTn id="53" dur="1" fill="hold">
                                          <p:stCondLst>
                                            <p:cond delay="0"/>
                                          </p:stCondLst>
                                        </p:cTn>
                                        <p:tgtEl>
                                          <p:spTgt spid="55"/>
                                        </p:tgtEl>
                                        <p:attrNameLst>
                                          <p:attrName>style.visibility</p:attrName>
                                        </p:attrNameLst>
                                      </p:cBhvr>
                                      <p:to>
                                        <p:strVal val="visible"/>
                                      </p:to>
                                    </p:set>
                                    <p:anim calcmode="lin" valueType="num">
                                      <p:cBhvr additive="base">
                                        <p:cTn id="54" dur="500" fill="hold"/>
                                        <p:tgtEl>
                                          <p:spTgt spid="55"/>
                                        </p:tgtEl>
                                        <p:attrNameLst>
                                          <p:attrName>ppt_x</p:attrName>
                                        </p:attrNameLst>
                                      </p:cBhvr>
                                      <p:tavLst>
                                        <p:tav tm="0">
                                          <p:val>
                                            <p:strVal val="1+#ppt_w/2"/>
                                          </p:val>
                                        </p:tav>
                                        <p:tav tm="100000">
                                          <p:val>
                                            <p:strVal val="#ppt_x"/>
                                          </p:val>
                                        </p:tav>
                                      </p:tavLst>
                                    </p:anim>
                                    <p:anim calcmode="lin" valueType="num">
                                      <p:cBhvr additive="base">
                                        <p:cTn id="55" dur="500" fill="hold"/>
                                        <p:tgtEl>
                                          <p:spTgt spid="55"/>
                                        </p:tgtEl>
                                        <p:attrNameLst>
                                          <p:attrName>ppt_y</p:attrName>
                                        </p:attrNameLst>
                                      </p:cBhvr>
                                      <p:tavLst>
                                        <p:tav tm="0">
                                          <p:val>
                                            <p:strVal val="1+#ppt_h/2"/>
                                          </p:val>
                                        </p:tav>
                                        <p:tav tm="100000">
                                          <p:val>
                                            <p:strVal val="#ppt_y"/>
                                          </p:val>
                                        </p:tav>
                                      </p:tavLst>
                                    </p:anim>
                                  </p:childTnLst>
                                </p:cTn>
                              </p:par>
                              <p:par>
                                <p:cTn id="56" presetID="16" presetClass="entr" presetSubtype="37" fill="hold" nodeType="withEffect">
                                  <p:stCondLst>
                                    <p:cond delay="1100"/>
                                  </p:stCondLst>
                                  <p:childTnLst>
                                    <p:set>
                                      <p:cBhvr>
                                        <p:cTn id="57" dur="1" fill="hold">
                                          <p:stCondLst>
                                            <p:cond delay="0"/>
                                          </p:stCondLst>
                                        </p:cTn>
                                        <p:tgtEl>
                                          <p:spTgt spid="102"/>
                                        </p:tgtEl>
                                        <p:attrNameLst>
                                          <p:attrName>style.visibility</p:attrName>
                                        </p:attrNameLst>
                                      </p:cBhvr>
                                      <p:to>
                                        <p:strVal val="visible"/>
                                      </p:to>
                                    </p:set>
                                    <p:animEffect transition="in" filter="barn(outVertical)">
                                      <p:cBhvr>
                                        <p:cTn id="58"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93F4B-820A-06CA-BA98-E1868C5690DB}"/>
              </a:ext>
            </a:extLst>
          </p:cNvPr>
          <p:cNvSpPr>
            <a:spLocks noGrp="1"/>
          </p:cNvSpPr>
          <p:nvPr>
            <p:ph type="title" idx="4294967295"/>
          </p:nvPr>
        </p:nvSpPr>
        <p:spPr>
          <a:xfrm>
            <a:off x="1077748" y="290536"/>
            <a:ext cx="8174294" cy="976312"/>
          </a:xfrm>
        </p:spPr>
        <p:txBody>
          <a:bodyPr>
            <a:normAutofit/>
          </a:bodyPr>
          <a:lstStyle/>
          <a:p>
            <a:r>
              <a:rPr lang="en-US" sz="3200" dirty="0">
                <a:latin typeface="Arial"/>
                <a:cs typeface="Arial"/>
              </a:rPr>
              <a:t>Testing Cycles In/Out of Scope (</a:t>
            </a:r>
            <a:r>
              <a:rPr lang="en-US" sz="3200">
                <a:latin typeface="Arial"/>
                <a:cs typeface="Arial"/>
              </a:rPr>
              <a:t>our team)</a:t>
            </a:r>
            <a:r>
              <a:rPr lang="en-US" sz="3200" dirty="0">
                <a:latin typeface="Arial"/>
                <a:cs typeface="Arial"/>
              </a:rPr>
              <a:t> </a:t>
            </a:r>
            <a:endParaRPr lang="en-PH" sz="3200" dirty="0">
              <a:latin typeface="Arial"/>
              <a:cs typeface="Arial"/>
            </a:endParaRPr>
          </a:p>
        </p:txBody>
      </p:sp>
      <p:graphicFrame>
        <p:nvGraphicFramePr>
          <p:cNvPr id="4" name="Table 10">
            <a:extLst>
              <a:ext uri="{FF2B5EF4-FFF2-40B4-BE49-F238E27FC236}">
                <a16:creationId xmlns:a16="http://schemas.microsoft.com/office/drawing/2014/main" id="{21FCF942-DE9D-54C2-10AC-3800D1892EC2}"/>
              </a:ext>
            </a:extLst>
          </p:cNvPr>
          <p:cNvGraphicFramePr>
            <a:graphicFrameLocks noGrp="1"/>
          </p:cNvGraphicFramePr>
          <p:nvPr>
            <p:extLst>
              <p:ext uri="{D42A27DB-BD31-4B8C-83A1-F6EECF244321}">
                <p14:modId xmlns:p14="http://schemas.microsoft.com/office/powerpoint/2010/main" val="2162813111"/>
              </p:ext>
            </p:extLst>
          </p:nvPr>
        </p:nvGraphicFramePr>
        <p:xfrm>
          <a:off x="1159977" y="1077959"/>
          <a:ext cx="9182913" cy="5340852"/>
        </p:xfrm>
        <a:graphic>
          <a:graphicData uri="http://schemas.openxmlformats.org/drawingml/2006/table">
            <a:tbl>
              <a:tblPr firstRow="1" bandRow="1">
                <a:tableStyleId>{5FD0F851-EC5A-4D38-B0AD-8093EC10F338}</a:tableStyleId>
              </a:tblPr>
              <a:tblGrid>
                <a:gridCol w="2414929">
                  <a:extLst>
                    <a:ext uri="{9D8B030D-6E8A-4147-A177-3AD203B41FA5}">
                      <a16:colId xmlns:a16="http://schemas.microsoft.com/office/drawing/2014/main" val="3579042218"/>
                    </a:ext>
                  </a:extLst>
                </a:gridCol>
                <a:gridCol w="497861">
                  <a:extLst>
                    <a:ext uri="{9D8B030D-6E8A-4147-A177-3AD203B41FA5}">
                      <a16:colId xmlns:a16="http://schemas.microsoft.com/office/drawing/2014/main" val="119136213"/>
                    </a:ext>
                  </a:extLst>
                </a:gridCol>
                <a:gridCol w="1576027">
                  <a:extLst>
                    <a:ext uri="{9D8B030D-6E8A-4147-A177-3AD203B41FA5}">
                      <a16:colId xmlns:a16="http://schemas.microsoft.com/office/drawing/2014/main" val="39854640"/>
                    </a:ext>
                  </a:extLst>
                </a:gridCol>
                <a:gridCol w="730587">
                  <a:extLst>
                    <a:ext uri="{9D8B030D-6E8A-4147-A177-3AD203B41FA5}">
                      <a16:colId xmlns:a16="http://schemas.microsoft.com/office/drawing/2014/main" val="2433179297"/>
                    </a:ext>
                  </a:extLst>
                </a:gridCol>
                <a:gridCol w="754673">
                  <a:extLst>
                    <a:ext uri="{9D8B030D-6E8A-4147-A177-3AD203B41FA5}">
                      <a16:colId xmlns:a16="http://schemas.microsoft.com/office/drawing/2014/main" val="3987773371"/>
                    </a:ext>
                  </a:extLst>
                </a:gridCol>
                <a:gridCol w="859042">
                  <a:extLst>
                    <a:ext uri="{9D8B030D-6E8A-4147-A177-3AD203B41FA5}">
                      <a16:colId xmlns:a16="http://schemas.microsoft.com/office/drawing/2014/main" val="1316251386"/>
                    </a:ext>
                  </a:extLst>
                </a:gridCol>
                <a:gridCol w="2349794">
                  <a:extLst>
                    <a:ext uri="{9D8B030D-6E8A-4147-A177-3AD203B41FA5}">
                      <a16:colId xmlns:a16="http://schemas.microsoft.com/office/drawing/2014/main" val="3883829560"/>
                    </a:ext>
                  </a:extLst>
                </a:gridCol>
              </a:tblGrid>
              <a:tr h="1833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300" b="0" u="none" strike="noStrike" kern="1200" cap="none" spc="0" normalizeH="0" baseline="0" noProof="0">
                          <a:ln>
                            <a:noFill/>
                          </a:ln>
                          <a:solidFill>
                            <a:sysClr val="windowText" lastClr="000000"/>
                          </a:solidFill>
                          <a:effectLst/>
                          <a:uLnTx/>
                          <a:uFillTx/>
                        </a:rPr>
                        <a:t>Phase</a:t>
                      </a:r>
                      <a:endParaRPr kumimoji="0" lang="en-CA" sz="13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300" b="0" u="none" strike="noStrike" kern="1200" cap="none" spc="0" normalizeH="0" baseline="0" noProof="0">
                          <a:ln>
                            <a:noFill/>
                          </a:ln>
                          <a:solidFill>
                            <a:sysClr val="windowText" lastClr="000000"/>
                          </a:solidFill>
                          <a:effectLst/>
                          <a:uLnTx/>
                          <a:uFillTx/>
                        </a:rPr>
                        <a:t>Env.</a:t>
                      </a:r>
                      <a:endParaRPr kumimoji="0" lang="en-CA" sz="13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300" b="0" u="none" strike="noStrike" kern="1200" cap="none" spc="0" normalizeH="0" baseline="0" noProof="0" dirty="0">
                          <a:ln>
                            <a:noFill/>
                          </a:ln>
                          <a:solidFill>
                            <a:sysClr val="windowText" lastClr="000000"/>
                          </a:solidFill>
                          <a:effectLst/>
                          <a:uLnTx/>
                          <a:uFillTx/>
                        </a:rPr>
                        <a:t>Team Accountable</a:t>
                      </a:r>
                      <a:endParaRPr kumimoji="0" lang="en-CA" sz="13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300" b="0" u="none" strike="noStrike" kern="1200" cap="none" spc="0" normalizeH="0" baseline="0" noProof="0">
                          <a:ln>
                            <a:noFill/>
                          </a:ln>
                          <a:solidFill>
                            <a:sysClr val="windowText" lastClr="000000"/>
                          </a:solidFill>
                          <a:effectLst/>
                          <a:uLnTx/>
                          <a:uFillTx/>
                        </a:rPr>
                        <a:t>Start</a:t>
                      </a:r>
                      <a:endParaRPr kumimoji="0" lang="en-CA" sz="13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300" b="0" u="none" strike="noStrike" kern="1200" cap="none" spc="0" normalizeH="0" baseline="0" noProof="0">
                          <a:ln>
                            <a:noFill/>
                          </a:ln>
                          <a:solidFill>
                            <a:sysClr val="windowText" lastClr="000000"/>
                          </a:solidFill>
                          <a:effectLst/>
                          <a:uLnTx/>
                          <a:uFillTx/>
                        </a:rPr>
                        <a:t>End</a:t>
                      </a:r>
                      <a:endParaRPr kumimoji="0" lang="en-CA" sz="13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300" b="0" u="none" strike="noStrike" kern="1200" cap="none" spc="0" normalizeH="0" baseline="0" noProof="0">
                          <a:ln>
                            <a:noFill/>
                          </a:ln>
                          <a:solidFill>
                            <a:sysClr val="windowText" lastClr="000000"/>
                          </a:solidFill>
                          <a:effectLst/>
                          <a:uLnTx/>
                          <a:uFillTx/>
                        </a:rPr>
                        <a:t>In Scope</a:t>
                      </a:r>
                      <a:endParaRPr kumimoji="0" lang="en-CA" sz="13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CA" sz="1300" b="0" u="none" strike="noStrike" kern="1200" cap="none" spc="0" normalizeH="0" baseline="0" noProof="0" dirty="0">
                          <a:ln>
                            <a:noFill/>
                          </a:ln>
                          <a:solidFill>
                            <a:sysClr val="windowText" lastClr="000000"/>
                          </a:solidFill>
                          <a:effectLst/>
                          <a:uLnTx/>
                          <a:uFillTx/>
                        </a:rPr>
                        <a:t>Dependencies (Ie: Data, hardware</a:t>
                      </a:r>
                      <a:r>
                        <a:rPr lang="en-CA" sz="1300" b="0" u="none" strike="noStrike" kern="1200" cap="none" spc="0" normalizeH="0" baseline="0" noProof="0">
                          <a:ln>
                            <a:noFill/>
                          </a:ln>
                          <a:solidFill>
                            <a:sysClr val="windowText" lastClr="000000"/>
                          </a:solidFill>
                          <a:effectLst/>
                          <a:uLnTx/>
                          <a:uFillTx/>
                        </a:rPr>
                        <a:t>)/ )</a:t>
                      </a:r>
                      <a:endParaRPr kumimoji="0" lang="en-CA" sz="1300" b="0" u="none" strike="noStrike" kern="1200" cap="none" spc="0" normalizeH="0" baseline="0" noProof="0" dirty="0">
                        <a:ln>
                          <a:noFill/>
                        </a:ln>
                        <a:solidFill>
                          <a:sysClr val="windowText" lastClr="000000"/>
                        </a:solidFill>
                        <a:effectLst/>
                        <a:uLnTx/>
                        <a:uFillTx/>
                      </a:endParaRPr>
                    </a:p>
                  </a:txBody>
                  <a:tcPr marL="79325" marR="79325" marT="39663" marB="39663"/>
                </a:tc>
                <a:extLst>
                  <a:ext uri="{0D108BD9-81ED-4DB2-BD59-A6C34878D82A}">
                    <a16:rowId xmlns:a16="http://schemas.microsoft.com/office/drawing/2014/main" val="1756238197"/>
                  </a:ext>
                </a:extLst>
              </a:tr>
              <a:tr h="4381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dirty="0">
                          <a:ln>
                            <a:noFill/>
                          </a:ln>
                          <a:solidFill>
                            <a:prstClr val="black"/>
                          </a:solidFill>
                          <a:effectLst/>
                          <a:uLnTx/>
                          <a:uFillTx/>
                        </a:rPr>
                        <a:t>Static Testing (SPFs will be an added scope)</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a:lnSpc>
                          <a:spcPct val="100000"/>
                        </a:lnSpc>
                        <a:spcBef>
                          <a:spcPts val="0"/>
                        </a:spcBef>
                        <a:spcAft>
                          <a:spcPts val="0"/>
                        </a:spcAft>
                        <a:buNone/>
                      </a:pPr>
                      <a:r>
                        <a:rPr kumimoji="0" lang="en-US" sz="1200" b="0" i="0" u="none" strike="noStrike" kern="1200" cap="none" spc="0" normalizeH="0" baseline="0" noProof="0" dirty="0">
                          <a:ln>
                            <a:noFill/>
                          </a:ln>
                          <a:solidFill>
                            <a:srgbClr val="000000"/>
                          </a:solidFill>
                          <a:effectLst/>
                          <a:uLnTx/>
                          <a:uFillTx/>
                          <a:latin typeface="Segoe UI"/>
                        </a:rPr>
                        <a:t>QA</a:t>
                      </a:r>
                      <a:r>
                        <a:rPr lang="en-US" sz="1200" b="0" i="0" u="none" strike="noStrike" kern="1200" cap="none" spc="0" normalizeH="0" baseline="0" noProof="0" dirty="0">
                          <a:ln>
                            <a:noFill/>
                          </a:ln>
                          <a:solidFill>
                            <a:srgbClr val="000000"/>
                          </a:solidFill>
                          <a:effectLst/>
                          <a:uLnTx/>
                          <a:uFillTx/>
                          <a:latin typeface="Segoe UI"/>
                        </a:rPr>
                        <a:t> Miipe Team</a:t>
                      </a:r>
                      <a:endParaRPr kumimoji="0" lang="en-US" dirty="0"/>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5</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Jan 2026</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6</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Feb 2026</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dirty="0">
                          <a:ln>
                            <a:noFill/>
                          </a:ln>
                          <a:solidFill>
                            <a:prstClr val="black"/>
                          </a:solidFill>
                          <a:effectLst/>
                          <a:uLnTx/>
                          <a:uFillTx/>
                        </a:rPr>
                        <a:t>Yes</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u="none" strike="noStrike" kern="1200" cap="none" spc="0" normalizeH="0" baseline="0" noProof="0" dirty="0">
                          <a:ln>
                            <a:noFill/>
                          </a:ln>
                          <a:solidFill>
                            <a:prstClr val="black"/>
                          </a:solidFill>
                          <a:effectLst/>
                          <a:uLnTx/>
                          <a:uFillTx/>
                          <a:latin typeface="+mn-lt"/>
                          <a:ea typeface="+mn-ea"/>
                          <a:cs typeface="+mn-cs"/>
                        </a:rPr>
                        <a:t>BRD and Solution</a:t>
                      </a:r>
                      <a:endParaRPr kumimoji="0" lang="en-CA" sz="1200" b="0" u="none" strike="noStrike" kern="1200" cap="none" spc="0" normalizeH="0" baseline="0" noProof="0" dirty="0">
                        <a:ln>
                          <a:noFill/>
                        </a:ln>
                        <a:solidFill>
                          <a:prstClr val="black"/>
                        </a:solidFill>
                        <a:effectLst/>
                        <a:uLnTx/>
                        <a:uFillTx/>
                        <a:latin typeface="+mn-lt"/>
                        <a:ea typeface="+mn-ea"/>
                        <a:cs typeface="+mn-cs"/>
                      </a:endParaRPr>
                    </a:p>
                  </a:txBody>
                  <a:tcPr marL="79325" marR="79325" marT="39663" marB="39663"/>
                </a:tc>
                <a:extLst>
                  <a:ext uri="{0D108BD9-81ED-4DB2-BD59-A6C34878D82A}">
                    <a16:rowId xmlns:a16="http://schemas.microsoft.com/office/drawing/2014/main" val="1420447171"/>
                  </a:ext>
                </a:extLst>
              </a:tr>
              <a:tr h="4288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dirty="0">
                          <a:ln>
                            <a:noFill/>
                          </a:ln>
                          <a:solidFill>
                            <a:prstClr val="black"/>
                          </a:solidFill>
                          <a:effectLst/>
                          <a:uLnTx/>
                          <a:uFillTx/>
                        </a:rPr>
                        <a:t>Developer Test (AKA Unit Test)</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a:ln>
                            <a:noFill/>
                          </a:ln>
                          <a:solidFill>
                            <a:prstClr val="black"/>
                          </a:solidFill>
                          <a:effectLst/>
                          <a:uLnTx/>
                          <a:uFillTx/>
                        </a:rPr>
                        <a:t>Development/Infra</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cap="none" spc="0" normalizeH="0" baseline="0" noProof="0">
                          <a:ln>
                            <a:noFill/>
                          </a:ln>
                          <a:solidFill>
                            <a:prstClr val="black"/>
                          </a:solidFill>
                          <a:effectLst/>
                          <a:uLnTx/>
                          <a:uFillTx/>
                          <a:latin typeface="Segoe UI"/>
                          <a:ea typeface="+mn-ea"/>
                          <a:cs typeface="Segoe UI"/>
                        </a:rPr>
                        <a:t>No</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dirty="0">
                          <a:ln>
                            <a:noFill/>
                          </a:ln>
                          <a:solidFill>
                            <a:prstClr val="black"/>
                          </a:solidFill>
                          <a:effectLst/>
                          <a:uLnTx/>
                          <a:uFillTx/>
                        </a:rPr>
                        <a:t>Vision Documentation</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3345734804"/>
                  </a:ext>
                </a:extLst>
              </a:tr>
              <a:tr h="4381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dirty="0">
                          <a:ln>
                            <a:noFill/>
                          </a:ln>
                          <a:solidFill>
                            <a:prstClr val="black"/>
                          </a:solidFill>
                          <a:effectLst/>
                          <a:uLnTx/>
                          <a:uFillTx/>
                        </a:rPr>
                        <a:t>SFT </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a:lnSpc>
                          <a:spcPct val="100000"/>
                        </a:lnSpc>
                        <a:spcBef>
                          <a:spcPts val="0"/>
                        </a:spcBef>
                        <a:spcAft>
                          <a:spcPts val="0"/>
                        </a:spcAft>
                        <a:buNone/>
                      </a:pPr>
                      <a:r>
                        <a:rPr lang="en-CA" sz="1200" b="0" i="0" u="none" strike="noStrike" kern="1200" cap="none" spc="0" normalizeH="0" baseline="0" noProof="0" dirty="0">
                          <a:ln>
                            <a:noFill/>
                          </a:ln>
                          <a:solidFill>
                            <a:srgbClr val="000000"/>
                          </a:solidFill>
                          <a:effectLst/>
                          <a:uLnTx/>
                          <a:uFillTx/>
                          <a:latin typeface="Segoe UI"/>
                        </a:rPr>
                        <a:t>Amdocs Team</a:t>
                      </a:r>
                      <a:endParaRPr kumimoji="0" lang="en-US" dirty="0"/>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16</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Mar’26</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12</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Apr’26</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cap="none" spc="0" normalizeH="0" baseline="0" noProof="0" dirty="0">
                          <a:ln>
                            <a:noFill/>
                          </a:ln>
                          <a:solidFill>
                            <a:prstClr val="black"/>
                          </a:solidFill>
                          <a:effectLst/>
                          <a:uLnTx/>
                          <a:uFillTx/>
                          <a:latin typeface="Segoe UI"/>
                          <a:ea typeface="+mn-ea"/>
                          <a:cs typeface="Segoe UI"/>
                        </a:rPr>
                        <a:t>No</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rtl="0" eaLnBrk="1" fontAlgn="auto" latinLnBrk="0" hangingPunct="1">
                        <a:lnSpc>
                          <a:spcPct val="100000"/>
                        </a:lnSpc>
                        <a:spcBef>
                          <a:spcPts val="0"/>
                        </a:spcBef>
                        <a:spcAft>
                          <a:spcPts val="0"/>
                        </a:spcAft>
                        <a:buClrTx/>
                        <a:buSzTx/>
                        <a:buFontTx/>
                        <a:buNone/>
                      </a:pPr>
                      <a:endParaRPr kumimoji="0" lang="en-CA" sz="1200" b="0" i="0" u="none" strike="noStrike" kern="1200" cap="none" spc="0" normalizeH="0" baseline="0" noProof="0" dirty="0">
                        <a:ln>
                          <a:noFill/>
                        </a:ln>
                        <a:solidFill>
                          <a:prstClr val="black"/>
                        </a:solidFill>
                        <a:effectLst/>
                        <a:uLnTx/>
                        <a:uFillTx/>
                        <a:latin typeface="Segoe UI"/>
                        <a:ea typeface="+mn-ea"/>
                        <a:cs typeface="Segoe UI"/>
                      </a:endParaRPr>
                    </a:p>
                  </a:txBody>
                  <a:tcPr marL="79325" marR="79325" marT="39663" marB="39663"/>
                </a:tc>
                <a:extLst>
                  <a:ext uri="{0D108BD9-81ED-4DB2-BD59-A6C34878D82A}">
                    <a16:rowId xmlns:a16="http://schemas.microsoft.com/office/drawing/2014/main" val="1309359047"/>
                  </a:ext>
                </a:extLst>
              </a:tr>
              <a:tr h="4381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a:ln>
                            <a:noFill/>
                          </a:ln>
                          <a:solidFill>
                            <a:prstClr val="black"/>
                          </a:solidFill>
                          <a:effectLst/>
                          <a:uLnTx/>
                          <a:uFillTx/>
                        </a:rPr>
                        <a:t>SIT </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1200" b="0" u="none" strike="noStrike" kern="1200" cap="none" spc="0" normalizeH="0" baseline="0" noProof="0">
                          <a:ln>
                            <a:noFill/>
                          </a:ln>
                          <a:solidFill>
                            <a:prstClr val="black"/>
                          </a:solidFill>
                          <a:effectLst/>
                          <a:uLnTx/>
                          <a:uFillTx/>
                        </a:rPr>
                        <a:t>QA </a:t>
                      </a:r>
                      <a:r>
                        <a:rPr lang="en-US" sz="1200" b="0" u="none" strike="noStrike" kern="1200" cap="none" spc="0" normalizeH="0" baseline="0" noProof="0">
                          <a:ln>
                            <a:noFill/>
                          </a:ln>
                          <a:solidFill>
                            <a:prstClr val="black"/>
                          </a:solidFill>
                          <a:effectLst/>
                          <a:uLnTx/>
                          <a:uFillTx/>
                        </a:rPr>
                        <a:t>Miipe Team</a:t>
                      </a:r>
                      <a:r>
                        <a:rPr kumimoji="0" lang="en-CA" sz="1200" b="0" i="0" u="none" strike="noStrike" kern="1200" cap="none" spc="0" normalizeH="0" baseline="0" noProof="0" dirty="0">
                          <a:ln>
                            <a:noFill/>
                          </a:ln>
                          <a:solidFill>
                            <a:prstClr val="black"/>
                          </a:solidFill>
                          <a:effectLst/>
                          <a:uLnTx/>
                          <a:uFillTx/>
                          <a:latin typeface="Segoe UI"/>
                          <a:ea typeface="+mn-ea"/>
                          <a:cs typeface="Segoe UI"/>
                        </a:rPr>
                        <a:t> (Part of E2E)</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16</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Mar’26</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Yes</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Involved Systems, Environment and Data</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963408702"/>
                  </a:ext>
                </a:extLst>
              </a:tr>
              <a:tr h="2882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a:ln>
                            <a:noFill/>
                          </a:ln>
                          <a:solidFill>
                            <a:prstClr val="black"/>
                          </a:solidFill>
                          <a:effectLst/>
                          <a:uLnTx/>
                          <a:uFillTx/>
                        </a:rPr>
                        <a:t>Load &amp; Performance</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cap="none" spc="0" normalizeH="0" baseline="0" noProof="0">
                          <a:ln>
                            <a:noFill/>
                          </a:ln>
                          <a:solidFill>
                            <a:prstClr val="black"/>
                          </a:solidFill>
                          <a:effectLst/>
                          <a:uLnTx/>
                          <a:uFillTx/>
                          <a:latin typeface="Segoe UI"/>
                          <a:ea typeface="+mn-ea"/>
                          <a:cs typeface="Segoe UI"/>
                        </a:rPr>
                        <a:t>No</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2846639636"/>
                  </a:ext>
                </a:extLst>
              </a:tr>
              <a:tr h="2581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a:ln>
                            <a:noFill/>
                          </a:ln>
                          <a:solidFill>
                            <a:prstClr val="black"/>
                          </a:solidFill>
                          <a:effectLst/>
                          <a:uLnTx/>
                          <a:uFillTx/>
                        </a:rPr>
                        <a:t>Automation</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cap="none" spc="0" normalizeH="0" baseline="0" noProof="0">
                          <a:ln>
                            <a:noFill/>
                          </a:ln>
                          <a:solidFill>
                            <a:prstClr val="black"/>
                          </a:solidFill>
                          <a:effectLst/>
                          <a:uLnTx/>
                          <a:uFillTx/>
                          <a:latin typeface="Segoe UI"/>
                          <a:ea typeface="+mn-ea"/>
                          <a:cs typeface="Segoe UI"/>
                        </a:rPr>
                        <a:t>No</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727320874"/>
                  </a:ext>
                </a:extLst>
              </a:tr>
              <a:tr h="4381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a:ln>
                            <a:noFill/>
                          </a:ln>
                          <a:solidFill>
                            <a:prstClr val="black"/>
                          </a:solidFill>
                          <a:effectLst/>
                          <a:uLnTx/>
                          <a:uFillTx/>
                        </a:rPr>
                        <a:t>E2E Full</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a:lnSpc>
                          <a:spcPct val="100000"/>
                        </a:lnSpc>
                        <a:spcBef>
                          <a:spcPts val="0"/>
                        </a:spcBef>
                        <a:spcAft>
                          <a:spcPts val="0"/>
                        </a:spcAft>
                        <a:buNone/>
                      </a:pPr>
                      <a:r>
                        <a:rPr kumimoji="0" lang="en-US" sz="1200" b="0" i="0" u="none" strike="noStrike" kern="1200" cap="none" spc="0" normalizeH="0" baseline="0" noProof="0">
                          <a:ln>
                            <a:noFill/>
                          </a:ln>
                          <a:solidFill>
                            <a:srgbClr val="000000"/>
                          </a:solidFill>
                          <a:effectLst/>
                          <a:uLnTx/>
                          <a:uFillTx/>
                          <a:latin typeface="Segoe UI"/>
                        </a:rPr>
                        <a:t>QA</a:t>
                      </a:r>
                      <a:r>
                        <a:rPr lang="en-US" sz="1200" b="0" i="0" u="none" strike="noStrike" kern="1200" cap="none" spc="0" normalizeH="0" baseline="0" noProof="0">
                          <a:ln>
                            <a:noFill/>
                          </a:ln>
                          <a:solidFill>
                            <a:srgbClr val="000000"/>
                          </a:solidFill>
                          <a:effectLst/>
                          <a:uLnTx/>
                          <a:uFillTx/>
                          <a:latin typeface="Segoe UI"/>
                        </a:rPr>
                        <a:t> Miipe Team</a:t>
                      </a:r>
                      <a:endParaRPr kumimoji="0" lang="en-US"/>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16</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Mar’26</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3</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rd</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Apr’26</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Yes</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Involved Systems, Environment and Data</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583229794"/>
                  </a:ext>
                </a:extLst>
              </a:tr>
              <a:tr h="2581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a:ln>
                            <a:noFill/>
                          </a:ln>
                          <a:solidFill>
                            <a:prstClr val="black"/>
                          </a:solidFill>
                          <a:effectLst/>
                          <a:uLnTx/>
                          <a:uFillTx/>
                        </a:rPr>
                        <a:t>Regression</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a:lnSpc>
                          <a:spcPct val="100000"/>
                        </a:lnSpc>
                        <a:spcBef>
                          <a:spcPts val="0"/>
                        </a:spcBef>
                        <a:spcAft>
                          <a:spcPts val="0"/>
                        </a:spcAft>
                        <a:buNone/>
                      </a:pPr>
                      <a:r>
                        <a:rPr kumimoji="0" lang="en-US" sz="1200" b="0" i="0" u="none" strike="noStrike" kern="1200" cap="none" spc="0" normalizeH="0" baseline="0" noProof="0">
                          <a:ln>
                            <a:noFill/>
                          </a:ln>
                          <a:solidFill>
                            <a:srgbClr val="000000"/>
                          </a:solidFill>
                          <a:effectLst/>
                          <a:uLnTx/>
                          <a:uFillTx/>
                          <a:latin typeface="Segoe UI"/>
                        </a:rPr>
                        <a:t>QA</a:t>
                      </a:r>
                      <a:r>
                        <a:rPr lang="en-US" sz="1200" b="0" i="0" u="none" strike="noStrike" kern="1200" cap="none" spc="0" normalizeH="0" baseline="0" noProof="0">
                          <a:ln>
                            <a:noFill/>
                          </a:ln>
                          <a:solidFill>
                            <a:srgbClr val="000000"/>
                          </a:solidFill>
                          <a:effectLst/>
                          <a:uLnTx/>
                          <a:uFillTx/>
                          <a:latin typeface="Segoe UI"/>
                        </a:rPr>
                        <a:t> Miipe Team</a:t>
                      </a:r>
                      <a:endParaRPr kumimoji="0" lang="en-US"/>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6</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Apr</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17</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Apr</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Yes</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Segoe UI"/>
                        </a:rPr>
                        <a:t>BRD and Solution</a:t>
                      </a:r>
                    </a:p>
                  </a:txBody>
                  <a:tcPr marL="79325" marR="79325" marT="39663" marB="39663"/>
                </a:tc>
                <a:extLst>
                  <a:ext uri="{0D108BD9-81ED-4DB2-BD59-A6C34878D82A}">
                    <a16:rowId xmlns:a16="http://schemas.microsoft.com/office/drawing/2014/main" val="3261537072"/>
                  </a:ext>
                </a:extLst>
              </a:tr>
              <a:tr h="4381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dirty="0">
                          <a:ln>
                            <a:noFill/>
                          </a:ln>
                          <a:solidFill>
                            <a:prstClr val="black"/>
                          </a:solidFill>
                          <a:effectLst/>
                          <a:uLnTx/>
                          <a:uFillTx/>
                        </a:rPr>
                        <a:t>UAT</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prstClr val="black"/>
                          </a:solidFill>
                          <a:effectLst/>
                          <a:uLnTx/>
                          <a:uFillTx/>
                          <a:latin typeface="Segoe UI"/>
                          <a:ea typeface="+mn-ea"/>
                          <a:cs typeface="Segoe UI"/>
                        </a:rPr>
                        <a:t>BA + </a:t>
                      </a:r>
                      <a:r>
                        <a:rPr lang="en-US" sz="1200" b="0" i="0" u="none" strike="noStrike" kern="1200" cap="none" spc="0" normalizeH="0" baseline="0" noProof="0">
                          <a:ln>
                            <a:noFill/>
                          </a:ln>
                          <a:solidFill>
                            <a:prstClr val="black"/>
                          </a:solidFill>
                          <a:effectLst/>
                          <a:uLnTx/>
                          <a:uFillTx/>
                          <a:latin typeface="Segoe UI"/>
                          <a:ea typeface="+mn-ea"/>
                          <a:cs typeface="Segoe UI"/>
                        </a:rPr>
                        <a:t>leading by </a:t>
                      </a:r>
                      <a:r>
                        <a:rPr lang="en-US" sz="1200" b="0" i="0" u="none" strike="noStrike" kern="1200" cap="none" spc="0" normalizeH="0" baseline="0" noProof="0" dirty="0">
                          <a:ln>
                            <a:noFill/>
                          </a:ln>
                          <a:solidFill>
                            <a:srgbClr val="000000"/>
                          </a:solidFill>
                          <a:effectLst/>
                          <a:uLnTx/>
                          <a:uFillTx/>
                          <a:latin typeface="Segoe UI"/>
                        </a:rPr>
                        <a:t>QA Miipe Team</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13</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Apr</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24</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Apr</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Yes</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E2E Handoff, UAT Test Data, Env</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174721053"/>
                  </a:ext>
                </a:extLst>
              </a:tr>
              <a:tr h="4288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dirty="0">
                          <a:ln>
                            <a:noFill/>
                          </a:ln>
                          <a:solidFill>
                            <a:prstClr val="black"/>
                          </a:solidFill>
                          <a:effectLst/>
                          <a:uLnTx/>
                          <a:uFillTx/>
                        </a:rPr>
                        <a:t>ORT</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a:ea typeface="+mn-ea"/>
                          <a:cs typeface="Segoe UI"/>
                        </a:rPr>
                        <a:t>Miipe’s ORT Team</a:t>
                      </a:r>
                      <a:endParaRPr kumimoji="0" lang="en-CA" sz="1200" b="0" i="0" u="none" strike="noStrike" kern="1200" cap="none" spc="0" normalizeH="0" baseline="0" noProof="0" dirty="0">
                        <a:ln>
                          <a:noFill/>
                        </a:ln>
                        <a:solidFill>
                          <a:prstClr val="black"/>
                        </a:solidFill>
                        <a:effectLst/>
                        <a:uLnTx/>
                        <a:uFillTx/>
                        <a:latin typeface="Segoe UI"/>
                        <a:ea typeface="+mn-ea"/>
                        <a:cs typeface="Segoe UI"/>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ln>
                            <a:noFill/>
                          </a:ln>
                          <a:solidFill>
                            <a:prstClr val="black"/>
                          </a:solidFill>
                          <a:effectLst/>
                          <a:uLnTx/>
                          <a:uFillTx/>
                          <a:latin typeface="Segoe UI"/>
                          <a:ea typeface="+mn-ea"/>
                          <a:cs typeface="Segoe UI"/>
                        </a:rPr>
                        <a:t>No</a:t>
                      </a:r>
                      <a:endParaRPr kumimoji="0" lang="en-US" sz="1200" b="0" i="0" u="none" strike="noStrike" kern="1200" cap="none" spc="0" normalizeH="0" baseline="0" noProof="0">
                        <a:ln>
                          <a:noFill/>
                        </a:ln>
                        <a:solidFill>
                          <a:prstClr val="black"/>
                        </a:solidFill>
                        <a:effectLst/>
                        <a:uLnTx/>
                        <a:uFillTx/>
                        <a:latin typeface="Segoe UI"/>
                        <a:ea typeface="+mn-ea"/>
                        <a:cs typeface="Segoe UI"/>
                      </a:endParaRPr>
                    </a:p>
                  </a:txBody>
                  <a:tcPr marL="79325" marR="79325" marT="39663" marB="39663"/>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prstClr val="black"/>
                          </a:solidFill>
                          <a:effectLst/>
                          <a:uLnTx/>
                          <a:uFillTx/>
                          <a:latin typeface="Segoe UI"/>
                          <a:ea typeface="+mn-ea"/>
                          <a:cs typeface="Segoe UI"/>
                        </a:rPr>
                        <a:t>ORT Env, Test Data</a:t>
                      </a:r>
                      <a:r>
                        <a:rPr lang="en-US" sz="1200" b="0" i="0" u="none" strike="noStrike" kern="1200" cap="none" spc="0" normalizeH="0" baseline="0" noProof="0" dirty="0">
                          <a:ln>
                            <a:noFill/>
                          </a:ln>
                          <a:solidFill>
                            <a:prstClr val="black"/>
                          </a:solidFill>
                          <a:effectLst/>
                          <a:uLnTx/>
                          <a:uFillTx/>
                          <a:latin typeface="Segoe UI"/>
                          <a:ea typeface="+mn-ea"/>
                          <a:cs typeface="Segoe UI"/>
                        </a:rPr>
                        <a:t> </a:t>
                      </a:r>
                      <a:endParaRPr kumimoji="0" lang="en-US" sz="1200" b="0" i="0" u="none" strike="noStrike" kern="1200" cap="none" spc="0" normalizeH="0" baseline="0" noProof="0" dirty="0">
                        <a:ln>
                          <a:noFill/>
                        </a:ln>
                        <a:solidFill>
                          <a:prstClr val="black"/>
                        </a:solidFill>
                        <a:effectLst/>
                        <a:uLnTx/>
                        <a:uFillTx/>
                        <a:latin typeface="Segoe UI"/>
                        <a:ea typeface="+mn-ea"/>
                        <a:cs typeface="Segoe UI"/>
                      </a:endParaRPr>
                    </a:p>
                  </a:txBody>
                  <a:tcPr marL="79325" marR="79325" marT="39663" marB="39663"/>
                </a:tc>
                <a:extLst>
                  <a:ext uri="{0D108BD9-81ED-4DB2-BD59-A6C34878D82A}">
                    <a16:rowId xmlns:a16="http://schemas.microsoft.com/office/drawing/2014/main" val="3431208907"/>
                  </a:ext>
                </a:extLst>
              </a:tr>
              <a:tr h="2581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a:ln>
                            <a:noFill/>
                          </a:ln>
                          <a:solidFill>
                            <a:prstClr val="black"/>
                          </a:solidFill>
                          <a:effectLst/>
                          <a:uLnTx/>
                          <a:uFillTx/>
                        </a:rPr>
                        <a:t>DVT</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a:lnSpc>
                          <a:spcPct val="100000"/>
                        </a:lnSpc>
                        <a:spcBef>
                          <a:spcPts val="0"/>
                        </a:spcBef>
                        <a:spcAft>
                          <a:spcPts val="0"/>
                        </a:spcAft>
                        <a:buNone/>
                      </a:pPr>
                      <a:r>
                        <a:rPr kumimoji="0" lang="en-US" sz="1200" b="0" i="0" u="none" strike="noStrike" kern="1200" cap="none" spc="0" normalizeH="0" baseline="0" noProof="0" dirty="0">
                          <a:ln>
                            <a:noFill/>
                          </a:ln>
                          <a:solidFill>
                            <a:srgbClr val="000000"/>
                          </a:solidFill>
                          <a:effectLst/>
                          <a:uLnTx/>
                          <a:uFillTx/>
                          <a:latin typeface="Segoe UI"/>
                        </a:rPr>
                        <a:t>QA</a:t>
                      </a:r>
                      <a:r>
                        <a:rPr lang="en-US" sz="1200" b="0" i="0" u="none" strike="noStrike" kern="1200" cap="none" spc="0" normalizeH="0" baseline="0" noProof="0" dirty="0">
                          <a:ln>
                            <a:noFill/>
                          </a:ln>
                          <a:solidFill>
                            <a:srgbClr val="000000"/>
                          </a:solidFill>
                          <a:effectLst/>
                          <a:uLnTx/>
                          <a:uFillTx/>
                          <a:latin typeface="Segoe UI"/>
                        </a:rPr>
                        <a:t> Miipe Team</a:t>
                      </a:r>
                      <a:endParaRPr kumimoji="0" lang="en-US" dirty="0"/>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4</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May</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8</a:t>
                      </a:r>
                      <a:r>
                        <a:rPr kumimoji="0" lang="en-US" sz="1200" b="0" i="0" u="none" strike="noStrike" kern="1200" cap="none" spc="0" normalizeH="0" baseline="30000" noProof="0" dirty="0">
                          <a:ln>
                            <a:noFill/>
                          </a:ln>
                          <a:solidFill>
                            <a:prstClr val="black"/>
                          </a:solidFill>
                          <a:effectLst/>
                          <a:uLnTx/>
                          <a:uFillTx/>
                          <a:latin typeface="Segoe UI" panose="020B0502040204020203" pitchFamily="34" charset="0"/>
                          <a:ea typeface="+mn-ea"/>
                          <a:cs typeface="Segoe UI" panose="020B0502040204020203" pitchFamily="34" charset="0"/>
                        </a:rPr>
                        <a:t>th</a:t>
                      </a:r>
                      <a:r>
                        <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May</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ln>
                            <a:noFill/>
                          </a:ln>
                          <a:solidFill>
                            <a:prstClr val="black"/>
                          </a:solidFill>
                          <a:effectLst/>
                          <a:uLnTx/>
                          <a:uFillTx/>
                          <a:latin typeface="Segoe UI"/>
                          <a:ea typeface="+mn-ea"/>
                          <a:cs typeface="Segoe UI"/>
                        </a:rPr>
                        <a:t>Yes</a:t>
                      </a: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prstClr val="black"/>
                          </a:solidFill>
                          <a:effectLst/>
                          <a:uLnTx/>
                          <a:uFillTx/>
                          <a:latin typeface="Segoe UI"/>
                          <a:ea typeface="+mn-ea"/>
                          <a:cs typeface="Segoe UI"/>
                        </a:rPr>
                        <a:t>DVT Environment, DVT Data</a:t>
                      </a:r>
                    </a:p>
                  </a:txBody>
                  <a:tcPr marL="79325" marR="79325" marT="39663" marB="39663"/>
                </a:tc>
                <a:extLst>
                  <a:ext uri="{0D108BD9-81ED-4DB2-BD59-A6C34878D82A}">
                    <a16:rowId xmlns:a16="http://schemas.microsoft.com/office/drawing/2014/main" val="765057059"/>
                  </a:ext>
                </a:extLst>
              </a:tr>
              <a:tr h="2581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a:ln>
                            <a:noFill/>
                          </a:ln>
                          <a:solidFill>
                            <a:prstClr val="black"/>
                          </a:solidFill>
                          <a:effectLst/>
                          <a:uLnTx/>
                          <a:uFillTx/>
                        </a:rPr>
                        <a:t>Security</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cap="none" spc="0" normalizeH="0" baseline="0" noProof="0">
                          <a:ln>
                            <a:noFill/>
                          </a:ln>
                          <a:solidFill>
                            <a:prstClr val="black"/>
                          </a:solidFill>
                          <a:effectLst/>
                          <a:uLnTx/>
                          <a:uFillTx/>
                          <a:latin typeface="Segoe UI"/>
                          <a:ea typeface="+mn-ea"/>
                          <a:cs typeface="Segoe UI"/>
                        </a:rPr>
                        <a:t>No</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2537886247"/>
                  </a:ext>
                </a:extLst>
              </a:tr>
              <a:tr h="4381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200" b="0" u="none" strike="noStrike" kern="1200" cap="none" spc="0" normalizeH="0" baseline="0" noProof="0">
                          <a:ln>
                            <a:noFill/>
                          </a:ln>
                          <a:solidFill>
                            <a:prstClr val="black"/>
                          </a:solidFill>
                          <a:effectLst/>
                          <a:uLnTx/>
                          <a:uFillTx/>
                        </a:rPr>
                        <a:t>Accessibility</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algn="l"/>
                      <a:endParaRPr lang="en-CA" sz="1200" b="0">
                        <a:latin typeface="Segoe UI" panose="020B0502040204020203" pitchFamily="34" charset="0"/>
                        <a:cs typeface="Segoe UI" panose="020B0502040204020203" pitchFamily="34" charset="0"/>
                      </a:endParaRPr>
                    </a:p>
                  </a:txBody>
                  <a:tcPr marL="79325" marR="79325" marT="39663" marB="39663"/>
                </a:tc>
                <a:tc>
                  <a:txBody>
                    <a:bodyPr/>
                    <a:lstStyle/>
                    <a:p>
                      <a:pPr algn="l"/>
                      <a:r>
                        <a:rPr lang="en-CA" sz="1200" b="0">
                          <a:latin typeface="Segoe UI"/>
                          <a:cs typeface="Segoe UI"/>
                        </a:rPr>
                        <a:t>To be discussed with Project Team</a:t>
                      </a:r>
                      <a:endParaRPr lang="en-CA" sz="1200" b="0">
                        <a:latin typeface="Segoe UI" panose="020B0502040204020203" pitchFamily="34" charset="0"/>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cap="none" spc="0" normalizeH="0" baseline="0" noProof="0">
                          <a:ln>
                            <a:noFill/>
                          </a:ln>
                          <a:solidFill>
                            <a:prstClr val="black"/>
                          </a:solidFill>
                          <a:effectLst/>
                          <a:uLnTx/>
                          <a:uFillTx/>
                          <a:latin typeface="Segoe UI"/>
                          <a:ea typeface="+mn-ea"/>
                          <a:cs typeface="Segoe UI"/>
                        </a:rPr>
                        <a:t>No</a:t>
                      </a: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645429445"/>
                  </a:ext>
                </a:extLst>
              </a:tr>
            </a:tbl>
          </a:graphicData>
        </a:graphic>
      </p:graphicFrame>
      <p:grpSp>
        <p:nvGrpSpPr>
          <p:cNvPr id="23" name="Group 22">
            <a:extLst>
              <a:ext uri="{FF2B5EF4-FFF2-40B4-BE49-F238E27FC236}">
                <a16:creationId xmlns:a16="http://schemas.microsoft.com/office/drawing/2014/main" id="{5466A228-0A02-8826-A1AD-AF2369D5024C}"/>
              </a:ext>
            </a:extLst>
          </p:cNvPr>
          <p:cNvGrpSpPr/>
          <p:nvPr/>
        </p:nvGrpSpPr>
        <p:grpSpPr>
          <a:xfrm>
            <a:off x="1" y="0"/>
            <a:ext cx="909836" cy="934466"/>
            <a:chOff x="0" y="0"/>
            <a:chExt cx="3161556" cy="3048050"/>
          </a:xfrm>
        </p:grpSpPr>
        <p:grpSp>
          <p:nvGrpSpPr>
            <p:cNvPr id="17" name="Group 16">
              <a:extLst>
                <a:ext uri="{FF2B5EF4-FFF2-40B4-BE49-F238E27FC236}">
                  <a16:creationId xmlns:a16="http://schemas.microsoft.com/office/drawing/2014/main" id="{E5C44636-A8B5-907D-C0EF-A50DE1C541D5}"/>
                </a:ext>
              </a:extLst>
            </p:cNvPr>
            <p:cNvGrpSpPr/>
            <p:nvPr/>
          </p:nvGrpSpPr>
          <p:grpSpPr>
            <a:xfrm>
              <a:off x="0" y="0"/>
              <a:ext cx="2107704" cy="1988840"/>
              <a:chOff x="0" y="0"/>
              <a:chExt cx="2107704" cy="1988840"/>
            </a:xfrm>
          </p:grpSpPr>
          <p:sp>
            <p:nvSpPr>
              <p:cNvPr id="21" name="Rectangle 20">
                <a:extLst>
                  <a:ext uri="{FF2B5EF4-FFF2-40B4-BE49-F238E27FC236}">
                    <a16:creationId xmlns:a16="http://schemas.microsoft.com/office/drawing/2014/main" id="{861134C9-E851-E527-7E8B-F4A968D00FC0}"/>
                  </a:ext>
                </a:extLst>
              </p:cNvPr>
              <p:cNvSpPr/>
              <p:nvPr/>
            </p:nvSpPr>
            <p:spPr>
              <a:xfrm>
                <a:off x="0" y="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Rectangle 21">
                <a:extLst>
                  <a:ext uri="{FF2B5EF4-FFF2-40B4-BE49-F238E27FC236}">
                    <a16:creationId xmlns:a16="http://schemas.microsoft.com/office/drawing/2014/main" id="{EC56E8DB-8D89-E4EA-D087-6FD27DB13B6D}"/>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8" name="Group 17">
              <a:extLst>
                <a:ext uri="{FF2B5EF4-FFF2-40B4-BE49-F238E27FC236}">
                  <a16:creationId xmlns:a16="http://schemas.microsoft.com/office/drawing/2014/main" id="{AC830F1A-99C7-F9BA-ECEA-62C3EEF233C1}"/>
                </a:ext>
              </a:extLst>
            </p:cNvPr>
            <p:cNvGrpSpPr/>
            <p:nvPr/>
          </p:nvGrpSpPr>
          <p:grpSpPr>
            <a:xfrm flipH="1" flipV="1">
              <a:off x="1053852" y="1059210"/>
              <a:ext cx="2107704" cy="1988840"/>
              <a:chOff x="1580778" y="1268760"/>
              <a:chExt cx="2107704" cy="1988840"/>
            </a:xfrm>
          </p:grpSpPr>
          <p:sp>
            <p:nvSpPr>
              <p:cNvPr id="19" name="Rectangle 18">
                <a:extLst>
                  <a:ext uri="{FF2B5EF4-FFF2-40B4-BE49-F238E27FC236}">
                    <a16:creationId xmlns:a16="http://schemas.microsoft.com/office/drawing/2014/main" id="{ADA662F0-4480-EFCF-F056-ACA7F3CACA21}"/>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19">
                <a:extLst>
                  <a:ext uri="{FF2B5EF4-FFF2-40B4-BE49-F238E27FC236}">
                    <a16:creationId xmlns:a16="http://schemas.microsoft.com/office/drawing/2014/main" id="{1E48E777-5D51-3CAE-73AF-ACB28172C4F5}"/>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31" name="Group 30">
            <a:extLst>
              <a:ext uri="{FF2B5EF4-FFF2-40B4-BE49-F238E27FC236}">
                <a16:creationId xmlns:a16="http://schemas.microsoft.com/office/drawing/2014/main" id="{705C58E7-EB2E-099F-0076-7F6D3F63ED69}"/>
              </a:ext>
            </a:extLst>
          </p:cNvPr>
          <p:cNvGrpSpPr/>
          <p:nvPr/>
        </p:nvGrpSpPr>
        <p:grpSpPr>
          <a:xfrm>
            <a:off x="10342891" y="4962097"/>
            <a:ext cx="1845935" cy="1895903"/>
            <a:chOff x="0" y="0"/>
            <a:chExt cx="3161556" cy="3048050"/>
          </a:xfrm>
        </p:grpSpPr>
        <p:grpSp>
          <p:nvGrpSpPr>
            <p:cNvPr id="25" name="Group 24">
              <a:extLst>
                <a:ext uri="{FF2B5EF4-FFF2-40B4-BE49-F238E27FC236}">
                  <a16:creationId xmlns:a16="http://schemas.microsoft.com/office/drawing/2014/main" id="{75B514B7-1503-2DA1-6A9A-03C14FBFFA56}"/>
                </a:ext>
              </a:extLst>
            </p:cNvPr>
            <p:cNvGrpSpPr/>
            <p:nvPr/>
          </p:nvGrpSpPr>
          <p:grpSpPr>
            <a:xfrm>
              <a:off x="0" y="0"/>
              <a:ext cx="2107704" cy="2241545"/>
              <a:chOff x="0" y="0"/>
              <a:chExt cx="2107704" cy="2241545"/>
            </a:xfrm>
          </p:grpSpPr>
          <p:sp>
            <p:nvSpPr>
              <p:cNvPr id="29" name="Rectangle 28">
                <a:extLst>
                  <a:ext uri="{FF2B5EF4-FFF2-40B4-BE49-F238E27FC236}">
                    <a16:creationId xmlns:a16="http://schemas.microsoft.com/office/drawing/2014/main" id="{0D5092CC-1324-63EE-5447-660D1AFFB831}"/>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Rectangle 29">
                <a:extLst>
                  <a:ext uri="{FF2B5EF4-FFF2-40B4-BE49-F238E27FC236}">
                    <a16:creationId xmlns:a16="http://schemas.microsoft.com/office/drawing/2014/main" id="{A5303490-4361-CB33-AC06-278F43EA0B3C}"/>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6" name="Group 25">
              <a:extLst>
                <a:ext uri="{FF2B5EF4-FFF2-40B4-BE49-F238E27FC236}">
                  <a16:creationId xmlns:a16="http://schemas.microsoft.com/office/drawing/2014/main" id="{CE0D763F-3C97-218E-1E44-4C484DBF46C0}"/>
                </a:ext>
              </a:extLst>
            </p:cNvPr>
            <p:cNvGrpSpPr/>
            <p:nvPr/>
          </p:nvGrpSpPr>
          <p:grpSpPr>
            <a:xfrm flipH="1" flipV="1">
              <a:off x="1053853" y="1059210"/>
              <a:ext cx="2107703" cy="1988840"/>
              <a:chOff x="1580778" y="1268760"/>
              <a:chExt cx="2107703" cy="1988840"/>
            </a:xfrm>
          </p:grpSpPr>
          <p:sp>
            <p:nvSpPr>
              <p:cNvPr id="27" name="Rectangle 26">
                <a:extLst>
                  <a:ext uri="{FF2B5EF4-FFF2-40B4-BE49-F238E27FC236}">
                    <a16:creationId xmlns:a16="http://schemas.microsoft.com/office/drawing/2014/main" id="{D9B8A17F-D725-AC7E-F015-27D5FC326323}"/>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27">
                <a:extLst>
                  <a:ext uri="{FF2B5EF4-FFF2-40B4-BE49-F238E27FC236}">
                    <a16:creationId xmlns:a16="http://schemas.microsoft.com/office/drawing/2014/main" id="{8BB30D81-518F-5845-D6F8-3D779184936A}"/>
                  </a:ext>
                </a:extLst>
              </p:cNvPr>
              <p:cNvSpPr/>
              <p:nvPr/>
            </p:nvSpPr>
            <p:spPr>
              <a:xfrm rot="5400000">
                <a:off x="2758303" y="1145086"/>
                <a:ext cx="806504" cy="105385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3" name="Picture 32" descr="BEll company logo">
            <a:extLst>
              <a:ext uri="{FF2B5EF4-FFF2-40B4-BE49-F238E27FC236}">
                <a16:creationId xmlns:a16="http://schemas.microsoft.com/office/drawing/2014/main" id="{34979EC6-0E9F-CE14-10F4-5143477EE141}"/>
              </a:ext>
            </a:extLst>
          </p:cNvPr>
          <p:cNvPicPr>
            <a:picLocks noChangeAspect="1"/>
          </p:cNvPicPr>
          <p:nvPr/>
        </p:nvPicPr>
        <p:blipFill>
          <a:blip r:embed="rId2"/>
          <a:stretch>
            <a:fillRect/>
          </a:stretch>
        </p:blipFill>
        <p:spPr>
          <a:xfrm>
            <a:off x="11009239" y="535828"/>
            <a:ext cx="514513" cy="400050"/>
          </a:xfrm>
          <a:prstGeom prst="rect">
            <a:avLst/>
          </a:prstGeom>
        </p:spPr>
      </p:pic>
    </p:spTree>
    <p:extLst>
      <p:ext uri="{BB962C8B-B14F-4D97-AF65-F5344CB8AC3E}">
        <p14:creationId xmlns:p14="http://schemas.microsoft.com/office/powerpoint/2010/main" val="3553113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9" decel="8000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 calcmode="lin" valueType="num">
                                      <p:cBhvr additive="base">
                                        <p:cTn id="10" dur="500" fill="hold"/>
                                        <p:tgtEl>
                                          <p:spTgt spid="23"/>
                                        </p:tgtEl>
                                        <p:attrNameLst>
                                          <p:attrName>ppt_x</p:attrName>
                                        </p:attrNameLst>
                                      </p:cBhvr>
                                      <p:tavLst>
                                        <p:tav tm="0">
                                          <p:val>
                                            <p:strVal val="0-#ppt_w/2"/>
                                          </p:val>
                                        </p:tav>
                                        <p:tav tm="100000">
                                          <p:val>
                                            <p:strVal val="#ppt_x"/>
                                          </p:val>
                                        </p:tav>
                                      </p:tavLst>
                                    </p:anim>
                                    <p:anim calcmode="lin" valueType="num">
                                      <p:cBhvr additive="base">
                                        <p:cTn id="11" dur="500" fill="hold"/>
                                        <p:tgtEl>
                                          <p:spTgt spid="23"/>
                                        </p:tgtEl>
                                        <p:attrNameLst>
                                          <p:attrName>ppt_y</p:attrName>
                                        </p:attrNameLst>
                                      </p:cBhvr>
                                      <p:tavLst>
                                        <p:tav tm="0">
                                          <p:val>
                                            <p:strVal val="0-#ppt_h/2"/>
                                          </p:val>
                                        </p:tav>
                                        <p:tav tm="100000">
                                          <p:val>
                                            <p:strVal val="#ppt_y"/>
                                          </p:val>
                                        </p:tav>
                                      </p:tavLst>
                                    </p:anim>
                                  </p:childTnLst>
                                </p:cTn>
                              </p:par>
                              <p:par>
                                <p:cTn id="12" presetID="2" presetClass="entr" presetSubtype="6" decel="80000" fill="hold" nodeType="withEffect">
                                  <p:stCondLst>
                                    <p:cond delay="0"/>
                                  </p:stCondLst>
                                  <p:childTnLst>
                                    <p:set>
                                      <p:cBhvr>
                                        <p:cTn id="13" dur="1" fill="hold">
                                          <p:stCondLst>
                                            <p:cond delay="0"/>
                                          </p:stCondLst>
                                        </p:cTn>
                                        <p:tgtEl>
                                          <p:spTgt spid="31"/>
                                        </p:tgtEl>
                                        <p:attrNameLst>
                                          <p:attrName>style.visibility</p:attrName>
                                        </p:attrNameLst>
                                      </p:cBhvr>
                                      <p:to>
                                        <p:strVal val="visible"/>
                                      </p:to>
                                    </p:set>
                                    <p:anim calcmode="lin" valueType="num">
                                      <p:cBhvr additive="base">
                                        <p:cTn id="14" dur="500" fill="hold"/>
                                        <p:tgtEl>
                                          <p:spTgt spid="31"/>
                                        </p:tgtEl>
                                        <p:attrNameLst>
                                          <p:attrName>ppt_x</p:attrName>
                                        </p:attrNameLst>
                                      </p:cBhvr>
                                      <p:tavLst>
                                        <p:tav tm="0">
                                          <p:val>
                                            <p:strVal val="1+#ppt_w/2"/>
                                          </p:val>
                                        </p:tav>
                                        <p:tav tm="100000">
                                          <p:val>
                                            <p:strVal val="#ppt_x"/>
                                          </p:val>
                                        </p:tav>
                                      </p:tavLst>
                                    </p:anim>
                                    <p:anim calcmode="lin" valueType="num">
                                      <p:cBhvr additive="base">
                                        <p:cTn id="15"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93F4B-820A-06CA-BA98-E1868C5690DB}"/>
              </a:ext>
            </a:extLst>
          </p:cNvPr>
          <p:cNvSpPr>
            <a:spLocks noGrp="1"/>
          </p:cNvSpPr>
          <p:nvPr>
            <p:ph type="title" idx="4294967295"/>
          </p:nvPr>
        </p:nvSpPr>
        <p:spPr>
          <a:xfrm>
            <a:off x="1201016" y="421224"/>
            <a:ext cx="2680760" cy="725764"/>
          </a:xfrm>
        </p:spPr>
        <p:txBody>
          <a:bodyPr/>
          <a:lstStyle/>
          <a:p>
            <a:r>
              <a:rPr lang="en-US" sz="3200">
                <a:latin typeface="Arial"/>
                <a:cs typeface="Arial"/>
              </a:rPr>
              <a:t>Test Cycles</a:t>
            </a:r>
            <a:endParaRPr lang="en-PH" sz="3200">
              <a:latin typeface="Arial"/>
              <a:cs typeface="Arial"/>
            </a:endParaRPr>
          </a:p>
        </p:txBody>
      </p:sp>
      <p:grpSp>
        <p:nvGrpSpPr>
          <p:cNvPr id="62" name="Group 61">
            <a:extLst>
              <a:ext uri="{FF2B5EF4-FFF2-40B4-BE49-F238E27FC236}">
                <a16:creationId xmlns:a16="http://schemas.microsoft.com/office/drawing/2014/main" id="{737CC228-E879-88CE-D484-DE4E2763D362}"/>
              </a:ext>
            </a:extLst>
          </p:cNvPr>
          <p:cNvGrpSpPr/>
          <p:nvPr/>
        </p:nvGrpSpPr>
        <p:grpSpPr>
          <a:xfrm>
            <a:off x="441934" y="2309703"/>
            <a:ext cx="1757945" cy="738490"/>
            <a:chOff x="5404270" y="812282"/>
            <a:chExt cx="2024952" cy="979169"/>
          </a:xfrm>
        </p:grpSpPr>
        <p:grpSp>
          <p:nvGrpSpPr>
            <p:cNvPr id="27" name="Group 26">
              <a:extLst>
                <a:ext uri="{FF2B5EF4-FFF2-40B4-BE49-F238E27FC236}">
                  <a16:creationId xmlns:a16="http://schemas.microsoft.com/office/drawing/2014/main" id="{687410DD-A84E-BDD7-1F66-F3AE0A0080CD}"/>
                </a:ext>
              </a:extLst>
            </p:cNvPr>
            <p:cNvGrpSpPr/>
            <p:nvPr/>
          </p:nvGrpSpPr>
          <p:grpSpPr>
            <a:xfrm>
              <a:off x="5404270" y="812282"/>
              <a:ext cx="2004765" cy="979169"/>
              <a:chOff x="5025750" y="1144513"/>
              <a:chExt cx="2425356" cy="1184595"/>
            </a:xfrm>
          </p:grpSpPr>
          <p:sp>
            <p:nvSpPr>
              <p:cNvPr id="24" name="Rectangle 23">
                <a:extLst>
                  <a:ext uri="{FF2B5EF4-FFF2-40B4-BE49-F238E27FC236}">
                    <a16:creationId xmlns:a16="http://schemas.microsoft.com/office/drawing/2014/main" id="{61AD8906-14B9-E7C0-0D8C-195572DCDFCE}"/>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25" name="Rectangle 24">
                <a:extLst>
                  <a:ext uri="{FF2B5EF4-FFF2-40B4-BE49-F238E27FC236}">
                    <a16:creationId xmlns:a16="http://schemas.microsoft.com/office/drawing/2014/main" id="{C5724985-7FBB-1DFB-2DC5-6AE7DE9C7E8E}"/>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26" name="Rectangle 25">
                <a:extLst>
                  <a:ext uri="{FF2B5EF4-FFF2-40B4-BE49-F238E27FC236}">
                    <a16:creationId xmlns:a16="http://schemas.microsoft.com/office/drawing/2014/main" id="{D0231B7C-5BA0-26D3-ACAC-F26306E59B5C}"/>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40" name="TextBox 39">
              <a:extLst>
                <a:ext uri="{FF2B5EF4-FFF2-40B4-BE49-F238E27FC236}">
                  <a16:creationId xmlns:a16="http://schemas.microsoft.com/office/drawing/2014/main" id="{AC09E613-9600-4A35-8782-CECEEAC1AAAA}"/>
                </a:ext>
              </a:extLst>
            </p:cNvPr>
            <p:cNvSpPr txBox="1"/>
            <p:nvPr/>
          </p:nvSpPr>
          <p:spPr>
            <a:xfrm>
              <a:off x="5792370" y="1157657"/>
              <a:ext cx="1636852" cy="326466"/>
            </a:xfrm>
            <a:prstGeom prst="rect">
              <a:avLst/>
            </a:prstGeom>
            <a:noFill/>
          </p:spPr>
          <p:txBody>
            <a:bodyPr wrap="square" rtlCol="0">
              <a:spAutoFit/>
            </a:bodyPr>
            <a:lstStyle/>
            <a:p>
              <a:r>
                <a:rPr lang="en-US" sz="1000" b="1">
                  <a:solidFill>
                    <a:schemeClr val="bg1"/>
                  </a:solidFill>
                </a:rPr>
                <a:t>Unit Testing</a:t>
              </a:r>
              <a:endParaRPr lang="en-PH" sz="1000" b="1">
                <a:solidFill>
                  <a:schemeClr val="bg1"/>
                </a:solidFill>
              </a:endParaRPr>
            </a:p>
          </p:txBody>
        </p:sp>
      </p:grpSp>
      <p:grpSp>
        <p:nvGrpSpPr>
          <p:cNvPr id="65" name="Group 64">
            <a:extLst>
              <a:ext uri="{FF2B5EF4-FFF2-40B4-BE49-F238E27FC236}">
                <a16:creationId xmlns:a16="http://schemas.microsoft.com/office/drawing/2014/main" id="{B58B93A2-2C53-BECA-5C71-F9D832EBE3B2}"/>
              </a:ext>
            </a:extLst>
          </p:cNvPr>
          <p:cNvGrpSpPr/>
          <p:nvPr/>
        </p:nvGrpSpPr>
        <p:grpSpPr>
          <a:xfrm>
            <a:off x="461398" y="1390818"/>
            <a:ext cx="1778679" cy="738490"/>
            <a:chOff x="5404270" y="5138781"/>
            <a:chExt cx="2048835" cy="979169"/>
          </a:xfrm>
        </p:grpSpPr>
        <p:grpSp>
          <p:nvGrpSpPr>
            <p:cNvPr id="36" name="Group 35">
              <a:extLst>
                <a:ext uri="{FF2B5EF4-FFF2-40B4-BE49-F238E27FC236}">
                  <a16:creationId xmlns:a16="http://schemas.microsoft.com/office/drawing/2014/main" id="{3FC87097-A90E-774E-FBCF-135B39FC1B3E}"/>
                </a:ext>
              </a:extLst>
            </p:cNvPr>
            <p:cNvGrpSpPr/>
            <p:nvPr/>
          </p:nvGrpSpPr>
          <p:grpSpPr>
            <a:xfrm>
              <a:off x="5404270" y="5138781"/>
              <a:ext cx="2004765" cy="979169"/>
              <a:chOff x="5025750" y="1144513"/>
              <a:chExt cx="2425356" cy="1184595"/>
            </a:xfrm>
          </p:grpSpPr>
          <p:sp>
            <p:nvSpPr>
              <p:cNvPr id="37" name="Rectangle 36">
                <a:extLst>
                  <a:ext uri="{FF2B5EF4-FFF2-40B4-BE49-F238E27FC236}">
                    <a16:creationId xmlns:a16="http://schemas.microsoft.com/office/drawing/2014/main" id="{B8E58829-C337-913F-18D1-929614201615}"/>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38" name="Rectangle 37">
                <a:extLst>
                  <a:ext uri="{FF2B5EF4-FFF2-40B4-BE49-F238E27FC236}">
                    <a16:creationId xmlns:a16="http://schemas.microsoft.com/office/drawing/2014/main" id="{34EFF0FE-5130-D2E5-0420-E2BF3669664A}"/>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39" name="Rectangle 38">
                <a:extLst>
                  <a:ext uri="{FF2B5EF4-FFF2-40B4-BE49-F238E27FC236}">
                    <a16:creationId xmlns:a16="http://schemas.microsoft.com/office/drawing/2014/main" id="{773D9CCA-E961-6035-FE30-97226879824C}"/>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43" name="TextBox 42">
              <a:extLst>
                <a:ext uri="{FF2B5EF4-FFF2-40B4-BE49-F238E27FC236}">
                  <a16:creationId xmlns:a16="http://schemas.microsoft.com/office/drawing/2014/main" id="{82A5DD50-D0AA-FCD2-E840-1CB3C307BD00}"/>
                </a:ext>
              </a:extLst>
            </p:cNvPr>
            <p:cNvSpPr txBox="1"/>
            <p:nvPr/>
          </p:nvSpPr>
          <p:spPr>
            <a:xfrm>
              <a:off x="5816253" y="5497323"/>
              <a:ext cx="1636852" cy="326466"/>
            </a:xfrm>
            <a:prstGeom prst="rect">
              <a:avLst/>
            </a:prstGeom>
            <a:noFill/>
          </p:spPr>
          <p:txBody>
            <a:bodyPr wrap="square" rtlCol="0">
              <a:spAutoFit/>
            </a:bodyPr>
            <a:lstStyle/>
            <a:p>
              <a:r>
                <a:rPr lang="en-US" sz="1000" b="1">
                  <a:solidFill>
                    <a:schemeClr val="bg1"/>
                  </a:solidFill>
                </a:rPr>
                <a:t>Static Testing</a:t>
              </a:r>
              <a:endParaRPr lang="en-PH" sz="1000" b="1">
                <a:solidFill>
                  <a:schemeClr val="bg1"/>
                </a:solidFill>
              </a:endParaRPr>
            </a:p>
          </p:txBody>
        </p:sp>
      </p:grpSp>
      <p:sp>
        <p:nvSpPr>
          <p:cNvPr id="45" name="TextBox 44">
            <a:extLst>
              <a:ext uri="{FF2B5EF4-FFF2-40B4-BE49-F238E27FC236}">
                <a16:creationId xmlns:a16="http://schemas.microsoft.com/office/drawing/2014/main" id="{CF0721E0-09B3-4276-F742-44F390B61AF3}"/>
              </a:ext>
            </a:extLst>
          </p:cNvPr>
          <p:cNvSpPr txBox="1"/>
          <p:nvPr/>
        </p:nvSpPr>
        <p:spPr>
          <a:xfrm>
            <a:off x="2611501" y="2404502"/>
            <a:ext cx="7545894" cy="553998"/>
          </a:xfrm>
          <a:prstGeom prst="rect">
            <a:avLst/>
          </a:prstGeom>
          <a:noFill/>
        </p:spPr>
        <p:txBody>
          <a:bodyPr wrap="square" rtlCol="0">
            <a:spAutoFit/>
          </a:bodyPr>
          <a:lstStyle/>
          <a:p>
            <a:pPr algn="just">
              <a:spcAft>
                <a:spcPts val="600"/>
              </a:spcAft>
            </a:pPr>
            <a:r>
              <a:rPr lang="en-CA" sz="1000" b="1" dirty="0">
                <a:solidFill>
                  <a:srgbClr val="1A2F45"/>
                </a:solidFill>
                <a:latin typeface="Segoe UI" panose="020B0502040204020203" pitchFamily="34" charset="0"/>
                <a:cs typeface="Segoe UI" panose="020B0502040204020203" pitchFamily="34" charset="0"/>
              </a:rPr>
              <a:t>Unit Test</a:t>
            </a:r>
            <a:r>
              <a:rPr lang="en-CA" sz="1000" dirty="0">
                <a:solidFill>
                  <a:srgbClr val="1A2F45"/>
                </a:solidFill>
                <a:latin typeface="Segoe UI" panose="020B0502040204020203" pitchFamily="34" charset="0"/>
                <a:cs typeface="Segoe UI" panose="020B0502040204020203" pitchFamily="34" charset="0"/>
              </a:rPr>
              <a:t> </a:t>
            </a:r>
            <a:r>
              <a:rPr lang="en-CA" sz="1000" dirty="0">
                <a:solidFill>
                  <a:schemeClr val="tx1">
                    <a:lumMod val="75000"/>
                    <a:lumOff val="25000"/>
                  </a:schemeClr>
                </a:solidFill>
                <a:latin typeface="Segoe UI" panose="020B0502040204020203" pitchFamily="34" charset="0"/>
                <a:cs typeface="Segoe UI" panose="020B0502040204020203" pitchFamily="34" charset="0"/>
              </a:rPr>
              <a:t>is executed by the individual team’s </a:t>
            </a:r>
            <a:r>
              <a:rPr lang="en-CA" sz="1000" b="1" dirty="0">
                <a:solidFill>
                  <a:schemeClr val="tx1">
                    <a:lumMod val="75000"/>
                    <a:lumOff val="25000"/>
                  </a:schemeClr>
                </a:solidFill>
                <a:latin typeface="Segoe UI" panose="020B0502040204020203" pitchFamily="34" charset="0"/>
                <a:cs typeface="Segoe UI" panose="020B0502040204020203" pitchFamily="34" charset="0"/>
              </a:rPr>
              <a:t>development vendor.</a:t>
            </a:r>
            <a:r>
              <a:rPr lang="en-CA" sz="1000" dirty="0">
                <a:solidFill>
                  <a:schemeClr val="tx1">
                    <a:lumMod val="75000"/>
                    <a:lumOff val="25000"/>
                  </a:schemeClr>
                </a:solidFill>
                <a:latin typeface="Segoe UI" panose="020B0502040204020203" pitchFamily="34" charset="0"/>
                <a:cs typeface="Segoe UI" panose="020B0502040204020203" pitchFamily="34" charset="0"/>
              </a:rPr>
              <a:t> This is also known as Component test. This test is done in the development environment and verifies the stories details within a single module of code before the code is checked in. Unit test is managed and executed by each respective development team</a:t>
            </a:r>
            <a:endParaRPr lang="en-US" sz="1000" dirty="0">
              <a:solidFill>
                <a:srgbClr val="1A2F45"/>
              </a:solidFill>
              <a:latin typeface="Segoe UI."/>
              <a:cs typeface="Calibri" panose="020F0502020204030204" pitchFamily="34" charset="0"/>
            </a:endParaRPr>
          </a:p>
        </p:txBody>
      </p:sp>
      <p:grpSp>
        <p:nvGrpSpPr>
          <p:cNvPr id="86" name="Group 85">
            <a:extLst>
              <a:ext uri="{FF2B5EF4-FFF2-40B4-BE49-F238E27FC236}">
                <a16:creationId xmlns:a16="http://schemas.microsoft.com/office/drawing/2014/main" id="{74762594-5620-B0C8-37C7-D3EB648F6D56}"/>
              </a:ext>
            </a:extLst>
          </p:cNvPr>
          <p:cNvGrpSpPr/>
          <p:nvPr/>
        </p:nvGrpSpPr>
        <p:grpSpPr>
          <a:xfrm>
            <a:off x="2330972" y="1389229"/>
            <a:ext cx="7995015" cy="756169"/>
            <a:chOff x="7631272" y="5149560"/>
            <a:chExt cx="7361929" cy="756169"/>
          </a:xfrm>
        </p:grpSpPr>
        <p:pic>
          <p:nvPicPr>
            <p:cNvPr id="66" name="Graphic 65" descr="Circle with left arrow with solid fill">
              <a:extLst>
                <a:ext uri="{FF2B5EF4-FFF2-40B4-BE49-F238E27FC236}">
                  <a16:creationId xmlns:a16="http://schemas.microsoft.com/office/drawing/2014/main" id="{3A233071-0CF0-BC30-966E-A157F4E6C19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7631272" y="5396134"/>
              <a:ext cx="246756" cy="246756"/>
            </a:xfrm>
            <a:prstGeom prst="rect">
              <a:avLst/>
            </a:prstGeom>
          </p:spPr>
        </p:pic>
        <p:sp>
          <p:nvSpPr>
            <p:cNvPr id="67" name="TextBox 66">
              <a:extLst>
                <a:ext uri="{FF2B5EF4-FFF2-40B4-BE49-F238E27FC236}">
                  <a16:creationId xmlns:a16="http://schemas.microsoft.com/office/drawing/2014/main" id="{CD80CBB0-8188-29DC-2E32-4C620D807FED}"/>
                </a:ext>
              </a:extLst>
            </p:cNvPr>
            <p:cNvSpPr txBox="1"/>
            <p:nvPr/>
          </p:nvSpPr>
          <p:spPr>
            <a:xfrm>
              <a:off x="7875439" y="5149560"/>
              <a:ext cx="7117762" cy="756169"/>
            </a:xfrm>
            <a:prstGeom prst="rect">
              <a:avLst/>
            </a:prstGeom>
            <a:noFill/>
          </p:spPr>
          <p:txBody>
            <a:bodyPr wrap="square" rtlCol="0">
              <a:spAutoFit/>
            </a:bodyPr>
            <a:lstStyle/>
            <a:p>
              <a:pPr>
                <a:lnSpc>
                  <a:spcPct val="110000"/>
                </a:lnSpc>
              </a:pPr>
              <a:r>
                <a:rPr lang="en-US" sz="1000" b="1" kern="0" dirty="0">
                  <a:solidFill>
                    <a:schemeClr val="tx1">
                      <a:lumMod val="95000"/>
                      <a:lumOff val="5000"/>
                    </a:schemeClr>
                  </a:solidFill>
                  <a:cs typeface="Arial" pitchFamily="34" charset="0"/>
                </a:rPr>
                <a:t>Static Testing </a:t>
              </a:r>
              <a:r>
                <a:rPr lang="en-US" sz="1000" kern="0" dirty="0">
                  <a:solidFill>
                    <a:schemeClr val="tx1">
                      <a:lumMod val="95000"/>
                      <a:lumOff val="5000"/>
                    </a:schemeClr>
                  </a:solidFill>
                  <a:cs typeface="Arial" pitchFamily="34" charset="0"/>
                </a:rPr>
                <a:t>is a software testing technique to check for defects without executing code. This is done to avoid errors at an early stage of development as it is easier and more cost efficient to solve sooner. It is done through, informal reviews, walkthroughs, technical reviews, inspections etc. This is done by QA during the initial planning phase and as early as requirement and design enhancement.</a:t>
              </a:r>
            </a:p>
          </p:txBody>
        </p:sp>
      </p:grpSp>
      <p:cxnSp>
        <p:nvCxnSpPr>
          <p:cNvPr id="71" name="Straight Connector 70">
            <a:extLst>
              <a:ext uri="{FF2B5EF4-FFF2-40B4-BE49-F238E27FC236}">
                <a16:creationId xmlns:a16="http://schemas.microsoft.com/office/drawing/2014/main" id="{D1B0127F-969F-8136-02CC-96C355D223C5}"/>
              </a:ext>
            </a:extLst>
          </p:cNvPr>
          <p:cNvCxnSpPr>
            <a:cxnSpLocks/>
          </p:cNvCxnSpPr>
          <p:nvPr/>
        </p:nvCxnSpPr>
        <p:spPr>
          <a:xfrm>
            <a:off x="429470" y="3148975"/>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4F09FDD-F66F-E754-9783-D2496888D44F}"/>
              </a:ext>
            </a:extLst>
          </p:cNvPr>
          <p:cNvCxnSpPr>
            <a:cxnSpLocks/>
          </p:cNvCxnSpPr>
          <p:nvPr/>
        </p:nvCxnSpPr>
        <p:spPr>
          <a:xfrm>
            <a:off x="432954" y="2187406"/>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962FC6E0-2A68-D790-3271-E05C409AE706}"/>
              </a:ext>
            </a:extLst>
          </p:cNvPr>
          <p:cNvGrpSpPr/>
          <p:nvPr/>
        </p:nvGrpSpPr>
        <p:grpSpPr>
          <a:xfrm>
            <a:off x="448935" y="3223179"/>
            <a:ext cx="1757945" cy="738490"/>
            <a:chOff x="5404270" y="812282"/>
            <a:chExt cx="2024952" cy="979169"/>
          </a:xfrm>
        </p:grpSpPr>
        <p:grpSp>
          <p:nvGrpSpPr>
            <p:cNvPr id="3" name="Group 2">
              <a:extLst>
                <a:ext uri="{FF2B5EF4-FFF2-40B4-BE49-F238E27FC236}">
                  <a16:creationId xmlns:a16="http://schemas.microsoft.com/office/drawing/2014/main" id="{71FCF9AB-D15E-E598-81EC-1287B3C086FC}"/>
                </a:ext>
              </a:extLst>
            </p:cNvPr>
            <p:cNvGrpSpPr/>
            <p:nvPr/>
          </p:nvGrpSpPr>
          <p:grpSpPr>
            <a:xfrm>
              <a:off x="5404270" y="812282"/>
              <a:ext cx="2004765" cy="979169"/>
              <a:chOff x="5025750" y="1144513"/>
              <a:chExt cx="2425356" cy="1184595"/>
            </a:xfrm>
          </p:grpSpPr>
          <p:sp>
            <p:nvSpPr>
              <p:cNvPr id="14" name="Rectangle 13">
                <a:extLst>
                  <a:ext uri="{FF2B5EF4-FFF2-40B4-BE49-F238E27FC236}">
                    <a16:creationId xmlns:a16="http://schemas.microsoft.com/office/drawing/2014/main" id="{D1B2F2FA-593F-C015-D494-5022A328EE1D}"/>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5" name="Rectangle 14">
                <a:extLst>
                  <a:ext uri="{FF2B5EF4-FFF2-40B4-BE49-F238E27FC236}">
                    <a16:creationId xmlns:a16="http://schemas.microsoft.com/office/drawing/2014/main" id="{C90BDB2B-B5BD-63A7-F968-84F90EB830DC}"/>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7" name="Rectangle 16">
                <a:extLst>
                  <a:ext uri="{FF2B5EF4-FFF2-40B4-BE49-F238E27FC236}">
                    <a16:creationId xmlns:a16="http://schemas.microsoft.com/office/drawing/2014/main" id="{130E0DA9-E3A2-A673-329C-35FF2FFBDA97}"/>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4" name="TextBox 3">
              <a:extLst>
                <a:ext uri="{FF2B5EF4-FFF2-40B4-BE49-F238E27FC236}">
                  <a16:creationId xmlns:a16="http://schemas.microsoft.com/office/drawing/2014/main" id="{6B9259D4-2F5B-E922-CE7A-FD1270FD5841}"/>
                </a:ext>
              </a:extLst>
            </p:cNvPr>
            <p:cNvSpPr txBox="1"/>
            <p:nvPr/>
          </p:nvSpPr>
          <p:spPr>
            <a:xfrm>
              <a:off x="5792370" y="1072276"/>
              <a:ext cx="1636852" cy="530509"/>
            </a:xfrm>
            <a:prstGeom prst="rect">
              <a:avLst/>
            </a:prstGeom>
            <a:noFill/>
          </p:spPr>
          <p:txBody>
            <a:bodyPr wrap="square" rtlCol="0">
              <a:spAutoFit/>
            </a:bodyPr>
            <a:lstStyle/>
            <a:p>
              <a:r>
                <a:rPr lang="en-US" sz="1000" b="1">
                  <a:solidFill>
                    <a:schemeClr val="bg1"/>
                  </a:solidFill>
                </a:rPr>
                <a:t>System Functional Testing</a:t>
              </a:r>
              <a:endParaRPr lang="en-PH" sz="1000" b="1">
                <a:solidFill>
                  <a:schemeClr val="bg1"/>
                </a:solidFill>
              </a:endParaRPr>
            </a:p>
          </p:txBody>
        </p:sp>
      </p:grpSp>
      <p:sp>
        <p:nvSpPr>
          <p:cNvPr id="20" name="TextBox 19">
            <a:extLst>
              <a:ext uri="{FF2B5EF4-FFF2-40B4-BE49-F238E27FC236}">
                <a16:creationId xmlns:a16="http://schemas.microsoft.com/office/drawing/2014/main" id="{36D6C26C-F8FF-F5BA-550A-E19D809CFAF9}"/>
              </a:ext>
            </a:extLst>
          </p:cNvPr>
          <p:cNvSpPr txBox="1"/>
          <p:nvPr/>
        </p:nvSpPr>
        <p:spPr>
          <a:xfrm>
            <a:off x="2606535" y="3425302"/>
            <a:ext cx="7642556" cy="553998"/>
          </a:xfrm>
          <a:prstGeom prst="rect">
            <a:avLst/>
          </a:prstGeom>
          <a:noFill/>
        </p:spPr>
        <p:txBody>
          <a:bodyPr wrap="square" lIns="91440" tIns="45720" rIns="91440" bIns="45720" rtlCol="0" anchor="t">
            <a:spAutoFit/>
          </a:bodyPr>
          <a:lstStyle/>
          <a:p>
            <a:r>
              <a:rPr lang="en-CA" sz="1000" b="1" dirty="0">
                <a:solidFill>
                  <a:srgbClr val="1A2F45"/>
                </a:solidFill>
                <a:latin typeface="Segoe UI"/>
                <a:cs typeface="Segoe UI"/>
              </a:rPr>
              <a:t>System Functional Testing </a:t>
            </a:r>
            <a:r>
              <a:rPr lang="en-CA" sz="1000" dirty="0">
                <a:solidFill>
                  <a:schemeClr val="tx1">
                    <a:lumMod val="75000"/>
                    <a:lumOff val="25000"/>
                  </a:schemeClr>
                </a:solidFill>
                <a:latin typeface="Segoe UI"/>
                <a:cs typeface="Segoe UI"/>
              </a:rPr>
              <a:t>(System Functional test in the </a:t>
            </a:r>
            <a:r>
              <a:rPr lang="en-CA" sz="1000" b="1" dirty="0">
                <a:solidFill>
                  <a:schemeClr val="tx1">
                    <a:lumMod val="75000"/>
                    <a:lumOff val="25000"/>
                  </a:schemeClr>
                </a:solidFill>
                <a:latin typeface="Segoe UI"/>
                <a:cs typeface="Segoe UI"/>
              </a:rPr>
              <a:t>QA’s</a:t>
            </a:r>
            <a:r>
              <a:rPr lang="en-CA" sz="1000" dirty="0">
                <a:solidFill>
                  <a:schemeClr val="tx1">
                    <a:lumMod val="75000"/>
                    <a:lumOff val="25000"/>
                  </a:schemeClr>
                </a:solidFill>
                <a:latin typeface="Segoe UI"/>
                <a:cs typeface="Segoe UI"/>
              </a:rPr>
              <a:t> environment) This test will present the system level functionality to the PTW team and Miipe for purposes of Validation and Verification, to confirm that Story is functional and business details can be tested. </a:t>
            </a:r>
            <a:r>
              <a:rPr lang="en-US" sz="1000" b="1" dirty="0">
                <a:highlight>
                  <a:srgbClr val="FFFF00"/>
                </a:highlight>
                <a:latin typeface="Calibri"/>
                <a:ea typeface="Calibri"/>
                <a:cs typeface="Calibri"/>
              </a:rPr>
              <a:t>This phase is currently not owned by </a:t>
            </a:r>
            <a:r>
              <a:rPr lang="en-CA" sz="1000" b="1" dirty="0">
                <a:solidFill>
                  <a:schemeClr val="tx1">
                    <a:lumMod val="75000"/>
                    <a:lumOff val="25000"/>
                  </a:schemeClr>
                </a:solidFill>
                <a:highlight>
                  <a:srgbClr val="FFFF00"/>
                </a:highlight>
                <a:latin typeface="Segoe UI"/>
                <a:ea typeface="Calibri"/>
                <a:cs typeface="Segoe UI"/>
              </a:rPr>
              <a:t>QA Miipe team.</a:t>
            </a:r>
            <a:endParaRPr lang="en-CA" sz="1000" dirty="0">
              <a:solidFill>
                <a:schemeClr val="tx1">
                  <a:lumMod val="75000"/>
                  <a:lumOff val="25000"/>
                </a:schemeClr>
              </a:solidFill>
              <a:highlight>
                <a:srgbClr val="FFFF00"/>
              </a:highlight>
              <a:latin typeface="Segoe UI" panose="020B0502040204020203" pitchFamily="34" charset="0"/>
              <a:cs typeface="Segoe UI" panose="020B0502040204020203" pitchFamily="34" charset="0"/>
            </a:endParaRPr>
          </a:p>
        </p:txBody>
      </p:sp>
      <p:cxnSp>
        <p:nvCxnSpPr>
          <p:cNvPr id="21" name="Straight Connector 20">
            <a:extLst>
              <a:ext uri="{FF2B5EF4-FFF2-40B4-BE49-F238E27FC236}">
                <a16:creationId xmlns:a16="http://schemas.microsoft.com/office/drawing/2014/main" id="{56EA15E0-5862-255F-CB60-A287D7B83C73}"/>
              </a:ext>
            </a:extLst>
          </p:cNvPr>
          <p:cNvCxnSpPr>
            <a:cxnSpLocks/>
          </p:cNvCxnSpPr>
          <p:nvPr/>
        </p:nvCxnSpPr>
        <p:spPr>
          <a:xfrm>
            <a:off x="397542" y="4057989"/>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9360DD-D6D4-9FBF-5874-7CAF5F0CC118}"/>
              </a:ext>
            </a:extLst>
          </p:cNvPr>
          <p:cNvCxnSpPr>
            <a:cxnSpLocks/>
          </p:cNvCxnSpPr>
          <p:nvPr/>
        </p:nvCxnSpPr>
        <p:spPr>
          <a:xfrm>
            <a:off x="410005" y="5073884"/>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CC18E3D1-241A-6997-BC64-D40DDB171790}"/>
              </a:ext>
            </a:extLst>
          </p:cNvPr>
          <p:cNvGrpSpPr/>
          <p:nvPr/>
        </p:nvGrpSpPr>
        <p:grpSpPr>
          <a:xfrm>
            <a:off x="429470" y="4197429"/>
            <a:ext cx="1757945" cy="738490"/>
            <a:chOff x="5404270" y="812282"/>
            <a:chExt cx="2024952" cy="979169"/>
          </a:xfrm>
        </p:grpSpPr>
        <p:grpSp>
          <p:nvGrpSpPr>
            <p:cNvPr id="48" name="Group 47">
              <a:extLst>
                <a:ext uri="{FF2B5EF4-FFF2-40B4-BE49-F238E27FC236}">
                  <a16:creationId xmlns:a16="http://schemas.microsoft.com/office/drawing/2014/main" id="{04EB4012-01F8-6942-1055-0E8FCA4CC606}"/>
                </a:ext>
              </a:extLst>
            </p:cNvPr>
            <p:cNvGrpSpPr/>
            <p:nvPr/>
          </p:nvGrpSpPr>
          <p:grpSpPr>
            <a:xfrm>
              <a:off x="5404270" y="812282"/>
              <a:ext cx="2004765" cy="979169"/>
              <a:chOff x="5025750" y="1144513"/>
              <a:chExt cx="2425356" cy="1184595"/>
            </a:xfrm>
          </p:grpSpPr>
          <p:sp>
            <p:nvSpPr>
              <p:cNvPr id="54" name="Rectangle 53">
                <a:extLst>
                  <a:ext uri="{FF2B5EF4-FFF2-40B4-BE49-F238E27FC236}">
                    <a16:creationId xmlns:a16="http://schemas.microsoft.com/office/drawing/2014/main" id="{AF431E3E-A211-DA0D-080C-F1F0343FF831}"/>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55" name="Rectangle 54">
                <a:extLst>
                  <a:ext uri="{FF2B5EF4-FFF2-40B4-BE49-F238E27FC236}">
                    <a16:creationId xmlns:a16="http://schemas.microsoft.com/office/drawing/2014/main" id="{76D89439-FB4C-38D6-F1ED-9FA0AF111E92}"/>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97" name="Rectangle 96">
                <a:extLst>
                  <a:ext uri="{FF2B5EF4-FFF2-40B4-BE49-F238E27FC236}">
                    <a16:creationId xmlns:a16="http://schemas.microsoft.com/office/drawing/2014/main" id="{AB667FB9-5F65-EFF7-AFDF-A4788C4111B4}"/>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49" name="TextBox 48">
              <a:extLst>
                <a:ext uri="{FF2B5EF4-FFF2-40B4-BE49-F238E27FC236}">
                  <a16:creationId xmlns:a16="http://schemas.microsoft.com/office/drawing/2014/main" id="{18024B2D-68A2-64D6-770A-722F4747461E}"/>
                </a:ext>
              </a:extLst>
            </p:cNvPr>
            <p:cNvSpPr txBox="1"/>
            <p:nvPr/>
          </p:nvSpPr>
          <p:spPr>
            <a:xfrm>
              <a:off x="5792370" y="1072276"/>
              <a:ext cx="1636852" cy="530509"/>
            </a:xfrm>
            <a:prstGeom prst="rect">
              <a:avLst/>
            </a:prstGeom>
            <a:noFill/>
          </p:spPr>
          <p:txBody>
            <a:bodyPr wrap="square" rtlCol="0">
              <a:spAutoFit/>
            </a:bodyPr>
            <a:lstStyle/>
            <a:p>
              <a:r>
                <a:rPr lang="en-US" sz="1000" b="1">
                  <a:solidFill>
                    <a:schemeClr val="bg1"/>
                  </a:solidFill>
                </a:rPr>
                <a:t>System Integration Testing</a:t>
              </a:r>
              <a:endParaRPr lang="en-PH" sz="1000" b="1">
                <a:solidFill>
                  <a:schemeClr val="bg1"/>
                </a:solidFill>
              </a:endParaRPr>
            </a:p>
          </p:txBody>
        </p:sp>
      </p:grpSp>
      <p:sp>
        <p:nvSpPr>
          <p:cNvPr id="100" name="TextBox 99">
            <a:extLst>
              <a:ext uri="{FF2B5EF4-FFF2-40B4-BE49-F238E27FC236}">
                <a16:creationId xmlns:a16="http://schemas.microsoft.com/office/drawing/2014/main" id="{57C59ED8-9AA4-DCF3-E5CA-B83064CB10DF}"/>
              </a:ext>
            </a:extLst>
          </p:cNvPr>
          <p:cNvSpPr txBox="1"/>
          <p:nvPr/>
        </p:nvSpPr>
        <p:spPr>
          <a:xfrm>
            <a:off x="2599256" y="4281498"/>
            <a:ext cx="7642553" cy="553998"/>
          </a:xfrm>
          <a:prstGeom prst="rect">
            <a:avLst/>
          </a:prstGeom>
          <a:noFill/>
        </p:spPr>
        <p:txBody>
          <a:bodyPr wrap="square" lIns="91440" tIns="45720" rIns="91440" bIns="45720" rtlCol="0" anchor="t">
            <a:spAutoFit/>
          </a:bodyPr>
          <a:lstStyle/>
          <a:p>
            <a:pPr algn="just">
              <a:spcAft>
                <a:spcPts val="600"/>
              </a:spcAft>
            </a:pPr>
            <a:r>
              <a:rPr lang="en-CA" sz="1000" b="1" dirty="0">
                <a:solidFill>
                  <a:schemeClr val="tx1">
                    <a:lumMod val="75000"/>
                    <a:lumOff val="25000"/>
                  </a:schemeClr>
                </a:solidFill>
                <a:latin typeface="Segoe UI"/>
                <a:cs typeface="Segoe UI"/>
              </a:rPr>
              <a:t>System Integration Test</a:t>
            </a:r>
            <a:r>
              <a:rPr lang="en-CA" sz="1000" dirty="0">
                <a:solidFill>
                  <a:schemeClr val="tx1">
                    <a:lumMod val="75000"/>
                    <a:lumOff val="25000"/>
                  </a:schemeClr>
                </a:solidFill>
                <a:latin typeface="Segoe UI"/>
                <a:cs typeface="Segoe UI"/>
              </a:rPr>
              <a:t> (led by </a:t>
            </a:r>
            <a:r>
              <a:rPr lang="en-CA" sz="1000" b="1" dirty="0">
                <a:solidFill>
                  <a:schemeClr val="tx1">
                    <a:lumMod val="75000"/>
                    <a:lumOff val="25000"/>
                  </a:schemeClr>
                </a:solidFill>
                <a:latin typeface="Segoe UI"/>
                <a:cs typeface="Segoe UI"/>
              </a:rPr>
              <a:t>SI</a:t>
            </a:r>
            <a:r>
              <a:rPr lang="en-CA" sz="1000" dirty="0">
                <a:solidFill>
                  <a:schemeClr val="tx1">
                    <a:lumMod val="75000"/>
                    <a:lumOff val="25000"/>
                  </a:schemeClr>
                </a:solidFill>
                <a:latin typeface="Segoe UI"/>
                <a:cs typeface="Segoe UI"/>
              </a:rPr>
              <a:t>, executed by the</a:t>
            </a:r>
            <a:r>
              <a:rPr lang="en-CA" sz="1000" b="1" dirty="0">
                <a:solidFill>
                  <a:schemeClr val="tx1">
                    <a:lumMod val="75000"/>
                    <a:lumOff val="25000"/>
                  </a:schemeClr>
                </a:solidFill>
                <a:latin typeface="Segoe UI"/>
                <a:cs typeface="Segoe UI"/>
              </a:rPr>
              <a:t> QA Miipe Team</a:t>
            </a:r>
            <a:r>
              <a:rPr lang="en-CA" sz="1000" b="1" dirty="0">
                <a:solidFill>
                  <a:srgbClr val="FF0000"/>
                </a:solidFill>
                <a:latin typeface="Segoe UI"/>
                <a:cs typeface="Segoe UI"/>
              </a:rPr>
              <a:t> </a:t>
            </a:r>
            <a:r>
              <a:rPr lang="en-CA" sz="1000" b="1" dirty="0">
                <a:solidFill>
                  <a:schemeClr val="tx1">
                    <a:lumMod val="75000"/>
                    <a:lumOff val="25000"/>
                  </a:schemeClr>
                </a:solidFill>
                <a:latin typeface="Segoe UI"/>
                <a:cs typeface="Segoe UI"/>
              </a:rPr>
              <a:t>&amp; Dev Teams </a:t>
            </a:r>
            <a:r>
              <a:rPr lang="en-CA" sz="1000" dirty="0">
                <a:solidFill>
                  <a:schemeClr val="tx1">
                    <a:lumMod val="75000"/>
                    <a:lumOff val="25000"/>
                  </a:schemeClr>
                </a:solidFill>
                <a:latin typeface="Segoe UI"/>
                <a:cs typeface="Segoe UI"/>
              </a:rPr>
              <a:t>in the </a:t>
            </a:r>
            <a:r>
              <a:rPr lang="en-CA" sz="1000" b="1" dirty="0">
                <a:solidFill>
                  <a:schemeClr val="tx1">
                    <a:lumMod val="75000"/>
                    <a:lumOff val="25000"/>
                  </a:schemeClr>
                </a:solidFill>
                <a:latin typeface="Segoe UI"/>
                <a:cs typeface="Segoe UI"/>
              </a:rPr>
              <a:t>QA’s</a:t>
            </a:r>
            <a:r>
              <a:rPr lang="en-CA" sz="1000" dirty="0">
                <a:solidFill>
                  <a:schemeClr val="tx1">
                    <a:lumMod val="75000"/>
                    <a:lumOff val="25000"/>
                  </a:schemeClr>
                </a:solidFill>
                <a:latin typeface="Segoe UI"/>
                <a:cs typeface="Segoe UI"/>
              </a:rPr>
              <a:t> environment) is performed to ensure the applications and all interfaces to external systems perform correctly and can communicate together as per design. Regression, Load/Performance testing also falls within this period (but as part of this project, load/ performance is out of scope)</a:t>
            </a:r>
            <a:endParaRPr lang="en-US" sz="1000" dirty="0">
              <a:solidFill>
                <a:schemeClr val="tx1">
                  <a:lumMod val="75000"/>
                  <a:lumOff val="25000"/>
                </a:schemeClr>
              </a:solidFill>
              <a:latin typeface="Segoe UI"/>
              <a:cs typeface="Segoe UI"/>
            </a:endParaRPr>
          </a:p>
        </p:txBody>
      </p:sp>
      <p:cxnSp>
        <p:nvCxnSpPr>
          <p:cNvPr id="102" name="Straight Connector 101">
            <a:extLst>
              <a:ext uri="{FF2B5EF4-FFF2-40B4-BE49-F238E27FC236}">
                <a16:creationId xmlns:a16="http://schemas.microsoft.com/office/drawing/2014/main" id="{64EAABA7-FBD4-FAB3-997B-F43A94CDED81}"/>
              </a:ext>
            </a:extLst>
          </p:cNvPr>
          <p:cNvCxnSpPr>
            <a:cxnSpLocks/>
          </p:cNvCxnSpPr>
          <p:nvPr/>
        </p:nvCxnSpPr>
        <p:spPr>
          <a:xfrm>
            <a:off x="397542" y="6053125"/>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03" name="Group 102">
            <a:extLst>
              <a:ext uri="{FF2B5EF4-FFF2-40B4-BE49-F238E27FC236}">
                <a16:creationId xmlns:a16="http://schemas.microsoft.com/office/drawing/2014/main" id="{7FAA53B2-5271-E13E-5389-B01607FF4504}"/>
              </a:ext>
            </a:extLst>
          </p:cNvPr>
          <p:cNvGrpSpPr/>
          <p:nvPr/>
        </p:nvGrpSpPr>
        <p:grpSpPr>
          <a:xfrm>
            <a:off x="417007" y="5176670"/>
            <a:ext cx="1757945" cy="738490"/>
            <a:chOff x="5404270" y="812282"/>
            <a:chExt cx="2024952" cy="979169"/>
          </a:xfrm>
        </p:grpSpPr>
        <p:grpSp>
          <p:nvGrpSpPr>
            <p:cNvPr id="104" name="Group 103">
              <a:extLst>
                <a:ext uri="{FF2B5EF4-FFF2-40B4-BE49-F238E27FC236}">
                  <a16:creationId xmlns:a16="http://schemas.microsoft.com/office/drawing/2014/main" id="{70F9CBBF-FDFC-5AA5-136A-9BD5B323DC94}"/>
                </a:ext>
              </a:extLst>
            </p:cNvPr>
            <p:cNvGrpSpPr/>
            <p:nvPr/>
          </p:nvGrpSpPr>
          <p:grpSpPr>
            <a:xfrm>
              <a:off x="5404270" y="812282"/>
              <a:ext cx="2004765" cy="979169"/>
              <a:chOff x="5025750" y="1144513"/>
              <a:chExt cx="2425356" cy="1184595"/>
            </a:xfrm>
          </p:grpSpPr>
          <p:sp>
            <p:nvSpPr>
              <p:cNvPr id="106" name="Rectangle 105">
                <a:extLst>
                  <a:ext uri="{FF2B5EF4-FFF2-40B4-BE49-F238E27FC236}">
                    <a16:creationId xmlns:a16="http://schemas.microsoft.com/office/drawing/2014/main" id="{101D02FD-15BA-87D3-CD16-9B6F0FBFB45F}"/>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07" name="Rectangle 106">
                <a:extLst>
                  <a:ext uri="{FF2B5EF4-FFF2-40B4-BE49-F238E27FC236}">
                    <a16:creationId xmlns:a16="http://schemas.microsoft.com/office/drawing/2014/main" id="{61493E73-B3FF-ACD4-5E41-F1CBBA977BCD}"/>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08" name="Rectangle 107">
                <a:extLst>
                  <a:ext uri="{FF2B5EF4-FFF2-40B4-BE49-F238E27FC236}">
                    <a16:creationId xmlns:a16="http://schemas.microsoft.com/office/drawing/2014/main" id="{58DB6C6D-CC53-1F88-5F28-A14974FAE860}"/>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105" name="TextBox 104">
              <a:extLst>
                <a:ext uri="{FF2B5EF4-FFF2-40B4-BE49-F238E27FC236}">
                  <a16:creationId xmlns:a16="http://schemas.microsoft.com/office/drawing/2014/main" id="{D5D7713A-6200-40FB-7932-DC2F9CD1F883}"/>
                </a:ext>
              </a:extLst>
            </p:cNvPr>
            <p:cNvSpPr txBox="1"/>
            <p:nvPr/>
          </p:nvSpPr>
          <p:spPr>
            <a:xfrm>
              <a:off x="5792370" y="1157657"/>
              <a:ext cx="1636852" cy="326466"/>
            </a:xfrm>
            <a:prstGeom prst="rect">
              <a:avLst/>
            </a:prstGeom>
            <a:noFill/>
          </p:spPr>
          <p:txBody>
            <a:bodyPr wrap="square" rtlCol="0">
              <a:spAutoFit/>
            </a:bodyPr>
            <a:lstStyle/>
            <a:p>
              <a:r>
                <a:rPr lang="en-US" sz="1000" b="1">
                  <a:solidFill>
                    <a:schemeClr val="bg1"/>
                  </a:solidFill>
                </a:rPr>
                <a:t>End to End Testing</a:t>
              </a:r>
              <a:endParaRPr lang="en-PH" sz="1000" b="1">
                <a:solidFill>
                  <a:schemeClr val="bg1"/>
                </a:solidFill>
              </a:endParaRPr>
            </a:p>
          </p:txBody>
        </p:sp>
      </p:grpSp>
      <p:sp>
        <p:nvSpPr>
          <p:cNvPr id="111" name="TextBox 110">
            <a:extLst>
              <a:ext uri="{FF2B5EF4-FFF2-40B4-BE49-F238E27FC236}">
                <a16:creationId xmlns:a16="http://schemas.microsoft.com/office/drawing/2014/main" id="{9A8F3916-B805-9D86-5825-90AEDB3E2718}"/>
              </a:ext>
            </a:extLst>
          </p:cNvPr>
          <p:cNvSpPr txBox="1"/>
          <p:nvPr/>
        </p:nvSpPr>
        <p:spPr>
          <a:xfrm>
            <a:off x="2608271" y="5271469"/>
            <a:ext cx="7631805" cy="553998"/>
          </a:xfrm>
          <a:prstGeom prst="rect">
            <a:avLst/>
          </a:prstGeom>
          <a:noFill/>
        </p:spPr>
        <p:txBody>
          <a:bodyPr wrap="square" lIns="91440" tIns="45720" rIns="91440" bIns="45720" rtlCol="0" anchor="t">
            <a:spAutoFit/>
          </a:bodyPr>
          <a:lstStyle/>
          <a:p>
            <a:pPr algn="just">
              <a:spcAft>
                <a:spcPts val="600"/>
              </a:spcAft>
            </a:pPr>
            <a:r>
              <a:rPr lang="en-CA" sz="1000" b="1" dirty="0">
                <a:solidFill>
                  <a:srgbClr val="1A2F45"/>
                </a:solidFill>
                <a:latin typeface="Segoe UI"/>
                <a:cs typeface="Segoe UI"/>
              </a:rPr>
              <a:t>End to End </a:t>
            </a:r>
            <a:r>
              <a:rPr lang="en-CA" sz="1000" dirty="0">
                <a:solidFill>
                  <a:schemeClr val="tx1">
                    <a:lumMod val="75000"/>
                    <a:lumOff val="25000"/>
                  </a:schemeClr>
                </a:solidFill>
                <a:latin typeface="Segoe UI"/>
                <a:cs typeface="Segoe UI"/>
              </a:rPr>
              <a:t>(executed by the </a:t>
            </a:r>
            <a:r>
              <a:rPr lang="en-CA" sz="1000" b="1" dirty="0">
                <a:solidFill>
                  <a:schemeClr val="tx1">
                    <a:lumMod val="75000"/>
                    <a:lumOff val="25000"/>
                  </a:schemeClr>
                </a:solidFill>
                <a:latin typeface="Segoe UI"/>
                <a:cs typeface="Segoe UI"/>
              </a:rPr>
              <a:t>QA Miipe team </a:t>
            </a:r>
            <a:r>
              <a:rPr lang="en-CA" sz="1000" dirty="0">
                <a:solidFill>
                  <a:schemeClr val="tx1">
                    <a:lumMod val="75000"/>
                    <a:lumOff val="25000"/>
                  </a:schemeClr>
                </a:solidFill>
                <a:latin typeface="Segoe UI"/>
                <a:cs typeface="Segoe UI"/>
              </a:rPr>
              <a:t>in the </a:t>
            </a:r>
            <a:r>
              <a:rPr lang="en-CA" sz="1000" b="1" dirty="0">
                <a:solidFill>
                  <a:schemeClr val="tx1">
                    <a:lumMod val="75000"/>
                    <a:lumOff val="25000"/>
                  </a:schemeClr>
                </a:solidFill>
                <a:latin typeface="Segoe UI"/>
                <a:cs typeface="Segoe UI"/>
              </a:rPr>
              <a:t>QA’s</a:t>
            </a:r>
            <a:r>
              <a:rPr lang="en-CA" sz="1000" dirty="0">
                <a:solidFill>
                  <a:schemeClr val="tx1">
                    <a:lumMod val="75000"/>
                    <a:lumOff val="25000"/>
                  </a:schemeClr>
                </a:solidFill>
                <a:latin typeface="Segoe UI"/>
                <a:cs typeface="Segoe UI"/>
              </a:rPr>
              <a:t> environment) is performed to validate the functionality, end to end data flow, and reliability of the system from start to finish. It involves testing a complete workflow, simulating real-world scenarios and interactions; the full customer journey.</a:t>
            </a:r>
            <a:endParaRPr lang="en-US" sz="1000" dirty="0">
              <a:solidFill>
                <a:schemeClr val="tx1">
                  <a:lumMod val="75000"/>
                  <a:lumOff val="25000"/>
                </a:schemeClr>
              </a:solidFill>
              <a:latin typeface="Segoe UI"/>
              <a:cs typeface="Segoe UI"/>
            </a:endParaRPr>
          </a:p>
        </p:txBody>
      </p:sp>
      <p:grpSp>
        <p:nvGrpSpPr>
          <p:cNvPr id="35" name="Group 34">
            <a:extLst>
              <a:ext uri="{FF2B5EF4-FFF2-40B4-BE49-F238E27FC236}">
                <a16:creationId xmlns:a16="http://schemas.microsoft.com/office/drawing/2014/main" id="{D2A08222-5ED2-66B7-C73F-9D23D672D028}"/>
              </a:ext>
            </a:extLst>
          </p:cNvPr>
          <p:cNvGrpSpPr/>
          <p:nvPr/>
        </p:nvGrpSpPr>
        <p:grpSpPr>
          <a:xfrm>
            <a:off x="1" y="0"/>
            <a:ext cx="909836" cy="934466"/>
            <a:chOff x="0" y="0"/>
            <a:chExt cx="3161556" cy="3048050"/>
          </a:xfrm>
        </p:grpSpPr>
        <p:grpSp>
          <p:nvGrpSpPr>
            <p:cNvPr id="29" name="Group 28">
              <a:extLst>
                <a:ext uri="{FF2B5EF4-FFF2-40B4-BE49-F238E27FC236}">
                  <a16:creationId xmlns:a16="http://schemas.microsoft.com/office/drawing/2014/main" id="{16645EA7-B488-E256-C79A-B59902568558}"/>
                </a:ext>
              </a:extLst>
            </p:cNvPr>
            <p:cNvGrpSpPr/>
            <p:nvPr/>
          </p:nvGrpSpPr>
          <p:grpSpPr>
            <a:xfrm>
              <a:off x="0" y="0"/>
              <a:ext cx="2107704" cy="1988840"/>
              <a:chOff x="0" y="0"/>
              <a:chExt cx="2107704" cy="1988840"/>
            </a:xfrm>
          </p:grpSpPr>
          <p:sp>
            <p:nvSpPr>
              <p:cNvPr id="33" name="Rectangle 32">
                <a:extLst>
                  <a:ext uri="{FF2B5EF4-FFF2-40B4-BE49-F238E27FC236}">
                    <a16:creationId xmlns:a16="http://schemas.microsoft.com/office/drawing/2014/main" id="{BBC9AC07-4228-8EFB-D6D4-ABBC9E7C4B88}"/>
                  </a:ext>
                </a:extLst>
              </p:cNvPr>
              <p:cNvSpPr/>
              <p:nvPr/>
            </p:nvSpPr>
            <p:spPr>
              <a:xfrm>
                <a:off x="0" y="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4" name="Rectangle 33">
                <a:extLst>
                  <a:ext uri="{FF2B5EF4-FFF2-40B4-BE49-F238E27FC236}">
                    <a16:creationId xmlns:a16="http://schemas.microsoft.com/office/drawing/2014/main" id="{69FFAF80-40F7-1001-40C7-0CA961DC1386}"/>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30" name="Group 29">
              <a:extLst>
                <a:ext uri="{FF2B5EF4-FFF2-40B4-BE49-F238E27FC236}">
                  <a16:creationId xmlns:a16="http://schemas.microsoft.com/office/drawing/2014/main" id="{2B31701C-4DD1-8DD5-8447-D8076564114D}"/>
                </a:ext>
              </a:extLst>
            </p:cNvPr>
            <p:cNvGrpSpPr/>
            <p:nvPr/>
          </p:nvGrpSpPr>
          <p:grpSpPr>
            <a:xfrm flipH="1" flipV="1">
              <a:off x="1053852" y="1059210"/>
              <a:ext cx="2107704" cy="1988840"/>
              <a:chOff x="1580778" y="1268760"/>
              <a:chExt cx="2107704" cy="1988840"/>
            </a:xfrm>
          </p:grpSpPr>
          <p:sp>
            <p:nvSpPr>
              <p:cNvPr id="31" name="Rectangle 30">
                <a:extLst>
                  <a:ext uri="{FF2B5EF4-FFF2-40B4-BE49-F238E27FC236}">
                    <a16:creationId xmlns:a16="http://schemas.microsoft.com/office/drawing/2014/main" id="{53F34E3A-5A17-151C-6442-B48F0DAFCC1A}"/>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2" name="Rectangle 31">
                <a:extLst>
                  <a:ext uri="{FF2B5EF4-FFF2-40B4-BE49-F238E27FC236}">
                    <a16:creationId xmlns:a16="http://schemas.microsoft.com/office/drawing/2014/main" id="{D56A9F67-B379-980C-B9C4-B62B7A4160C1}"/>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53" name="Group 52">
            <a:extLst>
              <a:ext uri="{FF2B5EF4-FFF2-40B4-BE49-F238E27FC236}">
                <a16:creationId xmlns:a16="http://schemas.microsoft.com/office/drawing/2014/main" id="{FF64F635-A22D-D48E-FFED-306427631DEF}"/>
              </a:ext>
            </a:extLst>
          </p:cNvPr>
          <p:cNvGrpSpPr/>
          <p:nvPr/>
        </p:nvGrpSpPr>
        <p:grpSpPr>
          <a:xfrm>
            <a:off x="10342891" y="4962097"/>
            <a:ext cx="1845935" cy="1895903"/>
            <a:chOff x="0" y="0"/>
            <a:chExt cx="3161556" cy="3048050"/>
          </a:xfrm>
        </p:grpSpPr>
        <p:grpSp>
          <p:nvGrpSpPr>
            <p:cNvPr id="42" name="Group 41">
              <a:extLst>
                <a:ext uri="{FF2B5EF4-FFF2-40B4-BE49-F238E27FC236}">
                  <a16:creationId xmlns:a16="http://schemas.microsoft.com/office/drawing/2014/main" id="{0369FCF1-0C8B-F338-55EF-C75E40C6846C}"/>
                </a:ext>
              </a:extLst>
            </p:cNvPr>
            <p:cNvGrpSpPr/>
            <p:nvPr/>
          </p:nvGrpSpPr>
          <p:grpSpPr>
            <a:xfrm>
              <a:off x="0" y="0"/>
              <a:ext cx="2107704" cy="2241545"/>
              <a:chOff x="0" y="0"/>
              <a:chExt cx="2107704" cy="2241545"/>
            </a:xfrm>
          </p:grpSpPr>
          <p:sp>
            <p:nvSpPr>
              <p:cNvPr id="51" name="Rectangle 50">
                <a:extLst>
                  <a:ext uri="{FF2B5EF4-FFF2-40B4-BE49-F238E27FC236}">
                    <a16:creationId xmlns:a16="http://schemas.microsoft.com/office/drawing/2014/main" id="{D2444AD0-3659-3621-FF36-6118878A0D61}"/>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2" name="Rectangle 51">
                <a:extLst>
                  <a:ext uri="{FF2B5EF4-FFF2-40B4-BE49-F238E27FC236}">
                    <a16:creationId xmlns:a16="http://schemas.microsoft.com/office/drawing/2014/main" id="{6CCC6F7E-B099-DFE4-FFD8-38A3D34BA346}"/>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46" name="Group 45">
              <a:extLst>
                <a:ext uri="{FF2B5EF4-FFF2-40B4-BE49-F238E27FC236}">
                  <a16:creationId xmlns:a16="http://schemas.microsoft.com/office/drawing/2014/main" id="{53953A6F-7EC3-1FAF-23D0-0A7A4348E1A3}"/>
                </a:ext>
              </a:extLst>
            </p:cNvPr>
            <p:cNvGrpSpPr/>
            <p:nvPr/>
          </p:nvGrpSpPr>
          <p:grpSpPr>
            <a:xfrm flipH="1" flipV="1">
              <a:off x="1053853" y="1059210"/>
              <a:ext cx="2107703" cy="1988840"/>
              <a:chOff x="1580778" y="1268760"/>
              <a:chExt cx="2107703" cy="1988840"/>
            </a:xfrm>
          </p:grpSpPr>
          <p:sp>
            <p:nvSpPr>
              <p:cNvPr id="47" name="Rectangle 46">
                <a:extLst>
                  <a:ext uri="{FF2B5EF4-FFF2-40B4-BE49-F238E27FC236}">
                    <a16:creationId xmlns:a16="http://schemas.microsoft.com/office/drawing/2014/main" id="{035D60C5-4BB1-B7E6-C678-7FF23247BF40}"/>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0" name="Rectangle 49">
                <a:extLst>
                  <a:ext uri="{FF2B5EF4-FFF2-40B4-BE49-F238E27FC236}">
                    <a16:creationId xmlns:a16="http://schemas.microsoft.com/office/drawing/2014/main" id="{DC6C1D03-19B9-B42B-D375-B15AD9FEDAE0}"/>
                  </a:ext>
                </a:extLst>
              </p:cNvPr>
              <p:cNvSpPr/>
              <p:nvPr/>
            </p:nvSpPr>
            <p:spPr>
              <a:xfrm rot="5400000">
                <a:off x="2758303" y="1145086"/>
                <a:ext cx="806504" cy="105385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58" name="Graphic 57" descr="Circle with left arrow with solid fill">
            <a:extLst>
              <a:ext uri="{FF2B5EF4-FFF2-40B4-BE49-F238E27FC236}">
                <a16:creationId xmlns:a16="http://schemas.microsoft.com/office/drawing/2014/main" id="{9CF52975-B699-4FBD-3094-F0AD611AE6C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2333025" y="2560935"/>
            <a:ext cx="267976" cy="246756"/>
          </a:xfrm>
          <a:prstGeom prst="rect">
            <a:avLst/>
          </a:prstGeom>
        </p:spPr>
      </p:pic>
      <p:pic>
        <p:nvPicPr>
          <p:cNvPr id="60" name="Graphic 59" descr="Circle with left arrow with solid fill">
            <a:extLst>
              <a:ext uri="{FF2B5EF4-FFF2-40B4-BE49-F238E27FC236}">
                <a16:creationId xmlns:a16="http://schemas.microsoft.com/office/drawing/2014/main" id="{9CBF07AE-CFFA-EC82-0B6C-D8B13538C86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2333025" y="3473189"/>
            <a:ext cx="267976" cy="246756"/>
          </a:xfrm>
          <a:prstGeom prst="rect">
            <a:avLst/>
          </a:prstGeom>
        </p:spPr>
      </p:pic>
      <p:pic>
        <p:nvPicPr>
          <p:cNvPr id="63" name="Graphic 62" descr="Circle with left arrow with solid fill">
            <a:extLst>
              <a:ext uri="{FF2B5EF4-FFF2-40B4-BE49-F238E27FC236}">
                <a16:creationId xmlns:a16="http://schemas.microsoft.com/office/drawing/2014/main" id="{FA6C5CAC-8EF4-F05A-2055-07DD2E4B957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2333025" y="4460569"/>
            <a:ext cx="267976" cy="246756"/>
          </a:xfrm>
          <a:prstGeom prst="rect">
            <a:avLst/>
          </a:prstGeom>
        </p:spPr>
      </p:pic>
      <p:pic>
        <p:nvPicPr>
          <p:cNvPr id="68" name="Graphic 67" descr="Circle with left arrow with solid fill">
            <a:extLst>
              <a:ext uri="{FF2B5EF4-FFF2-40B4-BE49-F238E27FC236}">
                <a16:creationId xmlns:a16="http://schemas.microsoft.com/office/drawing/2014/main" id="{658CCB4E-F14B-204C-BFB6-A2FAEEF0AB5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2333025" y="5426485"/>
            <a:ext cx="267976" cy="246756"/>
          </a:xfrm>
          <a:prstGeom prst="rect">
            <a:avLst/>
          </a:prstGeom>
        </p:spPr>
      </p:pic>
      <p:pic>
        <p:nvPicPr>
          <p:cNvPr id="70" name="Picture 69" descr="BEll company logo">
            <a:extLst>
              <a:ext uri="{FF2B5EF4-FFF2-40B4-BE49-F238E27FC236}">
                <a16:creationId xmlns:a16="http://schemas.microsoft.com/office/drawing/2014/main" id="{A9D07B88-87B3-8DBD-FED2-AC515FEDC765}"/>
              </a:ext>
            </a:extLst>
          </p:cNvPr>
          <p:cNvPicPr>
            <a:picLocks noChangeAspect="1"/>
          </p:cNvPicPr>
          <p:nvPr/>
        </p:nvPicPr>
        <p:blipFill>
          <a:blip r:embed="rId4"/>
          <a:stretch>
            <a:fillRect/>
          </a:stretch>
        </p:blipFill>
        <p:spPr>
          <a:xfrm>
            <a:off x="11009239" y="535828"/>
            <a:ext cx="514513" cy="400050"/>
          </a:xfrm>
          <a:prstGeom prst="rect">
            <a:avLst/>
          </a:prstGeom>
        </p:spPr>
      </p:pic>
    </p:spTree>
    <p:extLst>
      <p:ext uri="{BB962C8B-B14F-4D97-AF65-F5344CB8AC3E}">
        <p14:creationId xmlns:p14="http://schemas.microsoft.com/office/powerpoint/2010/main" val="2386774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4" decel="80000" fill="hold" nodeType="withEffect">
                                  <p:stCondLst>
                                    <p:cond delay="200"/>
                                  </p:stCondLst>
                                  <p:childTnLst>
                                    <p:set>
                                      <p:cBhvr>
                                        <p:cTn id="9" dur="1" fill="hold">
                                          <p:stCondLst>
                                            <p:cond delay="0"/>
                                          </p:stCondLst>
                                        </p:cTn>
                                        <p:tgtEl>
                                          <p:spTgt spid="62"/>
                                        </p:tgtEl>
                                        <p:attrNameLst>
                                          <p:attrName>style.visibility</p:attrName>
                                        </p:attrNameLst>
                                      </p:cBhvr>
                                      <p:to>
                                        <p:strVal val="visible"/>
                                      </p:to>
                                    </p:set>
                                    <p:anim calcmode="lin" valueType="num">
                                      <p:cBhvr additive="base">
                                        <p:cTn id="10" dur="500" fill="hold"/>
                                        <p:tgtEl>
                                          <p:spTgt spid="62"/>
                                        </p:tgtEl>
                                        <p:attrNameLst>
                                          <p:attrName>ppt_x</p:attrName>
                                        </p:attrNameLst>
                                      </p:cBhvr>
                                      <p:tavLst>
                                        <p:tav tm="0">
                                          <p:val>
                                            <p:strVal val="#ppt_x"/>
                                          </p:val>
                                        </p:tav>
                                        <p:tav tm="100000">
                                          <p:val>
                                            <p:strVal val="#ppt_x"/>
                                          </p:val>
                                        </p:tav>
                                      </p:tavLst>
                                    </p:anim>
                                    <p:anim calcmode="lin" valueType="num">
                                      <p:cBhvr additive="base">
                                        <p:cTn id="11" dur="500" fill="hold"/>
                                        <p:tgtEl>
                                          <p:spTgt spid="62"/>
                                        </p:tgtEl>
                                        <p:attrNameLst>
                                          <p:attrName>ppt_y</p:attrName>
                                        </p:attrNameLst>
                                      </p:cBhvr>
                                      <p:tavLst>
                                        <p:tav tm="0">
                                          <p:val>
                                            <p:strVal val="1+#ppt_h/2"/>
                                          </p:val>
                                        </p:tav>
                                        <p:tav tm="100000">
                                          <p:val>
                                            <p:strVal val="#ppt_y"/>
                                          </p:val>
                                        </p:tav>
                                      </p:tavLst>
                                    </p:anim>
                                  </p:childTnLst>
                                </p:cTn>
                              </p:par>
                              <p:par>
                                <p:cTn id="12" presetID="2" presetClass="entr" presetSubtype="4" decel="80000" fill="hold" nodeType="withEffect">
                                  <p:stCondLst>
                                    <p:cond delay="800"/>
                                  </p:stCondLst>
                                  <p:childTnLst>
                                    <p:set>
                                      <p:cBhvr>
                                        <p:cTn id="13" dur="1" fill="hold">
                                          <p:stCondLst>
                                            <p:cond delay="0"/>
                                          </p:stCondLst>
                                        </p:cTn>
                                        <p:tgtEl>
                                          <p:spTgt spid="65"/>
                                        </p:tgtEl>
                                        <p:attrNameLst>
                                          <p:attrName>style.visibility</p:attrName>
                                        </p:attrNameLst>
                                      </p:cBhvr>
                                      <p:to>
                                        <p:strVal val="visible"/>
                                      </p:to>
                                    </p:set>
                                    <p:anim calcmode="lin" valueType="num">
                                      <p:cBhvr additive="base">
                                        <p:cTn id="14" dur="500" fill="hold"/>
                                        <p:tgtEl>
                                          <p:spTgt spid="65"/>
                                        </p:tgtEl>
                                        <p:attrNameLst>
                                          <p:attrName>ppt_x</p:attrName>
                                        </p:attrNameLst>
                                      </p:cBhvr>
                                      <p:tavLst>
                                        <p:tav tm="0">
                                          <p:val>
                                            <p:strVal val="#ppt_x"/>
                                          </p:val>
                                        </p:tav>
                                        <p:tav tm="100000">
                                          <p:val>
                                            <p:strVal val="#ppt_x"/>
                                          </p:val>
                                        </p:tav>
                                      </p:tavLst>
                                    </p:anim>
                                    <p:anim calcmode="lin" valueType="num">
                                      <p:cBhvr additive="base">
                                        <p:cTn id="15" dur="500" fill="hold"/>
                                        <p:tgtEl>
                                          <p:spTgt spid="65"/>
                                        </p:tgtEl>
                                        <p:attrNameLst>
                                          <p:attrName>ppt_y</p:attrName>
                                        </p:attrNameLst>
                                      </p:cBhvr>
                                      <p:tavLst>
                                        <p:tav tm="0">
                                          <p:val>
                                            <p:strVal val="1+#ppt_h/2"/>
                                          </p:val>
                                        </p:tav>
                                        <p:tav tm="100000">
                                          <p:val>
                                            <p:strVal val="#ppt_y"/>
                                          </p:val>
                                        </p:tav>
                                      </p:tavLst>
                                    </p:anim>
                                  </p:childTnLst>
                                </p:cTn>
                              </p:par>
                              <p:par>
                                <p:cTn id="16" presetID="10" presetClass="entr" presetSubtype="0" fill="hold" nodeType="withEffect">
                                  <p:stCondLst>
                                    <p:cond delay="900"/>
                                  </p:stCondLst>
                                  <p:childTnLst>
                                    <p:set>
                                      <p:cBhvr>
                                        <p:cTn id="17" dur="1" fill="hold">
                                          <p:stCondLst>
                                            <p:cond delay="0"/>
                                          </p:stCondLst>
                                        </p:cTn>
                                        <p:tgtEl>
                                          <p:spTgt spid="86"/>
                                        </p:tgtEl>
                                        <p:attrNameLst>
                                          <p:attrName>style.visibility</p:attrName>
                                        </p:attrNameLst>
                                      </p:cBhvr>
                                      <p:to>
                                        <p:strVal val="visible"/>
                                      </p:to>
                                    </p:set>
                                    <p:animEffect transition="in" filter="fade">
                                      <p:cBhvr>
                                        <p:cTn id="18" dur="500"/>
                                        <p:tgtEl>
                                          <p:spTgt spid="86"/>
                                        </p:tgtEl>
                                      </p:cBhvr>
                                    </p:animEffect>
                                  </p:childTnLst>
                                </p:cTn>
                              </p:par>
                              <p:par>
                                <p:cTn id="19" presetID="16" presetClass="entr" presetSubtype="37" fill="hold" nodeType="withEffect">
                                  <p:stCondLst>
                                    <p:cond delay="900"/>
                                  </p:stCondLst>
                                  <p:childTnLst>
                                    <p:set>
                                      <p:cBhvr>
                                        <p:cTn id="20" dur="1" fill="hold">
                                          <p:stCondLst>
                                            <p:cond delay="0"/>
                                          </p:stCondLst>
                                        </p:cTn>
                                        <p:tgtEl>
                                          <p:spTgt spid="71"/>
                                        </p:tgtEl>
                                        <p:attrNameLst>
                                          <p:attrName>style.visibility</p:attrName>
                                        </p:attrNameLst>
                                      </p:cBhvr>
                                      <p:to>
                                        <p:strVal val="visible"/>
                                      </p:to>
                                    </p:set>
                                    <p:animEffect transition="in" filter="barn(outVertical)">
                                      <p:cBhvr>
                                        <p:cTn id="21" dur="500"/>
                                        <p:tgtEl>
                                          <p:spTgt spid="71"/>
                                        </p:tgtEl>
                                      </p:cBhvr>
                                    </p:animEffect>
                                  </p:childTnLst>
                                </p:cTn>
                              </p:par>
                              <p:par>
                                <p:cTn id="22" presetID="16" presetClass="entr" presetSubtype="37" fill="hold" nodeType="withEffect">
                                  <p:stCondLst>
                                    <p:cond delay="1100"/>
                                  </p:stCondLst>
                                  <p:childTnLst>
                                    <p:set>
                                      <p:cBhvr>
                                        <p:cTn id="23" dur="1" fill="hold">
                                          <p:stCondLst>
                                            <p:cond delay="0"/>
                                          </p:stCondLst>
                                        </p:cTn>
                                        <p:tgtEl>
                                          <p:spTgt spid="73"/>
                                        </p:tgtEl>
                                        <p:attrNameLst>
                                          <p:attrName>style.visibility</p:attrName>
                                        </p:attrNameLst>
                                      </p:cBhvr>
                                      <p:to>
                                        <p:strVal val="visible"/>
                                      </p:to>
                                    </p:set>
                                    <p:animEffect transition="in" filter="barn(outVertical)">
                                      <p:cBhvr>
                                        <p:cTn id="24" dur="500"/>
                                        <p:tgtEl>
                                          <p:spTgt spid="73"/>
                                        </p:tgtEl>
                                      </p:cBhvr>
                                    </p:animEffect>
                                  </p:childTnLst>
                                </p:cTn>
                              </p:par>
                              <p:par>
                                <p:cTn id="25" presetID="2" presetClass="entr" presetSubtype="4" decel="80000" fill="hold" nodeType="withEffect">
                                  <p:stCondLst>
                                    <p:cond delay="20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par>
                                <p:cTn id="29" presetID="16" presetClass="entr" presetSubtype="37" fill="hold" nodeType="withEffect">
                                  <p:stCondLst>
                                    <p:cond delay="900"/>
                                  </p:stCondLst>
                                  <p:childTnLst>
                                    <p:set>
                                      <p:cBhvr>
                                        <p:cTn id="30" dur="1" fill="hold">
                                          <p:stCondLst>
                                            <p:cond delay="0"/>
                                          </p:stCondLst>
                                        </p:cTn>
                                        <p:tgtEl>
                                          <p:spTgt spid="21"/>
                                        </p:tgtEl>
                                        <p:attrNameLst>
                                          <p:attrName>style.visibility</p:attrName>
                                        </p:attrNameLst>
                                      </p:cBhvr>
                                      <p:to>
                                        <p:strVal val="visible"/>
                                      </p:to>
                                    </p:set>
                                    <p:animEffect transition="in" filter="barn(outVertical)">
                                      <p:cBhvr>
                                        <p:cTn id="31" dur="500"/>
                                        <p:tgtEl>
                                          <p:spTgt spid="21"/>
                                        </p:tgtEl>
                                      </p:cBhvr>
                                    </p:animEffect>
                                  </p:childTnLst>
                                </p:cTn>
                              </p:par>
                              <p:par>
                                <p:cTn id="32" presetID="16" presetClass="entr" presetSubtype="37" fill="hold" nodeType="withEffect">
                                  <p:stCondLst>
                                    <p:cond delay="1300"/>
                                  </p:stCondLst>
                                  <p:childTnLst>
                                    <p:set>
                                      <p:cBhvr>
                                        <p:cTn id="33" dur="1" fill="hold">
                                          <p:stCondLst>
                                            <p:cond delay="0"/>
                                          </p:stCondLst>
                                        </p:cTn>
                                        <p:tgtEl>
                                          <p:spTgt spid="22"/>
                                        </p:tgtEl>
                                        <p:attrNameLst>
                                          <p:attrName>style.visibility</p:attrName>
                                        </p:attrNameLst>
                                      </p:cBhvr>
                                      <p:to>
                                        <p:strVal val="visible"/>
                                      </p:to>
                                    </p:set>
                                    <p:animEffect transition="in" filter="barn(outVertical)">
                                      <p:cBhvr>
                                        <p:cTn id="34" dur="500"/>
                                        <p:tgtEl>
                                          <p:spTgt spid="22"/>
                                        </p:tgtEl>
                                      </p:cBhvr>
                                    </p:animEffect>
                                  </p:childTnLst>
                                </p:cTn>
                              </p:par>
                              <p:par>
                                <p:cTn id="35" presetID="2" presetClass="entr" presetSubtype="4" decel="80000" fill="hold" nodeType="withEffect">
                                  <p:stCondLst>
                                    <p:cond delay="20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par>
                                <p:cTn id="39" presetID="16" presetClass="entr" presetSubtype="37" fill="hold" nodeType="withEffect">
                                  <p:stCondLst>
                                    <p:cond delay="1300"/>
                                  </p:stCondLst>
                                  <p:childTnLst>
                                    <p:set>
                                      <p:cBhvr>
                                        <p:cTn id="40" dur="1" fill="hold">
                                          <p:stCondLst>
                                            <p:cond delay="0"/>
                                          </p:stCondLst>
                                        </p:cTn>
                                        <p:tgtEl>
                                          <p:spTgt spid="102"/>
                                        </p:tgtEl>
                                        <p:attrNameLst>
                                          <p:attrName>style.visibility</p:attrName>
                                        </p:attrNameLst>
                                      </p:cBhvr>
                                      <p:to>
                                        <p:strVal val="visible"/>
                                      </p:to>
                                    </p:set>
                                    <p:animEffect transition="in" filter="barn(outVertical)">
                                      <p:cBhvr>
                                        <p:cTn id="41" dur="500"/>
                                        <p:tgtEl>
                                          <p:spTgt spid="102"/>
                                        </p:tgtEl>
                                      </p:cBhvr>
                                    </p:animEffect>
                                  </p:childTnLst>
                                </p:cTn>
                              </p:par>
                              <p:par>
                                <p:cTn id="42" presetID="2" presetClass="entr" presetSubtype="4" decel="80000" fill="hold" nodeType="withEffect">
                                  <p:stCondLst>
                                    <p:cond delay="200"/>
                                  </p:stCondLst>
                                  <p:childTnLst>
                                    <p:set>
                                      <p:cBhvr>
                                        <p:cTn id="43" dur="1" fill="hold">
                                          <p:stCondLst>
                                            <p:cond delay="0"/>
                                          </p:stCondLst>
                                        </p:cTn>
                                        <p:tgtEl>
                                          <p:spTgt spid="103"/>
                                        </p:tgtEl>
                                        <p:attrNameLst>
                                          <p:attrName>style.visibility</p:attrName>
                                        </p:attrNameLst>
                                      </p:cBhvr>
                                      <p:to>
                                        <p:strVal val="visible"/>
                                      </p:to>
                                    </p:set>
                                    <p:anim calcmode="lin" valueType="num">
                                      <p:cBhvr additive="base">
                                        <p:cTn id="44" dur="500" fill="hold"/>
                                        <p:tgtEl>
                                          <p:spTgt spid="103"/>
                                        </p:tgtEl>
                                        <p:attrNameLst>
                                          <p:attrName>ppt_x</p:attrName>
                                        </p:attrNameLst>
                                      </p:cBhvr>
                                      <p:tavLst>
                                        <p:tav tm="0">
                                          <p:val>
                                            <p:strVal val="#ppt_x"/>
                                          </p:val>
                                        </p:tav>
                                        <p:tav tm="100000">
                                          <p:val>
                                            <p:strVal val="#ppt_x"/>
                                          </p:val>
                                        </p:tav>
                                      </p:tavLst>
                                    </p:anim>
                                    <p:anim calcmode="lin" valueType="num">
                                      <p:cBhvr additive="base">
                                        <p:cTn id="45" dur="500" fill="hold"/>
                                        <p:tgtEl>
                                          <p:spTgt spid="103"/>
                                        </p:tgtEl>
                                        <p:attrNameLst>
                                          <p:attrName>ppt_y</p:attrName>
                                        </p:attrNameLst>
                                      </p:cBhvr>
                                      <p:tavLst>
                                        <p:tav tm="0">
                                          <p:val>
                                            <p:strVal val="1+#ppt_h/2"/>
                                          </p:val>
                                        </p:tav>
                                        <p:tav tm="100000">
                                          <p:val>
                                            <p:strVal val="#ppt_y"/>
                                          </p:val>
                                        </p:tav>
                                      </p:tavLst>
                                    </p:anim>
                                  </p:childTnLst>
                                </p:cTn>
                              </p:par>
                              <p:par>
                                <p:cTn id="46" presetID="2" presetClass="entr" presetSubtype="9" decel="80000" fill="hold" nodeType="withEffect">
                                  <p:stCondLst>
                                    <p:cond delay="0"/>
                                  </p:stCondLst>
                                  <p:childTnLst>
                                    <p:set>
                                      <p:cBhvr>
                                        <p:cTn id="47" dur="1" fill="hold">
                                          <p:stCondLst>
                                            <p:cond delay="0"/>
                                          </p:stCondLst>
                                        </p:cTn>
                                        <p:tgtEl>
                                          <p:spTgt spid="35"/>
                                        </p:tgtEl>
                                        <p:attrNameLst>
                                          <p:attrName>style.visibility</p:attrName>
                                        </p:attrNameLst>
                                      </p:cBhvr>
                                      <p:to>
                                        <p:strVal val="visible"/>
                                      </p:to>
                                    </p:set>
                                    <p:anim calcmode="lin" valueType="num">
                                      <p:cBhvr additive="base">
                                        <p:cTn id="48" dur="500" fill="hold"/>
                                        <p:tgtEl>
                                          <p:spTgt spid="35"/>
                                        </p:tgtEl>
                                        <p:attrNameLst>
                                          <p:attrName>ppt_x</p:attrName>
                                        </p:attrNameLst>
                                      </p:cBhvr>
                                      <p:tavLst>
                                        <p:tav tm="0">
                                          <p:val>
                                            <p:strVal val="0-#ppt_w/2"/>
                                          </p:val>
                                        </p:tav>
                                        <p:tav tm="100000">
                                          <p:val>
                                            <p:strVal val="#ppt_x"/>
                                          </p:val>
                                        </p:tav>
                                      </p:tavLst>
                                    </p:anim>
                                    <p:anim calcmode="lin" valueType="num">
                                      <p:cBhvr additive="base">
                                        <p:cTn id="49" dur="500" fill="hold"/>
                                        <p:tgtEl>
                                          <p:spTgt spid="35"/>
                                        </p:tgtEl>
                                        <p:attrNameLst>
                                          <p:attrName>ppt_y</p:attrName>
                                        </p:attrNameLst>
                                      </p:cBhvr>
                                      <p:tavLst>
                                        <p:tav tm="0">
                                          <p:val>
                                            <p:strVal val="0-#ppt_h/2"/>
                                          </p:val>
                                        </p:tav>
                                        <p:tav tm="100000">
                                          <p:val>
                                            <p:strVal val="#ppt_y"/>
                                          </p:val>
                                        </p:tav>
                                      </p:tavLst>
                                    </p:anim>
                                  </p:childTnLst>
                                </p:cTn>
                              </p:par>
                              <p:par>
                                <p:cTn id="50" presetID="2" presetClass="entr" presetSubtype="6" decel="80000" fill="hold" nodeType="withEffect">
                                  <p:stCondLst>
                                    <p:cond delay="0"/>
                                  </p:stCondLst>
                                  <p:childTnLst>
                                    <p:set>
                                      <p:cBhvr>
                                        <p:cTn id="51" dur="1" fill="hold">
                                          <p:stCondLst>
                                            <p:cond delay="0"/>
                                          </p:stCondLst>
                                        </p:cTn>
                                        <p:tgtEl>
                                          <p:spTgt spid="53"/>
                                        </p:tgtEl>
                                        <p:attrNameLst>
                                          <p:attrName>style.visibility</p:attrName>
                                        </p:attrNameLst>
                                      </p:cBhvr>
                                      <p:to>
                                        <p:strVal val="visible"/>
                                      </p:to>
                                    </p:set>
                                    <p:anim calcmode="lin" valueType="num">
                                      <p:cBhvr additive="base">
                                        <p:cTn id="52" dur="500" fill="hold"/>
                                        <p:tgtEl>
                                          <p:spTgt spid="53"/>
                                        </p:tgtEl>
                                        <p:attrNameLst>
                                          <p:attrName>ppt_x</p:attrName>
                                        </p:attrNameLst>
                                      </p:cBhvr>
                                      <p:tavLst>
                                        <p:tav tm="0">
                                          <p:val>
                                            <p:strVal val="1+#ppt_w/2"/>
                                          </p:val>
                                        </p:tav>
                                        <p:tav tm="100000">
                                          <p:val>
                                            <p:strVal val="#ppt_x"/>
                                          </p:val>
                                        </p:tav>
                                      </p:tavLst>
                                    </p:anim>
                                    <p:anim calcmode="lin" valueType="num">
                                      <p:cBhvr additive="base">
                                        <p:cTn id="53"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93F4B-820A-06CA-BA98-E1868C5690DB}"/>
              </a:ext>
            </a:extLst>
          </p:cNvPr>
          <p:cNvSpPr>
            <a:spLocks noGrp="1"/>
          </p:cNvSpPr>
          <p:nvPr>
            <p:ph type="title" idx="4294967295"/>
          </p:nvPr>
        </p:nvSpPr>
        <p:spPr>
          <a:xfrm>
            <a:off x="1159818" y="471532"/>
            <a:ext cx="2421946" cy="626640"/>
          </a:xfrm>
        </p:spPr>
        <p:txBody>
          <a:bodyPr/>
          <a:lstStyle/>
          <a:p>
            <a:r>
              <a:rPr lang="en-US" sz="3200">
                <a:latin typeface="Arial"/>
                <a:cs typeface="Arial"/>
              </a:rPr>
              <a:t>Test Cycles</a:t>
            </a:r>
            <a:endParaRPr lang="en-PH" sz="3200">
              <a:latin typeface="Arial"/>
              <a:cs typeface="Arial"/>
            </a:endParaRPr>
          </a:p>
        </p:txBody>
      </p:sp>
      <p:grpSp>
        <p:nvGrpSpPr>
          <p:cNvPr id="62" name="Group 61">
            <a:extLst>
              <a:ext uri="{FF2B5EF4-FFF2-40B4-BE49-F238E27FC236}">
                <a16:creationId xmlns:a16="http://schemas.microsoft.com/office/drawing/2014/main" id="{737CC228-E879-88CE-D484-DE4E2763D362}"/>
              </a:ext>
            </a:extLst>
          </p:cNvPr>
          <p:cNvGrpSpPr/>
          <p:nvPr/>
        </p:nvGrpSpPr>
        <p:grpSpPr>
          <a:xfrm>
            <a:off x="441934" y="2298971"/>
            <a:ext cx="1740420" cy="738490"/>
            <a:chOff x="5404270" y="812282"/>
            <a:chExt cx="2004765" cy="979169"/>
          </a:xfrm>
        </p:grpSpPr>
        <p:grpSp>
          <p:nvGrpSpPr>
            <p:cNvPr id="27" name="Group 26">
              <a:extLst>
                <a:ext uri="{FF2B5EF4-FFF2-40B4-BE49-F238E27FC236}">
                  <a16:creationId xmlns:a16="http://schemas.microsoft.com/office/drawing/2014/main" id="{687410DD-A84E-BDD7-1F66-F3AE0A0080CD}"/>
                </a:ext>
              </a:extLst>
            </p:cNvPr>
            <p:cNvGrpSpPr/>
            <p:nvPr/>
          </p:nvGrpSpPr>
          <p:grpSpPr>
            <a:xfrm>
              <a:off x="5404270" y="812282"/>
              <a:ext cx="2004765" cy="979169"/>
              <a:chOff x="5025750" y="1144513"/>
              <a:chExt cx="2425356" cy="1184595"/>
            </a:xfrm>
          </p:grpSpPr>
          <p:sp>
            <p:nvSpPr>
              <p:cNvPr id="24" name="Rectangle 23">
                <a:extLst>
                  <a:ext uri="{FF2B5EF4-FFF2-40B4-BE49-F238E27FC236}">
                    <a16:creationId xmlns:a16="http://schemas.microsoft.com/office/drawing/2014/main" id="{61AD8906-14B9-E7C0-0D8C-195572DCDFCE}"/>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25" name="Rectangle 24">
                <a:extLst>
                  <a:ext uri="{FF2B5EF4-FFF2-40B4-BE49-F238E27FC236}">
                    <a16:creationId xmlns:a16="http://schemas.microsoft.com/office/drawing/2014/main" id="{C5724985-7FBB-1DFB-2DC5-6AE7DE9C7E8E}"/>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26" name="Rectangle 25">
                <a:extLst>
                  <a:ext uri="{FF2B5EF4-FFF2-40B4-BE49-F238E27FC236}">
                    <a16:creationId xmlns:a16="http://schemas.microsoft.com/office/drawing/2014/main" id="{D0231B7C-5BA0-26D3-ACAC-F26306E59B5C}"/>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40" name="TextBox 39">
              <a:extLst>
                <a:ext uri="{FF2B5EF4-FFF2-40B4-BE49-F238E27FC236}">
                  <a16:creationId xmlns:a16="http://schemas.microsoft.com/office/drawing/2014/main" id="{AC09E613-9600-4A35-8782-CECEEAC1AAAA}"/>
                </a:ext>
              </a:extLst>
            </p:cNvPr>
            <p:cNvSpPr txBox="1"/>
            <p:nvPr/>
          </p:nvSpPr>
          <p:spPr>
            <a:xfrm>
              <a:off x="5792369" y="1099882"/>
              <a:ext cx="1419945" cy="530509"/>
            </a:xfrm>
            <a:prstGeom prst="rect">
              <a:avLst/>
            </a:prstGeom>
            <a:noFill/>
          </p:spPr>
          <p:txBody>
            <a:bodyPr wrap="square" rtlCol="0">
              <a:spAutoFit/>
            </a:bodyPr>
            <a:lstStyle/>
            <a:p>
              <a:r>
                <a:rPr lang="en-US" sz="1000" b="1">
                  <a:solidFill>
                    <a:schemeClr val="bg1"/>
                  </a:solidFill>
                </a:rPr>
                <a:t>Automation Testing</a:t>
              </a:r>
              <a:endParaRPr lang="en-PH" sz="1000" b="1">
                <a:solidFill>
                  <a:schemeClr val="bg1"/>
                </a:solidFill>
              </a:endParaRPr>
            </a:p>
          </p:txBody>
        </p:sp>
      </p:grpSp>
      <p:grpSp>
        <p:nvGrpSpPr>
          <p:cNvPr id="65" name="Group 64">
            <a:extLst>
              <a:ext uri="{FF2B5EF4-FFF2-40B4-BE49-F238E27FC236}">
                <a16:creationId xmlns:a16="http://schemas.microsoft.com/office/drawing/2014/main" id="{B58B93A2-2C53-BECA-5C71-F9D832EBE3B2}"/>
              </a:ext>
            </a:extLst>
          </p:cNvPr>
          <p:cNvGrpSpPr/>
          <p:nvPr/>
        </p:nvGrpSpPr>
        <p:grpSpPr>
          <a:xfrm>
            <a:off x="450659" y="1304959"/>
            <a:ext cx="1740420" cy="738490"/>
            <a:chOff x="5404270" y="5138781"/>
            <a:chExt cx="2004765" cy="979169"/>
          </a:xfrm>
        </p:grpSpPr>
        <p:grpSp>
          <p:nvGrpSpPr>
            <p:cNvPr id="36" name="Group 35">
              <a:extLst>
                <a:ext uri="{FF2B5EF4-FFF2-40B4-BE49-F238E27FC236}">
                  <a16:creationId xmlns:a16="http://schemas.microsoft.com/office/drawing/2014/main" id="{3FC87097-A90E-774E-FBCF-135B39FC1B3E}"/>
                </a:ext>
              </a:extLst>
            </p:cNvPr>
            <p:cNvGrpSpPr/>
            <p:nvPr/>
          </p:nvGrpSpPr>
          <p:grpSpPr>
            <a:xfrm>
              <a:off x="5404270" y="5138781"/>
              <a:ext cx="2004765" cy="979169"/>
              <a:chOff x="5025750" y="1144513"/>
              <a:chExt cx="2425356" cy="1184595"/>
            </a:xfrm>
          </p:grpSpPr>
          <p:sp>
            <p:nvSpPr>
              <p:cNvPr id="37" name="Rectangle 36">
                <a:extLst>
                  <a:ext uri="{FF2B5EF4-FFF2-40B4-BE49-F238E27FC236}">
                    <a16:creationId xmlns:a16="http://schemas.microsoft.com/office/drawing/2014/main" id="{B8E58829-C337-913F-18D1-929614201615}"/>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38" name="Rectangle 37">
                <a:extLst>
                  <a:ext uri="{FF2B5EF4-FFF2-40B4-BE49-F238E27FC236}">
                    <a16:creationId xmlns:a16="http://schemas.microsoft.com/office/drawing/2014/main" id="{34EFF0FE-5130-D2E5-0420-E2BF3669664A}"/>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39" name="Rectangle 38">
                <a:extLst>
                  <a:ext uri="{FF2B5EF4-FFF2-40B4-BE49-F238E27FC236}">
                    <a16:creationId xmlns:a16="http://schemas.microsoft.com/office/drawing/2014/main" id="{773D9CCA-E961-6035-FE30-97226879824C}"/>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43" name="TextBox 42">
              <a:extLst>
                <a:ext uri="{FF2B5EF4-FFF2-40B4-BE49-F238E27FC236}">
                  <a16:creationId xmlns:a16="http://schemas.microsoft.com/office/drawing/2014/main" id="{82A5DD50-D0AA-FCD2-E840-1CB3C307BD00}"/>
                </a:ext>
              </a:extLst>
            </p:cNvPr>
            <p:cNvSpPr txBox="1"/>
            <p:nvPr/>
          </p:nvSpPr>
          <p:spPr>
            <a:xfrm>
              <a:off x="5794462" y="5407585"/>
              <a:ext cx="1483211" cy="530509"/>
            </a:xfrm>
            <a:prstGeom prst="rect">
              <a:avLst/>
            </a:prstGeom>
            <a:noFill/>
          </p:spPr>
          <p:txBody>
            <a:bodyPr wrap="square" rtlCol="0">
              <a:spAutoFit/>
            </a:bodyPr>
            <a:lstStyle/>
            <a:p>
              <a:r>
                <a:rPr lang="en-US" sz="1000" b="1">
                  <a:solidFill>
                    <a:schemeClr val="bg1"/>
                  </a:solidFill>
                </a:rPr>
                <a:t>Load &amp; Performance</a:t>
              </a:r>
              <a:endParaRPr lang="en-PH" sz="1000" b="1">
                <a:solidFill>
                  <a:schemeClr val="bg1"/>
                </a:solidFill>
              </a:endParaRPr>
            </a:p>
          </p:txBody>
        </p:sp>
      </p:grpSp>
      <p:sp>
        <p:nvSpPr>
          <p:cNvPr id="45" name="TextBox 44">
            <a:extLst>
              <a:ext uri="{FF2B5EF4-FFF2-40B4-BE49-F238E27FC236}">
                <a16:creationId xmlns:a16="http://schemas.microsoft.com/office/drawing/2014/main" id="{CF0721E0-09B3-4276-F742-44F390B61AF3}"/>
              </a:ext>
            </a:extLst>
          </p:cNvPr>
          <p:cNvSpPr txBox="1"/>
          <p:nvPr/>
        </p:nvSpPr>
        <p:spPr>
          <a:xfrm>
            <a:off x="2514849" y="2501096"/>
            <a:ext cx="7760674" cy="553998"/>
          </a:xfrm>
          <a:prstGeom prst="rect">
            <a:avLst/>
          </a:prstGeom>
          <a:noFill/>
        </p:spPr>
        <p:txBody>
          <a:bodyPr wrap="square" lIns="91440" tIns="45720" rIns="91440" bIns="45720" rtlCol="0" anchor="t">
            <a:spAutoFit/>
          </a:bodyPr>
          <a:lstStyle/>
          <a:p>
            <a:pPr algn="just">
              <a:spcAft>
                <a:spcPts val="600"/>
              </a:spcAft>
            </a:pPr>
            <a:r>
              <a:rPr lang="en-CA" sz="1000" b="1" dirty="0">
                <a:solidFill>
                  <a:srgbClr val="1A2F45"/>
                </a:solidFill>
                <a:latin typeface="Segoe UI"/>
                <a:cs typeface="Segoe UI"/>
              </a:rPr>
              <a:t>Automation Testing</a:t>
            </a:r>
            <a:r>
              <a:rPr lang="en-CA" sz="1000" dirty="0">
                <a:solidFill>
                  <a:srgbClr val="1A2F45"/>
                </a:solidFill>
                <a:latin typeface="Segoe UI"/>
                <a:cs typeface="Segoe UI"/>
              </a:rPr>
              <a:t> </a:t>
            </a:r>
            <a:r>
              <a:rPr lang="en-CA" sz="1000" dirty="0">
                <a:solidFill>
                  <a:schemeClr val="tx1">
                    <a:lumMod val="75000"/>
                    <a:lumOff val="25000"/>
                  </a:schemeClr>
                </a:solidFill>
                <a:latin typeface="Segoe UI"/>
                <a:cs typeface="Segoe UI"/>
              </a:rPr>
              <a:t>(executed by the</a:t>
            </a:r>
            <a:r>
              <a:rPr lang="en-CA" sz="1000" b="1" dirty="0">
                <a:solidFill>
                  <a:schemeClr val="tx1">
                    <a:lumMod val="75000"/>
                    <a:lumOff val="25000"/>
                  </a:schemeClr>
                </a:solidFill>
                <a:latin typeface="Segoe UI"/>
                <a:cs typeface="Segoe UI"/>
              </a:rPr>
              <a:t> Automation QA Eng team</a:t>
            </a:r>
            <a:r>
              <a:rPr lang="en-CA" sz="1000" dirty="0">
                <a:solidFill>
                  <a:schemeClr val="tx1">
                    <a:lumMod val="75000"/>
                    <a:lumOff val="25000"/>
                  </a:schemeClr>
                </a:solidFill>
                <a:latin typeface="Segoe UI"/>
                <a:cs typeface="Segoe UI"/>
              </a:rPr>
              <a:t>)  is the application of tools and technology to testing software with the goal of reducing efforts, increasing depth and scope, and improve quality software. It helps deliver capability faster, as lengthy tests are often avoided during manual testing as automation can be run unattended. </a:t>
            </a:r>
            <a:r>
              <a:rPr lang="en-US" sz="1000" b="1" dirty="0">
                <a:highlight>
                  <a:srgbClr val="FFFF00"/>
                </a:highlight>
                <a:latin typeface="Calibri"/>
                <a:ea typeface="Calibri"/>
                <a:cs typeface="Calibri"/>
              </a:rPr>
              <a:t>This phase is currently not owned by </a:t>
            </a:r>
            <a:r>
              <a:rPr lang="en-CA" sz="1000" b="1" dirty="0">
                <a:solidFill>
                  <a:schemeClr val="tx1">
                    <a:lumMod val="75000"/>
                    <a:lumOff val="25000"/>
                  </a:schemeClr>
                </a:solidFill>
                <a:highlight>
                  <a:srgbClr val="FFFF00"/>
                </a:highlight>
                <a:latin typeface="Segoe UI"/>
                <a:cs typeface="Segoe UI"/>
              </a:rPr>
              <a:t>QA Miipe team.</a:t>
            </a:r>
            <a:endParaRPr lang="en-CA" sz="1000" dirty="0">
              <a:solidFill>
                <a:schemeClr val="tx1">
                  <a:lumMod val="75000"/>
                  <a:lumOff val="25000"/>
                </a:schemeClr>
              </a:solidFill>
              <a:latin typeface="Segoe UI"/>
              <a:cs typeface="Segoe UI"/>
            </a:endParaRPr>
          </a:p>
        </p:txBody>
      </p:sp>
      <p:grpSp>
        <p:nvGrpSpPr>
          <p:cNvPr id="86" name="Group 85">
            <a:extLst>
              <a:ext uri="{FF2B5EF4-FFF2-40B4-BE49-F238E27FC236}">
                <a16:creationId xmlns:a16="http://schemas.microsoft.com/office/drawing/2014/main" id="{74762594-5620-B0C8-37C7-D3EB648F6D56}"/>
              </a:ext>
            </a:extLst>
          </p:cNvPr>
          <p:cNvGrpSpPr/>
          <p:nvPr/>
        </p:nvGrpSpPr>
        <p:grpSpPr>
          <a:xfrm>
            <a:off x="2259106" y="1299934"/>
            <a:ext cx="8027232" cy="930255"/>
            <a:chOff x="7631272" y="5246150"/>
            <a:chExt cx="7391594" cy="930255"/>
          </a:xfrm>
        </p:grpSpPr>
        <p:pic>
          <p:nvPicPr>
            <p:cNvPr id="66" name="Graphic 65" descr="Circle with left arrow with solid fill">
              <a:extLst>
                <a:ext uri="{FF2B5EF4-FFF2-40B4-BE49-F238E27FC236}">
                  <a16:creationId xmlns:a16="http://schemas.microsoft.com/office/drawing/2014/main" id="{3A233071-0CF0-BC30-966E-A157F4E6C19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7631272" y="5567852"/>
              <a:ext cx="246756" cy="246756"/>
            </a:xfrm>
            <a:prstGeom prst="rect">
              <a:avLst/>
            </a:prstGeom>
          </p:spPr>
        </p:pic>
        <p:sp>
          <p:nvSpPr>
            <p:cNvPr id="67" name="TextBox 66">
              <a:extLst>
                <a:ext uri="{FF2B5EF4-FFF2-40B4-BE49-F238E27FC236}">
                  <a16:creationId xmlns:a16="http://schemas.microsoft.com/office/drawing/2014/main" id="{CD80CBB0-8188-29DC-2E32-4C620D807FED}"/>
                </a:ext>
              </a:extLst>
            </p:cNvPr>
            <p:cNvSpPr txBox="1"/>
            <p:nvPr/>
          </p:nvSpPr>
          <p:spPr>
            <a:xfrm>
              <a:off x="7855662" y="5246150"/>
              <a:ext cx="7167204" cy="930255"/>
            </a:xfrm>
            <a:prstGeom prst="rect">
              <a:avLst/>
            </a:prstGeom>
            <a:noFill/>
          </p:spPr>
          <p:txBody>
            <a:bodyPr wrap="square" lIns="91440" tIns="45720" rIns="91440" bIns="45720" rtlCol="0" anchor="t">
              <a:spAutoFit/>
            </a:bodyPr>
            <a:lstStyle/>
            <a:p>
              <a:pPr>
                <a:lnSpc>
                  <a:spcPct val="110000"/>
                </a:lnSpc>
              </a:pPr>
              <a:r>
                <a:rPr lang="en-CA" sz="1000" b="1" i="0" u="none" strike="noStrike" dirty="0">
                  <a:effectLst/>
                  <a:latin typeface="Calibri"/>
                  <a:ea typeface="Calibri"/>
                  <a:cs typeface="Calibri"/>
                </a:rPr>
                <a:t>Load &amp; Performance</a:t>
              </a:r>
              <a:r>
                <a:rPr lang="en-CA" sz="1000" b="0" i="0" u="none" strike="noStrike" dirty="0">
                  <a:effectLst/>
                  <a:latin typeface="Calibri"/>
                  <a:ea typeface="Calibri"/>
                  <a:cs typeface="Calibri"/>
                </a:rPr>
                <a:t> (executed by </a:t>
              </a:r>
              <a:r>
                <a:rPr lang="en-CA" sz="1000" b="1" dirty="0">
                  <a:latin typeface="Calibri"/>
                  <a:ea typeface="Calibri"/>
                  <a:cs typeface="Calibri"/>
                </a:rPr>
                <a:t>Dev/Vendor </a:t>
              </a:r>
              <a:r>
                <a:rPr lang="en-CA" sz="1000" b="0" i="0" u="none" strike="noStrike" dirty="0">
                  <a:effectLst/>
                  <a:latin typeface="Calibri"/>
                  <a:ea typeface="Calibri"/>
                  <a:cs typeface="Calibri"/>
                </a:rPr>
                <a:t>in the </a:t>
              </a:r>
              <a:r>
                <a:rPr lang="en-CA" sz="1000" b="1" dirty="0">
                  <a:latin typeface="Calibri"/>
                  <a:ea typeface="Calibri"/>
                  <a:cs typeface="Calibri"/>
                </a:rPr>
                <a:t>QA’s</a:t>
              </a:r>
              <a:r>
                <a:rPr lang="en-CA" sz="1000" dirty="0">
                  <a:latin typeface="Calibri"/>
                  <a:ea typeface="Calibri"/>
                  <a:cs typeface="Calibri"/>
                </a:rPr>
                <a:t> Environment</a:t>
              </a:r>
              <a:r>
                <a:rPr lang="en-CA" sz="1000" b="0" i="0" u="none" strike="noStrike" dirty="0">
                  <a:effectLst/>
                  <a:latin typeface="Calibri"/>
                  <a:ea typeface="Calibri"/>
                  <a:cs typeface="Calibri"/>
                </a:rPr>
                <a:t>) is performed to assess </a:t>
              </a:r>
              <a:r>
                <a:rPr lang="en-US" sz="1000" b="0" i="0" u="none" strike="noStrike" dirty="0">
                  <a:effectLst/>
                  <a:latin typeface="Calibri"/>
                  <a:ea typeface="Calibri"/>
                  <a:cs typeface="Calibri"/>
                </a:rPr>
                <a:t>how well the application performs under various conditions, such as high user loads, stress, and scalability. The primary objective of performance testing is to identify and address potential performance bottlenecks, ensuring that the application can handle the expected user workload without compromising its responsiveness and stability</a:t>
              </a:r>
              <a:r>
                <a:rPr lang="en-CA" sz="1000" b="0" i="0" u="none" strike="noStrike" dirty="0">
                  <a:effectLst/>
                  <a:latin typeface="Calibri"/>
                  <a:ea typeface="Calibri"/>
                  <a:cs typeface="Calibri"/>
                </a:rPr>
                <a:t>. It helps providing Scalability Assessment, analyzing Resource Optimization (CPU, memory and network), and analyzing Load Distribution under different load conditions for Capacity planning.</a:t>
              </a:r>
              <a:r>
                <a:rPr lang="en-US" sz="1000" b="0" i="0" dirty="0">
                  <a:effectLst/>
                  <a:latin typeface="Calibri"/>
                  <a:ea typeface="Calibri"/>
                  <a:cs typeface="Calibri"/>
                </a:rPr>
                <a:t>​ </a:t>
              </a:r>
              <a:r>
                <a:rPr lang="en-US" sz="1000" b="1" i="0" dirty="0">
                  <a:effectLst/>
                  <a:highlight>
                    <a:srgbClr val="FFFF00"/>
                  </a:highlight>
                  <a:latin typeface="Calibri"/>
                  <a:ea typeface="Calibri"/>
                  <a:cs typeface="Calibri"/>
                </a:rPr>
                <a:t>This phase is currently not </a:t>
              </a:r>
              <a:r>
                <a:rPr lang="en-US" sz="1000" b="1" dirty="0">
                  <a:highlight>
                    <a:srgbClr val="FFFF00"/>
                  </a:highlight>
                  <a:latin typeface="Calibri"/>
                  <a:ea typeface="Calibri"/>
                  <a:cs typeface="Calibri"/>
                </a:rPr>
                <a:t>owned </a:t>
              </a:r>
              <a:r>
                <a:rPr lang="en-US" sz="1000" b="1" i="0" dirty="0">
                  <a:effectLst/>
                  <a:highlight>
                    <a:srgbClr val="FFFF00"/>
                  </a:highlight>
                  <a:latin typeface="Calibri"/>
                  <a:ea typeface="Calibri"/>
                  <a:cs typeface="Calibri"/>
                </a:rPr>
                <a:t>by</a:t>
              </a:r>
              <a:r>
                <a:rPr lang="en-US" sz="1000" b="1" dirty="0">
                  <a:highlight>
                    <a:srgbClr val="FFFF00"/>
                  </a:highlight>
                  <a:latin typeface="Calibri"/>
                  <a:ea typeface="Calibri"/>
                  <a:cs typeface="Calibri"/>
                </a:rPr>
                <a:t> </a:t>
              </a:r>
              <a:r>
                <a:rPr lang="en-CA" sz="1000" b="1" dirty="0">
                  <a:solidFill>
                    <a:schemeClr val="tx1">
                      <a:lumMod val="75000"/>
                      <a:lumOff val="25000"/>
                    </a:schemeClr>
                  </a:solidFill>
                  <a:highlight>
                    <a:srgbClr val="FFFF00"/>
                  </a:highlight>
                  <a:latin typeface="Segoe UI"/>
                  <a:cs typeface="Segoe UI"/>
                </a:rPr>
                <a:t>QA Miipe</a:t>
              </a:r>
              <a:r>
                <a:rPr lang="en-CA" sz="1000" b="1" i="0" dirty="0">
                  <a:solidFill>
                    <a:schemeClr val="tx1">
                      <a:lumMod val="75000"/>
                      <a:lumOff val="25000"/>
                    </a:schemeClr>
                  </a:solidFill>
                  <a:effectLst/>
                  <a:highlight>
                    <a:srgbClr val="FFFF00"/>
                  </a:highlight>
                  <a:latin typeface="Segoe UI"/>
                  <a:cs typeface="Segoe UI"/>
                </a:rPr>
                <a:t> team.</a:t>
              </a:r>
            </a:p>
          </p:txBody>
        </p:sp>
      </p:grpSp>
      <p:cxnSp>
        <p:nvCxnSpPr>
          <p:cNvPr id="71" name="Straight Connector 70">
            <a:extLst>
              <a:ext uri="{FF2B5EF4-FFF2-40B4-BE49-F238E27FC236}">
                <a16:creationId xmlns:a16="http://schemas.microsoft.com/office/drawing/2014/main" id="{D1B0127F-969F-8136-02CC-96C355D223C5}"/>
              </a:ext>
            </a:extLst>
          </p:cNvPr>
          <p:cNvCxnSpPr>
            <a:cxnSpLocks/>
          </p:cNvCxnSpPr>
          <p:nvPr/>
        </p:nvCxnSpPr>
        <p:spPr>
          <a:xfrm>
            <a:off x="429470" y="3159708"/>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4F09FDD-F66F-E754-9783-D2496888D44F}"/>
              </a:ext>
            </a:extLst>
          </p:cNvPr>
          <p:cNvCxnSpPr>
            <a:cxnSpLocks/>
          </p:cNvCxnSpPr>
          <p:nvPr/>
        </p:nvCxnSpPr>
        <p:spPr>
          <a:xfrm>
            <a:off x="449282" y="2228227"/>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962FC6E0-2A68-D790-3271-E05C409AE706}"/>
              </a:ext>
            </a:extLst>
          </p:cNvPr>
          <p:cNvGrpSpPr/>
          <p:nvPr/>
        </p:nvGrpSpPr>
        <p:grpSpPr>
          <a:xfrm>
            <a:off x="448935" y="3255377"/>
            <a:ext cx="1757945" cy="738490"/>
            <a:chOff x="5404270" y="812282"/>
            <a:chExt cx="2024952" cy="979169"/>
          </a:xfrm>
        </p:grpSpPr>
        <p:grpSp>
          <p:nvGrpSpPr>
            <p:cNvPr id="3" name="Group 2">
              <a:extLst>
                <a:ext uri="{FF2B5EF4-FFF2-40B4-BE49-F238E27FC236}">
                  <a16:creationId xmlns:a16="http://schemas.microsoft.com/office/drawing/2014/main" id="{71FCF9AB-D15E-E598-81EC-1287B3C086FC}"/>
                </a:ext>
              </a:extLst>
            </p:cNvPr>
            <p:cNvGrpSpPr/>
            <p:nvPr/>
          </p:nvGrpSpPr>
          <p:grpSpPr>
            <a:xfrm>
              <a:off x="5404270" y="812282"/>
              <a:ext cx="2004765" cy="979169"/>
              <a:chOff x="5025750" y="1144513"/>
              <a:chExt cx="2425356" cy="1184595"/>
            </a:xfrm>
          </p:grpSpPr>
          <p:sp>
            <p:nvSpPr>
              <p:cNvPr id="14" name="Rectangle 13">
                <a:extLst>
                  <a:ext uri="{FF2B5EF4-FFF2-40B4-BE49-F238E27FC236}">
                    <a16:creationId xmlns:a16="http://schemas.microsoft.com/office/drawing/2014/main" id="{D1B2F2FA-593F-C015-D494-5022A328EE1D}"/>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5" name="Rectangle 14">
                <a:extLst>
                  <a:ext uri="{FF2B5EF4-FFF2-40B4-BE49-F238E27FC236}">
                    <a16:creationId xmlns:a16="http://schemas.microsoft.com/office/drawing/2014/main" id="{C90BDB2B-B5BD-63A7-F968-84F90EB830DC}"/>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7" name="Rectangle 16">
                <a:extLst>
                  <a:ext uri="{FF2B5EF4-FFF2-40B4-BE49-F238E27FC236}">
                    <a16:creationId xmlns:a16="http://schemas.microsoft.com/office/drawing/2014/main" id="{130E0DA9-E3A2-A673-329C-35FF2FFBDA97}"/>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4" name="TextBox 3">
              <a:extLst>
                <a:ext uri="{FF2B5EF4-FFF2-40B4-BE49-F238E27FC236}">
                  <a16:creationId xmlns:a16="http://schemas.microsoft.com/office/drawing/2014/main" id="{6B9259D4-2F5B-E922-CE7A-FD1270FD5841}"/>
                </a:ext>
              </a:extLst>
            </p:cNvPr>
            <p:cNvSpPr txBox="1"/>
            <p:nvPr/>
          </p:nvSpPr>
          <p:spPr>
            <a:xfrm>
              <a:off x="5792370" y="1157657"/>
              <a:ext cx="1636852" cy="326466"/>
            </a:xfrm>
            <a:prstGeom prst="rect">
              <a:avLst/>
            </a:prstGeom>
            <a:noFill/>
          </p:spPr>
          <p:txBody>
            <a:bodyPr wrap="square" rtlCol="0">
              <a:spAutoFit/>
            </a:bodyPr>
            <a:lstStyle/>
            <a:p>
              <a:r>
                <a:rPr lang="en-US" sz="1000" b="1">
                  <a:solidFill>
                    <a:schemeClr val="bg1"/>
                  </a:solidFill>
                </a:rPr>
                <a:t>Regression Testing</a:t>
              </a:r>
              <a:endParaRPr lang="en-PH" sz="1000" b="1">
                <a:solidFill>
                  <a:schemeClr val="bg1"/>
                </a:solidFill>
              </a:endParaRPr>
            </a:p>
          </p:txBody>
        </p:sp>
      </p:grpSp>
      <p:sp>
        <p:nvSpPr>
          <p:cNvPr id="20" name="TextBox 19">
            <a:extLst>
              <a:ext uri="{FF2B5EF4-FFF2-40B4-BE49-F238E27FC236}">
                <a16:creationId xmlns:a16="http://schemas.microsoft.com/office/drawing/2014/main" id="{36D6C26C-F8FF-F5BA-550A-E19D809CFAF9}"/>
              </a:ext>
            </a:extLst>
          </p:cNvPr>
          <p:cNvSpPr txBox="1"/>
          <p:nvPr/>
        </p:nvSpPr>
        <p:spPr>
          <a:xfrm>
            <a:off x="2520623" y="3317980"/>
            <a:ext cx="7771424" cy="707886"/>
          </a:xfrm>
          <a:prstGeom prst="rect">
            <a:avLst/>
          </a:prstGeom>
          <a:noFill/>
        </p:spPr>
        <p:txBody>
          <a:bodyPr wrap="square" lIns="91440" tIns="45720" rIns="91440" bIns="45720" rtlCol="0" anchor="t">
            <a:spAutoFit/>
          </a:bodyPr>
          <a:lstStyle/>
          <a:p>
            <a:r>
              <a:rPr lang="en-CA" sz="1000" b="1" dirty="0">
                <a:solidFill>
                  <a:srgbClr val="1A2F45"/>
                </a:solidFill>
                <a:latin typeface="Segoe UI"/>
                <a:cs typeface="Segoe UI"/>
              </a:rPr>
              <a:t>Regression</a:t>
            </a:r>
            <a:r>
              <a:rPr lang="en-CA" sz="1000" dirty="0">
                <a:solidFill>
                  <a:schemeClr val="accent5"/>
                </a:solidFill>
                <a:latin typeface="Segoe UI"/>
                <a:cs typeface="Segoe UI"/>
              </a:rPr>
              <a:t> </a:t>
            </a:r>
            <a:r>
              <a:rPr lang="en-CA" sz="1000" dirty="0">
                <a:solidFill>
                  <a:schemeClr val="tx1">
                    <a:lumMod val="75000"/>
                    <a:lumOff val="25000"/>
                  </a:schemeClr>
                </a:solidFill>
                <a:latin typeface="Segoe UI"/>
                <a:cs typeface="Segoe UI"/>
              </a:rPr>
              <a:t>(executed by </a:t>
            </a:r>
            <a:r>
              <a:rPr lang="en-CA" sz="1000" b="1" dirty="0">
                <a:solidFill>
                  <a:schemeClr val="tx1">
                    <a:lumMod val="75000"/>
                    <a:lumOff val="25000"/>
                  </a:schemeClr>
                </a:solidFill>
                <a:latin typeface="Segoe UI"/>
                <a:cs typeface="Segoe UI"/>
              </a:rPr>
              <a:t>QA Miipe Team</a:t>
            </a:r>
            <a:r>
              <a:rPr lang="en-CA" sz="1000" dirty="0">
                <a:solidFill>
                  <a:schemeClr val="tx1">
                    <a:lumMod val="75000"/>
                    <a:lumOff val="25000"/>
                  </a:schemeClr>
                </a:solidFill>
                <a:latin typeface="Segoe UI"/>
                <a:cs typeface="Segoe UI"/>
              </a:rPr>
              <a:t> in the </a:t>
            </a:r>
            <a:r>
              <a:rPr lang="en-CA" sz="1000" b="1" dirty="0">
                <a:solidFill>
                  <a:schemeClr val="tx1">
                    <a:lumMod val="75000"/>
                    <a:lumOff val="25000"/>
                  </a:schemeClr>
                </a:solidFill>
                <a:latin typeface="Segoe UI"/>
                <a:cs typeface="Segoe UI"/>
              </a:rPr>
              <a:t>QA’s</a:t>
            </a:r>
            <a:r>
              <a:rPr lang="en-CA" sz="1000" dirty="0">
                <a:solidFill>
                  <a:schemeClr val="tx1">
                    <a:lumMod val="75000"/>
                    <a:lumOff val="25000"/>
                  </a:schemeClr>
                </a:solidFill>
                <a:latin typeface="Segoe UI"/>
                <a:cs typeface="Segoe UI"/>
              </a:rPr>
              <a:t> environment)</a:t>
            </a:r>
            <a:r>
              <a:rPr lang="en-CA" sz="1000" b="1" dirty="0">
                <a:solidFill>
                  <a:schemeClr val="tx1">
                    <a:lumMod val="75000"/>
                    <a:lumOff val="25000"/>
                  </a:schemeClr>
                </a:solidFill>
                <a:latin typeface="Segoe UI"/>
                <a:cs typeface="Segoe UI"/>
              </a:rPr>
              <a:t> </a:t>
            </a:r>
            <a:r>
              <a:rPr lang="en-CA" sz="1000" dirty="0">
                <a:solidFill>
                  <a:schemeClr val="tx1">
                    <a:lumMod val="75000"/>
                    <a:lumOff val="25000"/>
                  </a:schemeClr>
                </a:solidFill>
                <a:latin typeface="Segoe UI"/>
                <a:cs typeface="Segoe UI"/>
              </a:rPr>
              <a:t>is performed to ensure that changes or modifications made to the existing system do not inadvertently introduce new issues and that the previously working functionalities continue to work as expected. It involves retesting the modified components of the system and conducting a selective retesting of unaffected areas to ensure overall system stability. </a:t>
            </a:r>
          </a:p>
        </p:txBody>
      </p:sp>
      <p:cxnSp>
        <p:nvCxnSpPr>
          <p:cNvPr id="21" name="Straight Connector 20">
            <a:extLst>
              <a:ext uri="{FF2B5EF4-FFF2-40B4-BE49-F238E27FC236}">
                <a16:creationId xmlns:a16="http://schemas.microsoft.com/office/drawing/2014/main" id="{56EA15E0-5862-255F-CB60-A287D7B83C73}"/>
              </a:ext>
            </a:extLst>
          </p:cNvPr>
          <p:cNvCxnSpPr>
            <a:cxnSpLocks/>
          </p:cNvCxnSpPr>
          <p:nvPr/>
        </p:nvCxnSpPr>
        <p:spPr>
          <a:xfrm>
            <a:off x="397542" y="4100920"/>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9360DD-D6D4-9FBF-5874-7CAF5F0CC118}"/>
              </a:ext>
            </a:extLst>
          </p:cNvPr>
          <p:cNvCxnSpPr>
            <a:cxnSpLocks/>
          </p:cNvCxnSpPr>
          <p:nvPr/>
        </p:nvCxnSpPr>
        <p:spPr>
          <a:xfrm>
            <a:off x="410005" y="5084617"/>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CC18E3D1-241A-6997-BC64-D40DDB171790}"/>
              </a:ext>
            </a:extLst>
          </p:cNvPr>
          <p:cNvGrpSpPr/>
          <p:nvPr/>
        </p:nvGrpSpPr>
        <p:grpSpPr>
          <a:xfrm>
            <a:off x="429470" y="4240359"/>
            <a:ext cx="1757945" cy="738490"/>
            <a:chOff x="5404270" y="812282"/>
            <a:chExt cx="2024952" cy="979169"/>
          </a:xfrm>
        </p:grpSpPr>
        <p:grpSp>
          <p:nvGrpSpPr>
            <p:cNvPr id="48" name="Group 47">
              <a:extLst>
                <a:ext uri="{FF2B5EF4-FFF2-40B4-BE49-F238E27FC236}">
                  <a16:creationId xmlns:a16="http://schemas.microsoft.com/office/drawing/2014/main" id="{04EB4012-01F8-6942-1055-0E8FCA4CC606}"/>
                </a:ext>
              </a:extLst>
            </p:cNvPr>
            <p:cNvGrpSpPr/>
            <p:nvPr/>
          </p:nvGrpSpPr>
          <p:grpSpPr>
            <a:xfrm>
              <a:off x="5404270" y="812282"/>
              <a:ext cx="2004765" cy="979169"/>
              <a:chOff x="5025750" y="1144513"/>
              <a:chExt cx="2425356" cy="1184595"/>
            </a:xfrm>
          </p:grpSpPr>
          <p:sp>
            <p:nvSpPr>
              <p:cNvPr id="54" name="Rectangle 53">
                <a:extLst>
                  <a:ext uri="{FF2B5EF4-FFF2-40B4-BE49-F238E27FC236}">
                    <a16:creationId xmlns:a16="http://schemas.microsoft.com/office/drawing/2014/main" id="{AF431E3E-A211-DA0D-080C-F1F0343FF831}"/>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55" name="Rectangle 54">
                <a:extLst>
                  <a:ext uri="{FF2B5EF4-FFF2-40B4-BE49-F238E27FC236}">
                    <a16:creationId xmlns:a16="http://schemas.microsoft.com/office/drawing/2014/main" id="{76D89439-FB4C-38D6-F1ED-9FA0AF111E92}"/>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97" name="Rectangle 96">
                <a:extLst>
                  <a:ext uri="{FF2B5EF4-FFF2-40B4-BE49-F238E27FC236}">
                    <a16:creationId xmlns:a16="http://schemas.microsoft.com/office/drawing/2014/main" id="{AB667FB9-5F65-EFF7-AFDF-A4788C4111B4}"/>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49" name="TextBox 48">
              <a:extLst>
                <a:ext uri="{FF2B5EF4-FFF2-40B4-BE49-F238E27FC236}">
                  <a16:creationId xmlns:a16="http://schemas.microsoft.com/office/drawing/2014/main" id="{18024B2D-68A2-64D6-770A-722F4747461E}"/>
                </a:ext>
              </a:extLst>
            </p:cNvPr>
            <p:cNvSpPr txBox="1"/>
            <p:nvPr/>
          </p:nvSpPr>
          <p:spPr>
            <a:xfrm>
              <a:off x="5792370" y="1086506"/>
              <a:ext cx="1636852" cy="530509"/>
            </a:xfrm>
            <a:prstGeom prst="rect">
              <a:avLst/>
            </a:prstGeom>
            <a:noFill/>
          </p:spPr>
          <p:txBody>
            <a:bodyPr wrap="square" rtlCol="0">
              <a:spAutoFit/>
            </a:bodyPr>
            <a:lstStyle/>
            <a:p>
              <a:r>
                <a:rPr lang="en-US" sz="1000" b="1">
                  <a:solidFill>
                    <a:schemeClr val="bg1"/>
                  </a:solidFill>
                </a:rPr>
                <a:t>User Acceptance Testing</a:t>
              </a:r>
              <a:endParaRPr lang="en-PH" sz="1000" b="1">
                <a:solidFill>
                  <a:schemeClr val="bg1"/>
                </a:solidFill>
              </a:endParaRPr>
            </a:p>
          </p:txBody>
        </p:sp>
      </p:grpSp>
      <p:sp>
        <p:nvSpPr>
          <p:cNvPr id="100" name="TextBox 99">
            <a:extLst>
              <a:ext uri="{FF2B5EF4-FFF2-40B4-BE49-F238E27FC236}">
                <a16:creationId xmlns:a16="http://schemas.microsoft.com/office/drawing/2014/main" id="{57C59ED8-9AA4-DCF3-E5CA-B83064CB10DF}"/>
              </a:ext>
            </a:extLst>
          </p:cNvPr>
          <p:cNvSpPr txBox="1"/>
          <p:nvPr/>
        </p:nvSpPr>
        <p:spPr>
          <a:xfrm>
            <a:off x="2502605" y="4367356"/>
            <a:ext cx="7760683" cy="553998"/>
          </a:xfrm>
          <a:prstGeom prst="rect">
            <a:avLst/>
          </a:prstGeom>
          <a:noFill/>
        </p:spPr>
        <p:txBody>
          <a:bodyPr wrap="square" lIns="91440" tIns="45720" rIns="91440" bIns="45720" rtlCol="0" anchor="t">
            <a:spAutoFit/>
          </a:bodyPr>
          <a:lstStyle/>
          <a:p>
            <a:r>
              <a:rPr lang="en-CA" sz="1000" b="1" dirty="0">
                <a:solidFill>
                  <a:srgbClr val="1A2F45"/>
                </a:solidFill>
                <a:latin typeface="Segoe UI"/>
                <a:cs typeface="Segoe UI"/>
              </a:rPr>
              <a:t>User Acceptance Test</a:t>
            </a:r>
            <a:r>
              <a:rPr lang="en-CA" sz="1000" dirty="0">
                <a:solidFill>
                  <a:srgbClr val="1A2F45"/>
                </a:solidFill>
                <a:latin typeface="Segoe UI"/>
                <a:cs typeface="Segoe UI"/>
              </a:rPr>
              <a:t> </a:t>
            </a:r>
            <a:r>
              <a:rPr lang="en-CA" sz="1000" dirty="0">
                <a:solidFill>
                  <a:schemeClr val="tx1">
                    <a:lumMod val="75000"/>
                    <a:lumOff val="25000"/>
                  </a:schemeClr>
                </a:solidFill>
                <a:latin typeface="Segoe UI"/>
                <a:cs typeface="Segoe UI"/>
              </a:rPr>
              <a:t>(executed by the </a:t>
            </a:r>
            <a:r>
              <a:rPr lang="en-CA" sz="1000" b="1" dirty="0">
                <a:solidFill>
                  <a:schemeClr val="tx1">
                    <a:lumMod val="75000"/>
                    <a:lumOff val="25000"/>
                  </a:schemeClr>
                </a:solidFill>
                <a:latin typeface="Segoe UI"/>
                <a:cs typeface="Segoe UI"/>
              </a:rPr>
              <a:t>CLIENT End Users</a:t>
            </a:r>
            <a:r>
              <a:rPr lang="en-CA" sz="1000" dirty="0">
                <a:solidFill>
                  <a:schemeClr val="tx1">
                    <a:lumMod val="75000"/>
                    <a:lumOff val="25000"/>
                  </a:schemeClr>
                </a:solidFill>
                <a:latin typeface="Segoe UI"/>
                <a:cs typeface="Segoe UI"/>
              </a:rPr>
              <a:t> in </a:t>
            </a:r>
            <a:r>
              <a:rPr lang="en-CA" sz="1000" b="1" dirty="0">
                <a:solidFill>
                  <a:schemeClr val="tx1">
                    <a:lumMod val="75000"/>
                    <a:lumOff val="25000"/>
                  </a:schemeClr>
                </a:solidFill>
                <a:latin typeface="Segoe UI"/>
                <a:cs typeface="Segoe UI"/>
              </a:rPr>
              <a:t>QA’s</a:t>
            </a:r>
            <a:r>
              <a:rPr lang="en-CA" sz="1000" dirty="0">
                <a:solidFill>
                  <a:schemeClr val="tx1">
                    <a:lumMod val="75000"/>
                    <a:lumOff val="25000"/>
                  </a:schemeClr>
                </a:solidFill>
                <a:latin typeface="Segoe UI"/>
                <a:cs typeface="Segoe UI"/>
              </a:rPr>
              <a:t> environment and guided by </a:t>
            </a:r>
            <a:r>
              <a:rPr lang="en-CA" sz="1000" b="1" dirty="0" err="1">
                <a:solidFill>
                  <a:schemeClr val="tx1">
                    <a:lumMod val="75000"/>
                    <a:lumOff val="25000"/>
                  </a:schemeClr>
                </a:solidFill>
                <a:latin typeface="Segoe UI"/>
                <a:cs typeface="Segoe UI"/>
              </a:rPr>
              <a:t>Miipe</a:t>
            </a:r>
            <a:r>
              <a:rPr lang="en-CA" sz="1000" dirty="0">
                <a:solidFill>
                  <a:schemeClr val="tx1">
                    <a:lumMod val="75000"/>
                    <a:lumOff val="25000"/>
                  </a:schemeClr>
                </a:solidFill>
                <a:latin typeface="Segoe UI"/>
                <a:cs typeface="Segoe UI"/>
              </a:rPr>
              <a:t>). This test is intended to ensure that the End Users or representatives of the End Users are exposed to a tested version of the application and can test, simulate and experience everyday business transactions in order to ensure that business requirements have been met.</a:t>
            </a:r>
            <a:endParaRPr lang="en-US" sz="1000" dirty="0">
              <a:solidFill>
                <a:schemeClr val="tx1">
                  <a:lumMod val="75000"/>
                  <a:lumOff val="25000"/>
                </a:schemeClr>
              </a:solidFill>
              <a:latin typeface="Segoe UI"/>
              <a:cs typeface="Segoe UI"/>
            </a:endParaRPr>
          </a:p>
        </p:txBody>
      </p:sp>
      <p:cxnSp>
        <p:nvCxnSpPr>
          <p:cNvPr id="102" name="Straight Connector 101">
            <a:extLst>
              <a:ext uri="{FF2B5EF4-FFF2-40B4-BE49-F238E27FC236}">
                <a16:creationId xmlns:a16="http://schemas.microsoft.com/office/drawing/2014/main" id="{64EAABA7-FBD4-FAB3-997B-F43A94CDED81}"/>
              </a:ext>
            </a:extLst>
          </p:cNvPr>
          <p:cNvCxnSpPr>
            <a:cxnSpLocks/>
          </p:cNvCxnSpPr>
          <p:nvPr/>
        </p:nvCxnSpPr>
        <p:spPr>
          <a:xfrm>
            <a:off x="397542" y="6063858"/>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03" name="Group 102">
            <a:extLst>
              <a:ext uri="{FF2B5EF4-FFF2-40B4-BE49-F238E27FC236}">
                <a16:creationId xmlns:a16="http://schemas.microsoft.com/office/drawing/2014/main" id="{7FAA53B2-5271-E13E-5389-B01607FF4504}"/>
              </a:ext>
            </a:extLst>
          </p:cNvPr>
          <p:cNvGrpSpPr/>
          <p:nvPr/>
        </p:nvGrpSpPr>
        <p:grpSpPr>
          <a:xfrm>
            <a:off x="417007" y="5187403"/>
            <a:ext cx="1757945" cy="738490"/>
            <a:chOff x="5404270" y="812282"/>
            <a:chExt cx="2024952" cy="979169"/>
          </a:xfrm>
        </p:grpSpPr>
        <p:grpSp>
          <p:nvGrpSpPr>
            <p:cNvPr id="104" name="Group 103">
              <a:extLst>
                <a:ext uri="{FF2B5EF4-FFF2-40B4-BE49-F238E27FC236}">
                  <a16:creationId xmlns:a16="http://schemas.microsoft.com/office/drawing/2014/main" id="{70F9CBBF-FDFC-5AA5-136A-9BD5B323DC94}"/>
                </a:ext>
              </a:extLst>
            </p:cNvPr>
            <p:cNvGrpSpPr/>
            <p:nvPr/>
          </p:nvGrpSpPr>
          <p:grpSpPr>
            <a:xfrm>
              <a:off x="5404270" y="812282"/>
              <a:ext cx="2004765" cy="979169"/>
              <a:chOff x="5025750" y="1144513"/>
              <a:chExt cx="2425356" cy="1184595"/>
            </a:xfrm>
          </p:grpSpPr>
          <p:sp>
            <p:nvSpPr>
              <p:cNvPr id="106" name="Rectangle 105">
                <a:extLst>
                  <a:ext uri="{FF2B5EF4-FFF2-40B4-BE49-F238E27FC236}">
                    <a16:creationId xmlns:a16="http://schemas.microsoft.com/office/drawing/2014/main" id="{101D02FD-15BA-87D3-CD16-9B6F0FBFB45F}"/>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07" name="Rectangle 106">
                <a:extLst>
                  <a:ext uri="{FF2B5EF4-FFF2-40B4-BE49-F238E27FC236}">
                    <a16:creationId xmlns:a16="http://schemas.microsoft.com/office/drawing/2014/main" id="{61493E73-B3FF-ACD4-5E41-F1CBBA977BCD}"/>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08" name="Rectangle 107">
                <a:extLst>
                  <a:ext uri="{FF2B5EF4-FFF2-40B4-BE49-F238E27FC236}">
                    <a16:creationId xmlns:a16="http://schemas.microsoft.com/office/drawing/2014/main" id="{58DB6C6D-CC53-1F88-5F28-A14974FAE860}"/>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105" name="TextBox 104">
              <a:extLst>
                <a:ext uri="{FF2B5EF4-FFF2-40B4-BE49-F238E27FC236}">
                  <a16:creationId xmlns:a16="http://schemas.microsoft.com/office/drawing/2014/main" id="{D5D7713A-6200-40FB-7932-DC2F9CD1F883}"/>
                </a:ext>
              </a:extLst>
            </p:cNvPr>
            <p:cNvSpPr txBox="1"/>
            <p:nvPr/>
          </p:nvSpPr>
          <p:spPr>
            <a:xfrm>
              <a:off x="5792370" y="1086506"/>
              <a:ext cx="1636852" cy="530509"/>
            </a:xfrm>
            <a:prstGeom prst="rect">
              <a:avLst/>
            </a:prstGeom>
            <a:noFill/>
          </p:spPr>
          <p:txBody>
            <a:bodyPr wrap="square" rtlCol="0">
              <a:spAutoFit/>
            </a:bodyPr>
            <a:lstStyle/>
            <a:p>
              <a:r>
                <a:rPr lang="en-US" sz="1000" b="1">
                  <a:solidFill>
                    <a:schemeClr val="bg1"/>
                  </a:solidFill>
                </a:rPr>
                <a:t>Deployment Verification Testing</a:t>
              </a:r>
              <a:endParaRPr lang="en-PH" sz="1000" b="1">
                <a:solidFill>
                  <a:schemeClr val="bg1"/>
                </a:solidFill>
              </a:endParaRPr>
            </a:p>
          </p:txBody>
        </p:sp>
      </p:grpSp>
      <p:sp>
        <p:nvSpPr>
          <p:cNvPr id="111" name="TextBox 110">
            <a:extLst>
              <a:ext uri="{FF2B5EF4-FFF2-40B4-BE49-F238E27FC236}">
                <a16:creationId xmlns:a16="http://schemas.microsoft.com/office/drawing/2014/main" id="{9A8F3916-B805-9D86-5825-90AEDB3E2718}"/>
              </a:ext>
            </a:extLst>
          </p:cNvPr>
          <p:cNvSpPr txBox="1"/>
          <p:nvPr/>
        </p:nvSpPr>
        <p:spPr>
          <a:xfrm>
            <a:off x="2500880" y="5282202"/>
            <a:ext cx="7760673" cy="553998"/>
          </a:xfrm>
          <a:prstGeom prst="rect">
            <a:avLst/>
          </a:prstGeom>
          <a:noFill/>
        </p:spPr>
        <p:txBody>
          <a:bodyPr wrap="square" lIns="91440" tIns="45720" rIns="91440" bIns="45720" rtlCol="0" anchor="t">
            <a:spAutoFit/>
          </a:bodyPr>
          <a:lstStyle/>
          <a:p>
            <a:pPr algn="just">
              <a:spcAft>
                <a:spcPts val="600"/>
              </a:spcAft>
            </a:pPr>
            <a:r>
              <a:rPr lang="en-CA" sz="1000" b="1" dirty="0">
                <a:solidFill>
                  <a:srgbClr val="1A2F45"/>
                </a:solidFill>
                <a:latin typeface="Segoe UI"/>
                <a:cs typeface="Segoe UI"/>
              </a:rPr>
              <a:t>Deployment Verification Test</a:t>
            </a:r>
            <a:r>
              <a:rPr lang="en-CA" sz="1000" dirty="0">
                <a:solidFill>
                  <a:srgbClr val="1A2F45"/>
                </a:solidFill>
                <a:latin typeface="Segoe UI"/>
                <a:cs typeface="Segoe UI"/>
              </a:rPr>
              <a:t> </a:t>
            </a:r>
            <a:r>
              <a:rPr lang="en-CA" sz="1000" dirty="0">
                <a:solidFill>
                  <a:schemeClr val="tx1">
                    <a:lumMod val="75000"/>
                    <a:lumOff val="25000"/>
                  </a:schemeClr>
                </a:solidFill>
                <a:latin typeface="Segoe UI"/>
                <a:cs typeface="Segoe UI"/>
              </a:rPr>
              <a:t>(executed by </a:t>
            </a:r>
            <a:r>
              <a:rPr lang="en-CA" sz="1000" b="1" dirty="0">
                <a:solidFill>
                  <a:schemeClr val="tx1">
                    <a:lumMod val="75000"/>
                    <a:lumOff val="25000"/>
                  </a:schemeClr>
                </a:solidFill>
                <a:latin typeface="Segoe UI"/>
                <a:cs typeface="Segoe UI"/>
              </a:rPr>
              <a:t>QA Miipe Team</a:t>
            </a:r>
            <a:r>
              <a:rPr lang="en-CA" sz="1000" dirty="0">
                <a:solidFill>
                  <a:schemeClr val="tx1">
                    <a:lumMod val="75000"/>
                    <a:lumOff val="25000"/>
                  </a:schemeClr>
                </a:solidFill>
                <a:latin typeface="Segoe UI"/>
                <a:cs typeface="Segoe UI"/>
              </a:rPr>
              <a:t> in the </a:t>
            </a:r>
            <a:r>
              <a:rPr lang="en-CA" sz="1000" b="1" dirty="0">
                <a:solidFill>
                  <a:schemeClr val="tx1">
                    <a:lumMod val="75000"/>
                    <a:lumOff val="25000"/>
                  </a:schemeClr>
                </a:solidFill>
                <a:latin typeface="Segoe UI"/>
                <a:cs typeface="Segoe UI"/>
              </a:rPr>
              <a:t>Production/DVT</a:t>
            </a:r>
            <a:r>
              <a:rPr lang="en-CA" sz="1000" dirty="0">
                <a:solidFill>
                  <a:schemeClr val="tx1">
                    <a:lumMod val="75000"/>
                    <a:lumOff val="25000"/>
                  </a:schemeClr>
                </a:solidFill>
                <a:latin typeface="Segoe UI"/>
                <a:cs typeface="Segoe UI"/>
              </a:rPr>
              <a:t> environment) is performed to ensure that the business capability is correctly deployed in the environment. Tests typically consist of a smaller sub-set of regression test cases where all critical functionality that is deemed critical for the system to be operational is tested</a:t>
            </a:r>
            <a:endParaRPr lang="en-US" sz="1000" dirty="0">
              <a:solidFill>
                <a:schemeClr val="tx1">
                  <a:lumMod val="75000"/>
                  <a:lumOff val="25000"/>
                </a:schemeClr>
              </a:solidFill>
              <a:latin typeface="Segoe UI."/>
              <a:cs typeface="Calibri"/>
            </a:endParaRPr>
          </a:p>
        </p:txBody>
      </p:sp>
      <p:grpSp>
        <p:nvGrpSpPr>
          <p:cNvPr id="34" name="Group 33">
            <a:extLst>
              <a:ext uri="{FF2B5EF4-FFF2-40B4-BE49-F238E27FC236}">
                <a16:creationId xmlns:a16="http://schemas.microsoft.com/office/drawing/2014/main" id="{39EC12A6-C78A-8A56-56BD-B8426227E800}"/>
              </a:ext>
            </a:extLst>
          </p:cNvPr>
          <p:cNvGrpSpPr/>
          <p:nvPr/>
        </p:nvGrpSpPr>
        <p:grpSpPr>
          <a:xfrm>
            <a:off x="1" y="0"/>
            <a:ext cx="909836" cy="934466"/>
            <a:chOff x="0" y="0"/>
            <a:chExt cx="3161556" cy="3048050"/>
          </a:xfrm>
        </p:grpSpPr>
        <p:grpSp>
          <p:nvGrpSpPr>
            <p:cNvPr id="28" name="Group 27">
              <a:extLst>
                <a:ext uri="{FF2B5EF4-FFF2-40B4-BE49-F238E27FC236}">
                  <a16:creationId xmlns:a16="http://schemas.microsoft.com/office/drawing/2014/main" id="{F5925C01-D265-0065-2D7D-E88CA59A613D}"/>
                </a:ext>
              </a:extLst>
            </p:cNvPr>
            <p:cNvGrpSpPr/>
            <p:nvPr/>
          </p:nvGrpSpPr>
          <p:grpSpPr>
            <a:xfrm>
              <a:off x="0" y="0"/>
              <a:ext cx="2107704" cy="1988840"/>
              <a:chOff x="0" y="0"/>
              <a:chExt cx="2107704" cy="1988840"/>
            </a:xfrm>
          </p:grpSpPr>
          <p:sp>
            <p:nvSpPr>
              <p:cNvPr id="32" name="Rectangle 31">
                <a:extLst>
                  <a:ext uri="{FF2B5EF4-FFF2-40B4-BE49-F238E27FC236}">
                    <a16:creationId xmlns:a16="http://schemas.microsoft.com/office/drawing/2014/main" id="{30C806B2-F5CE-D9F4-EA09-FB6E93AFDE47}"/>
                  </a:ext>
                </a:extLst>
              </p:cNvPr>
              <p:cNvSpPr/>
              <p:nvPr/>
            </p:nvSpPr>
            <p:spPr>
              <a:xfrm>
                <a:off x="0" y="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3" name="Rectangle 32">
                <a:extLst>
                  <a:ext uri="{FF2B5EF4-FFF2-40B4-BE49-F238E27FC236}">
                    <a16:creationId xmlns:a16="http://schemas.microsoft.com/office/drawing/2014/main" id="{766DFF4E-962A-17EE-D6AA-76654D374437}"/>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9" name="Group 28">
              <a:extLst>
                <a:ext uri="{FF2B5EF4-FFF2-40B4-BE49-F238E27FC236}">
                  <a16:creationId xmlns:a16="http://schemas.microsoft.com/office/drawing/2014/main" id="{76506519-D820-B815-3D57-FBA585906C5C}"/>
                </a:ext>
              </a:extLst>
            </p:cNvPr>
            <p:cNvGrpSpPr/>
            <p:nvPr/>
          </p:nvGrpSpPr>
          <p:grpSpPr>
            <a:xfrm flipH="1" flipV="1">
              <a:off x="1053852" y="1059210"/>
              <a:ext cx="2107704" cy="1988840"/>
              <a:chOff x="1580778" y="1268760"/>
              <a:chExt cx="2107704" cy="1988840"/>
            </a:xfrm>
          </p:grpSpPr>
          <p:sp>
            <p:nvSpPr>
              <p:cNvPr id="30" name="Rectangle 29">
                <a:extLst>
                  <a:ext uri="{FF2B5EF4-FFF2-40B4-BE49-F238E27FC236}">
                    <a16:creationId xmlns:a16="http://schemas.microsoft.com/office/drawing/2014/main" id="{97B54378-9306-E6A0-8BFD-60750FECA5BE}"/>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Rectangle 30">
                <a:extLst>
                  <a:ext uri="{FF2B5EF4-FFF2-40B4-BE49-F238E27FC236}">
                    <a16:creationId xmlns:a16="http://schemas.microsoft.com/office/drawing/2014/main" id="{292C43AE-E6AC-3A38-1E7A-9CF9BB51AD2B}"/>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56" name="Group 55">
            <a:extLst>
              <a:ext uri="{FF2B5EF4-FFF2-40B4-BE49-F238E27FC236}">
                <a16:creationId xmlns:a16="http://schemas.microsoft.com/office/drawing/2014/main" id="{3C27CB47-D6E9-4E81-D6A5-C6AA59B045FB}"/>
              </a:ext>
            </a:extLst>
          </p:cNvPr>
          <p:cNvGrpSpPr/>
          <p:nvPr/>
        </p:nvGrpSpPr>
        <p:grpSpPr>
          <a:xfrm>
            <a:off x="10342891" y="4962097"/>
            <a:ext cx="1845935" cy="1895903"/>
            <a:chOff x="0" y="0"/>
            <a:chExt cx="3161556" cy="3048050"/>
          </a:xfrm>
        </p:grpSpPr>
        <p:grpSp>
          <p:nvGrpSpPr>
            <p:cNvPr id="46" name="Group 45">
              <a:extLst>
                <a:ext uri="{FF2B5EF4-FFF2-40B4-BE49-F238E27FC236}">
                  <a16:creationId xmlns:a16="http://schemas.microsoft.com/office/drawing/2014/main" id="{CD3C9E76-737A-F0CD-1454-B77BBE1ACC7D}"/>
                </a:ext>
              </a:extLst>
            </p:cNvPr>
            <p:cNvGrpSpPr/>
            <p:nvPr/>
          </p:nvGrpSpPr>
          <p:grpSpPr>
            <a:xfrm>
              <a:off x="0" y="0"/>
              <a:ext cx="2107704" cy="2241545"/>
              <a:chOff x="0" y="0"/>
              <a:chExt cx="2107704" cy="2241545"/>
            </a:xfrm>
          </p:grpSpPr>
          <p:sp>
            <p:nvSpPr>
              <p:cNvPr id="52" name="Rectangle 51">
                <a:extLst>
                  <a:ext uri="{FF2B5EF4-FFF2-40B4-BE49-F238E27FC236}">
                    <a16:creationId xmlns:a16="http://schemas.microsoft.com/office/drawing/2014/main" id="{426C5FE2-4C5E-328E-B31E-2A89647269EE}"/>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3" name="Rectangle 52">
                <a:extLst>
                  <a:ext uri="{FF2B5EF4-FFF2-40B4-BE49-F238E27FC236}">
                    <a16:creationId xmlns:a16="http://schemas.microsoft.com/office/drawing/2014/main" id="{B24E7747-10C1-1C9C-5CF5-C1B001304E21}"/>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47" name="Group 46">
              <a:extLst>
                <a:ext uri="{FF2B5EF4-FFF2-40B4-BE49-F238E27FC236}">
                  <a16:creationId xmlns:a16="http://schemas.microsoft.com/office/drawing/2014/main" id="{F088F586-CBF3-7973-9154-4C1E8D344830}"/>
                </a:ext>
              </a:extLst>
            </p:cNvPr>
            <p:cNvGrpSpPr/>
            <p:nvPr/>
          </p:nvGrpSpPr>
          <p:grpSpPr>
            <a:xfrm flipH="1" flipV="1">
              <a:off x="1053853" y="1059210"/>
              <a:ext cx="2107703" cy="1988840"/>
              <a:chOff x="1580778" y="1268760"/>
              <a:chExt cx="2107703" cy="1988840"/>
            </a:xfrm>
          </p:grpSpPr>
          <p:sp>
            <p:nvSpPr>
              <p:cNvPr id="50" name="Rectangle 49">
                <a:extLst>
                  <a:ext uri="{FF2B5EF4-FFF2-40B4-BE49-F238E27FC236}">
                    <a16:creationId xmlns:a16="http://schemas.microsoft.com/office/drawing/2014/main" id="{AC6F413F-D6D4-B63E-2BE5-4A8A81B0626E}"/>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1" name="Rectangle 50">
                <a:extLst>
                  <a:ext uri="{FF2B5EF4-FFF2-40B4-BE49-F238E27FC236}">
                    <a16:creationId xmlns:a16="http://schemas.microsoft.com/office/drawing/2014/main" id="{0C6043A6-F026-88B8-7CD3-4F9374FD18A6}"/>
                  </a:ext>
                </a:extLst>
              </p:cNvPr>
              <p:cNvSpPr/>
              <p:nvPr/>
            </p:nvSpPr>
            <p:spPr>
              <a:xfrm rot="5400000">
                <a:off x="2758303" y="1145086"/>
                <a:ext cx="806504" cy="105385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58" name="Graphic 57" descr="Circle with left arrow with solid fill">
            <a:extLst>
              <a:ext uri="{FF2B5EF4-FFF2-40B4-BE49-F238E27FC236}">
                <a16:creationId xmlns:a16="http://schemas.microsoft.com/office/drawing/2014/main" id="{FB7991A6-1CA5-3786-D2A3-2E5AA09F093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2261159" y="2664825"/>
            <a:ext cx="267976" cy="246756"/>
          </a:xfrm>
          <a:prstGeom prst="rect">
            <a:avLst/>
          </a:prstGeom>
        </p:spPr>
      </p:pic>
      <p:pic>
        <p:nvPicPr>
          <p:cNvPr id="59" name="Graphic 58" descr="Circle with left arrow with solid fill">
            <a:extLst>
              <a:ext uri="{FF2B5EF4-FFF2-40B4-BE49-F238E27FC236}">
                <a16:creationId xmlns:a16="http://schemas.microsoft.com/office/drawing/2014/main" id="{1A7B20B5-33E3-FDCA-0065-7C1A6D6055A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2238405" y="3544881"/>
            <a:ext cx="267976" cy="246756"/>
          </a:xfrm>
          <a:prstGeom prst="rect">
            <a:avLst/>
          </a:prstGeom>
        </p:spPr>
      </p:pic>
      <p:pic>
        <p:nvPicPr>
          <p:cNvPr id="60" name="Graphic 59" descr="Circle with left arrow with solid fill">
            <a:extLst>
              <a:ext uri="{FF2B5EF4-FFF2-40B4-BE49-F238E27FC236}">
                <a16:creationId xmlns:a16="http://schemas.microsoft.com/office/drawing/2014/main" id="{62AA6F00-C452-952D-C1D6-B094FCB0DE1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2247882" y="4521529"/>
            <a:ext cx="267976" cy="246756"/>
          </a:xfrm>
          <a:prstGeom prst="rect">
            <a:avLst/>
          </a:prstGeom>
        </p:spPr>
      </p:pic>
      <p:pic>
        <p:nvPicPr>
          <p:cNvPr id="61" name="Graphic 60" descr="Circle with left arrow with solid fill">
            <a:extLst>
              <a:ext uri="{FF2B5EF4-FFF2-40B4-BE49-F238E27FC236}">
                <a16:creationId xmlns:a16="http://schemas.microsoft.com/office/drawing/2014/main" id="{8A31AA00-3796-748A-5274-30009C177007}"/>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flipV="1">
            <a:off x="2246614" y="5433782"/>
            <a:ext cx="267976" cy="246756"/>
          </a:xfrm>
          <a:prstGeom prst="rect">
            <a:avLst/>
          </a:prstGeom>
        </p:spPr>
      </p:pic>
      <p:pic>
        <p:nvPicPr>
          <p:cNvPr id="64" name="Picture 63" descr="BEll company logo">
            <a:extLst>
              <a:ext uri="{FF2B5EF4-FFF2-40B4-BE49-F238E27FC236}">
                <a16:creationId xmlns:a16="http://schemas.microsoft.com/office/drawing/2014/main" id="{32F7C10C-E0A4-B018-642C-DF57BF20E6BE}"/>
              </a:ext>
            </a:extLst>
          </p:cNvPr>
          <p:cNvPicPr>
            <a:picLocks noChangeAspect="1"/>
          </p:cNvPicPr>
          <p:nvPr/>
        </p:nvPicPr>
        <p:blipFill>
          <a:blip r:embed="rId4"/>
          <a:stretch>
            <a:fillRect/>
          </a:stretch>
        </p:blipFill>
        <p:spPr>
          <a:xfrm>
            <a:off x="11009239" y="535828"/>
            <a:ext cx="514513" cy="400050"/>
          </a:xfrm>
          <a:prstGeom prst="rect">
            <a:avLst/>
          </a:prstGeom>
        </p:spPr>
      </p:pic>
    </p:spTree>
    <p:extLst>
      <p:ext uri="{BB962C8B-B14F-4D97-AF65-F5344CB8AC3E}">
        <p14:creationId xmlns:p14="http://schemas.microsoft.com/office/powerpoint/2010/main" val="56431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4" decel="80000" fill="hold" nodeType="withEffect">
                                  <p:stCondLst>
                                    <p:cond delay="200"/>
                                  </p:stCondLst>
                                  <p:childTnLst>
                                    <p:set>
                                      <p:cBhvr>
                                        <p:cTn id="9" dur="1" fill="hold">
                                          <p:stCondLst>
                                            <p:cond delay="0"/>
                                          </p:stCondLst>
                                        </p:cTn>
                                        <p:tgtEl>
                                          <p:spTgt spid="62"/>
                                        </p:tgtEl>
                                        <p:attrNameLst>
                                          <p:attrName>style.visibility</p:attrName>
                                        </p:attrNameLst>
                                      </p:cBhvr>
                                      <p:to>
                                        <p:strVal val="visible"/>
                                      </p:to>
                                    </p:set>
                                    <p:anim calcmode="lin" valueType="num">
                                      <p:cBhvr additive="base">
                                        <p:cTn id="10" dur="500" fill="hold"/>
                                        <p:tgtEl>
                                          <p:spTgt spid="62"/>
                                        </p:tgtEl>
                                        <p:attrNameLst>
                                          <p:attrName>ppt_x</p:attrName>
                                        </p:attrNameLst>
                                      </p:cBhvr>
                                      <p:tavLst>
                                        <p:tav tm="0">
                                          <p:val>
                                            <p:strVal val="#ppt_x"/>
                                          </p:val>
                                        </p:tav>
                                        <p:tav tm="100000">
                                          <p:val>
                                            <p:strVal val="#ppt_x"/>
                                          </p:val>
                                        </p:tav>
                                      </p:tavLst>
                                    </p:anim>
                                    <p:anim calcmode="lin" valueType="num">
                                      <p:cBhvr additive="base">
                                        <p:cTn id="11" dur="500" fill="hold"/>
                                        <p:tgtEl>
                                          <p:spTgt spid="62"/>
                                        </p:tgtEl>
                                        <p:attrNameLst>
                                          <p:attrName>ppt_y</p:attrName>
                                        </p:attrNameLst>
                                      </p:cBhvr>
                                      <p:tavLst>
                                        <p:tav tm="0">
                                          <p:val>
                                            <p:strVal val="1+#ppt_h/2"/>
                                          </p:val>
                                        </p:tav>
                                        <p:tav tm="100000">
                                          <p:val>
                                            <p:strVal val="#ppt_y"/>
                                          </p:val>
                                        </p:tav>
                                      </p:tavLst>
                                    </p:anim>
                                  </p:childTnLst>
                                </p:cTn>
                              </p:par>
                              <p:par>
                                <p:cTn id="12" presetID="2" presetClass="entr" presetSubtype="4" decel="80000" fill="hold" nodeType="withEffect">
                                  <p:stCondLst>
                                    <p:cond delay="800"/>
                                  </p:stCondLst>
                                  <p:childTnLst>
                                    <p:set>
                                      <p:cBhvr>
                                        <p:cTn id="13" dur="1" fill="hold">
                                          <p:stCondLst>
                                            <p:cond delay="0"/>
                                          </p:stCondLst>
                                        </p:cTn>
                                        <p:tgtEl>
                                          <p:spTgt spid="65"/>
                                        </p:tgtEl>
                                        <p:attrNameLst>
                                          <p:attrName>style.visibility</p:attrName>
                                        </p:attrNameLst>
                                      </p:cBhvr>
                                      <p:to>
                                        <p:strVal val="visible"/>
                                      </p:to>
                                    </p:set>
                                    <p:anim calcmode="lin" valueType="num">
                                      <p:cBhvr additive="base">
                                        <p:cTn id="14" dur="500" fill="hold"/>
                                        <p:tgtEl>
                                          <p:spTgt spid="65"/>
                                        </p:tgtEl>
                                        <p:attrNameLst>
                                          <p:attrName>ppt_x</p:attrName>
                                        </p:attrNameLst>
                                      </p:cBhvr>
                                      <p:tavLst>
                                        <p:tav tm="0">
                                          <p:val>
                                            <p:strVal val="#ppt_x"/>
                                          </p:val>
                                        </p:tav>
                                        <p:tav tm="100000">
                                          <p:val>
                                            <p:strVal val="#ppt_x"/>
                                          </p:val>
                                        </p:tav>
                                      </p:tavLst>
                                    </p:anim>
                                    <p:anim calcmode="lin" valueType="num">
                                      <p:cBhvr additive="base">
                                        <p:cTn id="15" dur="500" fill="hold"/>
                                        <p:tgtEl>
                                          <p:spTgt spid="65"/>
                                        </p:tgtEl>
                                        <p:attrNameLst>
                                          <p:attrName>ppt_y</p:attrName>
                                        </p:attrNameLst>
                                      </p:cBhvr>
                                      <p:tavLst>
                                        <p:tav tm="0">
                                          <p:val>
                                            <p:strVal val="1+#ppt_h/2"/>
                                          </p:val>
                                        </p:tav>
                                        <p:tav tm="100000">
                                          <p:val>
                                            <p:strVal val="#ppt_y"/>
                                          </p:val>
                                        </p:tav>
                                      </p:tavLst>
                                    </p:anim>
                                  </p:childTnLst>
                                </p:cTn>
                              </p:par>
                              <p:par>
                                <p:cTn id="16" presetID="10" presetClass="entr" presetSubtype="0" fill="hold" nodeType="withEffect">
                                  <p:stCondLst>
                                    <p:cond delay="900"/>
                                  </p:stCondLst>
                                  <p:childTnLst>
                                    <p:set>
                                      <p:cBhvr>
                                        <p:cTn id="17" dur="1" fill="hold">
                                          <p:stCondLst>
                                            <p:cond delay="0"/>
                                          </p:stCondLst>
                                        </p:cTn>
                                        <p:tgtEl>
                                          <p:spTgt spid="86"/>
                                        </p:tgtEl>
                                        <p:attrNameLst>
                                          <p:attrName>style.visibility</p:attrName>
                                        </p:attrNameLst>
                                      </p:cBhvr>
                                      <p:to>
                                        <p:strVal val="visible"/>
                                      </p:to>
                                    </p:set>
                                    <p:animEffect transition="in" filter="fade">
                                      <p:cBhvr>
                                        <p:cTn id="18" dur="500"/>
                                        <p:tgtEl>
                                          <p:spTgt spid="86"/>
                                        </p:tgtEl>
                                      </p:cBhvr>
                                    </p:animEffect>
                                  </p:childTnLst>
                                </p:cTn>
                              </p:par>
                              <p:par>
                                <p:cTn id="19" presetID="16" presetClass="entr" presetSubtype="37" fill="hold" nodeType="withEffect">
                                  <p:stCondLst>
                                    <p:cond delay="900"/>
                                  </p:stCondLst>
                                  <p:childTnLst>
                                    <p:set>
                                      <p:cBhvr>
                                        <p:cTn id="20" dur="1" fill="hold">
                                          <p:stCondLst>
                                            <p:cond delay="0"/>
                                          </p:stCondLst>
                                        </p:cTn>
                                        <p:tgtEl>
                                          <p:spTgt spid="71"/>
                                        </p:tgtEl>
                                        <p:attrNameLst>
                                          <p:attrName>style.visibility</p:attrName>
                                        </p:attrNameLst>
                                      </p:cBhvr>
                                      <p:to>
                                        <p:strVal val="visible"/>
                                      </p:to>
                                    </p:set>
                                    <p:animEffect transition="in" filter="barn(outVertical)">
                                      <p:cBhvr>
                                        <p:cTn id="21" dur="500"/>
                                        <p:tgtEl>
                                          <p:spTgt spid="71"/>
                                        </p:tgtEl>
                                      </p:cBhvr>
                                    </p:animEffect>
                                  </p:childTnLst>
                                </p:cTn>
                              </p:par>
                              <p:par>
                                <p:cTn id="22" presetID="16" presetClass="entr" presetSubtype="37" fill="hold" nodeType="withEffect">
                                  <p:stCondLst>
                                    <p:cond delay="1100"/>
                                  </p:stCondLst>
                                  <p:childTnLst>
                                    <p:set>
                                      <p:cBhvr>
                                        <p:cTn id="23" dur="1" fill="hold">
                                          <p:stCondLst>
                                            <p:cond delay="0"/>
                                          </p:stCondLst>
                                        </p:cTn>
                                        <p:tgtEl>
                                          <p:spTgt spid="73"/>
                                        </p:tgtEl>
                                        <p:attrNameLst>
                                          <p:attrName>style.visibility</p:attrName>
                                        </p:attrNameLst>
                                      </p:cBhvr>
                                      <p:to>
                                        <p:strVal val="visible"/>
                                      </p:to>
                                    </p:set>
                                    <p:animEffect transition="in" filter="barn(outVertical)">
                                      <p:cBhvr>
                                        <p:cTn id="24" dur="500"/>
                                        <p:tgtEl>
                                          <p:spTgt spid="73"/>
                                        </p:tgtEl>
                                      </p:cBhvr>
                                    </p:animEffect>
                                  </p:childTnLst>
                                </p:cTn>
                              </p:par>
                              <p:par>
                                <p:cTn id="25" presetID="2" presetClass="entr" presetSubtype="4" decel="80000" fill="hold" nodeType="withEffect">
                                  <p:stCondLst>
                                    <p:cond delay="20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par>
                                <p:cTn id="29" presetID="16" presetClass="entr" presetSubtype="37" fill="hold" nodeType="withEffect">
                                  <p:stCondLst>
                                    <p:cond delay="900"/>
                                  </p:stCondLst>
                                  <p:childTnLst>
                                    <p:set>
                                      <p:cBhvr>
                                        <p:cTn id="30" dur="1" fill="hold">
                                          <p:stCondLst>
                                            <p:cond delay="0"/>
                                          </p:stCondLst>
                                        </p:cTn>
                                        <p:tgtEl>
                                          <p:spTgt spid="21"/>
                                        </p:tgtEl>
                                        <p:attrNameLst>
                                          <p:attrName>style.visibility</p:attrName>
                                        </p:attrNameLst>
                                      </p:cBhvr>
                                      <p:to>
                                        <p:strVal val="visible"/>
                                      </p:to>
                                    </p:set>
                                    <p:animEffect transition="in" filter="barn(outVertical)">
                                      <p:cBhvr>
                                        <p:cTn id="31" dur="500"/>
                                        <p:tgtEl>
                                          <p:spTgt spid="21"/>
                                        </p:tgtEl>
                                      </p:cBhvr>
                                    </p:animEffect>
                                  </p:childTnLst>
                                </p:cTn>
                              </p:par>
                              <p:par>
                                <p:cTn id="32" presetID="16" presetClass="entr" presetSubtype="37" fill="hold" nodeType="withEffect">
                                  <p:stCondLst>
                                    <p:cond delay="1300"/>
                                  </p:stCondLst>
                                  <p:childTnLst>
                                    <p:set>
                                      <p:cBhvr>
                                        <p:cTn id="33" dur="1" fill="hold">
                                          <p:stCondLst>
                                            <p:cond delay="0"/>
                                          </p:stCondLst>
                                        </p:cTn>
                                        <p:tgtEl>
                                          <p:spTgt spid="22"/>
                                        </p:tgtEl>
                                        <p:attrNameLst>
                                          <p:attrName>style.visibility</p:attrName>
                                        </p:attrNameLst>
                                      </p:cBhvr>
                                      <p:to>
                                        <p:strVal val="visible"/>
                                      </p:to>
                                    </p:set>
                                    <p:animEffect transition="in" filter="barn(outVertical)">
                                      <p:cBhvr>
                                        <p:cTn id="34" dur="500"/>
                                        <p:tgtEl>
                                          <p:spTgt spid="22"/>
                                        </p:tgtEl>
                                      </p:cBhvr>
                                    </p:animEffect>
                                  </p:childTnLst>
                                </p:cTn>
                              </p:par>
                              <p:par>
                                <p:cTn id="35" presetID="2" presetClass="entr" presetSubtype="4" decel="80000" fill="hold" nodeType="withEffect">
                                  <p:stCondLst>
                                    <p:cond delay="20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par>
                                <p:cTn id="39" presetID="16" presetClass="entr" presetSubtype="37" fill="hold" nodeType="withEffect">
                                  <p:stCondLst>
                                    <p:cond delay="1300"/>
                                  </p:stCondLst>
                                  <p:childTnLst>
                                    <p:set>
                                      <p:cBhvr>
                                        <p:cTn id="40" dur="1" fill="hold">
                                          <p:stCondLst>
                                            <p:cond delay="0"/>
                                          </p:stCondLst>
                                        </p:cTn>
                                        <p:tgtEl>
                                          <p:spTgt spid="102"/>
                                        </p:tgtEl>
                                        <p:attrNameLst>
                                          <p:attrName>style.visibility</p:attrName>
                                        </p:attrNameLst>
                                      </p:cBhvr>
                                      <p:to>
                                        <p:strVal val="visible"/>
                                      </p:to>
                                    </p:set>
                                    <p:animEffect transition="in" filter="barn(outVertical)">
                                      <p:cBhvr>
                                        <p:cTn id="41" dur="500"/>
                                        <p:tgtEl>
                                          <p:spTgt spid="102"/>
                                        </p:tgtEl>
                                      </p:cBhvr>
                                    </p:animEffect>
                                  </p:childTnLst>
                                </p:cTn>
                              </p:par>
                              <p:par>
                                <p:cTn id="42" presetID="2" presetClass="entr" presetSubtype="4" decel="80000" fill="hold" nodeType="withEffect">
                                  <p:stCondLst>
                                    <p:cond delay="200"/>
                                  </p:stCondLst>
                                  <p:childTnLst>
                                    <p:set>
                                      <p:cBhvr>
                                        <p:cTn id="43" dur="1" fill="hold">
                                          <p:stCondLst>
                                            <p:cond delay="0"/>
                                          </p:stCondLst>
                                        </p:cTn>
                                        <p:tgtEl>
                                          <p:spTgt spid="103"/>
                                        </p:tgtEl>
                                        <p:attrNameLst>
                                          <p:attrName>style.visibility</p:attrName>
                                        </p:attrNameLst>
                                      </p:cBhvr>
                                      <p:to>
                                        <p:strVal val="visible"/>
                                      </p:to>
                                    </p:set>
                                    <p:anim calcmode="lin" valueType="num">
                                      <p:cBhvr additive="base">
                                        <p:cTn id="44" dur="500" fill="hold"/>
                                        <p:tgtEl>
                                          <p:spTgt spid="103"/>
                                        </p:tgtEl>
                                        <p:attrNameLst>
                                          <p:attrName>ppt_x</p:attrName>
                                        </p:attrNameLst>
                                      </p:cBhvr>
                                      <p:tavLst>
                                        <p:tav tm="0">
                                          <p:val>
                                            <p:strVal val="#ppt_x"/>
                                          </p:val>
                                        </p:tav>
                                        <p:tav tm="100000">
                                          <p:val>
                                            <p:strVal val="#ppt_x"/>
                                          </p:val>
                                        </p:tav>
                                      </p:tavLst>
                                    </p:anim>
                                    <p:anim calcmode="lin" valueType="num">
                                      <p:cBhvr additive="base">
                                        <p:cTn id="45" dur="500" fill="hold"/>
                                        <p:tgtEl>
                                          <p:spTgt spid="103"/>
                                        </p:tgtEl>
                                        <p:attrNameLst>
                                          <p:attrName>ppt_y</p:attrName>
                                        </p:attrNameLst>
                                      </p:cBhvr>
                                      <p:tavLst>
                                        <p:tav tm="0">
                                          <p:val>
                                            <p:strVal val="1+#ppt_h/2"/>
                                          </p:val>
                                        </p:tav>
                                        <p:tav tm="100000">
                                          <p:val>
                                            <p:strVal val="#ppt_y"/>
                                          </p:val>
                                        </p:tav>
                                      </p:tavLst>
                                    </p:anim>
                                  </p:childTnLst>
                                </p:cTn>
                              </p:par>
                              <p:par>
                                <p:cTn id="46" presetID="2" presetClass="entr" presetSubtype="9" decel="80000" fill="hold" nodeType="withEffect">
                                  <p:stCondLst>
                                    <p:cond delay="0"/>
                                  </p:stCondLst>
                                  <p:childTnLst>
                                    <p:set>
                                      <p:cBhvr>
                                        <p:cTn id="47" dur="1" fill="hold">
                                          <p:stCondLst>
                                            <p:cond delay="0"/>
                                          </p:stCondLst>
                                        </p:cTn>
                                        <p:tgtEl>
                                          <p:spTgt spid="34"/>
                                        </p:tgtEl>
                                        <p:attrNameLst>
                                          <p:attrName>style.visibility</p:attrName>
                                        </p:attrNameLst>
                                      </p:cBhvr>
                                      <p:to>
                                        <p:strVal val="visible"/>
                                      </p:to>
                                    </p:set>
                                    <p:anim calcmode="lin" valueType="num">
                                      <p:cBhvr additive="base">
                                        <p:cTn id="48" dur="500" fill="hold"/>
                                        <p:tgtEl>
                                          <p:spTgt spid="34"/>
                                        </p:tgtEl>
                                        <p:attrNameLst>
                                          <p:attrName>ppt_x</p:attrName>
                                        </p:attrNameLst>
                                      </p:cBhvr>
                                      <p:tavLst>
                                        <p:tav tm="0">
                                          <p:val>
                                            <p:strVal val="0-#ppt_w/2"/>
                                          </p:val>
                                        </p:tav>
                                        <p:tav tm="100000">
                                          <p:val>
                                            <p:strVal val="#ppt_x"/>
                                          </p:val>
                                        </p:tav>
                                      </p:tavLst>
                                    </p:anim>
                                    <p:anim calcmode="lin" valueType="num">
                                      <p:cBhvr additive="base">
                                        <p:cTn id="49" dur="500" fill="hold"/>
                                        <p:tgtEl>
                                          <p:spTgt spid="34"/>
                                        </p:tgtEl>
                                        <p:attrNameLst>
                                          <p:attrName>ppt_y</p:attrName>
                                        </p:attrNameLst>
                                      </p:cBhvr>
                                      <p:tavLst>
                                        <p:tav tm="0">
                                          <p:val>
                                            <p:strVal val="0-#ppt_h/2"/>
                                          </p:val>
                                        </p:tav>
                                        <p:tav tm="100000">
                                          <p:val>
                                            <p:strVal val="#ppt_y"/>
                                          </p:val>
                                        </p:tav>
                                      </p:tavLst>
                                    </p:anim>
                                  </p:childTnLst>
                                </p:cTn>
                              </p:par>
                              <p:par>
                                <p:cTn id="50" presetID="2" presetClass="entr" presetSubtype="6" decel="80000" fill="hold" nodeType="withEffect">
                                  <p:stCondLst>
                                    <p:cond delay="0"/>
                                  </p:stCondLst>
                                  <p:childTnLst>
                                    <p:set>
                                      <p:cBhvr>
                                        <p:cTn id="51" dur="1" fill="hold">
                                          <p:stCondLst>
                                            <p:cond delay="0"/>
                                          </p:stCondLst>
                                        </p:cTn>
                                        <p:tgtEl>
                                          <p:spTgt spid="56"/>
                                        </p:tgtEl>
                                        <p:attrNameLst>
                                          <p:attrName>style.visibility</p:attrName>
                                        </p:attrNameLst>
                                      </p:cBhvr>
                                      <p:to>
                                        <p:strVal val="visible"/>
                                      </p:to>
                                    </p:set>
                                    <p:anim calcmode="lin" valueType="num">
                                      <p:cBhvr additive="base">
                                        <p:cTn id="52" dur="500" fill="hold"/>
                                        <p:tgtEl>
                                          <p:spTgt spid="56"/>
                                        </p:tgtEl>
                                        <p:attrNameLst>
                                          <p:attrName>ppt_x</p:attrName>
                                        </p:attrNameLst>
                                      </p:cBhvr>
                                      <p:tavLst>
                                        <p:tav tm="0">
                                          <p:val>
                                            <p:strVal val="1+#ppt_w/2"/>
                                          </p:val>
                                        </p:tav>
                                        <p:tav tm="100000">
                                          <p:val>
                                            <p:strVal val="#ppt_x"/>
                                          </p:val>
                                        </p:tav>
                                      </p:tavLst>
                                    </p:anim>
                                    <p:anim calcmode="lin" valueType="num">
                                      <p:cBhvr additive="base">
                                        <p:cTn id="53"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0D847-36E2-9961-62BD-B965F298710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FF33E7-4564-7F45-67C2-A76AD3B40025}"/>
              </a:ext>
            </a:extLst>
          </p:cNvPr>
          <p:cNvSpPr>
            <a:spLocks noGrp="1"/>
          </p:cNvSpPr>
          <p:nvPr>
            <p:ph type="title" idx="4294967295"/>
          </p:nvPr>
        </p:nvSpPr>
        <p:spPr>
          <a:xfrm>
            <a:off x="1159818" y="471532"/>
            <a:ext cx="2421946" cy="626640"/>
          </a:xfrm>
        </p:spPr>
        <p:txBody>
          <a:bodyPr/>
          <a:lstStyle/>
          <a:p>
            <a:r>
              <a:rPr lang="en-US" sz="3200">
                <a:latin typeface="Arial"/>
                <a:cs typeface="Arial"/>
              </a:rPr>
              <a:t>Test Cycles</a:t>
            </a:r>
            <a:endParaRPr lang="en-PH" sz="3200">
              <a:latin typeface="Arial"/>
              <a:cs typeface="Arial"/>
            </a:endParaRPr>
          </a:p>
        </p:txBody>
      </p:sp>
      <p:grpSp>
        <p:nvGrpSpPr>
          <p:cNvPr id="121" name="Group 120">
            <a:extLst>
              <a:ext uri="{FF2B5EF4-FFF2-40B4-BE49-F238E27FC236}">
                <a16:creationId xmlns:a16="http://schemas.microsoft.com/office/drawing/2014/main" id="{79BFFED0-8046-27B1-7DB0-DD5DF21D66DD}"/>
              </a:ext>
            </a:extLst>
          </p:cNvPr>
          <p:cNvGrpSpPr/>
          <p:nvPr/>
        </p:nvGrpSpPr>
        <p:grpSpPr>
          <a:xfrm>
            <a:off x="1" y="-6492"/>
            <a:ext cx="909836" cy="940959"/>
            <a:chOff x="1" y="-6492"/>
            <a:chExt cx="909836" cy="940959"/>
          </a:xfrm>
        </p:grpSpPr>
        <p:sp>
          <p:nvSpPr>
            <p:cNvPr id="32" name="Rectangle 31">
              <a:extLst>
                <a:ext uri="{FF2B5EF4-FFF2-40B4-BE49-F238E27FC236}">
                  <a16:creationId xmlns:a16="http://schemas.microsoft.com/office/drawing/2014/main" id="{A6726334-6471-8033-096F-54BC834466B8}"/>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3" name="Rectangle 32">
              <a:extLst>
                <a:ext uri="{FF2B5EF4-FFF2-40B4-BE49-F238E27FC236}">
                  <a16:creationId xmlns:a16="http://schemas.microsoft.com/office/drawing/2014/main" id="{F12CB355-708D-0F51-AF49-48407336B9AD}"/>
                </a:ext>
              </a:extLst>
            </p:cNvPr>
            <p:cNvSpPr/>
            <p:nvPr/>
          </p:nvSpPr>
          <p:spPr>
            <a:xfrm rot="5400000">
              <a:off x="289785" y="3412"/>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Rectangle 29">
              <a:extLst>
                <a:ext uri="{FF2B5EF4-FFF2-40B4-BE49-F238E27FC236}">
                  <a16:creationId xmlns:a16="http://schemas.microsoft.com/office/drawing/2014/main" id="{8F7259E9-2BA9-F05D-BBC0-C7A0A94D33D4}"/>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Rectangle 30">
              <a:extLst>
                <a:ext uri="{FF2B5EF4-FFF2-40B4-BE49-F238E27FC236}">
                  <a16:creationId xmlns:a16="http://schemas.microsoft.com/office/drawing/2014/main" id="{736F61DB-AF19-3F00-4E49-16404AED21B5}"/>
                </a:ext>
              </a:extLst>
            </p:cNvPr>
            <p:cNvSpPr/>
            <p:nvPr/>
          </p:nvSpPr>
          <p:spPr>
            <a:xfrm rot="5400000" flipH="1" flipV="1">
              <a:off x="296965" y="621283"/>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56" name="Group 55">
            <a:extLst>
              <a:ext uri="{FF2B5EF4-FFF2-40B4-BE49-F238E27FC236}">
                <a16:creationId xmlns:a16="http://schemas.microsoft.com/office/drawing/2014/main" id="{6DCEE58E-CD05-77AA-F88B-538E1543ECAF}"/>
              </a:ext>
            </a:extLst>
          </p:cNvPr>
          <p:cNvGrpSpPr/>
          <p:nvPr/>
        </p:nvGrpSpPr>
        <p:grpSpPr>
          <a:xfrm>
            <a:off x="10342891" y="4962097"/>
            <a:ext cx="1845935" cy="1905988"/>
            <a:chOff x="0" y="0"/>
            <a:chExt cx="3161556" cy="3064264"/>
          </a:xfrm>
        </p:grpSpPr>
        <p:grpSp>
          <p:nvGrpSpPr>
            <p:cNvPr id="46" name="Group 45">
              <a:extLst>
                <a:ext uri="{FF2B5EF4-FFF2-40B4-BE49-F238E27FC236}">
                  <a16:creationId xmlns:a16="http://schemas.microsoft.com/office/drawing/2014/main" id="{BA512F6F-7678-0008-3952-11BFDCC7F761}"/>
                </a:ext>
              </a:extLst>
            </p:cNvPr>
            <p:cNvGrpSpPr/>
            <p:nvPr/>
          </p:nvGrpSpPr>
          <p:grpSpPr>
            <a:xfrm>
              <a:off x="0" y="0"/>
              <a:ext cx="2107704" cy="2241545"/>
              <a:chOff x="0" y="0"/>
              <a:chExt cx="2107704" cy="2241545"/>
            </a:xfrm>
          </p:grpSpPr>
          <p:sp>
            <p:nvSpPr>
              <p:cNvPr id="52" name="Rectangle 51">
                <a:extLst>
                  <a:ext uri="{FF2B5EF4-FFF2-40B4-BE49-F238E27FC236}">
                    <a16:creationId xmlns:a16="http://schemas.microsoft.com/office/drawing/2014/main" id="{D91AC6C3-97C0-0A04-E3AD-1CE28C198224}"/>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3" name="Rectangle 52">
                <a:extLst>
                  <a:ext uri="{FF2B5EF4-FFF2-40B4-BE49-F238E27FC236}">
                    <a16:creationId xmlns:a16="http://schemas.microsoft.com/office/drawing/2014/main" id="{CCE6FDE9-D79C-BA07-CB09-A4D923ACA661}"/>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47" name="Group 46">
              <a:extLst>
                <a:ext uri="{FF2B5EF4-FFF2-40B4-BE49-F238E27FC236}">
                  <a16:creationId xmlns:a16="http://schemas.microsoft.com/office/drawing/2014/main" id="{2B120038-0C08-1C27-6FEC-0170B3018800}"/>
                </a:ext>
              </a:extLst>
            </p:cNvPr>
            <p:cNvGrpSpPr/>
            <p:nvPr/>
          </p:nvGrpSpPr>
          <p:grpSpPr>
            <a:xfrm flipH="1" flipV="1">
              <a:off x="1053853" y="1059210"/>
              <a:ext cx="2107703" cy="2005054"/>
              <a:chOff x="1580778" y="1252546"/>
              <a:chExt cx="2107703" cy="2005054"/>
            </a:xfrm>
          </p:grpSpPr>
          <p:sp>
            <p:nvSpPr>
              <p:cNvPr id="50" name="Rectangle 49">
                <a:extLst>
                  <a:ext uri="{FF2B5EF4-FFF2-40B4-BE49-F238E27FC236}">
                    <a16:creationId xmlns:a16="http://schemas.microsoft.com/office/drawing/2014/main" id="{E7D36D07-23FB-0AC4-E609-C844F4EC0043}"/>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1" name="Rectangle 50">
                <a:extLst>
                  <a:ext uri="{FF2B5EF4-FFF2-40B4-BE49-F238E27FC236}">
                    <a16:creationId xmlns:a16="http://schemas.microsoft.com/office/drawing/2014/main" id="{2AD58E5F-BC6D-075E-7CF6-A1C977519AF8}"/>
                  </a:ext>
                </a:extLst>
              </p:cNvPr>
              <p:cNvSpPr/>
              <p:nvPr/>
            </p:nvSpPr>
            <p:spPr>
              <a:xfrm rot="5400000">
                <a:off x="2758303" y="1128872"/>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64" name="Picture 63" descr="BEll company logo">
            <a:extLst>
              <a:ext uri="{FF2B5EF4-FFF2-40B4-BE49-F238E27FC236}">
                <a16:creationId xmlns:a16="http://schemas.microsoft.com/office/drawing/2014/main" id="{EDED5904-7F68-9987-8F4E-7FF55BC7013A}"/>
              </a:ext>
            </a:extLst>
          </p:cNvPr>
          <p:cNvPicPr>
            <a:picLocks noChangeAspect="1"/>
          </p:cNvPicPr>
          <p:nvPr/>
        </p:nvPicPr>
        <p:blipFill>
          <a:blip r:embed="rId2"/>
          <a:stretch>
            <a:fillRect/>
          </a:stretch>
        </p:blipFill>
        <p:spPr>
          <a:xfrm>
            <a:off x="11009239" y="535828"/>
            <a:ext cx="514513" cy="400050"/>
          </a:xfrm>
          <a:prstGeom prst="rect">
            <a:avLst/>
          </a:prstGeom>
        </p:spPr>
      </p:pic>
      <p:grpSp>
        <p:nvGrpSpPr>
          <p:cNvPr id="12" name="Group 11">
            <a:extLst>
              <a:ext uri="{FF2B5EF4-FFF2-40B4-BE49-F238E27FC236}">
                <a16:creationId xmlns:a16="http://schemas.microsoft.com/office/drawing/2014/main" id="{D36AE341-D057-9834-44CD-66849CED7E68}"/>
              </a:ext>
            </a:extLst>
          </p:cNvPr>
          <p:cNvGrpSpPr/>
          <p:nvPr/>
        </p:nvGrpSpPr>
        <p:grpSpPr>
          <a:xfrm>
            <a:off x="452674" y="2492154"/>
            <a:ext cx="1740421" cy="738490"/>
            <a:chOff x="5404272" y="812282"/>
            <a:chExt cx="2004766" cy="979169"/>
          </a:xfrm>
        </p:grpSpPr>
        <p:grpSp>
          <p:nvGrpSpPr>
            <p:cNvPr id="7" name="Group 6">
              <a:extLst>
                <a:ext uri="{FF2B5EF4-FFF2-40B4-BE49-F238E27FC236}">
                  <a16:creationId xmlns:a16="http://schemas.microsoft.com/office/drawing/2014/main" id="{E1F9CB2C-94CE-0340-8E5F-9C8417F0F81C}"/>
                </a:ext>
              </a:extLst>
            </p:cNvPr>
            <p:cNvGrpSpPr/>
            <p:nvPr/>
          </p:nvGrpSpPr>
          <p:grpSpPr>
            <a:xfrm>
              <a:off x="5404272" y="812282"/>
              <a:ext cx="2004766" cy="979169"/>
              <a:chOff x="5025750" y="1144513"/>
              <a:chExt cx="2425356" cy="1184595"/>
            </a:xfrm>
          </p:grpSpPr>
          <p:sp>
            <p:nvSpPr>
              <p:cNvPr id="9" name="Rectangle 8">
                <a:extLst>
                  <a:ext uri="{FF2B5EF4-FFF2-40B4-BE49-F238E27FC236}">
                    <a16:creationId xmlns:a16="http://schemas.microsoft.com/office/drawing/2014/main" id="{9DAA565D-B7F8-8ACB-24DC-04A2D8EEB1A7}"/>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0" name="Rectangle 9">
                <a:extLst>
                  <a:ext uri="{FF2B5EF4-FFF2-40B4-BE49-F238E27FC236}">
                    <a16:creationId xmlns:a16="http://schemas.microsoft.com/office/drawing/2014/main" id="{26D024F3-731D-3086-D0FD-4615BA590EEE}"/>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1" name="Rectangle 10">
                <a:extLst>
                  <a:ext uri="{FF2B5EF4-FFF2-40B4-BE49-F238E27FC236}">
                    <a16:creationId xmlns:a16="http://schemas.microsoft.com/office/drawing/2014/main" id="{1DAD3B2E-7395-9928-5755-6F4062ED29B5}"/>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8" name="TextBox 7">
              <a:extLst>
                <a:ext uri="{FF2B5EF4-FFF2-40B4-BE49-F238E27FC236}">
                  <a16:creationId xmlns:a16="http://schemas.microsoft.com/office/drawing/2014/main" id="{60B30C46-ACA1-2819-F40F-F231EC99990E}"/>
                </a:ext>
              </a:extLst>
            </p:cNvPr>
            <p:cNvSpPr txBox="1"/>
            <p:nvPr/>
          </p:nvSpPr>
          <p:spPr>
            <a:xfrm>
              <a:off x="5792369" y="1099882"/>
              <a:ext cx="1419945" cy="530509"/>
            </a:xfrm>
            <a:prstGeom prst="rect">
              <a:avLst/>
            </a:prstGeom>
            <a:noFill/>
          </p:spPr>
          <p:txBody>
            <a:bodyPr wrap="square" rtlCol="0">
              <a:spAutoFit/>
            </a:bodyPr>
            <a:lstStyle/>
            <a:p>
              <a:r>
                <a:rPr lang="en-US" sz="1000" b="1">
                  <a:solidFill>
                    <a:schemeClr val="bg1"/>
                  </a:solidFill>
                </a:rPr>
                <a:t>Accessibility Testing</a:t>
              </a:r>
              <a:endParaRPr lang="en-PH" sz="1000" b="1">
                <a:solidFill>
                  <a:schemeClr val="bg1"/>
                </a:solidFill>
              </a:endParaRPr>
            </a:p>
          </p:txBody>
        </p:sp>
      </p:grpSp>
      <p:grpSp>
        <p:nvGrpSpPr>
          <p:cNvPr id="44" name="Group 43">
            <a:extLst>
              <a:ext uri="{FF2B5EF4-FFF2-40B4-BE49-F238E27FC236}">
                <a16:creationId xmlns:a16="http://schemas.microsoft.com/office/drawing/2014/main" id="{D7325062-0345-13FE-150E-4A321753A193}"/>
              </a:ext>
            </a:extLst>
          </p:cNvPr>
          <p:cNvGrpSpPr/>
          <p:nvPr/>
        </p:nvGrpSpPr>
        <p:grpSpPr>
          <a:xfrm>
            <a:off x="472138" y="1476677"/>
            <a:ext cx="1740421" cy="738490"/>
            <a:chOff x="5404272" y="5138781"/>
            <a:chExt cx="2004766" cy="979169"/>
          </a:xfrm>
        </p:grpSpPr>
        <p:grpSp>
          <p:nvGrpSpPr>
            <p:cNvPr id="16" name="Group 15">
              <a:extLst>
                <a:ext uri="{FF2B5EF4-FFF2-40B4-BE49-F238E27FC236}">
                  <a16:creationId xmlns:a16="http://schemas.microsoft.com/office/drawing/2014/main" id="{64276D8C-F88F-D95A-B75D-F60F1FFFAC02}"/>
                </a:ext>
              </a:extLst>
            </p:cNvPr>
            <p:cNvGrpSpPr/>
            <p:nvPr/>
          </p:nvGrpSpPr>
          <p:grpSpPr>
            <a:xfrm>
              <a:off x="5404272" y="5138781"/>
              <a:ext cx="2004766" cy="979169"/>
              <a:chOff x="5025750" y="1144513"/>
              <a:chExt cx="2425356" cy="1184595"/>
            </a:xfrm>
          </p:grpSpPr>
          <p:sp>
            <p:nvSpPr>
              <p:cNvPr id="19" name="Rectangle 18">
                <a:extLst>
                  <a:ext uri="{FF2B5EF4-FFF2-40B4-BE49-F238E27FC236}">
                    <a16:creationId xmlns:a16="http://schemas.microsoft.com/office/drawing/2014/main" id="{C5EBC914-FAA5-8614-C189-A6BBA0825FC3}"/>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35" name="Rectangle 34">
                <a:extLst>
                  <a:ext uri="{FF2B5EF4-FFF2-40B4-BE49-F238E27FC236}">
                    <a16:creationId xmlns:a16="http://schemas.microsoft.com/office/drawing/2014/main" id="{37E5E62A-6EB1-416C-D27C-7EECCAA480BC}"/>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42" name="Rectangle 41">
                <a:extLst>
                  <a:ext uri="{FF2B5EF4-FFF2-40B4-BE49-F238E27FC236}">
                    <a16:creationId xmlns:a16="http://schemas.microsoft.com/office/drawing/2014/main" id="{1EBF4748-284F-8867-17AE-90D73A783DBF}"/>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18" name="TextBox 17">
              <a:extLst>
                <a:ext uri="{FF2B5EF4-FFF2-40B4-BE49-F238E27FC236}">
                  <a16:creationId xmlns:a16="http://schemas.microsoft.com/office/drawing/2014/main" id="{A8432C92-EAD9-DFEE-77F9-E22B715DDF19}"/>
                </a:ext>
              </a:extLst>
            </p:cNvPr>
            <p:cNvSpPr txBox="1"/>
            <p:nvPr/>
          </p:nvSpPr>
          <p:spPr>
            <a:xfrm>
              <a:off x="5794462" y="5407585"/>
              <a:ext cx="1483211" cy="530509"/>
            </a:xfrm>
            <a:prstGeom prst="rect">
              <a:avLst/>
            </a:prstGeom>
            <a:noFill/>
          </p:spPr>
          <p:txBody>
            <a:bodyPr wrap="square" rtlCol="0">
              <a:spAutoFit/>
            </a:bodyPr>
            <a:lstStyle/>
            <a:p>
              <a:r>
                <a:rPr lang="en-US" sz="1000" b="1">
                  <a:solidFill>
                    <a:schemeClr val="bg1"/>
                  </a:solidFill>
                </a:rPr>
                <a:t>Operational Readiness Testing</a:t>
              </a:r>
              <a:endParaRPr lang="en-PH" sz="1000" b="1">
                <a:solidFill>
                  <a:schemeClr val="bg1"/>
                </a:solidFill>
              </a:endParaRPr>
            </a:p>
          </p:txBody>
        </p:sp>
      </p:grpSp>
      <p:sp>
        <p:nvSpPr>
          <p:cNvPr id="68" name="TextBox 67">
            <a:extLst>
              <a:ext uri="{FF2B5EF4-FFF2-40B4-BE49-F238E27FC236}">
                <a16:creationId xmlns:a16="http://schemas.microsoft.com/office/drawing/2014/main" id="{1561D04A-6B10-65C6-B7F7-955AE47B6363}"/>
              </a:ext>
            </a:extLst>
          </p:cNvPr>
          <p:cNvSpPr txBox="1"/>
          <p:nvPr/>
        </p:nvSpPr>
        <p:spPr>
          <a:xfrm>
            <a:off x="2536312" y="2554758"/>
            <a:ext cx="7492176" cy="707886"/>
          </a:xfrm>
          <a:prstGeom prst="rect">
            <a:avLst/>
          </a:prstGeom>
          <a:noFill/>
        </p:spPr>
        <p:txBody>
          <a:bodyPr wrap="square" lIns="91440" tIns="45720" rIns="91440" bIns="45720" rtlCol="0" anchor="t">
            <a:spAutoFit/>
          </a:bodyPr>
          <a:lstStyle/>
          <a:p>
            <a:pPr algn="just">
              <a:spcAft>
                <a:spcPts val="600"/>
              </a:spcAft>
            </a:pPr>
            <a:r>
              <a:rPr lang="en-CA" sz="1000" b="1" dirty="0">
                <a:solidFill>
                  <a:srgbClr val="1A2F45"/>
                </a:solidFill>
                <a:latin typeface="Segoe UI"/>
                <a:cs typeface="Segoe UI"/>
              </a:rPr>
              <a:t>Accessibility Testing</a:t>
            </a:r>
            <a:r>
              <a:rPr lang="en-CA" sz="1000" dirty="0">
                <a:solidFill>
                  <a:srgbClr val="1A2F45"/>
                </a:solidFill>
                <a:latin typeface="Segoe UI"/>
                <a:cs typeface="Segoe UI"/>
              </a:rPr>
              <a:t> </a:t>
            </a:r>
            <a:r>
              <a:rPr lang="en-CA" sz="1000" dirty="0">
                <a:solidFill>
                  <a:schemeClr val="tx1">
                    <a:lumMod val="75000"/>
                    <a:lumOff val="25000"/>
                  </a:schemeClr>
                </a:solidFill>
                <a:latin typeface="Segoe UI"/>
                <a:cs typeface="Segoe UI"/>
              </a:rPr>
              <a:t>(executed by the </a:t>
            </a:r>
            <a:r>
              <a:rPr lang="en-CA" sz="1000" b="1" dirty="0">
                <a:solidFill>
                  <a:schemeClr val="tx1">
                    <a:lumMod val="75000"/>
                    <a:lumOff val="25000"/>
                  </a:schemeClr>
                </a:solidFill>
                <a:latin typeface="Segoe UI"/>
                <a:cs typeface="Segoe UI"/>
              </a:rPr>
              <a:t>Automation QA Eng team</a:t>
            </a:r>
            <a:r>
              <a:rPr lang="en-CA" sz="1000" dirty="0">
                <a:solidFill>
                  <a:schemeClr val="tx1">
                    <a:lumMod val="75000"/>
                    <a:lumOff val="25000"/>
                  </a:schemeClr>
                </a:solidFill>
                <a:latin typeface="Segoe UI"/>
                <a:cs typeface="Segoe UI"/>
              </a:rPr>
              <a:t>) is the practice that websites, tools and technology are created and developed in a way that accommodates people with disabilities. Key areas for accessibility testing include (but not limited to): Web pages, Office &amp; PDF Suite, and mobile applications. WCAG is the main digital accessibility standard in Canada which set the mandates for compliance and regulations. </a:t>
            </a:r>
            <a:r>
              <a:rPr lang="en-US" sz="1000" b="1" dirty="0">
                <a:highlight>
                  <a:srgbClr val="FFFF00"/>
                </a:highlight>
                <a:latin typeface="Calibri"/>
                <a:ea typeface="Calibri"/>
                <a:cs typeface="Calibri"/>
              </a:rPr>
              <a:t>Nikola to review and update Miipe QA team.</a:t>
            </a:r>
            <a:endParaRPr lang="en-US" sz="1000" dirty="0">
              <a:solidFill>
                <a:srgbClr val="1A2F45"/>
              </a:solidFill>
              <a:latin typeface="Calibri"/>
              <a:ea typeface="Calibri"/>
              <a:cs typeface="Calibri"/>
            </a:endParaRPr>
          </a:p>
        </p:txBody>
      </p:sp>
      <p:grpSp>
        <p:nvGrpSpPr>
          <p:cNvPr id="75" name="Group 74">
            <a:extLst>
              <a:ext uri="{FF2B5EF4-FFF2-40B4-BE49-F238E27FC236}">
                <a16:creationId xmlns:a16="http://schemas.microsoft.com/office/drawing/2014/main" id="{593311F1-DAD9-C62F-BF0F-A43A68AEF7EB}"/>
              </a:ext>
            </a:extLst>
          </p:cNvPr>
          <p:cNvGrpSpPr/>
          <p:nvPr/>
        </p:nvGrpSpPr>
        <p:grpSpPr>
          <a:xfrm>
            <a:off x="2269855" y="1621906"/>
            <a:ext cx="7898375" cy="707886"/>
            <a:chOff x="7631272" y="5342742"/>
            <a:chExt cx="7272933" cy="707886"/>
          </a:xfrm>
        </p:grpSpPr>
        <p:pic>
          <p:nvPicPr>
            <p:cNvPr id="72" name="Graphic 71" descr="Circle with left arrow with solid fill">
              <a:extLst>
                <a:ext uri="{FF2B5EF4-FFF2-40B4-BE49-F238E27FC236}">
                  <a16:creationId xmlns:a16="http://schemas.microsoft.com/office/drawing/2014/main" id="{A355EEBB-9CFA-67CD-8935-757C37FF28A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flipV="1">
              <a:off x="7631272" y="5460528"/>
              <a:ext cx="246756" cy="246756"/>
            </a:xfrm>
            <a:prstGeom prst="rect">
              <a:avLst/>
            </a:prstGeom>
          </p:spPr>
        </p:pic>
        <p:sp>
          <p:nvSpPr>
            <p:cNvPr id="74" name="TextBox 73">
              <a:extLst>
                <a:ext uri="{FF2B5EF4-FFF2-40B4-BE49-F238E27FC236}">
                  <a16:creationId xmlns:a16="http://schemas.microsoft.com/office/drawing/2014/main" id="{9770B7D0-364F-6C9A-B865-1CAE616E341B}"/>
                </a:ext>
              </a:extLst>
            </p:cNvPr>
            <p:cNvSpPr txBox="1"/>
            <p:nvPr/>
          </p:nvSpPr>
          <p:spPr>
            <a:xfrm>
              <a:off x="7875439" y="5342742"/>
              <a:ext cx="7028766" cy="707886"/>
            </a:xfrm>
            <a:prstGeom prst="rect">
              <a:avLst/>
            </a:prstGeom>
            <a:noFill/>
          </p:spPr>
          <p:txBody>
            <a:bodyPr wrap="square" rtlCol="0">
              <a:spAutoFit/>
            </a:bodyPr>
            <a:lstStyle/>
            <a:p>
              <a:r>
                <a:rPr lang="en-CA" sz="1000" b="1" dirty="0">
                  <a:solidFill>
                    <a:srgbClr val="1A2F45"/>
                  </a:solidFill>
                  <a:latin typeface="Segoe UI" panose="020B0502040204020203" pitchFamily="34" charset="0"/>
                  <a:cs typeface="Segoe UI" panose="020B0502040204020203" pitchFamily="34" charset="0"/>
                </a:rPr>
                <a:t>Operational Readiness Testing </a:t>
              </a:r>
              <a:r>
                <a:rPr lang="en-CA" sz="1000" dirty="0">
                  <a:solidFill>
                    <a:schemeClr val="tx1">
                      <a:lumMod val="75000"/>
                      <a:lumOff val="25000"/>
                    </a:schemeClr>
                  </a:solidFill>
                  <a:latin typeface="Segoe UI" panose="020B0502040204020203" pitchFamily="34" charset="0"/>
                  <a:cs typeface="Segoe UI" panose="020B0502040204020203" pitchFamily="34" charset="0"/>
                </a:rPr>
                <a:t>(executed by the </a:t>
              </a:r>
              <a:r>
                <a:rPr lang="en-CA" sz="1000" b="1" dirty="0">
                  <a:solidFill>
                    <a:schemeClr val="tx1">
                      <a:lumMod val="75000"/>
                      <a:lumOff val="25000"/>
                    </a:schemeClr>
                  </a:solidFill>
                  <a:latin typeface="Segoe UI" panose="020B0502040204020203" pitchFamily="34" charset="0"/>
                  <a:cs typeface="Segoe UI" panose="020B0502040204020203" pitchFamily="34" charset="0"/>
                </a:rPr>
                <a:t>CLIENT End Users</a:t>
              </a:r>
              <a:r>
                <a:rPr lang="en-CA" sz="1000" dirty="0">
                  <a:solidFill>
                    <a:schemeClr val="tx1">
                      <a:lumMod val="75000"/>
                      <a:lumOff val="25000"/>
                    </a:schemeClr>
                  </a:solidFill>
                  <a:latin typeface="Segoe UI" panose="020B0502040204020203" pitchFamily="34" charset="0"/>
                  <a:cs typeface="Segoe UI" panose="020B0502040204020203" pitchFamily="34" charset="0"/>
                </a:rPr>
                <a:t> in </a:t>
              </a:r>
              <a:r>
                <a:rPr lang="en-CA" sz="1000" b="1" dirty="0">
                  <a:solidFill>
                    <a:schemeClr val="tx1">
                      <a:lumMod val="75000"/>
                      <a:lumOff val="25000"/>
                    </a:schemeClr>
                  </a:solidFill>
                  <a:latin typeface="Segoe UI" panose="020B0502040204020203" pitchFamily="34" charset="0"/>
                  <a:cs typeface="Segoe UI" panose="020B0502040204020203" pitchFamily="34" charset="0"/>
                </a:rPr>
                <a:t>Production</a:t>
              </a:r>
              <a:r>
                <a:rPr lang="en-CA" sz="1000" dirty="0">
                  <a:solidFill>
                    <a:schemeClr val="tx1">
                      <a:lumMod val="75000"/>
                      <a:lumOff val="25000"/>
                    </a:schemeClr>
                  </a:solidFill>
                  <a:latin typeface="Segoe UI" panose="020B0502040204020203" pitchFamily="34" charset="0"/>
                  <a:cs typeface="Segoe UI" panose="020B0502040204020203" pitchFamily="34" charset="0"/>
                </a:rPr>
                <a:t> environment and guided by </a:t>
              </a:r>
              <a:r>
                <a:rPr lang="en-CA" sz="1000" b="1" dirty="0" err="1">
                  <a:solidFill>
                    <a:schemeClr val="tx1">
                      <a:lumMod val="75000"/>
                      <a:lumOff val="25000"/>
                    </a:schemeClr>
                  </a:solidFill>
                  <a:latin typeface="Segoe UI" panose="020B0502040204020203" pitchFamily="34" charset="0"/>
                  <a:cs typeface="Segoe UI" panose="020B0502040204020203" pitchFamily="34" charset="0"/>
                </a:rPr>
                <a:t>Miipe</a:t>
              </a:r>
              <a:r>
                <a:rPr lang="en-CA" sz="1000" dirty="0">
                  <a:solidFill>
                    <a:schemeClr val="tx1">
                      <a:lumMod val="75000"/>
                      <a:lumOff val="25000"/>
                    </a:schemeClr>
                  </a:solidFill>
                  <a:latin typeface="Segoe UI" panose="020B0502040204020203" pitchFamily="34" charset="0"/>
                  <a:cs typeface="Segoe UI" panose="020B0502040204020203" pitchFamily="34" charset="0"/>
                </a:rPr>
                <a:t>). This test is typically executed within a particular time frame with a controlled set of test scenarios reflective of impacted business scenarios. The intent is to ensure and prove to the End Users that production is stable, and any instability can also be dealt with the appropriate attention expected by the customer.</a:t>
              </a:r>
            </a:p>
          </p:txBody>
        </p:sp>
      </p:grpSp>
      <p:cxnSp>
        <p:nvCxnSpPr>
          <p:cNvPr id="77" name="Straight Connector 76">
            <a:extLst>
              <a:ext uri="{FF2B5EF4-FFF2-40B4-BE49-F238E27FC236}">
                <a16:creationId xmlns:a16="http://schemas.microsoft.com/office/drawing/2014/main" id="{AD53981E-6908-0F88-8DC2-FF2DD91F2BE2}"/>
              </a:ext>
            </a:extLst>
          </p:cNvPr>
          <p:cNvCxnSpPr>
            <a:cxnSpLocks/>
          </p:cNvCxnSpPr>
          <p:nvPr/>
        </p:nvCxnSpPr>
        <p:spPr>
          <a:xfrm>
            <a:off x="440209" y="3331426"/>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E8A5EB9-080B-CA37-D7B0-0D644EC2736B}"/>
              </a:ext>
            </a:extLst>
          </p:cNvPr>
          <p:cNvCxnSpPr>
            <a:cxnSpLocks/>
          </p:cNvCxnSpPr>
          <p:nvPr/>
        </p:nvCxnSpPr>
        <p:spPr>
          <a:xfrm>
            <a:off x="443693" y="2369857"/>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E6730EBB-F57C-A99A-9447-45F72EC4C5DF}"/>
              </a:ext>
            </a:extLst>
          </p:cNvPr>
          <p:cNvCxnSpPr>
            <a:cxnSpLocks/>
          </p:cNvCxnSpPr>
          <p:nvPr/>
        </p:nvCxnSpPr>
        <p:spPr>
          <a:xfrm>
            <a:off x="452672" y="4229264"/>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89" name="Group 88">
            <a:extLst>
              <a:ext uri="{FF2B5EF4-FFF2-40B4-BE49-F238E27FC236}">
                <a16:creationId xmlns:a16="http://schemas.microsoft.com/office/drawing/2014/main" id="{0299F94A-0701-31B2-54C4-877CFA4419D1}"/>
              </a:ext>
            </a:extLst>
          </p:cNvPr>
          <p:cNvGrpSpPr/>
          <p:nvPr/>
        </p:nvGrpSpPr>
        <p:grpSpPr>
          <a:xfrm>
            <a:off x="459676" y="3405630"/>
            <a:ext cx="1757943" cy="738490"/>
            <a:chOff x="5404272" y="812282"/>
            <a:chExt cx="2024950" cy="979169"/>
          </a:xfrm>
        </p:grpSpPr>
        <p:grpSp>
          <p:nvGrpSpPr>
            <p:cNvPr id="83" name="Group 82">
              <a:extLst>
                <a:ext uri="{FF2B5EF4-FFF2-40B4-BE49-F238E27FC236}">
                  <a16:creationId xmlns:a16="http://schemas.microsoft.com/office/drawing/2014/main" id="{01F3167F-3CA7-4F02-362F-779081A2D9EC}"/>
                </a:ext>
              </a:extLst>
            </p:cNvPr>
            <p:cNvGrpSpPr/>
            <p:nvPr/>
          </p:nvGrpSpPr>
          <p:grpSpPr>
            <a:xfrm>
              <a:off x="5404272" y="812282"/>
              <a:ext cx="2004766" cy="979169"/>
              <a:chOff x="5025750" y="1144513"/>
              <a:chExt cx="2425356" cy="1184595"/>
            </a:xfrm>
          </p:grpSpPr>
          <p:sp>
            <p:nvSpPr>
              <p:cNvPr id="85" name="Rectangle 84">
                <a:extLst>
                  <a:ext uri="{FF2B5EF4-FFF2-40B4-BE49-F238E27FC236}">
                    <a16:creationId xmlns:a16="http://schemas.microsoft.com/office/drawing/2014/main" id="{54C02B69-F61D-AE7D-8756-A7D3E59496A0}"/>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87" name="Rectangle 86">
                <a:extLst>
                  <a:ext uri="{FF2B5EF4-FFF2-40B4-BE49-F238E27FC236}">
                    <a16:creationId xmlns:a16="http://schemas.microsoft.com/office/drawing/2014/main" id="{5CD1F764-E8BE-323D-0288-17DE70D0AB5C}"/>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88" name="Rectangle 87">
                <a:extLst>
                  <a:ext uri="{FF2B5EF4-FFF2-40B4-BE49-F238E27FC236}">
                    <a16:creationId xmlns:a16="http://schemas.microsoft.com/office/drawing/2014/main" id="{61E1C938-5BFD-DB4A-56FD-849C433A261F}"/>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84" name="TextBox 83">
              <a:extLst>
                <a:ext uri="{FF2B5EF4-FFF2-40B4-BE49-F238E27FC236}">
                  <a16:creationId xmlns:a16="http://schemas.microsoft.com/office/drawing/2014/main" id="{0BDA1DC9-0431-ABE0-F6F5-8B6F9C35A2E0}"/>
                </a:ext>
              </a:extLst>
            </p:cNvPr>
            <p:cNvSpPr txBox="1"/>
            <p:nvPr/>
          </p:nvSpPr>
          <p:spPr>
            <a:xfrm>
              <a:off x="5792370" y="1157657"/>
              <a:ext cx="1636852" cy="326466"/>
            </a:xfrm>
            <a:prstGeom prst="rect">
              <a:avLst/>
            </a:prstGeom>
            <a:noFill/>
          </p:spPr>
          <p:txBody>
            <a:bodyPr wrap="square" rtlCol="0">
              <a:spAutoFit/>
            </a:bodyPr>
            <a:lstStyle/>
            <a:p>
              <a:r>
                <a:rPr lang="en-US" sz="1000" b="1">
                  <a:solidFill>
                    <a:schemeClr val="bg1"/>
                  </a:solidFill>
                </a:rPr>
                <a:t>Security Testing</a:t>
              </a:r>
              <a:endParaRPr lang="en-PH" sz="1000" b="1">
                <a:solidFill>
                  <a:schemeClr val="bg1"/>
                </a:solidFill>
              </a:endParaRPr>
            </a:p>
          </p:txBody>
        </p:sp>
      </p:grpSp>
      <p:sp>
        <p:nvSpPr>
          <p:cNvPr id="92" name="TextBox 91">
            <a:extLst>
              <a:ext uri="{FF2B5EF4-FFF2-40B4-BE49-F238E27FC236}">
                <a16:creationId xmlns:a16="http://schemas.microsoft.com/office/drawing/2014/main" id="{5C124CC7-B99E-E503-100A-560A87A388CF}"/>
              </a:ext>
            </a:extLst>
          </p:cNvPr>
          <p:cNvSpPr txBox="1"/>
          <p:nvPr/>
        </p:nvSpPr>
        <p:spPr>
          <a:xfrm>
            <a:off x="2509875" y="3436036"/>
            <a:ext cx="7502937" cy="707886"/>
          </a:xfrm>
          <a:prstGeom prst="rect">
            <a:avLst/>
          </a:prstGeom>
          <a:noFill/>
        </p:spPr>
        <p:txBody>
          <a:bodyPr wrap="square" lIns="91440" tIns="45720" rIns="91440" bIns="45720" rtlCol="0" anchor="t">
            <a:spAutoFit/>
          </a:bodyPr>
          <a:lstStyle/>
          <a:p>
            <a:r>
              <a:rPr lang="en-CA" sz="1000" b="1" dirty="0">
                <a:solidFill>
                  <a:srgbClr val="1A2F45"/>
                </a:solidFill>
                <a:latin typeface="Segoe UI"/>
                <a:cs typeface="Segoe UI"/>
              </a:rPr>
              <a:t>Security Testing</a:t>
            </a:r>
            <a:r>
              <a:rPr lang="en-CA" sz="1000" dirty="0">
                <a:solidFill>
                  <a:schemeClr val="accent5"/>
                </a:solidFill>
                <a:latin typeface="Segoe UI"/>
                <a:cs typeface="Segoe UI"/>
              </a:rPr>
              <a:t> </a:t>
            </a:r>
            <a:r>
              <a:rPr lang="en-CA" sz="1000" dirty="0">
                <a:solidFill>
                  <a:schemeClr val="tx1">
                    <a:lumMod val="75000"/>
                    <a:lumOff val="25000"/>
                  </a:schemeClr>
                </a:solidFill>
                <a:latin typeface="Segoe UI"/>
                <a:cs typeface="Segoe UI"/>
              </a:rPr>
              <a:t>(executed by </a:t>
            </a:r>
            <a:r>
              <a:rPr lang="en-CA" sz="1000" b="1" dirty="0">
                <a:solidFill>
                  <a:schemeClr val="tx1">
                    <a:lumMod val="75000"/>
                    <a:lumOff val="25000"/>
                  </a:schemeClr>
                </a:solidFill>
                <a:latin typeface="Segoe UI"/>
                <a:cs typeface="Segoe UI"/>
              </a:rPr>
              <a:t>Miipe/DEV </a:t>
            </a:r>
            <a:r>
              <a:rPr lang="en-CA" sz="1000" dirty="0">
                <a:solidFill>
                  <a:schemeClr val="tx1">
                    <a:lumMod val="75000"/>
                    <a:lumOff val="25000"/>
                  </a:schemeClr>
                </a:solidFill>
                <a:latin typeface="Segoe UI"/>
                <a:cs typeface="Segoe UI"/>
              </a:rPr>
              <a:t>in the </a:t>
            </a:r>
            <a:r>
              <a:rPr lang="en-CA" sz="1000" b="1" dirty="0">
                <a:solidFill>
                  <a:schemeClr val="tx1">
                    <a:lumMod val="75000"/>
                    <a:lumOff val="25000"/>
                  </a:schemeClr>
                </a:solidFill>
                <a:latin typeface="Segoe UI"/>
                <a:cs typeface="Segoe UI"/>
              </a:rPr>
              <a:t>Pre-Prod and Sec Prod</a:t>
            </a:r>
            <a:r>
              <a:rPr lang="en-CA" sz="1000" dirty="0">
                <a:solidFill>
                  <a:schemeClr val="tx1">
                    <a:lumMod val="75000"/>
                    <a:lumOff val="25000"/>
                  </a:schemeClr>
                </a:solidFill>
                <a:latin typeface="Segoe UI"/>
                <a:cs typeface="Segoe UI"/>
              </a:rPr>
              <a:t> environments) </a:t>
            </a:r>
            <a:r>
              <a:rPr lang="en-CA" sz="1000" dirty="0">
                <a:solidFill>
                  <a:srgbClr val="404040"/>
                </a:solidFill>
                <a:effectLst/>
                <a:latin typeface="Segoe UI"/>
                <a:ea typeface="Calibri"/>
                <a:cs typeface="Segoe UI"/>
              </a:rPr>
              <a:t>The primary objective is to </a:t>
            </a:r>
            <a:r>
              <a:rPr lang="en-CA" sz="1000" dirty="0">
                <a:effectLst/>
                <a:latin typeface="Segoe UI"/>
                <a:cs typeface="Segoe UI"/>
              </a:rPr>
              <a:t>ensure that the “CIA” triad (Confidentiality, Integrity, Availability) is uphold in the application to ensure optimal security. In addition, security testing also includes testing for IAAA (Identification, Authentication, Authorization and Accountability) to ensure unauthorized users are not permitted to use the application.</a:t>
            </a:r>
            <a:r>
              <a:rPr lang="en-CA" sz="1000" dirty="0">
                <a:solidFill>
                  <a:srgbClr val="404040"/>
                </a:solidFill>
                <a:effectLst/>
                <a:latin typeface="Segoe UI"/>
                <a:ea typeface="Calibri"/>
                <a:cs typeface="Segoe UI"/>
              </a:rPr>
              <a:t> </a:t>
            </a:r>
            <a:r>
              <a:rPr lang="en-US" sz="1000" b="1" dirty="0">
                <a:highlight>
                  <a:srgbClr val="FFFF00"/>
                </a:highlight>
                <a:latin typeface="Calibri"/>
                <a:ea typeface="Calibri"/>
                <a:cs typeface="Calibri"/>
              </a:rPr>
              <a:t> This phase is currently not owned by </a:t>
            </a:r>
            <a:r>
              <a:rPr lang="en-CA" sz="1000" b="1" dirty="0">
                <a:solidFill>
                  <a:schemeClr val="tx1">
                    <a:lumMod val="75000"/>
                    <a:lumOff val="25000"/>
                  </a:schemeClr>
                </a:solidFill>
                <a:highlight>
                  <a:srgbClr val="FFFF00"/>
                </a:highlight>
                <a:latin typeface="Segoe UI"/>
                <a:cs typeface="Segoe UI"/>
              </a:rPr>
              <a:t>QA Miipe team.</a:t>
            </a:r>
            <a:endParaRPr lang="en-CA" sz="1000" dirty="0">
              <a:solidFill>
                <a:schemeClr val="tx1">
                  <a:lumMod val="75000"/>
                  <a:lumOff val="25000"/>
                </a:schemeClr>
              </a:solidFill>
              <a:latin typeface="Segoe UI"/>
              <a:cs typeface="Segoe UI"/>
            </a:endParaRPr>
          </a:p>
        </p:txBody>
      </p:sp>
      <p:cxnSp>
        <p:nvCxnSpPr>
          <p:cNvPr id="95" name="Straight Connector 94">
            <a:extLst>
              <a:ext uri="{FF2B5EF4-FFF2-40B4-BE49-F238E27FC236}">
                <a16:creationId xmlns:a16="http://schemas.microsoft.com/office/drawing/2014/main" id="{71D4435A-BDBC-1657-A535-35841EDC843C}"/>
              </a:ext>
            </a:extLst>
          </p:cNvPr>
          <p:cNvCxnSpPr>
            <a:cxnSpLocks/>
          </p:cNvCxnSpPr>
          <p:nvPr/>
        </p:nvCxnSpPr>
        <p:spPr>
          <a:xfrm>
            <a:off x="472715" y="5442468"/>
            <a:ext cx="558668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12" name="Group 111">
            <a:extLst>
              <a:ext uri="{FF2B5EF4-FFF2-40B4-BE49-F238E27FC236}">
                <a16:creationId xmlns:a16="http://schemas.microsoft.com/office/drawing/2014/main" id="{A5E86FF1-2605-AA24-1F78-9170ADF137D5}"/>
              </a:ext>
            </a:extLst>
          </p:cNvPr>
          <p:cNvGrpSpPr/>
          <p:nvPr/>
        </p:nvGrpSpPr>
        <p:grpSpPr>
          <a:xfrm>
            <a:off x="440212" y="4379880"/>
            <a:ext cx="1758513" cy="738490"/>
            <a:chOff x="5404272" y="812282"/>
            <a:chExt cx="2025606" cy="979169"/>
          </a:xfrm>
        </p:grpSpPr>
        <p:grpSp>
          <p:nvGrpSpPr>
            <p:cNvPr id="98" name="Group 97">
              <a:extLst>
                <a:ext uri="{FF2B5EF4-FFF2-40B4-BE49-F238E27FC236}">
                  <a16:creationId xmlns:a16="http://schemas.microsoft.com/office/drawing/2014/main" id="{9FF653C5-2873-AA34-EA0D-2D3CA799699B}"/>
                </a:ext>
              </a:extLst>
            </p:cNvPr>
            <p:cNvGrpSpPr/>
            <p:nvPr/>
          </p:nvGrpSpPr>
          <p:grpSpPr>
            <a:xfrm>
              <a:off x="5404272" y="812282"/>
              <a:ext cx="2004766" cy="979169"/>
              <a:chOff x="5025750" y="1144513"/>
              <a:chExt cx="2425356" cy="1184595"/>
            </a:xfrm>
          </p:grpSpPr>
          <p:sp>
            <p:nvSpPr>
              <p:cNvPr id="101" name="Rectangle 100">
                <a:extLst>
                  <a:ext uri="{FF2B5EF4-FFF2-40B4-BE49-F238E27FC236}">
                    <a16:creationId xmlns:a16="http://schemas.microsoft.com/office/drawing/2014/main" id="{B40B7D86-2B94-1B4F-CEAB-AE079549D407}"/>
                  </a:ext>
                </a:extLst>
              </p:cNvPr>
              <p:cNvSpPr/>
              <p:nvPr/>
            </p:nvSpPr>
            <p:spPr>
              <a:xfrm>
                <a:off x="5158308" y="1268760"/>
                <a:ext cx="2160240" cy="9361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09" name="Rectangle 108">
                <a:extLst>
                  <a:ext uri="{FF2B5EF4-FFF2-40B4-BE49-F238E27FC236}">
                    <a16:creationId xmlns:a16="http://schemas.microsoft.com/office/drawing/2014/main" id="{55C938E3-7728-CAC9-FA17-D0FEB0B92AB5}"/>
                  </a:ext>
                </a:extLst>
              </p:cNvPr>
              <p:cNvSpPr/>
              <p:nvPr/>
            </p:nvSpPr>
            <p:spPr>
              <a:xfrm>
                <a:off x="5025750" y="1144513"/>
                <a:ext cx="2160240" cy="93610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sp>
            <p:nvSpPr>
              <p:cNvPr id="110" name="Rectangle 109">
                <a:extLst>
                  <a:ext uri="{FF2B5EF4-FFF2-40B4-BE49-F238E27FC236}">
                    <a16:creationId xmlns:a16="http://schemas.microsoft.com/office/drawing/2014/main" id="{F252C641-47EC-B9A7-A6FE-34ACE1CA1A0F}"/>
                  </a:ext>
                </a:extLst>
              </p:cNvPr>
              <p:cNvSpPr/>
              <p:nvPr/>
            </p:nvSpPr>
            <p:spPr>
              <a:xfrm>
                <a:off x="5344182" y="1393007"/>
                <a:ext cx="2106924" cy="936101"/>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000"/>
              </a:p>
            </p:txBody>
          </p:sp>
        </p:grpSp>
        <p:sp>
          <p:nvSpPr>
            <p:cNvPr id="99" name="TextBox 98">
              <a:extLst>
                <a:ext uri="{FF2B5EF4-FFF2-40B4-BE49-F238E27FC236}">
                  <a16:creationId xmlns:a16="http://schemas.microsoft.com/office/drawing/2014/main" id="{629FFB66-06F5-E245-4A89-D39D02D66131}"/>
                </a:ext>
              </a:extLst>
            </p:cNvPr>
            <p:cNvSpPr txBox="1"/>
            <p:nvPr/>
          </p:nvSpPr>
          <p:spPr>
            <a:xfrm>
              <a:off x="5793027" y="1094153"/>
              <a:ext cx="1636851" cy="530509"/>
            </a:xfrm>
            <a:prstGeom prst="rect">
              <a:avLst/>
            </a:prstGeom>
            <a:noFill/>
          </p:spPr>
          <p:txBody>
            <a:bodyPr wrap="square" rtlCol="0">
              <a:spAutoFit/>
            </a:bodyPr>
            <a:lstStyle/>
            <a:p>
              <a:r>
                <a:rPr lang="en-US" sz="1000" b="1">
                  <a:solidFill>
                    <a:schemeClr val="bg1"/>
                  </a:solidFill>
                </a:rPr>
                <a:t>System Perspective Flow</a:t>
              </a:r>
              <a:endParaRPr lang="en-PH" sz="1000" b="1">
                <a:solidFill>
                  <a:schemeClr val="bg1"/>
                </a:solidFill>
              </a:endParaRPr>
            </a:p>
          </p:txBody>
        </p:sp>
      </p:grpSp>
      <p:sp>
        <p:nvSpPr>
          <p:cNvPr id="115" name="TextBox 114">
            <a:extLst>
              <a:ext uri="{FF2B5EF4-FFF2-40B4-BE49-F238E27FC236}">
                <a16:creationId xmlns:a16="http://schemas.microsoft.com/office/drawing/2014/main" id="{B632F105-4C0C-0EA2-E9E7-6BE07660B12A}"/>
              </a:ext>
            </a:extLst>
          </p:cNvPr>
          <p:cNvSpPr txBox="1"/>
          <p:nvPr/>
        </p:nvSpPr>
        <p:spPr>
          <a:xfrm>
            <a:off x="2514668" y="4279479"/>
            <a:ext cx="7492185" cy="1150925"/>
          </a:xfrm>
          <a:prstGeom prst="rect">
            <a:avLst/>
          </a:prstGeom>
          <a:noFill/>
        </p:spPr>
        <p:txBody>
          <a:bodyPr wrap="square" lIns="91440" tIns="45720" rIns="91440" bIns="45720" rtlCol="0" anchor="t">
            <a:spAutoFit/>
          </a:bodyPr>
          <a:lstStyle/>
          <a:p>
            <a:r>
              <a:rPr lang="en-CA" sz="1000" b="1" dirty="0">
                <a:solidFill>
                  <a:srgbClr val="1A2F45"/>
                </a:solidFill>
                <a:latin typeface="Segoe UI"/>
                <a:cs typeface="Segoe UI"/>
              </a:rPr>
              <a:t>System Perspective Flows (SPF) </a:t>
            </a:r>
            <a:r>
              <a:rPr lang="en-CA" sz="1000" dirty="0">
                <a:solidFill>
                  <a:schemeClr val="tx1">
                    <a:lumMod val="75000"/>
                    <a:lumOff val="25000"/>
                  </a:schemeClr>
                </a:solidFill>
                <a:latin typeface="Segoe UI"/>
                <a:cs typeface="Segoe UI"/>
              </a:rPr>
              <a:t>(Designed by </a:t>
            </a:r>
            <a:r>
              <a:rPr lang="en-CA" sz="1000" b="1" dirty="0">
                <a:solidFill>
                  <a:schemeClr val="tx1">
                    <a:lumMod val="75000"/>
                    <a:lumOff val="25000"/>
                  </a:schemeClr>
                </a:solidFill>
                <a:latin typeface="Segoe UI"/>
                <a:cs typeface="Segoe UI"/>
              </a:rPr>
              <a:t>QA Miipe Team</a:t>
            </a:r>
            <a:r>
              <a:rPr lang="en-CA" sz="1000" dirty="0">
                <a:solidFill>
                  <a:schemeClr val="tx1">
                    <a:lumMod val="75000"/>
                    <a:lumOff val="25000"/>
                  </a:schemeClr>
                </a:solidFill>
                <a:latin typeface="Segoe UI"/>
                <a:cs typeface="Segoe UI"/>
              </a:rPr>
              <a:t> </a:t>
            </a:r>
            <a:r>
              <a:rPr lang="en-CA" sz="1000" b="1" dirty="0">
                <a:solidFill>
                  <a:schemeClr val="tx1">
                    <a:lumMod val="75000"/>
                    <a:lumOff val="25000"/>
                  </a:schemeClr>
                </a:solidFill>
                <a:latin typeface="Segoe UI"/>
                <a:cs typeface="Segoe UI"/>
              </a:rPr>
              <a:t>with inputs from CLIENT BA</a:t>
            </a:r>
            <a:r>
              <a:rPr lang="en-CA" sz="1000" dirty="0">
                <a:solidFill>
                  <a:schemeClr val="tx1">
                    <a:lumMod val="75000"/>
                    <a:lumOff val="25000"/>
                  </a:schemeClr>
                </a:solidFill>
                <a:latin typeface="Segoe UI"/>
                <a:cs typeface="Segoe UI"/>
              </a:rPr>
              <a:t>). </a:t>
            </a:r>
            <a:r>
              <a:rPr lang="en-US" sz="1100" b="0" i="0" dirty="0">
                <a:solidFill>
                  <a:srgbClr val="000000"/>
                </a:solidFill>
                <a:effectLst/>
                <a:highlight>
                  <a:srgbClr val="FFFFFF"/>
                </a:highlight>
                <a:latin typeface="Segoe UI"/>
                <a:cs typeface="Segoe UI"/>
              </a:rPr>
              <a:t>It refers to a visual representation or diagram that illustrates the sequential and interconnected progression of processes, components, or stages within a system from a holistic viewpoint. The SPF diagram provides an overview of how data, actions, decisions, and interactions flow through </a:t>
            </a:r>
            <a:r>
              <a:rPr lang="en-US" sz="1100" dirty="0">
                <a:solidFill>
                  <a:srgbClr val="000000"/>
                </a:solidFill>
                <a:highlight>
                  <a:srgbClr val="FFFFFF"/>
                </a:highlight>
                <a:latin typeface="Segoe UI"/>
                <a:cs typeface="Segoe UI"/>
              </a:rPr>
              <a:t>a</a:t>
            </a:r>
            <a:r>
              <a:rPr lang="en-US" sz="1100" b="0" i="0" dirty="0">
                <a:solidFill>
                  <a:srgbClr val="000000"/>
                </a:solidFill>
                <a:effectLst/>
                <a:highlight>
                  <a:srgbClr val="FFFFFF"/>
                </a:highlight>
                <a:latin typeface="Segoe UI"/>
                <a:cs typeface="Segoe UI"/>
              </a:rPr>
              <a:t> </a:t>
            </a:r>
            <a:r>
              <a:rPr lang="en-US" sz="1100" dirty="0">
                <a:solidFill>
                  <a:srgbClr val="000000"/>
                </a:solidFill>
                <a:highlight>
                  <a:srgbClr val="FFFFFF"/>
                </a:highlight>
                <a:latin typeface="Segoe UI"/>
                <a:cs typeface="Segoe UI"/>
              </a:rPr>
              <a:t>system</a:t>
            </a:r>
            <a:r>
              <a:rPr lang="en-US" sz="1100" b="0" i="0" dirty="0">
                <a:solidFill>
                  <a:srgbClr val="000000"/>
                </a:solidFill>
                <a:effectLst/>
                <a:highlight>
                  <a:srgbClr val="FFFFFF"/>
                </a:highlight>
                <a:latin typeface="Segoe UI"/>
                <a:cs typeface="Segoe UI"/>
              </a:rPr>
              <a:t>, highlighting the relationships and dependencies between different elements (applications/software/users). SPFs are utilized by QA, Business, Dev, SI’s etc</a:t>
            </a:r>
            <a:r>
              <a:rPr lang="en-US" sz="1100" dirty="0">
                <a:solidFill>
                  <a:srgbClr val="000000"/>
                </a:solidFill>
                <a:highlight>
                  <a:srgbClr val="FFFFFF"/>
                </a:highlight>
                <a:latin typeface="Segoe UI"/>
                <a:cs typeface="Segoe UI"/>
              </a:rPr>
              <a:t>.</a:t>
            </a:r>
            <a:r>
              <a:rPr lang="en-US" sz="1100" b="0" i="0" dirty="0">
                <a:solidFill>
                  <a:srgbClr val="000000"/>
                </a:solidFill>
                <a:effectLst/>
                <a:highlight>
                  <a:srgbClr val="FFFFFF"/>
                </a:highlight>
                <a:latin typeface="Segoe UI"/>
                <a:cs typeface="Segoe UI"/>
              </a:rPr>
              <a:t> </a:t>
            </a:r>
            <a:r>
              <a:rPr lang="en-US" sz="1100" dirty="0">
                <a:solidFill>
                  <a:srgbClr val="000000"/>
                </a:solidFill>
                <a:highlight>
                  <a:srgbClr val="FFFFFF"/>
                </a:highlight>
                <a:latin typeface="Segoe UI"/>
                <a:cs typeface="Segoe UI"/>
              </a:rPr>
              <a:t>throughout</a:t>
            </a:r>
            <a:r>
              <a:rPr lang="en-US" sz="1100" b="0" i="0" dirty="0">
                <a:solidFill>
                  <a:srgbClr val="000000"/>
                </a:solidFill>
                <a:effectLst/>
                <a:highlight>
                  <a:srgbClr val="FFFFFF"/>
                </a:highlight>
                <a:latin typeface="Segoe UI"/>
                <a:cs typeface="Segoe UI"/>
              </a:rPr>
              <a:t> the life of program delivery and products ongoing maintenance.</a:t>
            </a:r>
            <a:endParaRPr lang="en-CA" sz="1100" dirty="0">
              <a:solidFill>
                <a:schemeClr val="tx1">
                  <a:lumMod val="75000"/>
                  <a:lumOff val="25000"/>
                </a:schemeClr>
              </a:solidFill>
              <a:highlight>
                <a:srgbClr val="FFFF00"/>
              </a:highlight>
              <a:latin typeface="Segoe UI"/>
              <a:cs typeface="Segoe UI"/>
            </a:endParaRPr>
          </a:p>
        </p:txBody>
      </p:sp>
      <p:pic>
        <p:nvPicPr>
          <p:cNvPr id="118" name="Graphic 117" descr="Circle with left arrow with solid fill">
            <a:extLst>
              <a:ext uri="{FF2B5EF4-FFF2-40B4-BE49-F238E27FC236}">
                <a16:creationId xmlns:a16="http://schemas.microsoft.com/office/drawing/2014/main" id="{34E50545-DB98-48E0-D53E-1A10A17136F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flipV="1">
            <a:off x="2271908" y="2772149"/>
            <a:ext cx="267976" cy="246756"/>
          </a:xfrm>
          <a:prstGeom prst="rect">
            <a:avLst/>
          </a:prstGeom>
        </p:spPr>
      </p:pic>
      <p:pic>
        <p:nvPicPr>
          <p:cNvPr id="119" name="Graphic 118" descr="Circle with left arrow with solid fill">
            <a:extLst>
              <a:ext uri="{FF2B5EF4-FFF2-40B4-BE49-F238E27FC236}">
                <a16:creationId xmlns:a16="http://schemas.microsoft.com/office/drawing/2014/main" id="{471EE2DD-EAA0-F67A-770C-BEF41FF091A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flipV="1">
            <a:off x="2270632" y="3662937"/>
            <a:ext cx="267976" cy="246756"/>
          </a:xfrm>
          <a:prstGeom prst="rect">
            <a:avLst/>
          </a:prstGeom>
        </p:spPr>
      </p:pic>
      <p:pic>
        <p:nvPicPr>
          <p:cNvPr id="120" name="Graphic 119" descr="Circle with left arrow with solid fill">
            <a:extLst>
              <a:ext uri="{FF2B5EF4-FFF2-40B4-BE49-F238E27FC236}">
                <a16:creationId xmlns:a16="http://schemas.microsoft.com/office/drawing/2014/main" id="{F54180B7-25FE-8D5E-817F-2F68047E55E4}"/>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flipV="1">
            <a:off x="2215661" y="4661050"/>
            <a:ext cx="267976" cy="246756"/>
          </a:xfrm>
          <a:prstGeom prst="rect">
            <a:avLst/>
          </a:prstGeom>
        </p:spPr>
      </p:pic>
    </p:spTree>
    <p:extLst>
      <p:ext uri="{BB962C8B-B14F-4D97-AF65-F5344CB8AC3E}">
        <p14:creationId xmlns:p14="http://schemas.microsoft.com/office/powerpoint/2010/main" val="11724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56"/>
                                        </p:tgtEl>
                                        <p:attrNameLst>
                                          <p:attrName>style.visibility</p:attrName>
                                        </p:attrNameLst>
                                      </p:cBhvr>
                                      <p:to>
                                        <p:strVal val="visible"/>
                                      </p:to>
                                    </p:set>
                                    <p:anim calcmode="lin" valueType="num">
                                      <p:cBhvr additive="base">
                                        <p:cTn id="10" dur="500" fill="hold"/>
                                        <p:tgtEl>
                                          <p:spTgt spid="56"/>
                                        </p:tgtEl>
                                        <p:attrNameLst>
                                          <p:attrName>ppt_x</p:attrName>
                                        </p:attrNameLst>
                                      </p:cBhvr>
                                      <p:tavLst>
                                        <p:tav tm="0">
                                          <p:val>
                                            <p:strVal val="1+#ppt_w/2"/>
                                          </p:val>
                                        </p:tav>
                                        <p:tav tm="100000">
                                          <p:val>
                                            <p:strVal val="#ppt_x"/>
                                          </p:val>
                                        </p:tav>
                                      </p:tavLst>
                                    </p:anim>
                                    <p:anim calcmode="lin" valueType="num">
                                      <p:cBhvr additive="base">
                                        <p:cTn id="11" dur="500" fill="hold"/>
                                        <p:tgtEl>
                                          <p:spTgt spid="56"/>
                                        </p:tgtEl>
                                        <p:attrNameLst>
                                          <p:attrName>ppt_y</p:attrName>
                                        </p:attrNameLst>
                                      </p:cBhvr>
                                      <p:tavLst>
                                        <p:tav tm="0">
                                          <p:val>
                                            <p:strVal val="1+#ppt_h/2"/>
                                          </p:val>
                                        </p:tav>
                                        <p:tav tm="100000">
                                          <p:val>
                                            <p:strVal val="#ppt_y"/>
                                          </p:val>
                                        </p:tav>
                                      </p:tavLst>
                                    </p:anim>
                                  </p:childTnLst>
                                </p:cTn>
                              </p:par>
                              <p:par>
                                <p:cTn id="12" presetID="2" presetClass="entr" presetSubtype="4" decel="80000" fill="hold" nodeType="withEffect">
                                  <p:stCondLst>
                                    <p:cond delay="20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ppt_x"/>
                                          </p:val>
                                        </p:tav>
                                        <p:tav tm="100000">
                                          <p:val>
                                            <p:strVal val="#ppt_x"/>
                                          </p:val>
                                        </p:tav>
                                      </p:tavLst>
                                    </p:anim>
                                    <p:anim calcmode="lin" valueType="num">
                                      <p:cBhvr additive="base">
                                        <p:cTn id="15" dur="500" fill="hold"/>
                                        <p:tgtEl>
                                          <p:spTgt spid="12"/>
                                        </p:tgtEl>
                                        <p:attrNameLst>
                                          <p:attrName>ppt_y</p:attrName>
                                        </p:attrNameLst>
                                      </p:cBhvr>
                                      <p:tavLst>
                                        <p:tav tm="0">
                                          <p:val>
                                            <p:strVal val="1+#ppt_h/2"/>
                                          </p:val>
                                        </p:tav>
                                        <p:tav tm="100000">
                                          <p:val>
                                            <p:strVal val="#ppt_y"/>
                                          </p:val>
                                        </p:tav>
                                      </p:tavLst>
                                    </p:anim>
                                  </p:childTnLst>
                                </p:cTn>
                              </p:par>
                              <p:par>
                                <p:cTn id="16" presetID="2" presetClass="entr" presetSubtype="4" decel="80000" fill="hold" nodeType="withEffect">
                                  <p:stCondLst>
                                    <p:cond delay="800"/>
                                  </p:stCondLst>
                                  <p:childTnLst>
                                    <p:set>
                                      <p:cBhvr>
                                        <p:cTn id="17" dur="1" fill="hold">
                                          <p:stCondLst>
                                            <p:cond delay="0"/>
                                          </p:stCondLst>
                                        </p:cTn>
                                        <p:tgtEl>
                                          <p:spTgt spid="44"/>
                                        </p:tgtEl>
                                        <p:attrNameLst>
                                          <p:attrName>style.visibility</p:attrName>
                                        </p:attrNameLst>
                                      </p:cBhvr>
                                      <p:to>
                                        <p:strVal val="visible"/>
                                      </p:to>
                                    </p:set>
                                    <p:anim calcmode="lin" valueType="num">
                                      <p:cBhvr additive="base">
                                        <p:cTn id="18" dur="500" fill="hold"/>
                                        <p:tgtEl>
                                          <p:spTgt spid="44"/>
                                        </p:tgtEl>
                                        <p:attrNameLst>
                                          <p:attrName>ppt_x</p:attrName>
                                        </p:attrNameLst>
                                      </p:cBhvr>
                                      <p:tavLst>
                                        <p:tav tm="0">
                                          <p:val>
                                            <p:strVal val="#ppt_x"/>
                                          </p:val>
                                        </p:tav>
                                        <p:tav tm="100000">
                                          <p:val>
                                            <p:strVal val="#ppt_x"/>
                                          </p:val>
                                        </p:tav>
                                      </p:tavLst>
                                    </p:anim>
                                    <p:anim calcmode="lin" valueType="num">
                                      <p:cBhvr additive="base">
                                        <p:cTn id="19" dur="500" fill="hold"/>
                                        <p:tgtEl>
                                          <p:spTgt spid="44"/>
                                        </p:tgtEl>
                                        <p:attrNameLst>
                                          <p:attrName>ppt_y</p:attrName>
                                        </p:attrNameLst>
                                      </p:cBhvr>
                                      <p:tavLst>
                                        <p:tav tm="0">
                                          <p:val>
                                            <p:strVal val="1+#ppt_h/2"/>
                                          </p:val>
                                        </p:tav>
                                        <p:tav tm="100000">
                                          <p:val>
                                            <p:strVal val="#ppt_y"/>
                                          </p:val>
                                        </p:tav>
                                      </p:tavLst>
                                    </p:anim>
                                  </p:childTnLst>
                                </p:cTn>
                              </p:par>
                              <p:par>
                                <p:cTn id="20" presetID="10" presetClass="entr" presetSubtype="0" fill="hold" nodeType="withEffect">
                                  <p:stCondLst>
                                    <p:cond delay="900"/>
                                  </p:stCondLst>
                                  <p:childTnLst>
                                    <p:set>
                                      <p:cBhvr>
                                        <p:cTn id="21" dur="1" fill="hold">
                                          <p:stCondLst>
                                            <p:cond delay="0"/>
                                          </p:stCondLst>
                                        </p:cTn>
                                        <p:tgtEl>
                                          <p:spTgt spid="75"/>
                                        </p:tgtEl>
                                        <p:attrNameLst>
                                          <p:attrName>style.visibility</p:attrName>
                                        </p:attrNameLst>
                                      </p:cBhvr>
                                      <p:to>
                                        <p:strVal val="visible"/>
                                      </p:to>
                                    </p:set>
                                    <p:animEffect transition="in" filter="fade">
                                      <p:cBhvr>
                                        <p:cTn id="22" dur="500"/>
                                        <p:tgtEl>
                                          <p:spTgt spid="75"/>
                                        </p:tgtEl>
                                      </p:cBhvr>
                                    </p:animEffect>
                                  </p:childTnLst>
                                </p:cTn>
                              </p:par>
                              <p:par>
                                <p:cTn id="23" presetID="16" presetClass="entr" presetSubtype="37" fill="hold" nodeType="withEffect">
                                  <p:stCondLst>
                                    <p:cond delay="900"/>
                                  </p:stCondLst>
                                  <p:childTnLst>
                                    <p:set>
                                      <p:cBhvr>
                                        <p:cTn id="24" dur="1" fill="hold">
                                          <p:stCondLst>
                                            <p:cond delay="0"/>
                                          </p:stCondLst>
                                        </p:cTn>
                                        <p:tgtEl>
                                          <p:spTgt spid="77"/>
                                        </p:tgtEl>
                                        <p:attrNameLst>
                                          <p:attrName>style.visibility</p:attrName>
                                        </p:attrNameLst>
                                      </p:cBhvr>
                                      <p:to>
                                        <p:strVal val="visible"/>
                                      </p:to>
                                    </p:set>
                                    <p:animEffect transition="in" filter="barn(outVertical)">
                                      <p:cBhvr>
                                        <p:cTn id="25" dur="500"/>
                                        <p:tgtEl>
                                          <p:spTgt spid="77"/>
                                        </p:tgtEl>
                                      </p:cBhvr>
                                    </p:animEffect>
                                  </p:childTnLst>
                                </p:cTn>
                              </p:par>
                              <p:par>
                                <p:cTn id="26" presetID="16" presetClass="entr" presetSubtype="37" fill="hold" nodeType="withEffect">
                                  <p:stCondLst>
                                    <p:cond delay="1100"/>
                                  </p:stCondLst>
                                  <p:childTnLst>
                                    <p:set>
                                      <p:cBhvr>
                                        <p:cTn id="27" dur="1" fill="hold">
                                          <p:stCondLst>
                                            <p:cond delay="0"/>
                                          </p:stCondLst>
                                        </p:cTn>
                                        <p:tgtEl>
                                          <p:spTgt spid="79"/>
                                        </p:tgtEl>
                                        <p:attrNameLst>
                                          <p:attrName>style.visibility</p:attrName>
                                        </p:attrNameLst>
                                      </p:cBhvr>
                                      <p:to>
                                        <p:strVal val="visible"/>
                                      </p:to>
                                    </p:set>
                                    <p:animEffect transition="in" filter="barn(outVertical)">
                                      <p:cBhvr>
                                        <p:cTn id="28" dur="500"/>
                                        <p:tgtEl>
                                          <p:spTgt spid="79"/>
                                        </p:tgtEl>
                                      </p:cBhvr>
                                    </p:animEffect>
                                  </p:childTnLst>
                                </p:cTn>
                              </p:par>
                              <p:par>
                                <p:cTn id="29" presetID="16" presetClass="entr" presetSubtype="37" fill="hold" nodeType="withEffect">
                                  <p:stCondLst>
                                    <p:cond delay="1300"/>
                                  </p:stCondLst>
                                  <p:childTnLst>
                                    <p:set>
                                      <p:cBhvr>
                                        <p:cTn id="30" dur="1" fill="hold">
                                          <p:stCondLst>
                                            <p:cond delay="0"/>
                                          </p:stCondLst>
                                        </p:cTn>
                                        <p:tgtEl>
                                          <p:spTgt spid="81"/>
                                        </p:tgtEl>
                                        <p:attrNameLst>
                                          <p:attrName>style.visibility</p:attrName>
                                        </p:attrNameLst>
                                      </p:cBhvr>
                                      <p:to>
                                        <p:strVal val="visible"/>
                                      </p:to>
                                    </p:set>
                                    <p:animEffect transition="in" filter="barn(outVertical)">
                                      <p:cBhvr>
                                        <p:cTn id="31" dur="500"/>
                                        <p:tgtEl>
                                          <p:spTgt spid="81"/>
                                        </p:tgtEl>
                                      </p:cBhvr>
                                    </p:animEffect>
                                  </p:childTnLst>
                                </p:cTn>
                              </p:par>
                              <p:par>
                                <p:cTn id="32" presetID="2" presetClass="entr" presetSubtype="4" decel="80000" fill="hold" nodeType="withEffect">
                                  <p:stCondLst>
                                    <p:cond delay="200"/>
                                  </p:stCondLst>
                                  <p:childTnLst>
                                    <p:set>
                                      <p:cBhvr>
                                        <p:cTn id="33" dur="1" fill="hold">
                                          <p:stCondLst>
                                            <p:cond delay="0"/>
                                          </p:stCondLst>
                                        </p:cTn>
                                        <p:tgtEl>
                                          <p:spTgt spid="89"/>
                                        </p:tgtEl>
                                        <p:attrNameLst>
                                          <p:attrName>style.visibility</p:attrName>
                                        </p:attrNameLst>
                                      </p:cBhvr>
                                      <p:to>
                                        <p:strVal val="visible"/>
                                      </p:to>
                                    </p:set>
                                    <p:anim calcmode="lin" valueType="num">
                                      <p:cBhvr additive="base">
                                        <p:cTn id="34" dur="500" fill="hold"/>
                                        <p:tgtEl>
                                          <p:spTgt spid="89"/>
                                        </p:tgtEl>
                                        <p:attrNameLst>
                                          <p:attrName>ppt_x</p:attrName>
                                        </p:attrNameLst>
                                      </p:cBhvr>
                                      <p:tavLst>
                                        <p:tav tm="0">
                                          <p:val>
                                            <p:strVal val="#ppt_x"/>
                                          </p:val>
                                        </p:tav>
                                        <p:tav tm="100000">
                                          <p:val>
                                            <p:strVal val="#ppt_x"/>
                                          </p:val>
                                        </p:tav>
                                      </p:tavLst>
                                    </p:anim>
                                    <p:anim calcmode="lin" valueType="num">
                                      <p:cBhvr additive="base">
                                        <p:cTn id="35" dur="500" fill="hold"/>
                                        <p:tgtEl>
                                          <p:spTgt spid="89"/>
                                        </p:tgtEl>
                                        <p:attrNameLst>
                                          <p:attrName>ppt_y</p:attrName>
                                        </p:attrNameLst>
                                      </p:cBhvr>
                                      <p:tavLst>
                                        <p:tav tm="0">
                                          <p:val>
                                            <p:strVal val="1+#ppt_h/2"/>
                                          </p:val>
                                        </p:tav>
                                        <p:tav tm="100000">
                                          <p:val>
                                            <p:strVal val="#ppt_y"/>
                                          </p:val>
                                        </p:tav>
                                      </p:tavLst>
                                    </p:anim>
                                  </p:childTnLst>
                                </p:cTn>
                              </p:par>
                              <p:par>
                                <p:cTn id="36" presetID="16" presetClass="entr" presetSubtype="37" fill="hold" nodeType="withEffect">
                                  <p:stCondLst>
                                    <p:cond delay="900"/>
                                  </p:stCondLst>
                                  <p:childTnLst>
                                    <p:set>
                                      <p:cBhvr>
                                        <p:cTn id="37" dur="1" fill="hold">
                                          <p:stCondLst>
                                            <p:cond delay="0"/>
                                          </p:stCondLst>
                                        </p:cTn>
                                        <p:tgtEl>
                                          <p:spTgt spid="95"/>
                                        </p:tgtEl>
                                        <p:attrNameLst>
                                          <p:attrName>style.visibility</p:attrName>
                                        </p:attrNameLst>
                                      </p:cBhvr>
                                      <p:to>
                                        <p:strVal val="visible"/>
                                      </p:to>
                                    </p:set>
                                    <p:animEffect transition="in" filter="barn(outVertical)">
                                      <p:cBhvr>
                                        <p:cTn id="38" dur="500"/>
                                        <p:tgtEl>
                                          <p:spTgt spid="95"/>
                                        </p:tgtEl>
                                      </p:cBhvr>
                                    </p:animEffect>
                                  </p:childTnLst>
                                </p:cTn>
                              </p:par>
                              <p:par>
                                <p:cTn id="39" presetID="2" presetClass="entr" presetSubtype="4" decel="80000" fill="hold" nodeType="withEffect">
                                  <p:stCondLst>
                                    <p:cond delay="200"/>
                                  </p:stCondLst>
                                  <p:childTnLst>
                                    <p:set>
                                      <p:cBhvr>
                                        <p:cTn id="40" dur="1" fill="hold">
                                          <p:stCondLst>
                                            <p:cond delay="0"/>
                                          </p:stCondLst>
                                        </p:cTn>
                                        <p:tgtEl>
                                          <p:spTgt spid="112"/>
                                        </p:tgtEl>
                                        <p:attrNameLst>
                                          <p:attrName>style.visibility</p:attrName>
                                        </p:attrNameLst>
                                      </p:cBhvr>
                                      <p:to>
                                        <p:strVal val="visible"/>
                                      </p:to>
                                    </p:set>
                                    <p:anim calcmode="lin" valueType="num">
                                      <p:cBhvr additive="base">
                                        <p:cTn id="41" dur="500" fill="hold"/>
                                        <p:tgtEl>
                                          <p:spTgt spid="112"/>
                                        </p:tgtEl>
                                        <p:attrNameLst>
                                          <p:attrName>ppt_x</p:attrName>
                                        </p:attrNameLst>
                                      </p:cBhvr>
                                      <p:tavLst>
                                        <p:tav tm="0">
                                          <p:val>
                                            <p:strVal val="#ppt_x"/>
                                          </p:val>
                                        </p:tav>
                                        <p:tav tm="100000">
                                          <p:val>
                                            <p:strVal val="#ppt_x"/>
                                          </p:val>
                                        </p:tav>
                                      </p:tavLst>
                                    </p:anim>
                                    <p:anim calcmode="lin" valueType="num">
                                      <p:cBhvr additive="base">
                                        <p:cTn id="42" dur="500" fill="hold"/>
                                        <p:tgtEl>
                                          <p:spTgt spid="1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88DD-2B72-58A8-527C-BD89A2508E0A}"/>
              </a:ext>
            </a:extLst>
          </p:cNvPr>
          <p:cNvSpPr>
            <a:spLocks noGrp="1"/>
          </p:cNvSpPr>
          <p:nvPr>
            <p:ph type="title" idx="4294967295"/>
          </p:nvPr>
        </p:nvSpPr>
        <p:spPr>
          <a:xfrm>
            <a:off x="1138340" y="424892"/>
            <a:ext cx="7930474" cy="700468"/>
          </a:xfrm>
        </p:spPr>
        <p:txBody>
          <a:bodyPr>
            <a:normAutofit/>
          </a:bodyPr>
          <a:lstStyle/>
          <a:p>
            <a:r>
              <a:rPr lang="en-US" sz="3200">
                <a:latin typeface="Arial"/>
                <a:cs typeface="Arial"/>
              </a:rPr>
              <a:t>Risks, Assumptions and Dependencies</a:t>
            </a:r>
            <a:endParaRPr lang="en-PH" sz="3200">
              <a:latin typeface="Arial"/>
              <a:cs typeface="Arial"/>
            </a:endParaRPr>
          </a:p>
        </p:txBody>
      </p:sp>
      <p:graphicFrame>
        <p:nvGraphicFramePr>
          <p:cNvPr id="14" name="Table 13">
            <a:extLst>
              <a:ext uri="{FF2B5EF4-FFF2-40B4-BE49-F238E27FC236}">
                <a16:creationId xmlns:a16="http://schemas.microsoft.com/office/drawing/2014/main" id="{0BE8F2E6-EB95-ED97-E025-2C22D9BF16F2}"/>
              </a:ext>
            </a:extLst>
          </p:cNvPr>
          <p:cNvGraphicFramePr>
            <a:graphicFrameLocks noGrp="1"/>
          </p:cNvGraphicFramePr>
          <p:nvPr>
            <p:extLst>
              <p:ext uri="{D42A27DB-BD31-4B8C-83A1-F6EECF244321}">
                <p14:modId xmlns:p14="http://schemas.microsoft.com/office/powerpoint/2010/main" val="3455323302"/>
              </p:ext>
            </p:extLst>
          </p:nvPr>
        </p:nvGraphicFramePr>
        <p:xfrm>
          <a:off x="738534" y="1296968"/>
          <a:ext cx="10711756" cy="4632960"/>
        </p:xfrm>
        <a:graphic>
          <a:graphicData uri="http://schemas.openxmlformats.org/drawingml/2006/table">
            <a:tbl>
              <a:tblPr firstRow="1" bandRow="1">
                <a:tableStyleId>{7DF18680-E054-41AD-8BC1-D1AEF772440D}</a:tableStyleId>
              </a:tblPr>
              <a:tblGrid>
                <a:gridCol w="660896">
                  <a:extLst>
                    <a:ext uri="{9D8B030D-6E8A-4147-A177-3AD203B41FA5}">
                      <a16:colId xmlns:a16="http://schemas.microsoft.com/office/drawing/2014/main" val="142975928"/>
                    </a:ext>
                  </a:extLst>
                </a:gridCol>
                <a:gridCol w="1399429">
                  <a:extLst>
                    <a:ext uri="{9D8B030D-6E8A-4147-A177-3AD203B41FA5}">
                      <a16:colId xmlns:a16="http://schemas.microsoft.com/office/drawing/2014/main" val="1528013588"/>
                    </a:ext>
                  </a:extLst>
                </a:gridCol>
                <a:gridCol w="2886324">
                  <a:extLst>
                    <a:ext uri="{9D8B030D-6E8A-4147-A177-3AD203B41FA5}">
                      <a16:colId xmlns:a16="http://schemas.microsoft.com/office/drawing/2014/main" val="1588957467"/>
                    </a:ext>
                  </a:extLst>
                </a:gridCol>
                <a:gridCol w="1852654">
                  <a:extLst>
                    <a:ext uri="{9D8B030D-6E8A-4147-A177-3AD203B41FA5}">
                      <a16:colId xmlns:a16="http://schemas.microsoft.com/office/drawing/2014/main" val="3256516087"/>
                    </a:ext>
                  </a:extLst>
                </a:gridCol>
                <a:gridCol w="970059">
                  <a:extLst>
                    <a:ext uri="{9D8B030D-6E8A-4147-A177-3AD203B41FA5}">
                      <a16:colId xmlns:a16="http://schemas.microsoft.com/office/drawing/2014/main" val="2607535619"/>
                    </a:ext>
                  </a:extLst>
                </a:gridCol>
                <a:gridCol w="2942394">
                  <a:extLst>
                    <a:ext uri="{9D8B030D-6E8A-4147-A177-3AD203B41FA5}">
                      <a16:colId xmlns:a16="http://schemas.microsoft.com/office/drawing/2014/main" val="3874038524"/>
                    </a:ext>
                  </a:extLst>
                </a:gridCol>
              </a:tblGrid>
              <a:tr h="370840">
                <a:tc>
                  <a:txBody>
                    <a:bodyPr/>
                    <a:lstStyle/>
                    <a:p>
                      <a:r>
                        <a:rPr lang="en-US" sz="1300"/>
                        <a:t>No.</a:t>
                      </a:r>
                      <a:endParaRPr lang="en-CA" sz="1300"/>
                    </a:p>
                  </a:txBody>
                  <a:tcPr/>
                </a:tc>
                <a:tc>
                  <a:txBody>
                    <a:bodyPr/>
                    <a:lstStyle/>
                    <a:p>
                      <a:r>
                        <a:rPr lang="en-US" sz="1300"/>
                        <a:t>Issue Type (risk, assumption, dependency)</a:t>
                      </a:r>
                      <a:endParaRPr lang="en-CA" sz="1300"/>
                    </a:p>
                  </a:txBody>
                  <a:tcPr/>
                </a:tc>
                <a:tc>
                  <a:txBody>
                    <a:bodyPr/>
                    <a:lstStyle/>
                    <a:p>
                      <a:r>
                        <a:rPr lang="en-US" sz="1300"/>
                        <a:t>Description</a:t>
                      </a:r>
                      <a:endParaRPr lang="en-CA" sz="1300"/>
                    </a:p>
                  </a:txBody>
                  <a:tcPr/>
                </a:tc>
                <a:tc>
                  <a:txBody>
                    <a:bodyPr/>
                    <a:lstStyle/>
                    <a:p>
                      <a:r>
                        <a:rPr lang="en-US" sz="1300"/>
                        <a:t>Impact </a:t>
                      </a:r>
                      <a:endParaRPr lang="en-CA" sz="1300"/>
                    </a:p>
                  </a:txBody>
                  <a:tcPr/>
                </a:tc>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sz="1300"/>
                        <a:t>Severity of Impact</a:t>
                      </a:r>
                      <a:endParaRPr lang="en-CA" sz="1300"/>
                    </a:p>
                    <a:p>
                      <a:endParaRPr lang="en-CA" sz="1300"/>
                    </a:p>
                  </a:txBody>
                  <a:tcPr/>
                </a:tc>
                <a:tc>
                  <a:txBody>
                    <a:bodyPr/>
                    <a:lstStyle/>
                    <a:p>
                      <a:r>
                        <a:rPr lang="en-US" sz="1300"/>
                        <a:t>Mitigation Plan if applicable</a:t>
                      </a:r>
                      <a:endParaRPr lang="en-CA" sz="1300"/>
                    </a:p>
                  </a:txBody>
                  <a:tcPr/>
                </a:tc>
                <a:extLst>
                  <a:ext uri="{0D108BD9-81ED-4DB2-BD59-A6C34878D82A}">
                    <a16:rowId xmlns:a16="http://schemas.microsoft.com/office/drawing/2014/main" val="132468243"/>
                  </a:ext>
                </a:extLst>
              </a:tr>
              <a:tr h="370840">
                <a:tc>
                  <a:txBody>
                    <a:bodyPr/>
                    <a:lstStyle/>
                    <a:p>
                      <a:r>
                        <a:rPr lang="en-US" sz="1200" dirty="0"/>
                        <a:t>1</a:t>
                      </a:r>
                      <a:endParaRPr lang="en-CA" sz="1200" dirty="0"/>
                    </a:p>
                  </a:txBody>
                  <a:tcPr/>
                </a:tc>
                <a:tc>
                  <a:txBody>
                    <a:bodyPr/>
                    <a:lstStyle/>
                    <a:p>
                      <a:r>
                        <a:rPr lang="en-US" sz="1200" dirty="0"/>
                        <a:t>Assumption</a:t>
                      </a:r>
                      <a:endParaRPr lang="en-CA" sz="1200" dirty="0"/>
                    </a:p>
                  </a:txBody>
                  <a:tcPr/>
                </a:tc>
                <a:tc>
                  <a:txBody>
                    <a:bodyPr/>
                    <a:lstStyle/>
                    <a:p>
                      <a:r>
                        <a:rPr lang="en-US" sz="1200" dirty="0"/>
                        <a:t>QA assumes requirements/ design will not change during testing</a:t>
                      </a:r>
                      <a:endParaRPr lang="en-CA" sz="1200" dirty="0"/>
                    </a:p>
                  </a:txBody>
                  <a:tcPr/>
                </a:tc>
                <a:tc>
                  <a:txBody>
                    <a:bodyPr/>
                    <a:lstStyle/>
                    <a:p>
                      <a:r>
                        <a:rPr lang="en-US" sz="1200" dirty="0"/>
                        <a:t>Major change in design/ requirement during execution phase can cause rework/ timeline delay/ defect leakage</a:t>
                      </a:r>
                      <a:endParaRPr lang="en-CA" sz="1200" dirty="0"/>
                    </a:p>
                  </a:txBody>
                  <a:tcPr/>
                </a:tc>
                <a:tc>
                  <a:txBody>
                    <a:bodyPr/>
                    <a:lstStyle/>
                    <a:p>
                      <a:r>
                        <a:rPr lang="en-US" sz="1200" dirty="0"/>
                        <a:t>High</a:t>
                      </a:r>
                      <a:endParaRPr lang="en-CA" sz="1200" dirty="0"/>
                    </a:p>
                  </a:txBody>
                  <a:tcPr/>
                </a:tc>
                <a:tc>
                  <a:txBody>
                    <a:bodyPr/>
                    <a:lstStyle/>
                    <a:p>
                      <a:pPr marL="171450" indent="-171450">
                        <a:buFontTx/>
                        <a:buChar char="-"/>
                      </a:pPr>
                      <a:r>
                        <a:rPr lang="en-US" sz="1200" dirty="0"/>
                        <a:t>Change Management process</a:t>
                      </a:r>
                    </a:p>
                    <a:p>
                      <a:pPr marL="171450" indent="-171450">
                        <a:buFontTx/>
                        <a:buChar char="-"/>
                      </a:pPr>
                      <a:r>
                        <a:rPr lang="en-US" sz="1200" dirty="0"/>
                        <a:t>Track Solution/ Design changes and test updates</a:t>
                      </a:r>
                      <a:endParaRPr lang="en-CA" sz="1200" dirty="0"/>
                    </a:p>
                  </a:txBody>
                  <a:tcPr/>
                </a:tc>
                <a:extLst>
                  <a:ext uri="{0D108BD9-81ED-4DB2-BD59-A6C34878D82A}">
                    <a16:rowId xmlns:a16="http://schemas.microsoft.com/office/drawing/2014/main" val="1258768631"/>
                  </a:ext>
                </a:extLst>
              </a:tr>
              <a:tr h="370840">
                <a:tc>
                  <a:txBody>
                    <a:bodyPr/>
                    <a:lstStyle/>
                    <a:p>
                      <a:r>
                        <a:rPr lang="en-US" sz="1200" dirty="0"/>
                        <a:t>2</a:t>
                      </a:r>
                      <a:endParaRPr lang="en-CA" sz="1200" dirty="0"/>
                    </a:p>
                  </a:txBody>
                  <a:tcPr/>
                </a:tc>
                <a:tc>
                  <a:txBody>
                    <a:bodyPr/>
                    <a:lstStyle/>
                    <a:p>
                      <a:r>
                        <a:rPr lang="en-US" sz="1200" dirty="0"/>
                        <a:t>Assumption</a:t>
                      </a:r>
                      <a:endParaRPr lang="en-CA" sz="1200" dirty="0"/>
                    </a:p>
                  </a:txBody>
                  <a:tcPr/>
                </a:tc>
                <a:tc>
                  <a:txBody>
                    <a:bodyPr/>
                    <a:lstStyle/>
                    <a:p>
                      <a:r>
                        <a:rPr lang="en-US" sz="1200" dirty="0"/>
                        <a:t>QA assumes test environment behaves like PROD</a:t>
                      </a:r>
                      <a:endParaRPr lang="en-CA" sz="1200" dirty="0"/>
                    </a:p>
                  </a:txBody>
                  <a:tcPr/>
                </a:tc>
                <a:tc>
                  <a:txBody>
                    <a:bodyPr/>
                    <a:lstStyle/>
                    <a:p>
                      <a:r>
                        <a:rPr lang="en-US" sz="1200" dirty="0"/>
                        <a:t>New defects may appear in DVT/ Prod due to Environmental discrepancy</a:t>
                      </a:r>
                      <a:endParaRPr lang="en-CA" sz="1200" dirty="0"/>
                    </a:p>
                  </a:txBody>
                  <a:tcPr/>
                </a:tc>
                <a:tc>
                  <a:txBody>
                    <a:bodyPr/>
                    <a:lstStyle/>
                    <a:p>
                      <a:r>
                        <a:rPr lang="en-US" sz="1200" dirty="0"/>
                        <a:t>High</a:t>
                      </a:r>
                      <a:endParaRPr lang="en-CA" sz="1200" dirty="0"/>
                    </a:p>
                  </a:txBody>
                  <a:tcPr/>
                </a:tc>
                <a:tc>
                  <a:txBody>
                    <a:bodyPr/>
                    <a:lstStyle/>
                    <a:p>
                      <a:r>
                        <a:rPr lang="en-US" sz="1200" dirty="0"/>
                        <a:t>- Align test and PROD Configuration</a:t>
                      </a:r>
                      <a:endParaRPr lang="en-CA" sz="1200" dirty="0"/>
                    </a:p>
                  </a:txBody>
                  <a:tcPr/>
                </a:tc>
                <a:extLst>
                  <a:ext uri="{0D108BD9-81ED-4DB2-BD59-A6C34878D82A}">
                    <a16:rowId xmlns:a16="http://schemas.microsoft.com/office/drawing/2014/main" val="1348881294"/>
                  </a:ext>
                </a:extLst>
              </a:tr>
              <a:tr h="372585">
                <a:tc>
                  <a:txBody>
                    <a:bodyPr/>
                    <a:lstStyle/>
                    <a:p>
                      <a:r>
                        <a:rPr lang="en-US" sz="1200" dirty="0"/>
                        <a:t>3</a:t>
                      </a:r>
                      <a:endParaRPr lang="en-CA" sz="1200" dirty="0"/>
                    </a:p>
                  </a:txBody>
                  <a:tcPr/>
                </a:tc>
                <a:tc>
                  <a:txBody>
                    <a:bodyPr/>
                    <a:lstStyle/>
                    <a:p>
                      <a:r>
                        <a:rPr lang="en-US" sz="1200" dirty="0"/>
                        <a:t>Dependency </a:t>
                      </a:r>
                      <a:endParaRPr lang="en-CA" sz="1200" dirty="0"/>
                    </a:p>
                  </a:txBody>
                  <a:tcPr/>
                </a:tc>
                <a:tc>
                  <a:txBody>
                    <a:bodyPr/>
                    <a:lstStyle/>
                    <a:p>
                      <a:r>
                        <a:rPr lang="en-US" sz="1200" dirty="0"/>
                        <a:t>QA is dependent on Dev/ Infra for necessary test data/ simulation process</a:t>
                      </a:r>
                      <a:endParaRPr lang="en-CA" sz="1200" dirty="0"/>
                    </a:p>
                  </a:txBody>
                  <a:tcPr/>
                </a:tc>
                <a:tc>
                  <a:txBody>
                    <a:bodyPr/>
                    <a:lstStyle/>
                    <a:p>
                      <a:r>
                        <a:rPr lang="en-US" sz="1200" dirty="0"/>
                        <a:t>Testing may be blocked or incomplete/ Scope crunch</a:t>
                      </a:r>
                      <a:endParaRPr lang="en-CA" sz="1200" dirty="0"/>
                    </a:p>
                  </a:txBody>
                  <a:tcPr/>
                </a:tc>
                <a:tc>
                  <a:txBody>
                    <a:bodyPr/>
                    <a:lstStyle/>
                    <a:p>
                      <a:r>
                        <a:rPr lang="en-US" sz="1200" dirty="0"/>
                        <a:t>High</a:t>
                      </a:r>
                      <a:endParaRPr lang="en-CA" sz="1200" dirty="0"/>
                    </a:p>
                  </a:txBody>
                  <a:tcPr/>
                </a:tc>
                <a:tc>
                  <a:txBody>
                    <a:bodyPr/>
                    <a:lstStyle/>
                    <a:p>
                      <a:pPr marL="171450" indent="-171450">
                        <a:buFontTx/>
                        <a:buChar char="-"/>
                      </a:pPr>
                      <a:r>
                        <a:rPr lang="en-US" sz="1200" dirty="0"/>
                        <a:t>Test data in Planning</a:t>
                      </a:r>
                    </a:p>
                    <a:p>
                      <a:pPr marL="171450" indent="-171450">
                        <a:buFontTx/>
                        <a:buChar char="-"/>
                      </a:pPr>
                      <a:r>
                        <a:rPr lang="en-US" sz="1200" dirty="0"/>
                        <a:t>Use of mock if need</a:t>
                      </a:r>
                      <a:endParaRPr lang="en-CA" sz="1200" dirty="0"/>
                    </a:p>
                  </a:txBody>
                  <a:tcPr/>
                </a:tc>
                <a:extLst>
                  <a:ext uri="{0D108BD9-81ED-4DB2-BD59-A6C34878D82A}">
                    <a16:rowId xmlns:a16="http://schemas.microsoft.com/office/drawing/2014/main" val="3494222772"/>
                  </a:ext>
                </a:extLst>
              </a:tr>
              <a:tr h="370840">
                <a:tc>
                  <a:txBody>
                    <a:bodyPr/>
                    <a:lstStyle/>
                    <a:p>
                      <a:r>
                        <a:rPr lang="en-US" sz="1200" dirty="0"/>
                        <a:t>4</a:t>
                      </a:r>
                      <a:endParaRPr lang="en-CA" sz="1200" dirty="0"/>
                    </a:p>
                  </a:txBody>
                  <a:tcPr/>
                </a:tc>
                <a:tc>
                  <a:txBody>
                    <a:bodyPr/>
                    <a:lstStyle/>
                    <a:p>
                      <a:r>
                        <a:rPr lang="en-US" sz="1200" dirty="0"/>
                        <a:t>Dependency</a:t>
                      </a:r>
                      <a:endParaRPr lang="en-CA" sz="1200" dirty="0"/>
                    </a:p>
                  </a:txBody>
                  <a:tcPr/>
                </a:tc>
                <a:tc>
                  <a:txBody>
                    <a:bodyPr/>
                    <a:lstStyle/>
                    <a:p>
                      <a:r>
                        <a:rPr lang="en-US" sz="1200" dirty="0"/>
                        <a:t>QA is dependent on on-time code and environment Handoff by Development</a:t>
                      </a:r>
                      <a:endParaRPr lang="en-CA" sz="1200" dirty="0"/>
                    </a:p>
                  </a:txBody>
                  <a:tcPr/>
                </a:tc>
                <a:tc>
                  <a:txBody>
                    <a:bodyPr/>
                    <a:lstStyle/>
                    <a:p>
                      <a:r>
                        <a:rPr lang="en-US" sz="1200" dirty="0"/>
                        <a:t>Development delay impacts testing activities</a:t>
                      </a:r>
                      <a:endParaRPr lang="en-CA" sz="1200" dirty="0"/>
                    </a:p>
                  </a:txBody>
                  <a:tcPr/>
                </a:tc>
                <a:tc>
                  <a:txBody>
                    <a:bodyPr/>
                    <a:lstStyle/>
                    <a:p>
                      <a:r>
                        <a:rPr lang="en-US" sz="1200" dirty="0"/>
                        <a:t>Medium</a:t>
                      </a:r>
                      <a:endParaRPr lang="en-CA" sz="1200" dirty="0"/>
                    </a:p>
                  </a:txBody>
                  <a:tcPr/>
                </a:tc>
                <a:tc>
                  <a:txBody>
                    <a:bodyPr/>
                    <a:lstStyle/>
                    <a:p>
                      <a:pPr marL="171450" indent="-171450">
                        <a:buFontTx/>
                        <a:buChar char="-"/>
                      </a:pPr>
                      <a:r>
                        <a:rPr lang="en-US" sz="1200" dirty="0"/>
                        <a:t>Stacked testing</a:t>
                      </a:r>
                    </a:p>
                    <a:p>
                      <a:pPr marL="171450" indent="-171450">
                        <a:buFontTx/>
                        <a:buChar char="-"/>
                      </a:pPr>
                      <a:r>
                        <a:rPr lang="en-US" sz="1200" dirty="0"/>
                        <a:t>Early handoff of </a:t>
                      </a:r>
                    </a:p>
                    <a:p>
                      <a:pPr marL="0" indent="0">
                        <a:buFontTx/>
                        <a:buNone/>
                      </a:pPr>
                      <a:r>
                        <a:rPr lang="en-US" sz="1200" dirty="0"/>
                        <a:t>testable features</a:t>
                      </a:r>
                    </a:p>
                  </a:txBody>
                  <a:tcPr/>
                </a:tc>
                <a:extLst>
                  <a:ext uri="{0D108BD9-81ED-4DB2-BD59-A6C34878D82A}">
                    <a16:rowId xmlns:a16="http://schemas.microsoft.com/office/drawing/2014/main" val="1726558900"/>
                  </a:ext>
                </a:extLst>
              </a:tr>
              <a:tr h="370840">
                <a:tc>
                  <a:txBody>
                    <a:bodyPr/>
                    <a:lstStyle/>
                    <a:p>
                      <a:r>
                        <a:rPr lang="en-US" sz="1200" dirty="0"/>
                        <a:t>5</a:t>
                      </a:r>
                      <a:endParaRPr lang="en-CA" sz="1200" dirty="0"/>
                    </a:p>
                  </a:txBody>
                  <a:tcPr/>
                </a:tc>
                <a:tc>
                  <a:txBody>
                    <a:bodyPr/>
                    <a:lstStyle/>
                    <a:p>
                      <a:r>
                        <a:rPr lang="en-US" sz="1200" dirty="0"/>
                        <a:t>Risk</a:t>
                      </a:r>
                      <a:endParaRPr lang="en-CA" sz="1200" dirty="0"/>
                    </a:p>
                  </a:txBody>
                  <a:tcPr/>
                </a:tc>
                <a:tc>
                  <a:txBody>
                    <a:bodyPr/>
                    <a:lstStyle/>
                    <a:p>
                      <a:r>
                        <a:rPr lang="en-US" sz="1200" dirty="0"/>
                        <a:t>Testing has risk of Resource/ Stakeholder unavailability</a:t>
                      </a:r>
                      <a:endParaRPr lang="en-CA" sz="1200" dirty="0"/>
                    </a:p>
                  </a:txBody>
                  <a:tcPr/>
                </a:tc>
                <a:tc>
                  <a:txBody>
                    <a:bodyPr/>
                    <a:lstStyle/>
                    <a:p>
                      <a:r>
                        <a:rPr lang="en-US" sz="1200" dirty="0"/>
                        <a:t>Delays in feedback/ defect resolution can delay timeline</a:t>
                      </a:r>
                      <a:endParaRPr lang="en-CA" sz="1200" dirty="0"/>
                    </a:p>
                  </a:txBody>
                  <a:tcPr/>
                </a:tc>
                <a:tc>
                  <a:txBody>
                    <a:bodyPr/>
                    <a:lstStyle/>
                    <a:p>
                      <a:r>
                        <a:rPr lang="en-US" sz="1200" dirty="0"/>
                        <a:t>High</a:t>
                      </a:r>
                      <a:endParaRPr lang="en-CA" sz="1200" dirty="0"/>
                    </a:p>
                  </a:txBody>
                  <a:tcPr/>
                </a:tc>
                <a:tc>
                  <a:txBody>
                    <a:bodyPr/>
                    <a:lstStyle/>
                    <a:p>
                      <a:pPr marL="171450" indent="-171450">
                        <a:buFontTx/>
                        <a:buChar char="-"/>
                      </a:pPr>
                      <a:r>
                        <a:rPr lang="en-US" sz="1200" dirty="0"/>
                        <a:t>Assign backup contact</a:t>
                      </a:r>
                    </a:p>
                    <a:p>
                      <a:pPr marL="0" indent="0">
                        <a:buFontTx/>
                        <a:buNone/>
                      </a:pPr>
                      <a:r>
                        <a:rPr lang="en-US" sz="1200" dirty="0"/>
                        <a:t>Or resource</a:t>
                      </a:r>
                    </a:p>
                    <a:p>
                      <a:pPr marL="171450" indent="-171450">
                        <a:buFontTx/>
                        <a:buChar char="-"/>
                      </a:pPr>
                      <a:endParaRPr lang="en-US" sz="1200" dirty="0"/>
                    </a:p>
                  </a:txBody>
                  <a:tcPr/>
                </a:tc>
                <a:extLst>
                  <a:ext uri="{0D108BD9-81ED-4DB2-BD59-A6C34878D82A}">
                    <a16:rowId xmlns:a16="http://schemas.microsoft.com/office/drawing/2014/main" val="2847344862"/>
                  </a:ext>
                </a:extLst>
              </a:tr>
            </a:tbl>
          </a:graphicData>
        </a:graphic>
      </p:graphicFrame>
      <p:grpSp>
        <p:nvGrpSpPr>
          <p:cNvPr id="34" name="Group 33">
            <a:extLst>
              <a:ext uri="{FF2B5EF4-FFF2-40B4-BE49-F238E27FC236}">
                <a16:creationId xmlns:a16="http://schemas.microsoft.com/office/drawing/2014/main" id="{468C8ACF-AE1B-4541-6364-AAAB4DA5DB12}"/>
              </a:ext>
            </a:extLst>
          </p:cNvPr>
          <p:cNvGrpSpPr/>
          <p:nvPr/>
        </p:nvGrpSpPr>
        <p:grpSpPr>
          <a:xfrm>
            <a:off x="1" y="0"/>
            <a:ext cx="909836" cy="924381"/>
            <a:chOff x="1" y="0"/>
            <a:chExt cx="909836" cy="924381"/>
          </a:xfrm>
        </p:grpSpPr>
        <p:sp>
          <p:nvSpPr>
            <p:cNvPr id="30" name="Rectangle 29">
              <a:extLst>
                <a:ext uri="{FF2B5EF4-FFF2-40B4-BE49-F238E27FC236}">
                  <a16:creationId xmlns:a16="http://schemas.microsoft.com/office/drawing/2014/main" id="{35C76A7C-8895-F861-B76B-4ABFCBBEB656}"/>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Rectangle 30">
              <a:extLst>
                <a:ext uri="{FF2B5EF4-FFF2-40B4-BE49-F238E27FC236}">
                  <a16:creationId xmlns:a16="http://schemas.microsoft.com/office/drawing/2014/main" id="{28FAF958-B20A-5BAB-BB41-CF7ED881AF39}"/>
                </a:ext>
              </a:extLst>
            </p:cNvPr>
            <p:cNvSpPr/>
            <p:nvPr/>
          </p:nvSpPr>
          <p:spPr>
            <a:xfrm rot="5400000">
              <a:off x="289785" y="14144"/>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2" name="Rectangle 31">
              <a:extLst>
                <a:ext uri="{FF2B5EF4-FFF2-40B4-BE49-F238E27FC236}">
                  <a16:creationId xmlns:a16="http://schemas.microsoft.com/office/drawing/2014/main" id="{B5E3870D-9A27-77B8-C6AF-333D1531AAC8}"/>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3" name="Rectangle 32">
              <a:extLst>
                <a:ext uri="{FF2B5EF4-FFF2-40B4-BE49-F238E27FC236}">
                  <a16:creationId xmlns:a16="http://schemas.microsoft.com/office/drawing/2014/main" id="{05B39C7A-A404-A9EF-D0D6-847B2A8F87A4}"/>
                </a:ext>
              </a:extLst>
            </p:cNvPr>
            <p:cNvSpPr/>
            <p:nvPr/>
          </p:nvSpPr>
          <p:spPr>
            <a:xfrm rot="5400000" flipH="1" flipV="1">
              <a:off x="296965"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42" name="Group 41">
            <a:extLst>
              <a:ext uri="{FF2B5EF4-FFF2-40B4-BE49-F238E27FC236}">
                <a16:creationId xmlns:a16="http://schemas.microsoft.com/office/drawing/2014/main" id="{99F8EBAF-9E1E-5C28-2E6D-A8EB31F87C0F}"/>
              </a:ext>
            </a:extLst>
          </p:cNvPr>
          <p:cNvGrpSpPr/>
          <p:nvPr/>
        </p:nvGrpSpPr>
        <p:grpSpPr>
          <a:xfrm>
            <a:off x="10342891" y="4962097"/>
            <a:ext cx="1845935" cy="1895904"/>
            <a:chOff x="0" y="0"/>
            <a:chExt cx="3161556" cy="3048050"/>
          </a:xfrm>
        </p:grpSpPr>
        <p:grpSp>
          <p:nvGrpSpPr>
            <p:cNvPr id="36" name="Group 35">
              <a:extLst>
                <a:ext uri="{FF2B5EF4-FFF2-40B4-BE49-F238E27FC236}">
                  <a16:creationId xmlns:a16="http://schemas.microsoft.com/office/drawing/2014/main" id="{2A5F3ADA-3A3D-D9F5-F02B-D57D1F7DFEDF}"/>
                </a:ext>
              </a:extLst>
            </p:cNvPr>
            <p:cNvGrpSpPr/>
            <p:nvPr/>
          </p:nvGrpSpPr>
          <p:grpSpPr>
            <a:xfrm>
              <a:off x="0" y="0"/>
              <a:ext cx="2107704" cy="2241545"/>
              <a:chOff x="0" y="0"/>
              <a:chExt cx="2107704" cy="2241545"/>
            </a:xfrm>
          </p:grpSpPr>
          <p:sp>
            <p:nvSpPr>
              <p:cNvPr id="40" name="Rectangle 39">
                <a:extLst>
                  <a:ext uri="{FF2B5EF4-FFF2-40B4-BE49-F238E27FC236}">
                    <a16:creationId xmlns:a16="http://schemas.microsoft.com/office/drawing/2014/main" id="{681CB9F5-915F-8A44-4EF9-B10A4E2362B0}"/>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1" name="Rectangle 40">
                <a:extLst>
                  <a:ext uri="{FF2B5EF4-FFF2-40B4-BE49-F238E27FC236}">
                    <a16:creationId xmlns:a16="http://schemas.microsoft.com/office/drawing/2014/main" id="{5A93EE7A-4EF4-BEEF-07B4-480AEB16885D}"/>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37" name="Group 36">
              <a:extLst>
                <a:ext uri="{FF2B5EF4-FFF2-40B4-BE49-F238E27FC236}">
                  <a16:creationId xmlns:a16="http://schemas.microsoft.com/office/drawing/2014/main" id="{38EB0E1D-F60F-C9BA-DACB-84938D96AF1A}"/>
                </a:ext>
              </a:extLst>
            </p:cNvPr>
            <p:cNvGrpSpPr/>
            <p:nvPr/>
          </p:nvGrpSpPr>
          <p:grpSpPr>
            <a:xfrm flipH="1" flipV="1">
              <a:off x="1072246" y="1059210"/>
              <a:ext cx="2089310" cy="1988840"/>
              <a:chOff x="1580778" y="1268760"/>
              <a:chExt cx="2089310" cy="1988840"/>
            </a:xfrm>
          </p:grpSpPr>
          <p:sp>
            <p:nvSpPr>
              <p:cNvPr id="38" name="Rectangle 37">
                <a:extLst>
                  <a:ext uri="{FF2B5EF4-FFF2-40B4-BE49-F238E27FC236}">
                    <a16:creationId xmlns:a16="http://schemas.microsoft.com/office/drawing/2014/main" id="{2F8FD90B-8488-66DA-1E47-A2204CE9C388}"/>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9" name="Rectangle 38">
                <a:extLst>
                  <a:ext uri="{FF2B5EF4-FFF2-40B4-BE49-F238E27FC236}">
                    <a16:creationId xmlns:a16="http://schemas.microsoft.com/office/drawing/2014/main" id="{59A44F7E-FCB1-6A51-E360-D820E0082D03}"/>
                  </a:ext>
                </a:extLst>
              </p:cNvPr>
              <p:cNvSpPr/>
              <p:nvPr/>
            </p:nvSpPr>
            <p:spPr>
              <a:xfrm rot="5400000">
                <a:off x="2739910" y="1146126"/>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44" name="Picture 43" descr="BEll company logo">
            <a:extLst>
              <a:ext uri="{FF2B5EF4-FFF2-40B4-BE49-F238E27FC236}">
                <a16:creationId xmlns:a16="http://schemas.microsoft.com/office/drawing/2014/main" id="{76A50BC3-357E-8D96-330C-4BCC578E7BB6}"/>
              </a:ext>
            </a:extLst>
          </p:cNvPr>
          <p:cNvPicPr>
            <a:picLocks noChangeAspect="1"/>
          </p:cNvPicPr>
          <p:nvPr/>
        </p:nvPicPr>
        <p:blipFill>
          <a:blip r:embed="rId2"/>
          <a:stretch>
            <a:fillRect/>
          </a:stretch>
        </p:blipFill>
        <p:spPr>
          <a:xfrm>
            <a:off x="10751502" y="525096"/>
            <a:ext cx="514513" cy="400050"/>
          </a:xfrm>
          <a:prstGeom prst="rect">
            <a:avLst/>
          </a:prstGeom>
        </p:spPr>
      </p:pic>
    </p:spTree>
    <p:extLst>
      <p:ext uri="{BB962C8B-B14F-4D97-AF65-F5344CB8AC3E}">
        <p14:creationId xmlns:p14="http://schemas.microsoft.com/office/powerpoint/2010/main" val="2818192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 calcmode="lin" valueType="num">
                                      <p:cBhvr additive="base">
                                        <p:cTn id="10" dur="500" fill="hold"/>
                                        <p:tgtEl>
                                          <p:spTgt spid="42"/>
                                        </p:tgtEl>
                                        <p:attrNameLst>
                                          <p:attrName>ppt_x</p:attrName>
                                        </p:attrNameLst>
                                      </p:cBhvr>
                                      <p:tavLst>
                                        <p:tav tm="0">
                                          <p:val>
                                            <p:strVal val="1+#ppt_w/2"/>
                                          </p:val>
                                        </p:tav>
                                        <p:tav tm="100000">
                                          <p:val>
                                            <p:strVal val="#ppt_x"/>
                                          </p:val>
                                        </p:tav>
                                      </p:tavLst>
                                    </p:anim>
                                    <p:anim calcmode="lin" valueType="num">
                                      <p:cBhvr additive="base">
                                        <p:cTn id="11"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93F4B-820A-06CA-BA98-E1868C5690DB}"/>
              </a:ext>
            </a:extLst>
          </p:cNvPr>
          <p:cNvSpPr>
            <a:spLocks noGrp="1"/>
          </p:cNvSpPr>
          <p:nvPr>
            <p:ph type="title" idx="4294967295"/>
          </p:nvPr>
        </p:nvSpPr>
        <p:spPr>
          <a:xfrm>
            <a:off x="1286188" y="419557"/>
            <a:ext cx="3279659" cy="718269"/>
          </a:xfrm>
        </p:spPr>
        <p:txBody>
          <a:bodyPr>
            <a:normAutofit/>
          </a:bodyPr>
          <a:lstStyle/>
          <a:p>
            <a:r>
              <a:rPr lang="en-US" sz="3200" dirty="0">
                <a:latin typeface="Arial"/>
                <a:cs typeface="Arial"/>
              </a:rPr>
              <a:t>Testing Support</a:t>
            </a:r>
            <a:endParaRPr lang="en-PH" sz="3200" dirty="0">
              <a:latin typeface="Arial"/>
              <a:cs typeface="Arial"/>
            </a:endParaRPr>
          </a:p>
        </p:txBody>
      </p:sp>
      <p:graphicFrame>
        <p:nvGraphicFramePr>
          <p:cNvPr id="4" name="Table 10">
            <a:extLst>
              <a:ext uri="{FF2B5EF4-FFF2-40B4-BE49-F238E27FC236}">
                <a16:creationId xmlns:a16="http://schemas.microsoft.com/office/drawing/2014/main" id="{21FCF942-DE9D-54C2-10AC-3800D1892EC2}"/>
              </a:ext>
            </a:extLst>
          </p:cNvPr>
          <p:cNvGraphicFramePr>
            <a:graphicFrameLocks noGrp="1"/>
          </p:cNvGraphicFramePr>
          <p:nvPr>
            <p:extLst>
              <p:ext uri="{D42A27DB-BD31-4B8C-83A1-F6EECF244321}">
                <p14:modId xmlns:p14="http://schemas.microsoft.com/office/powerpoint/2010/main" val="2643630757"/>
              </p:ext>
            </p:extLst>
          </p:nvPr>
        </p:nvGraphicFramePr>
        <p:xfrm>
          <a:off x="1286817" y="1645632"/>
          <a:ext cx="8732040" cy="3450742"/>
        </p:xfrm>
        <a:graphic>
          <a:graphicData uri="http://schemas.openxmlformats.org/drawingml/2006/table">
            <a:tbl>
              <a:tblPr firstRow="1" bandRow="1">
                <a:tableStyleId>{5FD0F851-EC5A-4D38-B0AD-8093EC10F338}</a:tableStyleId>
              </a:tblPr>
              <a:tblGrid>
                <a:gridCol w="1392773">
                  <a:extLst>
                    <a:ext uri="{9D8B030D-6E8A-4147-A177-3AD203B41FA5}">
                      <a16:colId xmlns:a16="http://schemas.microsoft.com/office/drawing/2014/main" val="3579042218"/>
                    </a:ext>
                  </a:extLst>
                </a:gridCol>
                <a:gridCol w="1137622">
                  <a:extLst>
                    <a:ext uri="{9D8B030D-6E8A-4147-A177-3AD203B41FA5}">
                      <a16:colId xmlns:a16="http://schemas.microsoft.com/office/drawing/2014/main" val="119136213"/>
                    </a:ext>
                  </a:extLst>
                </a:gridCol>
                <a:gridCol w="2172742">
                  <a:extLst>
                    <a:ext uri="{9D8B030D-6E8A-4147-A177-3AD203B41FA5}">
                      <a16:colId xmlns:a16="http://schemas.microsoft.com/office/drawing/2014/main" val="39854640"/>
                    </a:ext>
                  </a:extLst>
                </a:gridCol>
                <a:gridCol w="2244272">
                  <a:extLst>
                    <a:ext uri="{9D8B030D-6E8A-4147-A177-3AD203B41FA5}">
                      <a16:colId xmlns:a16="http://schemas.microsoft.com/office/drawing/2014/main" val="2433179297"/>
                    </a:ext>
                  </a:extLst>
                </a:gridCol>
                <a:gridCol w="1108724">
                  <a:extLst>
                    <a:ext uri="{9D8B030D-6E8A-4147-A177-3AD203B41FA5}">
                      <a16:colId xmlns:a16="http://schemas.microsoft.com/office/drawing/2014/main" val="3987773371"/>
                    </a:ext>
                  </a:extLst>
                </a:gridCol>
                <a:gridCol w="675907">
                  <a:extLst>
                    <a:ext uri="{9D8B030D-6E8A-4147-A177-3AD203B41FA5}">
                      <a16:colId xmlns:a16="http://schemas.microsoft.com/office/drawing/2014/main" val="1316251386"/>
                    </a:ext>
                  </a:extLst>
                </a:gridCol>
              </a:tblGrid>
              <a:tr h="473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300" b="0" u="none" strike="noStrike" kern="1200" cap="none" spc="0" normalizeH="0" baseline="0" noProof="0" dirty="0">
                          <a:ln>
                            <a:noFill/>
                          </a:ln>
                          <a:solidFill>
                            <a:sysClr val="windowText" lastClr="000000"/>
                          </a:solidFill>
                          <a:effectLst/>
                          <a:uLnTx/>
                          <a:uFillTx/>
                        </a:rPr>
                        <a:t>System</a:t>
                      </a:r>
                      <a:endParaRPr kumimoji="0" lang="en-CA" sz="1300" b="0" i="0" u="none" strike="noStrike" kern="1200" cap="none" spc="0" normalizeH="0" baseline="0" noProof="0" dirty="0">
                        <a:ln>
                          <a:noFill/>
                        </a:ln>
                        <a:solidFill>
                          <a:sysClr val="windowText" lastClr="000000"/>
                        </a:solidFill>
                        <a:effectLst/>
                        <a:uLnTx/>
                        <a:uFillTx/>
                        <a:latin typeface="Segoe UI"/>
                        <a:ea typeface="+mn-ea"/>
                        <a:cs typeface="Segoe UI"/>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300" b="0" u="none" strike="noStrike" kern="1200" cap="none" spc="0" normalizeH="0" baseline="0" noProof="0" dirty="0">
                          <a:ln>
                            <a:noFill/>
                          </a:ln>
                          <a:solidFill>
                            <a:sysClr val="windowText" lastClr="000000"/>
                          </a:solidFill>
                          <a:effectLst/>
                          <a:uLnTx/>
                          <a:uFillTx/>
                        </a:rPr>
                        <a:t>Hours</a:t>
                      </a:r>
                      <a:endParaRPr kumimoji="0" lang="en-CA" sz="1300" b="0" i="0" u="none" strike="noStrike" kern="1200" cap="none" spc="0" normalizeH="0" baseline="0" noProof="0" dirty="0">
                        <a:ln>
                          <a:noFill/>
                        </a:ln>
                        <a:solidFill>
                          <a:sysClr val="windowText" lastClr="000000"/>
                        </a:solidFill>
                        <a:effectLst/>
                        <a:uLnTx/>
                        <a:uFillTx/>
                        <a:latin typeface="Segoe UI"/>
                        <a:ea typeface="+mn-ea"/>
                        <a:cs typeface="Segoe UI"/>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300" b="0" u="none" strike="noStrike" kern="1200" cap="none" spc="0" normalizeH="0" baseline="0" noProof="0" dirty="0">
                          <a:ln>
                            <a:noFill/>
                          </a:ln>
                          <a:solidFill>
                            <a:sysClr val="windowText" lastClr="000000"/>
                          </a:solidFill>
                          <a:effectLst/>
                          <a:uLnTx/>
                          <a:uFillTx/>
                        </a:rPr>
                        <a:t>POC/(s)</a:t>
                      </a:r>
                      <a:endParaRPr kumimoji="0" lang="en-CA" sz="1300" b="0" i="0" u="none" strike="noStrike" kern="1200" cap="none" spc="0" normalizeH="0" baseline="0" noProof="0" dirty="0">
                        <a:ln>
                          <a:noFill/>
                        </a:ln>
                        <a:solidFill>
                          <a:sysClr val="windowText" lastClr="000000"/>
                        </a:solidFill>
                        <a:effectLst/>
                        <a:uLnTx/>
                        <a:uFillTx/>
                        <a:latin typeface="Segoe UI"/>
                        <a:ea typeface="+mn-ea"/>
                        <a:cs typeface="Segoe UI"/>
                      </a:endParaRPr>
                    </a:p>
                  </a:txBody>
                  <a:tcPr marL="79325" marR="79325" marT="39663" marB="39663"/>
                </a:tc>
                <a:tc>
                  <a:txBody>
                    <a:bodyPr/>
                    <a:lstStyle/>
                    <a:p>
                      <a:pPr marL="0" marR="0" lvl="0" indent="0" algn="l" rtl="0" eaLnBrk="1" fontAlgn="auto" latinLnBrk="0" hangingPunct="1">
                        <a:lnSpc>
                          <a:spcPct val="100000"/>
                        </a:lnSpc>
                        <a:spcBef>
                          <a:spcPts val="0"/>
                        </a:spcBef>
                        <a:spcAft>
                          <a:spcPts val="0"/>
                        </a:spcAft>
                        <a:buClrTx/>
                        <a:buSzTx/>
                        <a:buFontTx/>
                        <a:buNone/>
                      </a:pPr>
                      <a:r>
                        <a:rPr lang="en-CA" sz="1300" b="0" u="none" strike="noStrike" kern="1200" cap="none" spc="0" normalizeH="0" baseline="0" noProof="0" dirty="0">
                          <a:ln>
                            <a:noFill/>
                          </a:ln>
                          <a:solidFill>
                            <a:sysClr val="windowText" lastClr="000000"/>
                          </a:solidFill>
                          <a:effectLst/>
                          <a:uLnTx/>
                          <a:uFillTx/>
                        </a:rPr>
                        <a:t>Contact Detail</a:t>
                      </a:r>
                      <a:endParaRPr kumimoji="0" lang="en-CA" sz="1300" b="0" i="0" u="none" strike="noStrike" kern="1200" cap="none" spc="0" normalizeH="0" baseline="0" noProof="0" dirty="0">
                        <a:ln>
                          <a:noFill/>
                        </a:ln>
                        <a:solidFill>
                          <a:sysClr val="windowText" lastClr="000000"/>
                        </a:solidFill>
                        <a:effectLst/>
                        <a:uLnTx/>
                        <a:uFillTx/>
                        <a:latin typeface="Segoe UI"/>
                        <a:ea typeface="+mn-ea"/>
                        <a:cs typeface="Segoe UI"/>
                      </a:endParaRPr>
                    </a:p>
                  </a:txBody>
                  <a:tcPr marL="79325" marR="79325" marT="39663" marB="39663"/>
                </a:tc>
                <a:tc>
                  <a:txBody>
                    <a:bodyPr/>
                    <a:lstStyle/>
                    <a:p>
                      <a:pPr marL="0" marR="0" lvl="0" indent="0" algn="l" rtl="0" eaLnBrk="1" fontAlgn="auto" latinLnBrk="0" hangingPunct="1">
                        <a:lnSpc>
                          <a:spcPct val="100000"/>
                        </a:lnSpc>
                        <a:spcBef>
                          <a:spcPts val="0"/>
                        </a:spcBef>
                        <a:spcAft>
                          <a:spcPts val="0"/>
                        </a:spcAft>
                        <a:buClrTx/>
                        <a:buSzTx/>
                        <a:buFontTx/>
                        <a:buNone/>
                      </a:pPr>
                      <a:r>
                        <a:rPr lang="en-CA" sz="1300" b="0" u="none" strike="noStrike" kern="1200" cap="none" spc="0" normalizeH="0" baseline="0" noProof="0" dirty="0">
                          <a:ln>
                            <a:noFill/>
                          </a:ln>
                          <a:solidFill>
                            <a:sysClr val="windowText" lastClr="000000"/>
                          </a:solidFill>
                          <a:effectLst/>
                          <a:uLnTx/>
                          <a:uFillTx/>
                        </a:rPr>
                        <a:t>Planned Maintenance</a:t>
                      </a:r>
                      <a:endParaRPr kumimoji="0" lang="en-CA" sz="1300" b="0" i="0" u="none" strike="noStrike" kern="1200" cap="none" spc="0" normalizeH="0" baseline="0" noProof="0" dirty="0">
                        <a:ln>
                          <a:noFill/>
                        </a:ln>
                        <a:solidFill>
                          <a:sysClr val="windowText" lastClr="000000"/>
                        </a:solidFill>
                        <a:effectLst/>
                        <a:uLnTx/>
                        <a:uFillTx/>
                        <a:latin typeface="Segoe UI"/>
                        <a:ea typeface="+mn-ea"/>
                        <a:cs typeface="Segoe UI"/>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300" b="0" u="none" strike="noStrike" kern="1200" cap="none" spc="0" normalizeH="0" baseline="0" noProof="0" dirty="0">
                          <a:ln>
                            <a:noFill/>
                          </a:ln>
                          <a:solidFill>
                            <a:sysClr val="windowText" lastClr="000000"/>
                          </a:solidFill>
                          <a:effectLst/>
                          <a:uLnTx/>
                          <a:uFillTx/>
                        </a:rPr>
                        <a:t>B/U</a:t>
                      </a:r>
                      <a:endParaRPr kumimoji="0" lang="en-CA" sz="1300" b="0" i="0" u="none" strike="noStrike" kern="1200" cap="none" spc="0" normalizeH="0" baseline="0" noProof="0" dirty="0">
                        <a:ln>
                          <a:noFill/>
                        </a:ln>
                        <a:solidFill>
                          <a:sysClr val="windowText" lastClr="000000"/>
                        </a:solidFill>
                        <a:effectLst/>
                        <a:uLnTx/>
                        <a:uFillTx/>
                        <a:latin typeface="Segoe UI"/>
                        <a:ea typeface="+mn-ea"/>
                        <a:cs typeface="Segoe UI"/>
                      </a:endParaRPr>
                    </a:p>
                  </a:txBody>
                  <a:tcPr marL="79325" marR="79325" marT="39663" marB="39663"/>
                </a:tc>
                <a:extLst>
                  <a:ext uri="{0D108BD9-81ED-4DB2-BD59-A6C34878D82A}">
                    <a16:rowId xmlns:a16="http://schemas.microsoft.com/office/drawing/2014/main" val="1756238197"/>
                  </a:ext>
                </a:extLst>
              </a:tr>
              <a:tr h="342058">
                <a:tc>
                  <a:txBody>
                    <a:bodyPr/>
                    <a:lstStyle/>
                    <a:p>
                      <a:pPr marL="0" marR="0" lvl="0" indent="0" algn="l" defTabSz="914400">
                        <a:lnSpc>
                          <a:spcPct val="100000"/>
                        </a:lnSpc>
                        <a:spcBef>
                          <a:spcPts val="0"/>
                        </a:spcBef>
                        <a:spcAft>
                          <a:spcPts val="0"/>
                        </a:spcAft>
                        <a:buNone/>
                        <a:tabLst/>
                        <a:defRPr/>
                      </a:pPr>
                      <a:r>
                        <a:rPr lang="en-CA" sz="1000" b="0" i="0" u="none" strike="noStrike" kern="1200" cap="none" spc="0" normalizeH="0" baseline="0" noProof="0" err="1">
                          <a:ln>
                            <a:noFill/>
                          </a:ln>
                          <a:solidFill>
                            <a:prstClr val="black"/>
                          </a:solidFill>
                          <a:effectLst/>
                          <a:uLnTx/>
                          <a:uFillTx/>
                          <a:latin typeface="Arial" panose="020B0604020202020204" pitchFamily="34" charset="0"/>
                          <a:cs typeface="Arial" panose="020B0604020202020204" pitchFamily="34" charset="0"/>
                        </a:rPr>
                        <a:t>Analance</a:t>
                      </a:r>
                      <a:endParaRPr kumimoji="0" lang="en-US" sz="1000">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79325" marR="79325" marT="39663" marB="39663"/>
                </a:tc>
                <a:tc>
                  <a:txBody>
                    <a:bodyPr/>
                    <a:lstStyle/>
                    <a:p>
                      <a:pPr marL="0" marR="0" lvl="0" indent="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Rashid, Azeez Abiodun</a:t>
                      </a:r>
                      <a:endParaRPr kumimoji="0" lang="en-US" sz="1000" dirty="0">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a:lnSpc>
                          <a:spcPct val="100000"/>
                        </a:lnSpc>
                        <a:spcBef>
                          <a:spcPts val="0"/>
                        </a:spcBef>
                        <a:spcAft>
                          <a:spcPts val="0"/>
                        </a:spcAft>
                        <a:buNone/>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hlinkClick r:id="rId2"/>
                        </a:rPr>
                        <a:t>azeez_abiodun.rashid@bell.ca</a:t>
                      </a:r>
                      <a:endPar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420447171"/>
                  </a:ext>
                </a:extLst>
              </a:tr>
              <a:tr h="296148">
                <a:tc>
                  <a:txBody>
                    <a:bodyPr/>
                    <a:lstStyle/>
                    <a:p>
                      <a:pPr marL="0" marR="0" lvl="0" indent="0" algn="l">
                        <a:lnSpc>
                          <a:spcPct val="100000"/>
                        </a:lnSpc>
                        <a:spcBef>
                          <a:spcPts val="0"/>
                        </a:spcBef>
                        <a:spcAft>
                          <a:spcPts val="0"/>
                        </a:spcAft>
                        <a:buNone/>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IDR/ IDD</a:t>
                      </a:r>
                      <a:endParaRPr kumimoji="0" lang="en-US" sz="1000" dirty="0">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5" marR="79325" marT="39663" marB="39663"/>
                </a:tc>
                <a:tc>
                  <a:txBody>
                    <a:bodyPr/>
                    <a:lstStyle/>
                    <a:p>
                      <a:pPr marL="0" marR="0" lvl="0" indent="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Rashid, Azeez Abiodun</a:t>
                      </a:r>
                    </a:p>
                    <a:p>
                      <a:pPr marL="0" marR="0" lvl="0" indent="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Roby, Ghislain</a:t>
                      </a:r>
                      <a:endParaRPr lang="en-CA" sz="1000" dirty="0">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a:lnSpc>
                          <a:spcPct val="100000"/>
                        </a:lnSpc>
                        <a:spcBef>
                          <a:spcPts val="0"/>
                        </a:spcBef>
                        <a:spcAft>
                          <a:spcPts val="0"/>
                        </a:spcAft>
                        <a:buNone/>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hlinkClick r:id="rId2"/>
                        </a:rPr>
                        <a:t>azeez_abiodun.rashid@bell.ca</a:t>
                      </a:r>
                      <a:b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br>
                      <a:r>
                        <a:rPr lang="en-CA" sz="1000" b="0" i="0" u="none" strike="noStrike" kern="1200" cap="none" spc="0" normalizeH="0" baseline="0" noProof="0" dirty="0">
                          <a:ln>
                            <a:noFill/>
                          </a:ln>
                          <a:solidFill>
                            <a:srgbClr val="0C66E4"/>
                          </a:solidFill>
                          <a:effectLst/>
                          <a:highlight>
                            <a:srgbClr val="FFFFFF"/>
                          </a:highlight>
                          <a:uLnTx/>
                          <a:uFillTx/>
                          <a:latin typeface="Arial" panose="020B0604020202020204" pitchFamily="34" charset="0"/>
                          <a:cs typeface="Arial" panose="020B0604020202020204" pitchFamily="34" charset="0"/>
                          <a:hlinkClick r:id="rId3"/>
                        </a:rPr>
                        <a:t>g.roby@bell.ca</a:t>
                      </a:r>
                      <a:endParaRPr kumimoji="0" lang="en-US" sz="1000">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3345734804"/>
                  </a:ext>
                </a:extLst>
              </a:tr>
              <a:tr h="296148">
                <a:tc>
                  <a:txBody>
                    <a:bodyPr/>
                    <a:lstStyle/>
                    <a:p>
                      <a:pPr marL="0" marR="0" lvl="0" indent="0" algn="l" defTabSz="914400">
                        <a:lnSpc>
                          <a:spcPct val="100000"/>
                        </a:lnSpc>
                        <a:spcBef>
                          <a:spcPts val="0"/>
                        </a:spcBef>
                        <a:spcAft>
                          <a:spcPts val="0"/>
                        </a:spcAft>
                        <a:buNone/>
                        <a:tabLst/>
                        <a:defRPr/>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NM1</a:t>
                      </a:r>
                      <a:endParaRPr kumimoji="0" lang="en-US" sz="1000" dirty="0">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79325" marR="79325" marT="39663" marB="39663"/>
                </a:tc>
                <a:tc>
                  <a:txBody>
                    <a:bodyPr/>
                    <a:lstStyle/>
                    <a:p>
                      <a:pPr marL="0" marR="0" lvl="0" indent="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Doshi, Pratik</a:t>
                      </a:r>
                      <a:endParaRPr kumimoji="0" lang="en-US" sz="1000" dirty="0">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a:lnSpc>
                          <a:spcPct val="100000"/>
                        </a:lnSpc>
                        <a:spcBef>
                          <a:spcPts val="0"/>
                        </a:spcBef>
                        <a:spcAft>
                          <a:spcPts val="0"/>
                        </a:spcAft>
                        <a:buNone/>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hlinkClick r:id="rId4"/>
                        </a:rPr>
                        <a:t>pratik.doshi@amdocs.com</a:t>
                      </a:r>
                      <a:endPar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Change of Env on 6</a:t>
                      </a:r>
                      <a:r>
                        <a:rPr kumimoji="0" lang="en-US" sz="10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th</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April 2026</a:t>
                      </a: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309359047"/>
                  </a:ext>
                </a:extLst>
              </a:tr>
              <a:tr h="296148">
                <a:tc>
                  <a:txBody>
                    <a:bodyPr/>
                    <a:lstStyle/>
                    <a:p>
                      <a:pPr marL="0" marR="0" lvl="0" indent="0" algn="l" defTabSz="914400">
                        <a:lnSpc>
                          <a:spcPct val="100000"/>
                        </a:lnSpc>
                        <a:spcBef>
                          <a:spcPts val="0"/>
                        </a:spcBef>
                        <a:spcAft>
                          <a:spcPts val="0"/>
                        </a:spcAft>
                        <a:buNone/>
                        <a:tabLst/>
                        <a:defRPr/>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BCIM</a:t>
                      </a:r>
                      <a:endParaRPr kumimoji="0" lang="en-US" sz="1000" dirty="0">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Offshore (Until 11:00 AM EST)</a:t>
                      </a: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5" marR="79325" marT="39663" marB="39663"/>
                </a:tc>
                <a:tc>
                  <a:txBody>
                    <a:bodyPr/>
                    <a:lstStyle/>
                    <a:p>
                      <a:pPr marL="0" marR="0" lvl="0" indent="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McIlwaine, Alexandria</a:t>
                      </a:r>
                      <a:endParaRPr kumimoji="0" lang="en-US" sz="1000" dirty="0">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a:lnSpc>
                          <a:spcPct val="100000"/>
                        </a:lnSpc>
                        <a:spcBef>
                          <a:spcPts val="0"/>
                        </a:spcBef>
                        <a:spcAft>
                          <a:spcPts val="0"/>
                        </a:spcAft>
                        <a:buNone/>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hlinkClick r:id="rId5"/>
                        </a:rPr>
                        <a:t>Alexandria</a:t>
                      </a:r>
                      <a:r>
                        <a:rPr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5"/>
                        </a:rPr>
                        <a:t>.mcilwaine@bell.ca</a:t>
                      </a:r>
                      <a:endParaRPr lang="en-US" sz="1000">
                        <a:latin typeface="Arial" panose="020B0604020202020204" pitchFamily="34" charset="0"/>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963408702"/>
                  </a:ext>
                </a:extLst>
              </a:tr>
              <a:tr h="296148">
                <a:tc>
                  <a:txBody>
                    <a:bodyPr/>
                    <a:lstStyle/>
                    <a:p>
                      <a:pPr marL="0" lvl="0" indent="0" algn="l" defTabSz="914400">
                        <a:lnSpc>
                          <a:spcPct val="100000"/>
                        </a:lnSpc>
                        <a:spcBef>
                          <a:spcPts val="0"/>
                        </a:spcBef>
                        <a:spcAft>
                          <a:spcPts val="0"/>
                        </a:spcAft>
                        <a:buNone/>
                        <a:tabLst/>
                        <a:defRPr/>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BBSSC</a:t>
                      </a:r>
                      <a:endParaRPr kumimoji="0" lang="en-US" sz="1000" dirty="0">
                        <a:latin typeface="Arial" panose="020B0604020202020204" pitchFamily="34" charset="0"/>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4" marR="79324" marT="39663" marB="39663"/>
                </a:tc>
                <a:tc>
                  <a:txBody>
                    <a:bodyPr/>
                    <a:lstStyle/>
                    <a:p>
                      <a:pPr marL="0" lvl="0" indent="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Villemin, Maxime</a:t>
                      </a:r>
                      <a:endParaRPr kumimoji="0" lang="en-US" sz="1000" dirty="0">
                        <a:latin typeface="Arial" panose="020B0604020202020204" pitchFamily="34" charset="0"/>
                        <a:cs typeface="Arial" panose="020B0604020202020204" pitchFamily="34" charset="0"/>
                      </a:endParaRPr>
                    </a:p>
                  </a:txBody>
                  <a:tcPr marL="79324" marR="79324" marT="39663" marB="39663"/>
                </a:tc>
                <a:tc>
                  <a:txBody>
                    <a:bodyPr/>
                    <a:lstStyle/>
                    <a:p>
                      <a:pPr marL="0" lvl="0" indent="0" algn="l">
                        <a:lnSpc>
                          <a:spcPct val="100000"/>
                        </a:lnSpc>
                        <a:spcBef>
                          <a:spcPts val="0"/>
                        </a:spcBef>
                        <a:spcAft>
                          <a:spcPts val="0"/>
                        </a:spcAft>
                        <a:buNone/>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hlinkClick r:id="rId6"/>
                        </a:rPr>
                        <a:t>maxime.villemin@bell.ca</a:t>
                      </a:r>
                      <a:endPar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200" b="0" i="0" u="none" strike="noStrike" kern="1200" cap="none" spc="0" normalizeH="0" baseline="0" noProof="0" dirty="0">
                        <a:ln>
                          <a:noFill/>
                        </a:ln>
                        <a:solidFill>
                          <a:prstClr val="black"/>
                        </a:solidFill>
                        <a:effectLst/>
                        <a:uLnTx/>
                        <a:uFillTx/>
                        <a:latin typeface="Segoe UI"/>
                        <a:ea typeface="+mn-ea"/>
                        <a:cs typeface="Segoe UI"/>
                      </a:endParaRPr>
                    </a:p>
                  </a:txBody>
                  <a:tcPr marL="79324" marR="79324" marT="39663" marB="39663"/>
                </a:tc>
                <a:extLst>
                  <a:ext uri="{0D108BD9-81ED-4DB2-BD59-A6C34878D82A}">
                    <a16:rowId xmlns:a16="http://schemas.microsoft.com/office/drawing/2014/main" val="186015992"/>
                  </a:ext>
                </a:extLst>
              </a:tr>
              <a:tr h="296148">
                <a:tc>
                  <a:txBody>
                    <a:bodyPr/>
                    <a:lstStyle/>
                    <a:p>
                      <a:pPr marL="0" lvl="0" indent="0" algn="l" defTabSz="914400">
                        <a:lnSpc>
                          <a:spcPct val="100000"/>
                        </a:lnSpc>
                        <a:spcBef>
                          <a:spcPts val="0"/>
                        </a:spcBef>
                        <a:spcAft>
                          <a:spcPts val="0"/>
                        </a:spcAft>
                        <a:buNone/>
                        <a:tabLst/>
                        <a:defRPr/>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ESIDE</a:t>
                      </a:r>
                      <a:endParaRPr kumimoji="0" lang="en-US" sz="1000" dirty="0">
                        <a:latin typeface="Arial" panose="020B0604020202020204" pitchFamily="34" charset="0"/>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4" marR="79324" marT="39663" marB="39663"/>
                </a:tc>
                <a:tc>
                  <a:txBody>
                    <a:bodyPr/>
                    <a:lstStyle/>
                    <a:p>
                      <a:pPr marL="0" lvl="0" indent="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Tersigni, Jonathan </a:t>
                      </a:r>
                      <a:endParaRPr kumimoji="0"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txBody>
                  <a:tcPr marL="79324" marR="79324" marT="39663" marB="39663"/>
                </a:tc>
                <a:tc>
                  <a:txBody>
                    <a:bodyPr/>
                    <a:lstStyle/>
                    <a:p>
                      <a:pPr lvl="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hlinkClick r:id="rId7"/>
                        </a:rPr>
                        <a:t>jonathan.tersigni@bell.ca</a:t>
                      </a:r>
                      <a:endPar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200" b="0" i="0" u="none" strike="noStrike" kern="1200" cap="none" spc="0" normalizeH="0" baseline="0" noProof="0" dirty="0">
                        <a:ln>
                          <a:noFill/>
                        </a:ln>
                        <a:solidFill>
                          <a:prstClr val="black"/>
                        </a:solidFill>
                        <a:effectLst/>
                        <a:uLnTx/>
                        <a:uFillTx/>
                        <a:latin typeface="Segoe UI"/>
                        <a:ea typeface="+mn-ea"/>
                        <a:cs typeface="Segoe UI"/>
                      </a:endParaRPr>
                    </a:p>
                  </a:txBody>
                  <a:tcPr marL="79324" marR="79324" marT="39663" marB="39663"/>
                </a:tc>
                <a:extLst>
                  <a:ext uri="{0D108BD9-81ED-4DB2-BD59-A6C34878D82A}">
                    <a16:rowId xmlns:a16="http://schemas.microsoft.com/office/drawing/2014/main" val="2841671896"/>
                  </a:ext>
                </a:extLst>
              </a:tr>
              <a:tr h="296148">
                <a:tc>
                  <a:txBody>
                    <a:bodyPr/>
                    <a:lstStyle/>
                    <a:p>
                      <a:pPr marL="0" lvl="0" indent="0" algn="l" defTabSz="914400">
                        <a:lnSpc>
                          <a:spcPct val="100000"/>
                        </a:lnSpc>
                        <a:spcBef>
                          <a:spcPts val="0"/>
                        </a:spcBef>
                        <a:spcAft>
                          <a:spcPts val="0"/>
                        </a:spcAft>
                        <a:buNone/>
                        <a:tabLst/>
                        <a:defRPr/>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Kafka</a:t>
                      </a:r>
                      <a:endParaRPr kumimoji="0" lang="en-US" sz="1000" dirty="0">
                        <a:latin typeface="Arial" panose="020B0604020202020204" pitchFamily="34" charset="0"/>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4" marR="79324" marT="39663" marB="39663"/>
                </a:tc>
                <a:tc>
                  <a:txBody>
                    <a:bodyPr/>
                    <a:lstStyle/>
                    <a:p>
                      <a:pPr marL="0" lvl="0" indent="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Hawkes, Richard </a:t>
                      </a:r>
                      <a:endParaRPr kumimoji="0"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txBody>
                  <a:tcPr marL="79324" marR="79324" marT="39663" marB="39663"/>
                </a:tc>
                <a:tc>
                  <a:txBody>
                    <a:bodyPr/>
                    <a:lstStyle/>
                    <a:p>
                      <a:pPr lvl="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hlinkClick r:id="rId8"/>
                        </a:rPr>
                        <a:t>Richard.Hawkes@bellaliant.ca</a:t>
                      </a:r>
                      <a:endPar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200" b="0" i="0" u="none" strike="noStrike" kern="1200" cap="none" spc="0" normalizeH="0" baseline="0" noProof="0" dirty="0">
                        <a:ln>
                          <a:noFill/>
                        </a:ln>
                        <a:solidFill>
                          <a:prstClr val="black"/>
                        </a:solidFill>
                        <a:effectLst/>
                        <a:uLnTx/>
                        <a:uFillTx/>
                        <a:latin typeface="Segoe UI"/>
                        <a:ea typeface="+mn-ea"/>
                        <a:cs typeface="Segoe UI"/>
                      </a:endParaRPr>
                    </a:p>
                  </a:txBody>
                  <a:tcPr marL="79324" marR="79324" marT="39663" marB="39663"/>
                </a:tc>
                <a:extLst>
                  <a:ext uri="{0D108BD9-81ED-4DB2-BD59-A6C34878D82A}">
                    <a16:rowId xmlns:a16="http://schemas.microsoft.com/office/drawing/2014/main" val="778677198"/>
                  </a:ext>
                </a:extLst>
              </a:tr>
              <a:tr h="296148">
                <a:tc>
                  <a:txBody>
                    <a:bodyPr/>
                    <a:lstStyle/>
                    <a:p>
                      <a:pPr marL="0" lvl="0" indent="0" algn="l" defTabSz="914400">
                        <a:lnSpc>
                          <a:spcPct val="100000"/>
                        </a:lnSpc>
                        <a:spcBef>
                          <a:spcPts val="0"/>
                        </a:spcBef>
                        <a:spcAft>
                          <a:spcPts val="0"/>
                        </a:spcAft>
                        <a:buNone/>
                        <a:tabLst/>
                        <a:defRPr/>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BBP/PARBAC</a:t>
                      </a:r>
                      <a:endParaRPr kumimoji="0" lang="en-US" sz="1000" dirty="0">
                        <a:latin typeface="Arial" panose="020B0604020202020204" pitchFamily="34" charset="0"/>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4" marR="79324" marT="39663" marB="39663"/>
                </a:tc>
                <a:tc>
                  <a:txBody>
                    <a:bodyPr/>
                    <a:lstStyle/>
                    <a:p>
                      <a:pPr marL="0" lvl="0" indent="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My, Morgan</a:t>
                      </a:r>
                      <a:endParaRPr kumimoji="0"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txBody>
                  <a:tcPr marL="79324" marR="79324" marT="39663" marB="39663"/>
                </a:tc>
                <a:tc>
                  <a:txBody>
                    <a:bodyPr/>
                    <a:lstStyle/>
                    <a:p>
                      <a:pPr lvl="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hlinkClick r:id="rId9"/>
                        </a:rPr>
                        <a:t>morgan.my@bell.ca</a:t>
                      </a:r>
                      <a:endPar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200" b="0" i="0" u="none" strike="noStrike" kern="1200" cap="none" spc="0" normalizeH="0" baseline="0" noProof="0" dirty="0">
                        <a:ln>
                          <a:noFill/>
                        </a:ln>
                        <a:solidFill>
                          <a:prstClr val="black"/>
                        </a:solidFill>
                        <a:effectLst/>
                        <a:uLnTx/>
                        <a:uFillTx/>
                        <a:latin typeface="Segoe UI"/>
                        <a:ea typeface="+mn-ea"/>
                        <a:cs typeface="Segoe UI"/>
                      </a:endParaRPr>
                    </a:p>
                  </a:txBody>
                  <a:tcPr marL="79324" marR="79324" marT="39663" marB="39663"/>
                </a:tc>
                <a:extLst>
                  <a:ext uri="{0D108BD9-81ED-4DB2-BD59-A6C34878D82A}">
                    <a16:rowId xmlns:a16="http://schemas.microsoft.com/office/drawing/2014/main" val="3636016208"/>
                  </a:ext>
                </a:extLst>
              </a:tr>
              <a:tr h="296148">
                <a:tc>
                  <a:txBody>
                    <a:bodyPr/>
                    <a:lstStyle/>
                    <a:p>
                      <a:pPr marL="0" lvl="0" indent="0" algn="l" defTabSz="914400">
                        <a:lnSpc>
                          <a:spcPct val="100000"/>
                        </a:lnSpc>
                        <a:spcBef>
                          <a:spcPts val="0"/>
                        </a:spcBef>
                        <a:spcAft>
                          <a:spcPts val="0"/>
                        </a:spcAft>
                        <a:buNone/>
                        <a:tabLst/>
                        <a:defRPr/>
                      </a:pPr>
                      <a:r>
                        <a:rPr lang="en-CA" sz="1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UI/UX</a:t>
                      </a:r>
                      <a:endParaRPr kumimoji="0" lang="en-US" sz="1000" dirty="0">
                        <a:latin typeface="Arial" panose="020B0604020202020204" pitchFamily="34" charset="0"/>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4" marR="79324" marT="39663" marB="39663"/>
                </a:tc>
                <a:tc>
                  <a:txBody>
                    <a:bodyPr/>
                    <a:lstStyle/>
                    <a:p>
                      <a:pPr marL="0" lvl="0" indent="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Zambrano Lievano, Mauricio </a:t>
                      </a:r>
                      <a:endParaRPr kumimoji="0"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txBody>
                  <a:tcPr marL="79324" marR="79324" marT="39663" marB="39663"/>
                </a:tc>
                <a:tc>
                  <a:txBody>
                    <a:bodyPr/>
                    <a:lstStyle/>
                    <a:p>
                      <a:pPr lvl="0" algn="l">
                        <a:lnSpc>
                          <a:spcPct val="100000"/>
                        </a:lnSpc>
                        <a:spcBef>
                          <a:spcPts val="0"/>
                        </a:spcBef>
                        <a:spcAft>
                          <a:spcPts val="0"/>
                        </a:spcAft>
                        <a:buNone/>
                      </a:pPr>
                      <a:r>
                        <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hlinkClick r:id="rId10"/>
                        </a:rPr>
                        <a:t>mauricio.zambrano@bell.ca</a:t>
                      </a:r>
                      <a:endParaRPr lang="en-CA"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79324" marR="79324" marT="39663" marB="39663"/>
                </a:tc>
                <a:tc>
                  <a:txBody>
                    <a:bodyPr/>
                    <a:lstStyle/>
                    <a:p>
                      <a:pPr marL="0" lvl="0" indent="0" algn="l" defTabSz="914400">
                        <a:lnSpc>
                          <a:spcPct val="100000"/>
                        </a:lnSpc>
                        <a:spcBef>
                          <a:spcPts val="0"/>
                        </a:spcBef>
                        <a:spcAft>
                          <a:spcPts val="0"/>
                        </a:spcAft>
                        <a:buNone/>
                        <a:tabLst/>
                        <a:defRPr/>
                      </a:pPr>
                      <a:endParaRPr kumimoji="0" lang="en-CA" sz="1200" b="0" i="0" u="none" strike="noStrike" kern="1200" cap="none" spc="0" normalizeH="0" baseline="0" noProof="0" dirty="0">
                        <a:ln>
                          <a:noFill/>
                        </a:ln>
                        <a:solidFill>
                          <a:prstClr val="black"/>
                        </a:solidFill>
                        <a:effectLst/>
                        <a:uLnTx/>
                        <a:uFillTx/>
                        <a:latin typeface="Segoe UI"/>
                        <a:ea typeface="+mn-ea"/>
                        <a:cs typeface="Segoe UI"/>
                      </a:endParaRPr>
                    </a:p>
                  </a:txBody>
                  <a:tcPr marL="79324" marR="79324" marT="39663" marB="39663"/>
                </a:tc>
                <a:extLst>
                  <a:ext uri="{0D108BD9-81ED-4DB2-BD59-A6C34878D82A}">
                    <a16:rowId xmlns:a16="http://schemas.microsoft.com/office/drawing/2014/main" val="2627339789"/>
                  </a:ext>
                </a:extLst>
              </a:tr>
            </a:tbl>
          </a:graphicData>
        </a:graphic>
      </p:graphicFrame>
      <p:sp>
        <p:nvSpPr>
          <p:cNvPr id="2" name="TextBox 1">
            <a:extLst>
              <a:ext uri="{FF2B5EF4-FFF2-40B4-BE49-F238E27FC236}">
                <a16:creationId xmlns:a16="http://schemas.microsoft.com/office/drawing/2014/main" id="{FB4D0930-BD72-1863-3AF0-B8FE4AD1B7AD}"/>
              </a:ext>
            </a:extLst>
          </p:cNvPr>
          <p:cNvSpPr txBox="1"/>
          <p:nvPr/>
        </p:nvSpPr>
        <p:spPr>
          <a:xfrm>
            <a:off x="1209363" y="1054386"/>
            <a:ext cx="3280167" cy="461665"/>
          </a:xfrm>
          <a:prstGeom prst="rect">
            <a:avLst/>
          </a:prstGeom>
          <a:noFill/>
        </p:spPr>
        <p:txBody>
          <a:bodyPr wrap="square" lIns="91440" tIns="45720" rIns="91440" bIns="45720" rtlCol="0" anchor="t">
            <a:spAutoFit/>
          </a:bodyPr>
          <a:lstStyle/>
          <a:p>
            <a:r>
              <a:rPr lang="en-US" dirty="0">
                <a:latin typeface="Arial"/>
                <a:cs typeface="Arial"/>
              </a:rPr>
              <a:t>Environment Support</a:t>
            </a:r>
            <a:endParaRPr lang="en-CA" dirty="0">
              <a:latin typeface="Arial"/>
              <a:cs typeface="Arial"/>
            </a:endParaRPr>
          </a:p>
        </p:txBody>
      </p:sp>
      <p:grpSp>
        <p:nvGrpSpPr>
          <p:cNvPr id="21" name="Group 20">
            <a:extLst>
              <a:ext uri="{FF2B5EF4-FFF2-40B4-BE49-F238E27FC236}">
                <a16:creationId xmlns:a16="http://schemas.microsoft.com/office/drawing/2014/main" id="{ECD41018-129D-6AFB-361C-182849781980}"/>
              </a:ext>
            </a:extLst>
          </p:cNvPr>
          <p:cNvGrpSpPr/>
          <p:nvPr/>
        </p:nvGrpSpPr>
        <p:grpSpPr>
          <a:xfrm>
            <a:off x="1" y="4240"/>
            <a:ext cx="909836" cy="930066"/>
            <a:chOff x="1" y="-5685"/>
            <a:chExt cx="909836" cy="930066"/>
          </a:xfrm>
        </p:grpSpPr>
        <p:sp>
          <p:nvSpPr>
            <p:cNvPr id="17" name="Rectangle 16">
              <a:extLst>
                <a:ext uri="{FF2B5EF4-FFF2-40B4-BE49-F238E27FC236}">
                  <a16:creationId xmlns:a16="http://schemas.microsoft.com/office/drawing/2014/main" id="{667819E7-114E-AE9D-0071-CC83A0EACC0C}"/>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D46C1A82-9CE8-7E25-147F-60C70E365C0C}"/>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Rectangle 18">
              <a:extLst>
                <a:ext uri="{FF2B5EF4-FFF2-40B4-BE49-F238E27FC236}">
                  <a16:creationId xmlns:a16="http://schemas.microsoft.com/office/drawing/2014/main" id="{5E215186-2FE3-DE3F-3EAF-508B8A5C4A7B}"/>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19">
              <a:extLst>
                <a:ext uri="{FF2B5EF4-FFF2-40B4-BE49-F238E27FC236}">
                  <a16:creationId xmlns:a16="http://schemas.microsoft.com/office/drawing/2014/main" id="{B29499B3-DBCD-8BFC-0E3F-C420D22B27FC}"/>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9" name="Group 28">
            <a:extLst>
              <a:ext uri="{FF2B5EF4-FFF2-40B4-BE49-F238E27FC236}">
                <a16:creationId xmlns:a16="http://schemas.microsoft.com/office/drawing/2014/main" id="{9F38E102-0A7F-57B9-AB1B-3D02E852AA08}"/>
              </a:ext>
            </a:extLst>
          </p:cNvPr>
          <p:cNvGrpSpPr/>
          <p:nvPr/>
        </p:nvGrpSpPr>
        <p:grpSpPr>
          <a:xfrm>
            <a:off x="10342891" y="4962097"/>
            <a:ext cx="1845935" cy="1895903"/>
            <a:chOff x="0" y="0"/>
            <a:chExt cx="3161556" cy="3048050"/>
          </a:xfrm>
        </p:grpSpPr>
        <p:grpSp>
          <p:nvGrpSpPr>
            <p:cNvPr id="23" name="Group 22">
              <a:extLst>
                <a:ext uri="{FF2B5EF4-FFF2-40B4-BE49-F238E27FC236}">
                  <a16:creationId xmlns:a16="http://schemas.microsoft.com/office/drawing/2014/main" id="{261FD81D-DBDC-456D-69B5-2F388638A52B}"/>
                </a:ext>
              </a:extLst>
            </p:cNvPr>
            <p:cNvGrpSpPr/>
            <p:nvPr/>
          </p:nvGrpSpPr>
          <p:grpSpPr>
            <a:xfrm>
              <a:off x="0" y="0"/>
              <a:ext cx="2107704" cy="2241545"/>
              <a:chOff x="0" y="0"/>
              <a:chExt cx="2107704" cy="2241545"/>
            </a:xfrm>
          </p:grpSpPr>
          <p:sp>
            <p:nvSpPr>
              <p:cNvPr id="27" name="Rectangle 26">
                <a:extLst>
                  <a:ext uri="{FF2B5EF4-FFF2-40B4-BE49-F238E27FC236}">
                    <a16:creationId xmlns:a16="http://schemas.microsoft.com/office/drawing/2014/main" id="{66A59ECF-FC39-078A-5B98-A9A3EDE05F0E}"/>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27">
                <a:extLst>
                  <a:ext uri="{FF2B5EF4-FFF2-40B4-BE49-F238E27FC236}">
                    <a16:creationId xmlns:a16="http://schemas.microsoft.com/office/drawing/2014/main" id="{D6E2D3E8-8537-5000-004F-067515D26A60}"/>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4" name="Group 23">
              <a:extLst>
                <a:ext uri="{FF2B5EF4-FFF2-40B4-BE49-F238E27FC236}">
                  <a16:creationId xmlns:a16="http://schemas.microsoft.com/office/drawing/2014/main" id="{15A72521-88E4-CE4B-1609-DC5F1CEAD1C6}"/>
                </a:ext>
              </a:extLst>
            </p:cNvPr>
            <p:cNvGrpSpPr/>
            <p:nvPr/>
          </p:nvGrpSpPr>
          <p:grpSpPr>
            <a:xfrm flipH="1" flipV="1">
              <a:off x="1072246" y="1059210"/>
              <a:ext cx="2089310" cy="1988840"/>
              <a:chOff x="1580778" y="1268760"/>
              <a:chExt cx="2089310" cy="1988840"/>
            </a:xfrm>
          </p:grpSpPr>
          <p:sp>
            <p:nvSpPr>
              <p:cNvPr id="25" name="Rectangle 24">
                <a:extLst>
                  <a:ext uri="{FF2B5EF4-FFF2-40B4-BE49-F238E27FC236}">
                    <a16:creationId xmlns:a16="http://schemas.microsoft.com/office/drawing/2014/main" id="{9D48C23E-49F2-B3E0-DC99-D9DBDDA3FE1B}"/>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25">
                <a:extLst>
                  <a:ext uri="{FF2B5EF4-FFF2-40B4-BE49-F238E27FC236}">
                    <a16:creationId xmlns:a16="http://schemas.microsoft.com/office/drawing/2014/main" id="{C4D757C8-C420-83BC-E7A5-236B8FCFCD8A}"/>
                  </a:ext>
                </a:extLst>
              </p:cNvPr>
              <p:cNvSpPr/>
              <p:nvPr/>
            </p:nvSpPr>
            <p:spPr>
              <a:xfrm rot="5400000">
                <a:off x="2739910" y="1146126"/>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1" name="Picture 30" descr="BEll company logo">
            <a:extLst>
              <a:ext uri="{FF2B5EF4-FFF2-40B4-BE49-F238E27FC236}">
                <a16:creationId xmlns:a16="http://schemas.microsoft.com/office/drawing/2014/main" id="{A3D83FEC-CF48-52FA-183E-6D20893C5D0B}"/>
              </a:ext>
            </a:extLst>
          </p:cNvPr>
          <p:cNvPicPr>
            <a:picLocks noChangeAspect="1"/>
          </p:cNvPicPr>
          <p:nvPr/>
        </p:nvPicPr>
        <p:blipFill>
          <a:blip r:embed="rId11"/>
          <a:stretch>
            <a:fillRect/>
          </a:stretch>
        </p:blipFill>
        <p:spPr>
          <a:xfrm>
            <a:off x="11009239" y="734323"/>
            <a:ext cx="514513" cy="400050"/>
          </a:xfrm>
          <a:prstGeom prst="rect">
            <a:avLst/>
          </a:prstGeom>
        </p:spPr>
      </p:pic>
    </p:spTree>
    <p:extLst>
      <p:ext uri="{BB962C8B-B14F-4D97-AF65-F5344CB8AC3E}">
        <p14:creationId xmlns:p14="http://schemas.microsoft.com/office/powerpoint/2010/main" val="136435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 calcmode="lin" valueType="num">
                                      <p:cBhvr additive="base">
                                        <p:cTn id="10" dur="500" fill="hold"/>
                                        <p:tgtEl>
                                          <p:spTgt spid="29"/>
                                        </p:tgtEl>
                                        <p:attrNameLst>
                                          <p:attrName>ppt_x</p:attrName>
                                        </p:attrNameLst>
                                      </p:cBhvr>
                                      <p:tavLst>
                                        <p:tav tm="0">
                                          <p:val>
                                            <p:strVal val="1+#ppt_w/2"/>
                                          </p:val>
                                        </p:tav>
                                        <p:tav tm="100000">
                                          <p:val>
                                            <p:strVal val="#ppt_x"/>
                                          </p:val>
                                        </p:tav>
                                      </p:tavLst>
                                    </p:anim>
                                    <p:anim calcmode="lin" valueType="num">
                                      <p:cBhvr additive="base">
                                        <p:cTn id="1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AFD41-C2FB-6288-FCD0-D81E21FA850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A6E508-EF9E-C6D4-4ABE-166386BFCE0B}"/>
              </a:ext>
            </a:extLst>
          </p:cNvPr>
          <p:cNvSpPr>
            <a:spLocks noGrp="1"/>
          </p:cNvSpPr>
          <p:nvPr>
            <p:ph type="title" idx="4294967295"/>
          </p:nvPr>
        </p:nvSpPr>
        <p:spPr>
          <a:xfrm>
            <a:off x="1286188" y="419557"/>
            <a:ext cx="3279659" cy="718269"/>
          </a:xfrm>
        </p:spPr>
        <p:txBody>
          <a:bodyPr>
            <a:normAutofit/>
          </a:bodyPr>
          <a:lstStyle/>
          <a:p>
            <a:r>
              <a:rPr lang="en-US" sz="3200" dirty="0">
                <a:latin typeface="Arial"/>
                <a:cs typeface="Arial"/>
              </a:rPr>
              <a:t>Testing Support</a:t>
            </a:r>
            <a:endParaRPr lang="en-PH" sz="3200" dirty="0">
              <a:latin typeface="Arial"/>
              <a:cs typeface="Arial"/>
            </a:endParaRPr>
          </a:p>
        </p:txBody>
      </p:sp>
      <p:grpSp>
        <p:nvGrpSpPr>
          <p:cNvPr id="21" name="Group 20">
            <a:extLst>
              <a:ext uri="{FF2B5EF4-FFF2-40B4-BE49-F238E27FC236}">
                <a16:creationId xmlns:a16="http://schemas.microsoft.com/office/drawing/2014/main" id="{0A4FAE82-45BB-C000-26D3-51335283E545}"/>
              </a:ext>
            </a:extLst>
          </p:cNvPr>
          <p:cNvGrpSpPr/>
          <p:nvPr/>
        </p:nvGrpSpPr>
        <p:grpSpPr>
          <a:xfrm>
            <a:off x="1" y="4240"/>
            <a:ext cx="909836" cy="930066"/>
            <a:chOff x="1" y="-5685"/>
            <a:chExt cx="909836" cy="930066"/>
          </a:xfrm>
        </p:grpSpPr>
        <p:sp>
          <p:nvSpPr>
            <p:cNvPr id="17" name="Rectangle 16">
              <a:extLst>
                <a:ext uri="{FF2B5EF4-FFF2-40B4-BE49-F238E27FC236}">
                  <a16:creationId xmlns:a16="http://schemas.microsoft.com/office/drawing/2014/main" id="{B93D5B99-67A0-0F22-C069-EC2363ACF285}"/>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4C9D634D-8697-3A83-2993-D405DF65F731}"/>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Rectangle 18">
              <a:extLst>
                <a:ext uri="{FF2B5EF4-FFF2-40B4-BE49-F238E27FC236}">
                  <a16:creationId xmlns:a16="http://schemas.microsoft.com/office/drawing/2014/main" id="{75ED0893-0116-9B5F-0F51-0F606D76F036}"/>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19">
              <a:extLst>
                <a:ext uri="{FF2B5EF4-FFF2-40B4-BE49-F238E27FC236}">
                  <a16:creationId xmlns:a16="http://schemas.microsoft.com/office/drawing/2014/main" id="{9A470C25-B00B-6E61-6FFF-D11E877575A4}"/>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9" name="Group 28">
            <a:extLst>
              <a:ext uri="{FF2B5EF4-FFF2-40B4-BE49-F238E27FC236}">
                <a16:creationId xmlns:a16="http://schemas.microsoft.com/office/drawing/2014/main" id="{A4341FCE-7845-2340-A810-46009167E413}"/>
              </a:ext>
            </a:extLst>
          </p:cNvPr>
          <p:cNvGrpSpPr/>
          <p:nvPr/>
        </p:nvGrpSpPr>
        <p:grpSpPr>
          <a:xfrm>
            <a:off x="10342891" y="4962097"/>
            <a:ext cx="1845935" cy="1895903"/>
            <a:chOff x="0" y="0"/>
            <a:chExt cx="3161556" cy="3048050"/>
          </a:xfrm>
        </p:grpSpPr>
        <p:grpSp>
          <p:nvGrpSpPr>
            <p:cNvPr id="23" name="Group 22">
              <a:extLst>
                <a:ext uri="{FF2B5EF4-FFF2-40B4-BE49-F238E27FC236}">
                  <a16:creationId xmlns:a16="http://schemas.microsoft.com/office/drawing/2014/main" id="{8F13C3C7-A33D-6205-455F-68383E902CB9}"/>
                </a:ext>
              </a:extLst>
            </p:cNvPr>
            <p:cNvGrpSpPr/>
            <p:nvPr/>
          </p:nvGrpSpPr>
          <p:grpSpPr>
            <a:xfrm>
              <a:off x="0" y="0"/>
              <a:ext cx="2107704" cy="2241545"/>
              <a:chOff x="0" y="0"/>
              <a:chExt cx="2107704" cy="2241545"/>
            </a:xfrm>
          </p:grpSpPr>
          <p:sp>
            <p:nvSpPr>
              <p:cNvPr id="27" name="Rectangle 26">
                <a:extLst>
                  <a:ext uri="{FF2B5EF4-FFF2-40B4-BE49-F238E27FC236}">
                    <a16:creationId xmlns:a16="http://schemas.microsoft.com/office/drawing/2014/main" id="{064C8743-2FF3-CCCB-8DAA-8B454CFBDB59}"/>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27">
                <a:extLst>
                  <a:ext uri="{FF2B5EF4-FFF2-40B4-BE49-F238E27FC236}">
                    <a16:creationId xmlns:a16="http://schemas.microsoft.com/office/drawing/2014/main" id="{1356CDC5-0145-3DAB-9107-958CAF7E70C0}"/>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4" name="Group 23">
              <a:extLst>
                <a:ext uri="{FF2B5EF4-FFF2-40B4-BE49-F238E27FC236}">
                  <a16:creationId xmlns:a16="http://schemas.microsoft.com/office/drawing/2014/main" id="{F250ACCC-D7AE-2EE6-70BF-8CC613B4DD3B}"/>
                </a:ext>
              </a:extLst>
            </p:cNvPr>
            <p:cNvGrpSpPr/>
            <p:nvPr/>
          </p:nvGrpSpPr>
          <p:grpSpPr>
            <a:xfrm flipH="1" flipV="1">
              <a:off x="1072246" y="1059210"/>
              <a:ext cx="2089310" cy="1988840"/>
              <a:chOff x="1580778" y="1268760"/>
              <a:chExt cx="2089310" cy="1988840"/>
            </a:xfrm>
          </p:grpSpPr>
          <p:sp>
            <p:nvSpPr>
              <p:cNvPr id="25" name="Rectangle 24">
                <a:extLst>
                  <a:ext uri="{FF2B5EF4-FFF2-40B4-BE49-F238E27FC236}">
                    <a16:creationId xmlns:a16="http://schemas.microsoft.com/office/drawing/2014/main" id="{EA0BDB55-F718-E5AF-7BD7-F9E7BE8D3138}"/>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25">
                <a:extLst>
                  <a:ext uri="{FF2B5EF4-FFF2-40B4-BE49-F238E27FC236}">
                    <a16:creationId xmlns:a16="http://schemas.microsoft.com/office/drawing/2014/main" id="{7F59285E-D94A-61DB-F2A2-EC5CCCA60811}"/>
                  </a:ext>
                </a:extLst>
              </p:cNvPr>
              <p:cNvSpPr/>
              <p:nvPr/>
            </p:nvSpPr>
            <p:spPr>
              <a:xfrm rot="5400000">
                <a:off x="2739910" y="1146126"/>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1" name="Picture 30" descr="BEll company logo">
            <a:extLst>
              <a:ext uri="{FF2B5EF4-FFF2-40B4-BE49-F238E27FC236}">
                <a16:creationId xmlns:a16="http://schemas.microsoft.com/office/drawing/2014/main" id="{5941E82D-74F0-65D2-DC90-600327F9B281}"/>
              </a:ext>
            </a:extLst>
          </p:cNvPr>
          <p:cNvPicPr>
            <a:picLocks noChangeAspect="1"/>
          </p:cNvPicPr>
          <p:nvPr/>
        </p:nvPicPr>
        <p:blipFill>
          <a:blip r:embed="rId2"/>
          <a:stretch>
            <a:fillRect/>
          </a:stretch>
        </p:blipFill>
        <p:spPr>
          <a:xfrm>
            <a:off x="11009239" y="734323"/>
            <a:ext cx="514513" cy="400050"/>
          </a:xfrm>
          <a:prstGeom prst="rect">
            <a:avLst/>
          </a:prstGeom>
        </p:spPr>
      </p:pic>
      <p:sp>
        <p:nvSpPr>
          <p:cNvPr id="6" name="TextBox 5">
            <a:extLst>
              <a:ext uri="{FF2B5EF4-FFF2-40B4-BE49-F238E27FC236}">
                <a16:creationId xmlns:a16="http://schemas.microsoft.com/office/drawing/2014/main" id="{E581702F-AF23-1CA9-6133-EEB35B6E4701}"/>
              </a:ext>
            </a:extLst>
          </p:cNvPr>
          <p:cNvSpPr txBox="1"/>
          <p:nvPr/>
        </p:nvSpPr>
        <p:spPr>
          <a:xfrm>
            <a:off x="1230621" y="1134373"/>
            <a:ext cx="3279659" cy="461665"/>
          </a:xfrm>
          <a:prstGeom prst="rect">
            <a:avLst/>
          </a:prstGeom>
          <a:noFill/>
        </p:spPr>
        <p:txBody>
          <a:bodyPr wrap="square" lIns="91440" tIns="45720" rIns="91440" bIns="45720" rtlCol="0" anchor="t">
            <a:spAutoFit/>
          </a:bodyPr>
          <a:lstStyle/>
          <a:p>
            <a:r>
              <a:rPr lang="en-US" dirty="0">
                <a:latin typeface="Arial"/>
                <a:cs typeface="Arial"/>
              </a:rPr>
              <a:t>Data Required</a:t>
            </a:r>
            <a:endParaRPr lang="en-CA" dirty="0">
              <a:latin typeface="Arial"/>
              <a:cs typeface="Arial"/>
            </a:endParaRPr>
          </a:p>
        </p:txBody>
      </p:sp>
      <p:graphicFrame>
        <p:nvGraphicFramePr>
          <p:cNvPr id="4" name="Table 3">
            <a:extLst>
              <a:ext uri="{FF2B5EF4-FFF2-40B4-BE49-F238E27FC236}">
                <a16:creationId xmlns:a16="http://schemas.microsoft.com/office/drawing/2014/main" id="{82DF9F42-7FD7-E6C6-1B12-FAD36DC46477}"/>
              </a:ext>
            </a:extLst>
          </p:cNvPr>
          <p:cNvGraphicFramePr>
            <a:graphicFrameLocks noGrp="1"/>
          </p:cNvGraphicFramePr>
          <p:nvPr>
            <p:extLst>
              <p:ext uri="{D42A27DB-BD31-4B8C-83A1-F6EECF244321}">
                <p14:modId xmlns:p14="http://schemas.microsoft.com/office/powerpoint/2010/main" val="884432845"/>
              </p:ext>
            </p:extLst>
          </p:nvPr>
        </p:nvGraphicFramePr>
        <p:xfrm>
          <a:off x="1071597" y="1705889"/>
          <a:ext cx="9209440" cy="4050920"/>
        </p:xfrm>
        <a:graphic>
          <a:graphicData uri="http://schemas.openxmlformats.org/drawingml/2006/table">
            <a:tbl>
              <a:tblPr firstRow="1" bandRow="1">
                <a:tableStyleId>{5C22544A-7EE6-4342-B048-85BDC9FD1C3A}</a:tableStyleId>
              </a:tblPr>
              <a:tblGrid>
                <a:gridCol w="1536525">
                  <a:extLst>
                    <a:ext uri="{9D8B030D-6E8A-4147-A177-3AD203B41FA5}">
                      <a16:colId xmlns:a16="http://schemas.microsoft.com/office/drawing/2014/main" val="4212284417"/>
                    </a:ext>
                  </a:extLst>
                </a:gridCol>
                <a:gridCol w="1462946">
                  <a:extLst>
                    <a:ext uri="{9D8B030D-6E8A-4147-A177-3AD203B41FA5}">
                      <a16:colId xmlns:a16="http://schemas.microsoft.com/office/drawing/2014/main" val="456758473"/>
                    </a:ext>
                  </a:extLst>
                </a:gridCol>
                <a:gridCol w="2258170">
                  <a:extLst>
                    <a:ext uri="{9D8B030D-6E8A-4147-A177-3AD203B41FA5}">
                      <a16:colId xmlns:a16="http://schemas.microsoft.com/office/drawing/2014/main" val="2595145624"/>
                    </a:ext>
                  </a:extLst>
                </a:gridCol>
                <a:gridCol w="1590261">
                  <a:extLst>
                    <a:ext uri="{9D8B030D-6E8A-4147-A177-3AD203B41FA5}">
                      <a16:colId xmlns:a16="http://schemas.microsoft.com/office/drawing/2014/main" val="3054453379"/>
                    </a:ext>
                  </a:extLst>
                </a:gridCol>
                <a:gridCol w="2361538">
                  <a:extLst>
                    <a:ext uri="{9D8B030D-6E8A-4147-A177-3AD203B41FA5}">
                      <a16:colId xmlns:a16="http://schemas.microsoft.com/office/drawing/2014/main" val="3934172077"/>
                    </a:ext>
                  </a:extLst>
                </a:gridCol>
              </a:tblGrid>
              <a:tr h="517793">
                <a:tc>
                  <a:txBody>
                    <a:bodyPr/>
                    <a:lstStyle/>
                    <a:p>
                      <a:r>
                        <a:rPr lang="en-CA" sz="1400" dirty="0"/>
                        <a:t>Source System</a:t>
                      </a:r>
                    </a:p>
                  </a:txBody>
                  <a:tcPr/>
                </a:tc>
                <a:tc>
                  <a:txBody>
                    <a:bodyPr/>
                    <a:lstStyle/>
                    <a:p>
                      <a:r>
                        <a:rPr lang="en-CA" sz="1400" dirty="0"/>
                        <a:t>Environment</a:t>
                      </a:r>
                    </a:p>
                  </a:txBody>
                  <a:tcPr/>
                </a:tc>
                <a:tc>
                  <a:txBody>
                    <a:bodyPr/>
                    <a:lstStyle/>
                    <a:p>
                      <a:r>
                        <a:rPr lang="en-CA" sz="1400" dirty="0"/>
                        <a:t>Data Type</a:t>
                      </a:r>
                    </a:p>
                  </a:txBody>
                  <a:tcPr/>
                </a:tc>
                <a:tc>
                  <a:txBody>
                    <a:bodyPr/>
                    <a:lstStyle/>
                    <a:p>
                      <a:r>
                        <a:rPr lang="en-CA" sz="1400" dirty="0"/>
                        <a:t>Volume of Data</a:t>
                      </a:r>
                    </a:p>
                  </a:txBody>
                  <a:tcPr/>
                </a:tc>
                <a:tc>
                  <a:txBody>
                    <a:bodyPr/>
                    <a:lstStyle/>
                    <a:p>
                      <a:r>
                        <a:rPr lang="en-CA" sz="1400" dirty="0"/>
                        <a:t>Additional Comments</a:t>
                      </a:r>
                    </a:p>
                  </a:txBody>
                  <a:tcPr/>
                </a:tc>
                <a:extLst>
                  <a:ext uri="{0D108BD9-81ED-4DB2-BD59-A6C34878D82A}">
                    <a16:rowId xmlns:a16="http://schemas.microsoft.com/office/drawing/2014/main" val="1380965218"/>
                  </a:ext>
                </a:extLst>
              </a:tr>
              <a:tr h="456876">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BBSSC</a:t>
                      </a:r>
                    </a:p>
                  </a:txBody>
                  <a:tcPr marL="9525" marR="9525" marT="9525" marB="0"/>
                </a:tc>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TBD with POCs</a:t>
                      </a:r>
                    </a:p>
                  </a:txBody>
                  <a:tcPr marL="9525" marR="9525" marT="9525" marB="0"/>
                </a:tc>
                <a:tc>
                  <a:txBody>
                    <a:bodyPr/>
                    <a:lstStyle/>
                    <a:p>
                      <a:pPr marL="228600" indent="-228600" algn="l" fontAlgn="t">
                        <a:buAutoNum type="arabicPeriod"/>
                      </a:pPr>
                      <a:r>
                        <a:rPr lang="en-CA" sz="1000" b="0" i="0" u="none" strike="noStrike" dirty="0">
                          <a:solidFill>
                            <a:srgbClr val="000000"/>
                          </a:solidFill>
                          <a:effectLst/>
                          <a:latin typeface="Arial" panose="020B0604020202020204" pitchFamily="34" charset="0"/>
                          <a:cs typeface="Arial" panose="020B0604020202020204" pitchFamily="34" charset="0"/>
                        </a:rPr>
                        <a:t>Admin Account with Shopping permission</a:t>
                      </a:r>
                    </a:p>
                    <a:p>
                      <a:pPr marL="228600" indent="-228600" algn="l" fontAlgn="t">
                        <a:buAutoNum type="arabicPeriod"/>
                      </a:pPr>
                      <a:r>
                        <a:rPr lang="en-CA" sz="1000" b="0" i="0" u="none" strike="noStrike" dirty="0">
                          <a:solidFill>
                            <a:srgbClr val="000000"/>
                          </a:solidFill>
                          <a:effectLst/>
                          <a:latin typeface="Arial" panose="020B0604020202020204" pitchFamily="34" charset="0"/>
                          <a:cs typeface="Arial" panose="020B0604020202020204" pitchFamily="34" charset="0"/>
                        </a:rPr>
                        <a:t>Admin Account WITHOUT Shopping permission</a:t>
                      </a:r>
                    </a:p>
                    <a:p>
                      <a:pPr marL="228600" indent="-228600" algn="l" fontAlgn="t">
                        <a:buAutoNum type="arabicPeriod"/>
                      </a:pPr>
                      <a:r>
                        <a:rPr lang="en-CA" sz="1000" b="0" i="0" u="none" strike="noStrike" dirty="0">
                          <a:solidFill>
                            <a:srgbClr val="000000"/>
                          </a:solidFill>
                          <a:effectLst/>
                          <a:latin typeface="Arial" panose="020B0604020202020204" pitchFamily="34" charset="0"/>
                          <a:cs typeface="Arial" panose="020B0604020202020204" pitchFamily="34" charset="0"/>
                        </a:rPr>
                        <a:t>Non- admin account</a:t>
                      </a:r>
                    </a:p>
                    <a:p>
                      <a:pPr marL="228600" indent="-228600" algn="l" fontAlgn="t">
                        <a:buAutoNum type="arabicPeriod"/>
                      </a:pPr>
                      <a:r>
                        <a:rPr lang="en-CA" sz="1000" b="0" i="0" u="none" strike="noStrike" dirty="0">
                          <a:solidFill>
                            <a:srgbClr val="000000"/>
                          </a:solidFill>
                          <a:effectLst/>
                          <a:latin typeface="Arial" panose="020B0604020202020204" pitchFamily="34" charset="0"/>
                          <a:cs typeface="Arial" panose="020B0604020202020204" pitchFamily="34" charset="0"/>
                        </a:rPr>
                        <a:t>User WITHOUT "My dashboard" permission</a:t>
                      </a:r>
                    </a:p>
                  </a:txBody>
                  <a:tcPr marL="9525" marR="9525" marT="9525" marB="0"/>
                </a:tc>
                <a:tc>
                  <a:txBody>
                    <a:bodyPr/>
                    <a:lstStyle/>
                    <a:p>
                      <a:pPr algn="l"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1 user of each type</a:t>
                      </a:r>
                    </a:p>
                  </a:txBody>
                  <a:tcPr marL="9525" marR="9525" marT="9525" marB="0"/>
                </a:tc>
                <a:tc>
                  <a:txBody>
                    <a:bodyPr/>
                    <a:lstStyle/>
                    <a:p>
                      <a:pPr algn="l"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User access to view My dashboard and My Inventory</a:t>
                      </a:r>
                    </a:p>
                  </a:txBody>
                  <a:tcPr marL="9525" marR="9525" marT="9525" marB="0"/>
                </a:tc>
                <a:extLst>
                  <a:ext uri="{0D108BD9-81ED-4DB2-BD59-A6C34878D82A}">
                    <a16:rowId xmlns:a16="http://schemas.microsoft.com/office/drawing/2014/main" val="3686701768"/>
                  </a:ext>
                </a:extLst>
              </a:tr>
              <a:tr h="456876">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NM1/ </a:t>
                      </a:r>
                      <a:r>
                        <a:rPr lang="en-CA" sz="1000" b="0" i="0" u="none" strike="noStrike" dirty="0" err="1">
                          <a:solidFill>
                            <a:srgbClr val="000000"/>
                          </a:solidFill>
                          <a:effectLst/>
                          <a:latin typeface="Arial" panose="020B0604020202020204" pitchFamily="34" charset="0"/>
                          <a:cs typeface="Arial" panose="020B0604020202020204" pitchFamily="34" charset="0"/>
                        </a:rPr>
                        <a:t>OneMSK</a:t>
                      </a:r>
                      <a:r>
                        <a:rPr lang="en-CA" sz="1000" b="0" i="0" u="none" strike="noStrike" dirty="0">
                          <a:solidFill>
                            <a:srgbClr val="000000"/>
                          </a:solidFill>
                          <a:effectLst/>
                          <a:latin typeface="Arial" panose="020B0604020202020204" pitchFamily="34" charset="0"/>
                          <a:cs typeface="Arial" panose="020B0604020202020204" pitchFamily="34" charset="0"/>
                        </a:rPr>
                        <a:t> Kafka/IDD</a:t>
                      </a:r>
                    </a:p>
                  </a:txBody>
                  <a:tcPr marL="9525" marR="9525" marT="9525" marB="0"/>
                </a:tc>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TBD with POCs</a:t>
                      </a:r>
                    </a:p>
                  </a:txBody>
                  <a:tcPr marL="9525" marR="9525" marT="9525" marB="0"/>
                </a:tc>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NAGs</a:t>
                      </a:r>
                    </a:p>
                  </a:txBody>
                  <a:tcPr marL="9525" marR="9525" marT="9525" marB="0"/>
                </a:tc>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1</a:t>
                      </a:r>
                    </a:p>
                  </a:txBody>
                  <a:tcPr marL="9525" marR="9525" marT="9525" marB="0"/>
                </a:tc>
                <a:tc>
                  <a:txBody>
                    <a:bodyPr/>
                    <a:lstStyle/>
                    <a:p>
                      <a:pPr algn="l" fontAlgn="t">
                        <a:buNone/>
                      </a:pPr>
                      <a:r>
                        <a:rPr lang="en-CA" sz="1000" b="0" i="0" u="none" strike="noStrike">
                          <a:solidFill>
                            <a:srgbClr val="000000"/>
                          </a:solidFill>
                          <a:effectLst/>
                          <a:latin typeface="Arial" panose="020B0604020202020204" pitchFamily="34" charset="0"/>
                          <a:cs typeface="Arial" panose="020B0604020202020204" pitchFamily="34" charset="0"/>
                        </a:rPr>
                        <a:t> </a:t>
                      </a:r>
                    </a:p>
                  </a:txBody>
                  <a:tcPr marL="9525" marR="9525" marT="9525" marB="0"/>
                </a:tc>
                <a:extLst>
                  <a:ext uri="{0D108BD9-81ED-4DB2-BD59-A6C34878D82A}">
                    <a16:rowId xmlns:a16="http://schemas.microsoft.com/office/drawing/2014/main" val="3723359273"/>
                  </a:ext>
                </a:extLst>
              </a:tr>
              <a:tr h="456876">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BCIM</a:t>
                      </a:r>
                    </a:p>
                  </a:txBody>
                  <a:tcPr marL="9525" marR="9525" marT="9525" marB="0"/>
                </a:tc>
                <a:tc>
                  <a:txBody>
                    <a:bodyPr/>
                    <a:lstStyle/>
                    <a:p>
                      <a:pPr algn="ctr" fontAlgn="t">
                        <a:buNone/>
                      </a:pPr>
                      <a:r>
                        <a:rPr lang="en-CA" sz="1000" b="0" i="0" u="none" strike="noStrike">
                          <a:solidFill>
                            <a:srgbClr val="000000"/>
                          </a:solidFill>
                          <a:effectLst/>
                          <a:latin typeface="Arial" panose="020B0604020202020204" pitchFamily="34" charset="0"/>
                          <a:cs typeface="Arial" panose="020B0604020202020204" pitchFamily="34" charset="0"/>
                        </a:rPr>
                        <a:t>TBD with POCs</a:t>
                      </a:r>
                    </a:p>
                  </a:txBody>
                  <a:tcPr marL="9525" marR="9525" marT="9525" marB="0"/>
                </a:tc>
                <a:tc>
                  <a:txBody>
                    <a:bodyPr/>
                    <a:lstStyle/>
                    <a:p>
                      <a:pPr algn="ctr" fontAlgn="t">
                        <a:buNone/>
                      </a:pPr>
                      <a:r>
                        <a:rPr lang="en-CA" sz="1000" b="0" i="0" u="none" strike="noStrike">
                          <a:solidFill>
                            <a:srgbClr val="000000"/>
                          </a:solidFill>
                          <a:effectLst/>
                          <a:latin typeface="Arial" panose="020B0604020202020204" pitchFamily="34" charset="0"/>
                          <a:cs typeface="Arial" panose="020B0604020202020204" pitchFamily="34" charset="0"/>
                        </a:rPr>
                        <a:t>Billing Accounts and Multiple Subscribers</a:t>
                      </a:r>
                    </a:p>
                  </a:txBody>
                  <a:tcPr marL="9525" marR="9525" marT="9525" marB="0"/>
                </a:tc>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1</a:t>
                      </a:r>
                    </a:p>
                  </a:txBody>
                  <a:tcPr marL="9525" marR="9525" marT="9525" marB="0"/>
                </a:tc>
                <a:tc>
                  <a:txBody>
                    <a:bodyPr/>
                    <a:lstStyle/>
                    <a:p>
                      <a:pPr algn="l" fontAlgn="t">
                        <a:buNone/>
                      </a:pPr>
                      <a:r>
                        <a:rPr lang="en-CA" sz="1000" b="0" i="0" u="none" strike="noStrike">
                          <a:solidFill>
                            <a:srgbClr val="000000"/>
                          </a:solidFill>
                          <a:effectLst/>
                          <a:latin typeface="Arial" panose="020B0604020202020204" pitchFamily="34" charset="0"/>
                          <a:cs typeface="Arial" panose="020B0604020202020204" pitchFamily="34" charset="0"/>
                        </a:rPr>
                        <a:t>NAG must contain a combination of Active, Suspended, Cancelled statuses</a:t>
                      </a:r>
                    </a:p>
                  </a:txBody>
                  <a:tcPr marL="9525" marR="9525" marT="9525" marB="0"/>
                </a:tc>
                <a:extLst>
                  <a:ext uri="{0D108BD9-81ED-4DB2-BD59-A6C34878D82A}">
                    <a16:rowId xmlns:a16="http://schemas.microsoft.com/office/drawing/2014/main" val="2666080373"/>
                  </a:ext>
                </a:extLst>
              </a:tr>
              <a:tr h="456876">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IDR/ IDD</a:t>
                      </a:r>
                    </a:p>
                  </a:txBody>
                  <a:tcPr marL="9525" marR="9525" marT="9525" marB="0"/>
                </a:tc>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TBD with POCs</a:t>
                      </a:r>
                    </a:p>
                  </a:txBody>
                  <a:tcPr marL="9525" marR="9525" marT="9525" marB="0"/>
                </a:tc>
                <a:tc>
                  <a:txBody>
                    <a:bodyPr/>
                    <a:lstStyle/>
                    <a:p>
                      <a:pPr algn="ctr" fontAlgn="t">
                        <a:buNone/>
                      </a:pPr>
                      <a:r>
                        <a:rPr lang="en-CA" sz="1000" b="0" i="0" u="none" strike="noStrike">
                          <a:solidFill>
                            <a:srgbClr val="000000"/>
                          </a:solidFill>
                          <a:effectLst/>
                          <a:latin typeface="Arial" panose="020B0604020202020204" pitchFamily="34" charset="0"/>
                          <a:cs typeface="Arial" panose="020B0604020202020204" pitchFamily="34" charset="0"/>
                        </a:rPr>
                        <a:t>Historical Billed Usage with Data, Voice, LD, Text Messaging </a:t>
                      </a:r>
                    </a:p>
                  </a:txBody>
                  <a:tcPr marL="9525" marR="9525" marT="9525" marB="0"/>
                </a:tc>
                <a:tc>
                  <a:txBody>
                    <a:bodyPr/>
                    <a:lstStyle/>
                    <a:p>
                      <a:pPr algn="l"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Required # month's historical data for 1 existing NAG: 14</a:t>
                      </a:r>
                    </a:p>
                  </a:txBody>
                  <a:tcPr marL="9525" marR="9525" marT="9525" marB="0"/>
                </a:tc>
                <a:tc>
                  <a:txBody>
                    <a:bodyPr/>
                    <a:lstStyle/>
                    <a:p>
                      <a:pPr algn="l" fontAlgn="t">
                        <a:buNone/>
                      </a:pPr>
                      <a:br>
                        <a:rPr lang="en-CA" sz="1000" b="0" i="0" u="none" strike="noStrike" dirty="0">
                          <a:solidFill>
                            <a:srgbClr val="000000"/>
                          </a:solidFill>
                          <a:effectLst/>
                          <a:latin typeface="Arial" panose="020B0604020202020204" pitchFamily="34" charset="0"/>
                          <a:cs typeface="Arial" panose="020B0604020202020204" pitchFamily="34" charset="0"/>
                        </a:rPr>
                      </a:br>
                      <a:r>
                        <a:rPr lang="en-CA" sz="1000" b="0" i="0" u="none" strike="noStrike" dirty="0">
                          <a:solidFill>
                            <a:srgbClr val="000000"/>
                          </a:solidFill>
                          <a:effectLst/>
                          <a:latin typeface="Arial" panose="020B0604020202020204" pitchFamily="34" charset="0"/>
                          <a:cs typeface="Arial" panose="020B0604020202020204" pitchFamily="34" charset="0"/>
                        </a:rPr>
                        <a:t>*  Must have associated multiple Shared Plans &amp; multiple Individual Plans for Roaming, Overage, In-plan categories</a:t>
                      </a:r>
                    </a:p>
                    <a:p>
                      <a:pPr algn="l" fontAlgn="t">
                        <a:buNone/>
                      </a:pPr>
                      <a:endParaRPr lang="en-CA"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tc>
                <a:extLst>
                  <a:ext uri="{0D108BD9-81ED-4DB2-BD59-A6C34878D82A}">
                    <a16:rowId xmlns:a16="http://schemas.microsoft.com/office/drawing/2014/main" val="4187026418"/>
                  </a:ext>
                </a:extLst>
              </a:tr>
              <a:tr h="456876">
                <a:tc>
                  <a:txBody>
                    <a:bodyPr/>
                    <a:lstStyle/>
                    <a:p>
                      <a:pPr algn="ctr" fontAlgn="t">
                        <a:buNone/>
                      </a:pPr>
                      <a:r>
                        <a:rPr lang="en-CA" sz="1000" b="0" i="0" u="none" strike="noStrike">
                          <a:solidFill>
                            <a:srgbClr val="000000"/>
                          </a:solidFill>
                          <a:effectLst/>
                          <a:latin typeface="Arial" panose="020B0604020202020204" pitchFamily="34" charset="0"/>
                          <a:cs typeface="Arial" panose="020B0604020202020204" pitchFamily="34" charset="0"/>
                        </a:rPr>
                        <a:t>NM1/IDD</a:t>
                      </a:r>
                    </a:p>
                  </a:txBody>
                  <a:tcPr marL="9525" marR="9525" marT="9525" marB="0"/>
                </a:tc>
                <a:tc>
                  <a:txBody>
                    <a:bodyPr/>
                    <a:lstStyle/>
                    <a:p>
                      <a:pPr algn="ctr"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TBD with POCs</a:t>
                      </a:r>
                    </a:p>
                  </a:txBody>
                  <a:tcPr marL="9525" marR="9525" marT="9525" marB="0"/>
                </a:tc>
                <a:tc>
                  <a:txBody>
                    <a:bodyPr/>
                    <a:lstStyle/>
                    <a:p>
                      <a:pPr algn="ctr" fontAlgn="t">
                        <a:buNone/>
                      </a:pPr>
                      <a:r>
                        <a:rPr lang="en-CA" sz="1000" b="0" i="0" u="none" strike="noStrike">
                          <a:solidFill>
                            <a:srgbClr val="000000"/>
                          </a:solidFill>
                          <a:effectLst/>
                          <a:latin typeface="Arial" panose="020B0604020202020204" pitchFamily="34" charset="0"/>
                          <a:cs typeface="Arial" panose="020B0604020202020204" pitchFamily="34" charset="0"/>
                        </a:rPr>
                        <a:t>Current Unbilled Usage</a:t>
                      </a:r>
                    </a:p>
                  </a:txBody>
                  <a:tcPr marL="9525" marR="9525" marT="9525" marB="0"/>
                </a:tc>
                <a:tc>
                  <a:txBody>
                    <a:bodyPr/>
                    <a:lstStyle/>
                    <a:p>
                      <a:pPr algn="l" fontAlgn="t">
                        <a:buNone/>
                      </a:pPr>
                      <a:r>
                        <a:rPr lang="en-CA" sz="1000" b="0" i="0" u="none" strike="noStrike" dirty="0">
                          <a:solidFill>
                            <a:srgbClr val="000000"/>
                          </a:solidFill>
                          <a:effectLst/>
                          <a:latin typeface="Arial" panose="020B0604020202020204" pitchFamily="34" charset="0"/>
                          <a:cs typeface="Arial" panose="020B0604020202020204" pitchFamily="34" charset="0"/>
                        </a:rPr>
                        <a:t>Current month data for  the given NAG/ BAN</a:t>
                      </a:r>
                    </a:p>
                  </a:txBody>
                  <a:tcPr marL="9525" marR="9525" marT="9525" marB="0"/>
                </a:tc>
                <a:tc>
                  <a:txBody>
                    <a:bodyPr/>
                    <a:lstStyle/>
                    <a:p>
                      <a:pPr algn="l" fontAlgn="t">
                        <a:buNone/>
                      </a:pPr>
                      <a:br>
                        <a:rPr lang="en-CA" sz="1000" b="0" i="0" u="none" strike="noStrike" dirty="0">
                          <a:solidFill>
                            <a:srgbClr val="000000"/>
                          </a:solidFill>
                          <a:effectLst/>
                          <a:latin typeface="Arial" panose="020B0604020202020204" pitchFamily="34" charset="0"/>
                          <a:cs typeface="Arial" panose="020B0604020202020204" pitchFamily="34" charset="0"/>
                        </a:rPr>
                      </a:br>
                      <a:r>
                        <a:rPr lang="en-CA" sz="1000" b="0" i="0" u="none" strike="noStrike" dirty="0">
                          <a:solidFill>
                            <a:srgbClr val="000000"/>
                          </a:solidFill>
                          <a:effectLst/>
                          <a:latin typeface="Arial" panose="020B0604020202020204" pitchFamily="34" charset="0"/>
                          <a:cs typeface="Arial" panose="020B0604020202020204" pitchFamily="34" charset="0"/>
                        </a:rPr>
                        <a:t>*  Must have associated multiple Shared Plans &amp; multiple Individual Plans for Roaming, Overage, In-plan categories</a:t>
                      </a:r>
                      <a:br>
                        <a:rPr lang="en-CA" sz="1000" b="0" i="0" u="none" strike="noStrike" dirty="0">
                          <a:solidFill>
                            <a:srgbClr val="000000"/>
                          </a:solidFill>
                          <a:effectLst/>
                          <a:latin typeface="Arial" panose="020B0604020202020204" pitchFamily="34" charset="0"/>
                          <a:cs typeface="Arial" panose="020B0604020202020204" pitchFamily="34" charset="0"/>
                        </a:rPr>
                      </a:br>
                      <a:endParaRPr lang="en-CA"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tc>
                <a:extLst>
                  <a:ext uri="{0D108BD9-81ED-4DB2-BD59-A6C34878D82A}">
                    <a16:rowId xmlns:a16="http://schemas.microsoft.com/office/drawing/2014/main" val="1744609955"/>
                  </a:ext>
                </a:extLst>
              </a:tr>
            </a:tbl>
          </a:graphicData>
        </a:graphic>
      </p:graphicFrame>
    </p:spTree>
    <p:extLst>
      <p:ext uri="{BB962C8B-B14F-4D97-AF65-F5344CB8AC3E}">
        <p14:creationId xmlns:p14="http://schemas.microsoft.com/office/powerpoint/2010/main" val="83641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 calcmode="lin" valueType="num">
                                      <p:cBhvr additive="base">
                                        <p:cTn id="10" dur="500" fill="hold"/>
                                        <p:tgtEl>
                                          <p:spTgt spid="29"/>
                                        </p:tgtEl>
                                        <p:attrNameLst>
                                          <p:attrName>ppt_x</p:attrName>
                                        </p:attrNameLst>
                                      </p:cBhvr>
                                      <p:tavLst>
                                        <p:tav tm="0">
                                          <p:val>
                                            <p:strVal val="1+#ppt_w/2"/>
                                          </p:val>
                                        </p:tav>
                                        <p:tav tm="100000">
                                          <p:val>
                                            <p:strVal val="#ppt_x"/>
                                          </p:val>
                                        </p:tav>
                                      </p:tavLst>
                                    </p:anim>
                                    <p:anim calcmode="lin" valueType="num">
                                      <p:cBhvr additive="base">
                                        <p:cTn id="1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74510-DC1A-BFF6-8F90-11158D6FE13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56F4FC9-3D96-4EAF-E4BE-1EAED47CE552}"/>
              </a:ext>
            </a:extLst>
          </p:cNvPr>
          <p:cNvSpPr>
            <a:spLocks noGrp="1"/>
          </p:cNvSpPr>
          <p:nvPr>
            <p:ph type="title" idx="4294967295"/>
          </p:nvPr>
        </p:nvSpPr>
        <p:spPr>
          <a:xfrm>
            <a:off x="1286188" y="419557"/>
            <a:ext cx="3279659" cy="718269"/>
          </a:xfrm>
        </p:spPr>
        <p:txBody>
          <a:bodyPr>
            <a:normAutofit/>
          </a:bodyPr>
          <a:lstStyle/>
          <a:p>
            <a:r>
              <a:rPr lang="en-US" sz="3200" dirty="0">
                <a:latin typeface="Arial"/>
                <a:cs typeface="Arial"/>
              </a:rPr>
              <a:t>Testing Support</a:t>
            </a:r>
            <a:endParaRPr lang="en-PH" sz="3200" dirty="0">
              <a:latin typeface="Arial"/>
              <a:cs typeface="Arial"/>
            </a:endParaRPr>
          </a:p>
        </p:txBody>
      </p:sp>
      <p:grpSp>
        <p:nvGrpSpPr>
          <p:cNvPr id="21" name="Group 20">
            <a:extLst>
              <a:ext uri="{FF2B5EF4-FFF2-40B4-BE49-F238E27FC236}">
                <a16:creationId xmlns:a16="http://schemas.microsoft.com/office/drawing/2014/main" id="{4C7183CF-5B18-D927-70E3-2FAA58352608}"/>
              </a:ext>
            </a:extLst>
          </p:cNvPr>
          <p:cNvGrpSpPr/>
          <p:nvPr/>
        </p:nvGrpSpPr>
        <p:grpSpPr>
          <a:xfrm>
            <a:off x="1" y="4240"/>
            <a:ext cx="909836" cy="930066"/>
            <a:chOff x="1" y="-5685"/>
            <a:chExt cx="909836" cy="930066"/>
          </a:xfrm>
        </p:grpSpPr>
        <p:sp>
          <p:nvSpPr>
            <p:cNvPr id="17" name="Rectangle 16">
              <a:extLst>
                <a:ext uri="{FF2B5EF4-FFF2-40B4-BE49-F238E27FC236}">
                  <a16:creationId xmlns:a16="http://schemas.microsoft.com/office/drawing/2014/main" id="{E4471A49-B251-E632-19C5-A78FD64BB6D1}"/>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522F40F1-34ED-4C62-308B-D1180AA57450}"/>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Rectangle 18">
              <a:extLst>
                <a:ext uri="{FF2B5EF4-FFF2-40B4-BE49-F238E27FC236}">
                  <a16:creationId xmlns:a16="http://schemas.microsoft.com/office/drawing/2014/main" id="{F242428F-633E-5711-E83B-C3FC4146E722}"/>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19">
              <a:extLst>
                <a:ext uri="{FF2B5EF4-FFF2-40B4-BE49-F238E27FC236}">
                  <a16:creationId xmlns:a16="http://schemas.microsoft.com/office/drawing/2014/main" id="{CEBBEC80-8A13-1D4F-6E0B-3222BFFD774A}"/>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9" name="Group 28">
            <a:extLst>
              <a:ext uri="{FF2B5EF4-FFF2-40B4-BE49-F238E27FC236}">
                <a16:creationId xmlns:a16="http://schemas.microsoft.com/office/drawing/2014/main" id="{02DF2420-2C01-6108-2D65-871C2647D410}"/>
              </a:ext>
            </a:extLst>
          </p:cNvPr>
          <p:cNvGrpSpPr/>
          <p:nvPr/>
        </p:nvGrpSpPr>
        <p:grpSpPr>
          <a:xfrm>
            <a:off x="10342891" y="4962097"/>
            <a:ext cx="1845935" cy="1895903"/>
            <a:chOff x="0" y="0"/>
            <a:chExt cx="3161556" cy="3048050"/>
          </a:xfrm>
        </p:grpSpPr>
        <p:grpSp>
          <p:nvGrpSpPr>
            <p:cNvPr id="23" name="Group 22">
              <a:extLst>
                <a:ext uri="{FF2B5EF4-FFF2-40B4-BE49-F238E27FC236}">
                  <a16:creationId xmlns:a16="http://schemas.microsoft.com/office/drawing/2014/main" id="{6B9BEB5F-2D3C-F4B2-4222-C72608FA6159}"/>
                </a:ext>
              </a:extLst>
            </p:cNvPr>
            <p:cNvGrpSpPr/>
            <p:nvPr/>
          </p:nvGrpSpPr>
          <p:grpSpPr>
            <a:xfrm>
              <a:off x="0" y="0"/>
              <a:ext cx="2107704" cy="2241545"/>
              <a:chOff x="0" y="0"/>
              <a:chExt cx="2107704" cy="2241545"/>
            </a:xfrm>
          </p:grpSpPr>
          <p:sp>
            <p:nvSpPr>
              <p:cNvPr id="27" name="Rectangle 26">
                <a:extLst>
                  <a:ext uri="{FF2B5EF4-FFF2-40B4-BE49-F238E27FC236}">
                    <a16:creationId xmlns:a16="http://schemas.microsoft.com/office/drawing/2014/main" id="{E9648AF8-150D-C1B3-C796-664F80129593}"/>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27">
                <a:extLst>
                  <a:ext uri="{FF2B5EF4-FFF2-40B4-BE49-F238E27FC236}">
                    <a16:creationId xmlns:a16="http://schemas.microsoft.com/office/drawing/2014/main" id="{1BC78EA5-37A9-1F92-9BFB-3E18CA18C06F}"/>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4" name="Group 23">
              <a:extLst>
                <a:ext uri="{FF2B5EF4-FFF2-40B4-BE49-F238E27FC236}">
                  <a16:creationId xmlns:a16="http://schemas.microsoft.com/office/drawing/2014/main" id="{5F551C1F-4600-463B-B514-450E7D08D60E}"/>
                </a:ext>
              </a:extLst>
            </p:cNvPr>
            <p:cNvGrpSpPr/>
            <p:nvPr/>
          </p:nvGrpSpPr>
          <p:grpSpPr>
            <a:xfrm flipH="1" flipV="1">
              <a:off x="1072246" y="1059210"/>
              <a:ext cx="2089310" cy="1988840"/>
              <a:chOff x="1580778" y="1268760"/>
              <a:chExt cx="2089310" cy="1988840"/>
            </a:xfrm>
          </p:grpSpPr>
          <p:sp>
            <p:nvSpPr>
              <p:cNvPr id="25" name="Rectangle 24">
                <a:extLst>
                  <a:ext uri="{FF2B5EF4-FFF2-40B4-BE49-F238E27FC236}">
                    <a16:creationId xmlns:a16="http://schemas.microsoft.com/office/drawing/2014/main" id="{74C3329B-1A41-257F-CF69-D79C40E04A5F}"/>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25">
                <a:extLst>
                  <a:ext uri="{FF2B5EF4-FFF2-40B4-BE49-F238E27FC236}">
                    <a16:creationId xmlns:a16="http://schemas.microsoft.com/office/drawing/2014/main" id="{24162A38-D9EC-FAA2-DEFD-616B27B8B4AC}"/>
                  </a:ext>
                </a:extLst>
              </p:cNvPr>
              <p:cNvSpPr/>
              <p:nvPr/>
            </p:nvSpPr>
            <p:spPr>
              <a:xfrm rot="5400000">
                <a:off x="2739910" y="1146126"/>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1" name="Picture 30" descr="BEll company logo">
            <a:extLst>
              <a:ext uri="{FF2B5EF4-FFF2-40B4-BE49-F238E27FC236}">
                <a16:creationId xmlns:a16="http://schemas.microsoft.com/office/drawing/2014/main" id="{BF48BD88-81AE-854E-9E2C-7B6C109ED334}"/>
              </a:ext>
            </a:extLst>
          </p:cNvPr>
          <p:cNvPicPr>
            <a:picLocks noChangeAspect="1"/>
          </p:cNvPicPr>
          <p:nvPr/>
        </p:nvPicPr>
        <p:blipFill>
          <a:blip r:embed="rId2"/>
          <a:stretch>
            <a:fillRect/>
          </a:stretch>
        </p:blipFill>
        <p:spPr>
          <a:xfrm>
            <a:off x="11009239" y="734323"/>
            <a:ext cx="514513" cy="400050"/>
          </a:xfrm>
          <a:prstGeom prst="rect">
            <a:avLst/>
          </a:prstGeom>
        </p:spPr>
      </p:pic>
      <p:sp>
        <p:nvSpPr>
          <p:cNvPr id="6" name="TextBox 5">
            <a:extLst>
              <a:ext uri="{FF2B5EF4-FFF2-40B4-BE49-F238E27FC236}">
                <a16:creationId xmlns:a16="http://schemas.microsoft.com/office/drawing/2014/main" id="{22507A0C-6632-CAF8-1273-99D08F8107D4}"/>
              </a:ext>
            </a:extLst>
          </p:cNvPr>
          <p:cNvSpPr txBox="1"/>
          <p:nvPr/>
        </p:nvSpPr>
        <p:spPr>
          <a:xfrm>
            <a:off x="1230621" y="1134373"/>
            <a:ext cx="3335225" cy="461665"/>
          </a:xfrm>
          <a:prstGeom prst="rect">
            <a:avLst/>
          </a:prstGeom>
          <a:noFill/>
        </p:spPr>
        <p:txBody>
          <a:bodyPr wrap="square" lIns="91440" tIns="45720" rIns="91440" bIns="45720" rtlCol="0" anchor="t">
            <a:spAutoFit/>
          </a:bodyPr>
          <a:lstStyle/>
          <a:p>
            <a:r>
              <a:rPr lang="en-US" dirty="0">
                <a:latin typeface="Arial"/>
                <a:cs typeface="Arial"/>
              </a:rPr>
              <a:t>Data Required (Cont.)</a:t>
            </a:r>
            <a:endParaRPr lang="en-CA" dirty="0">
              <a:latin typeface="Arial"/>
              <a:cs typeface="Arial"/>
            </a:endParaRPr>
          </a:p>
        </p:txBody>
      </p:sp>
      <p:graphicFrame>
        <p:nvGraphicFramePr>
          <p:cNvPr id="4" name="Table 3">
            <a:extLst>
              <a:ext uri="{FF2B5EF4-FFF2-40B4-BE49-F238E27FC236}">
                <a16:creationId xmlns:a16="http://schemas.microsoft.com/office/drawing/2014/main" id="{CF2A3295-37D7-FA68-D0DA-84EC3A06BC69}"/>
              </a:ext>
            </a:extLst>
          </p:cNvPr>
          <p:cNvGraphicFramePr>
            <a:graphicFrameLocks noGrp="1"/>
          </p:cNvGraphicFramePr>
          <p:nvPr>
            <p:extLst>
              <p:ext uri="{D42A27DB-BD31-4B8C-83A1-F6EECF244321}">
                <p14:modId xmlns:p14="http://schemas.microsoft.com/office/powerpoint/2010/main" val="4724537"/>
              </p:ext>
            </p:extLst>
          </p:nvPr>
        </p:nvGraphicFramePr>
        <p:xfrm>
          <a:off x="1071597" y="1705889"/>
          <a:ext cx="9344612" cy="3908693"/>
        </p:xfrm>
        <a:graphic>
          <a:graphicData uri="http://schemas.openxmlformats.org/drawingml/2006/table">
            <a:tbl>
              <a:tblPr firstRow="1" bandRow="1">
                <a:tableStyleId>{5C22544A-7EE6-4342-B048-85BDC9FD1C3A}</a:tableStyleId>
              </a:tblPr>
              <a:tblGrid>
                <a:gridCol w="1425113">
                  <a:extLst>
                    <a:ext uri="{9D8B030D-6E8A-4147-A177-3AD203B41FA5}">
                      <a16:colId xmlns:a16="http://schemas.microsoft.com/office/drawing/2014/main" val="4212284417"/>
                    </a:ext>
                  </a:extLst>
                </a:gridCol>
                <a:gridCol w="1431234">
                  <a:extLst>
                    <a:ext uri="{9D8B030D-6E8A-4147-A177-3AD203B41FA5}">
                      <a16:colId xmlns:a16="http://schemas.microsoft.com/office/drawing/2014/main" val="456758473"/>
                    </a:ext>
                  </a:extLst>
                </a:gridCol>
                <a:gridCol w="2130950">
                  <a:extLst>
                    <a:ext uri="{9D8B030D-6E8A-4147-A177-3AD203B41FA5}">
                      <a16:colId xmlns:a16="http://schemas.microsoft.com/office/drawing/2014/main" val="2595145624"/>
                    </a:ext>
                  </a:extLst>
                </a:gridCol>
                <a:gridCol w="1860606">
                  <a:extLst>
                    <a:ext uri="{9D8B030D-6E8A-4147-A177-3AD203B41FA5}">
                      <a16:colId xmlns:a16="http://schemas.microsoft.com/office/drawing/2014/main" val="3054453379"/>
                    </a:ext>
                  </a:extLst>
                </a:gridCol>
                <a:gridCol w="2496709">
                  <a:extLst>
                    <a:ext uri="{9D8B030D-6E8A-4147-A177-3AD203B41FA5}">
                      <a16:colId xmlns:a16="http://schemas.microsoft.com/office/drawing/2014/main" val="3934172077"/>
                    </a:ext>
                  </a:extLst>
                </a:gridCol>
              </a:tblGrid>
              <a:tr h="517793">
                <a:tc>
                  <a:txBody>
                    <a:bodyPr/>
                    <a:lstStyle/>
                    <a:p>
                      <a:r>
                        <a:rPr lang="en-CA" sz="1400" dirty="0"/>
                        <a:t>Source System</a:t>
                      </a:r>
                    </a:p>
                  </a:txBody>
                  <a:tcPr/>
                </a:tc>
                <a:tc>
                  <a:txBody>
                    <a:bodyPr/>
                    <a:lstStyle/>
                    <a:p>
                      <a:r>
                        <a:rPr lang="en-CA" sz="1400" dirty="0"/>
                        <a:t>Environment</a:t>
                      </a:r>
                    </a:p>
                  </a:txBody>
                  <a:tcPr/>
                </a:tc>
                <a:tc>
                  <a:txBody>
                    <a:bodyPr/>
                    <a:lstStyle/>
                    <a:p>
                      <a:r>
                        <a:rPr lang="en-CA" sz="1400" dirty="0"/>
                        <a:t>Data Type</a:t>
                      </a:r>
                    </a:p>
                  </a:txBody>
                  <a:tcPr/>
                </a:tc>
                <a:tc>
                  <a:txBody>
                    <a:bodyPr/>
                    <a:lstStyle/>
                    <a:p>
                      <a:r>
                        <a:rPr lang="en-CA" sz="1400" dirty="0"/>
                        <a:t>Volume of Data</a:t>
                      </a:r>
                    </a:p>
                  </a:txBody>
                  <a:tcPr/>
                </a:tc>
                <a:tc>
                  <a:txBody>
                    <a:bodyPr/>
                    <a:lstStyle/>
                    <a:p>
                      <a:r>
                        <a:rPr lang="en-CA" sz="1400" dirty="0"/>
                        <a:t>Additional Comments</a:t>
                      </a:r>
                    </a:p>
                  </a:txBody>
                  <a:tcPr/>
                </a:tc>
                <a:extLst>
                  <a:ext uri="{0D108BD9-81ED-4DB2-BD59-A6C34878D82A}">
                    <a16:rowId xmlns:a16="http://schemas.microsoft.com/office/drawing/2014/main" val="1380965218"/>
                  </a:ext>
                </a:extLst>
              </a:tr>
              <a:tr h="456876">
                <a:tc>
                  <a:txBody>
                    <a:bodyPr/>
                    <a:lstStyle/>
                    <a:p>
                      <a:pPr algn="ctr" fontAlgn="t">
                        <a:buNone/>
                      </a:pPr>
                      <a:r>
                        <a:rPr lang="en-CA" sz="1100" b="0" i="0" u="none" strike="noStrike">
                          <a:solidFill>
                            <a:srgbClr val="000000"/>
                          </a:solidFill>
                          <a:effectLst/>
                          <a:latin typeface="Aptos Narrow" panose="020B0004020202020204" pitchFamily="34" charset="0"/>
                        </a:rPr>
                        <a:t>NM1/BCIM</a:t>
                      </a:r>
                    </a:p>
                  </a:txBody>
                  <a:tcPr marL="9525" marR="9525" marT="9525" marB="0"/>
                </a:tc>
                <a:tc>
                  <a:txBody>
                    <a:bodyPr/>
                    <a:lstStyle/>
                    <a:p>
                      <a:pPr algn="ctr" fontAlgn="t">
                        <a:buNone/>
                      </a:pPr>
                      <a:r>
                        <a:rPr lang="en-CA" sz="1100" b="0" i="0" u="none" strike="noStrike">
                          <a:solidFill>
                            <a:srgbClr val="000000"/>
                          </a:solidFill>
                          <a:effectLst/>
                          <a:latin typeface="Aptos Narrow" panose="020B0004020202020204" pitchFamily="34" charset="0"/>
                        </a:rPr>
                        <a:t>TBD with POCs</a:t>
                      </a:r>
                    </a:p>
                  </a:txBody>
                  <a:tcPr marL="9525" marR="9525" marT="9525" marB="0"/>
                </a:tc>
                <a:tc>
                  <a:txBody>
                    <a:bodyPr/>
                    <a:lstStyle/>
                    <a:p>
                      <a:pPr algn="ctr" fontAlgn="t">
                        <a:buNone/>
                      </a:pPr>
                      <a:r>
                        <a:rPr lang="en-CA" sz="1100" b="0" i="0" u="none" strike="noStrike">
                          <a:solidFill>
                            <a:srgbClr val="000000"/>
                          </a:solidFill>
                          <a:effectLst/>
                          <a:latin typeface="Aptos Narrow" panose="020B0004020202020204" pitchFamily="34" charset="0"/>
                        </a:rPr>
                        <a:t>NAG with cancelled subscribers </a:t>
                      </a:r>
                    </a:p>
                  </a:txBody>
                  <a:tcPr marL="9525" marR="9525" marT="9525" marB="0"/>
                </a:tc>
                <a:tc>
                  <a:txBody>
                    <a:bodyPr/>
                    <a:lstStyle/>
                    <a:p>
                      <a:pPr algn="l" fontAlgn="t">
                        <a:buNone/>
                      </a:pPr>
                      <a:r>
                        <a:rPr lang="en-CA" sz="1100" b="0" i="0" u="none" strike="noStrike" dirty="0">
                          <a:solidFill>
                            <a:srgbClr val="000000"/>
                          </a:solidFill>
                          <a:effectLst/>
                          <a:latin typeface="Aptos Narrow" panose="020B0004020202020204" pitchFamily="34" charset="0"/>
                        </a:rPr>
                        <a:t>1 NAG with 1-year historical data of cancelled subscribers</a:t>
                      </a:r>
                    </a:p>
                  </a:txBody>
                  <a:tcPr marL="9525" marR="9525" marT="9525" marB="0"/>
                </a:tc>
                <a:tc>
                  <a:txBody>
                    <a:bodyPr/>
                    <a:lstStyle/>
                    <a:p>
                      <a:pPr algn="l" fontAlgn="t">
                        <a:buNone/>
                      </a:pPr>
                      <a:r>
                        <a:rPr lang="en-CA" sz="1100" b="0" i="0" u="none" strike="noStrike" dirty="0">
                          <a:solidFill>
                            <a:srgbClr val="000000"/>
                          </a:solidFill>
                          <a:effectLst/>
                          <a:latin typeface="Aptos Narrow" panose="020B0004020202020204" pitchFamily="34" charset="0"/>
                        </a:rPr>
                        <a:t>Ensure the given NAG has cancelled subscribers of over 1 year</a:t>
                      </a:r>
                      <a:br>
                        <a:rPr lang="en-CA" sz="1100" b="0" i="0" u="none" strike="noStrike" dirty="0">
                          <a:solidFill>
                            <a:srgbClr val="000000"/>
                          </a:solidFill>
                          <a:effectLst/>
                          <a:latin typeface="Aptos Narrow" panose="020B0004020202020204" pitchFamily="34" charset="0"/>
                        </a:rPr>
                      </a:br>
                      <a:r>
                        <a:rPr lang="en-CA" sz="1100" b="1" i="0" u="none" strike="noStrike" dirty="0">
                          <a:solidFill>
                            <a:srgbClr val="FF0000"/>
                          </a:solidFill>
                          <a:effectLst/>
                          <a:latin typeface="Aptos Narrow" panose="020B0004020202020204" pitchFamily="34" charset="0"/>
                        </a:rPr>
                        <a:t>(Negative Testing)</a:t>
                      </a:r>
                    </a:p>
                    <a:p>
                      <a:pPr algn="l" fontAlgn="t">
                        <a:buNone/>
                      </a:pPr>
                      <a:endParaRPr lang="en-CA" sz="1100" b="0" i="0" u="none" strike="noStrike" dirty="0">
                        <a:solidFill>
                          <a:srgbClr val="000000"/>
                        </a:solidFill>
                        <a:effectLst/>
                        <a:latin typeface="Aptos Narrow" panose="020B0004020202020204" pitchFamily="34" charset="0"/>
                      </a:endParaRPr>
                    </a:p>
                  </a:txBody>
                  <a:tcPr marL="9525" marR="9525" marT="9525" marB="0"/>
                </a:tc>
                <a:extLst>
                  <a:ext uri="{0D108BD9-81ED-4DB2-BD59-A6C34878D82A}">
                    <a16:rowId xmlns:a16="http://schemas.microsoft.com/office/drawing/2014/main" val="3686701768"/>
                  </a:ext>
                </a:extLst>
              </a:tr>
              <a:tr h="456876">
                <a:tc>
                  <a:txBody>
                    <a:bodyPr/>
                    <a:lstStyle/>
                    <a:p>
                      <a:pPr algn="ctr" fontAlgn="t">
                        <a:buNone/>
                      </a:pPr>
                      <a:r>
                        <a:rPr lang="en-CA" sz="1100" b="0" i="0" u="none" strike="noStrike" dirty="0">
                          <a:solidFill>
                            <a:srgbClr val="000000"/>
                          </a:solidFill>
                          <a:effectLst/>
                          <a:latin typeface="Aptos Narrow" panose="020B0004020202020204" pitchFamily="34" charset="0"/>
                        </a:rPr>
                        <a:t>NM1/IDD</a:t>
                      </a:r>
                    </a:p>
                  </a:txBody>
                  <a:tcPr marL="9525" marR="9525" marT="9525" marB="0"/>
                </a:tc>
                <a:tc>
                  <a:txBody>
                    <a:bodyPr/>
                    <a:lstStyle/>
                    <a:p>
                      <a:pPr algn="ctr" fontAlgn="t">
                        <a:buNone/>
                      </a:pPr>
                      <a:r>
                        <a:rPr lang="en-CA" sz="1100" b="0" i="0" u="none" strike="noStrike">
                          <a:solidFill>
                            <a:srgbClr val="000000"/>
                          </a:solidFill>
                          <a:effectLst/>
                          <a:latin typeface="Aptos Narrow" panose="020B0004020202020204" pitchFamily="34" charset="0"/>
                        </a:rPr>
                        <a:t>TBD with POCs</a:t>
                      </a:r>
                    </a:p>
                  </a:txBody>
                  <a:tcPr marL="9525" marR="9525" marT="9525" marB="0"/>
                </a:tc>
                <a:tc>
                  <a:txBody>
                    <a:bodyPr/>
                    <a:lstStyle/>
                    <a:p>
                      <a:pPr algn="ctr" fontAlgn="t">
                        <a:buNone/>
                      </a:pPr>
                      <a:r>
                        <a:rPr lang="en-CA" sz="1100" b="0" i="0" u="none" strike="noStrike" dirty="0">
                          <a:solidFill>
                            <a:srgbClr val="000000"/>
                          </a:solidFill>
                          <a:effectLst/>
                          <a:latin typeface="Aptos Narrow" panose="020B0004020202020204" pitchFamily="34" charset="0"/>
                        </a:rPr>
                        <a:t>Current Month Unbilled Usage</a:t>
                      </a:r>
                    </a:p>
                  </a:txBody>
                  <a:tcPr marL="9525" marR="9525" marT="9525" marB="0"/>
                </a:tc>
                <a:tc>
                  <a:txBody>
                    <a:bodyPr/>
                    <a:lstStyle/>
                    <a:p>
                      <a:pPr algn="l" fontAlgn="t">
                        <a:buNone/>
                      </a:pPr>
                      <a:r>
                        <a:rPr lang="en-CA" sz="1100" b="0" i="0" u="none" strike="noStrike" dirty="0">
                          <a:solidFill>
                            <a:srgbClr val="000000"/>
                          </a:solidFill>
                          <a:effectLst/>
                          <a:latin typeface="Aptos Narrow" panose="020B0004020202020204" pitchFamily="34" charset="0"/>
                        </a:rPr>
                        <a:t>1 New NAG's unbilled usage</a:t>
                      </a:r>
                    </a:p>
                  </a:txBody>
                  <a:tcPr marL="9525" marR="9525" marT="9525" marB="0"/>
                </a:tc>
                <a:tc>
                  <a:txBody>
                    <a:bodyPr/>
                    <a:lstStyle/>
                    <a:p>
                      <a:pPr algn="l" fontAlgn="t">
                        <a:buNone/>
                      </a:pPr>
                      <a:r>
                        <a:rPr lang="en-CA" sz="1100" b="0" i="0" u="none" strike="noStrike" dirty="0">
                          <a:solidFill>
                            <a:srgbClr val="000000"/>
                          </a:solidFill>
                          <a:effectLst/>
                          <a:latin typeface="Aptos Narrow" panose="020B0004020202020204" pitchFamily="34" charset="0"/>
                        </a:rPr>
                        <a:t>* Current month data for newly registered customer/ BAN</a:t>
                      </a:r>
                      <a:br>
                        <a:rPr lang="en-CA" sz="1100" b="0" i="0" u="none" strike="noStrike" dirty="0">
                          <a:solidFill>
                            <a:srgbClr val="000000"/>
                          </a:solidFill>
                          <a:effectLst/>
                          <a:latin typeface="Aptos Narrow" panose="020B0004020202020204" pitchFamily="34" charset="0"/>
                        </a:rPr>
                      </a:br>
                      <a:r>
                        <a:rPr lang="en-CA" sz="1100" b="0" i="0" u="none" strike="noStrike" dirty="0">
                          <a:solidFill>
                            <a:srgbClr val="000000"/>
                          </a:solidFill>
                          <a:effectLst/>
                          <a:latin typeface="Aptos Narrow" panose="020B0004020202020204" pitchFamily="34" charset="0"/>
                        </a:rPr>
                        <a:t>*  Must have associated multiple Shared Plans &amp; multiple Individual Plans for Roaming, Overage, In-plan categories</a:t>
                      </a:r>
                      <a:br>
                        <a:rPr lang="en-CA" sz="1100" b="0" i="0" u="none" strike="noStrike" dirty="0">
                          <a:solidFill>
                            <a:srgbClr val="000000"/>
                          </a:solidFill>
                          <a:effectLst/>
                          <a:latin typeface="Aptos Narrow" panose="020B0004020202020204" pitchFamily="34" charset="0"/>
                        </a:rPr>
                      </a:br>
                      <a:r>
                        <a:rPr lang="en-CA" sz="1100" b="0" i="0" u="none" strike="noStrike" dirty="0">
                          <a:solidFill>
                            <a:srgbClr val="000000"/>
                          </a:solidFill>
                          <a:effectLst/>
                          <a:latin typeface="Aptos Narrow" panose="020B0004020202020204" pitchFamily="34" charset="0"/>
                        </a:rPr>
                        <a:t>* One of the Shareplans and one of the Subscribers Must have more than 10 BANs</a:t>
                      </a:r>
                      <a:br>
                        <a:rPr lang="en-CA" sz="1100" b="0" i="0" u="none" strike="noStrike" dirty="0">
                          <a:solidFill>
                            <a:srgbClr val="000000"/>
                          </a:solidFill>
                          <a:effectLst/>
                          <a:latin typeface="Aptos Narrow" panose="020B0004020202020204" pitchFamily="34" charset="0"/>
                        </a:rPr>
                      </a:br>
                      <a:endParaRPr lang="en-CA" sz="1100" b="0" i="0" u="none" strike="noStrike" dirty="0">
                        <a:solidFill>
                          <a:srgbClr val="000000"/>
                        </a:solidFill>
                        <a:effectLst/>
                        <a:latin typeface="Aptos Narrow" panose="020B0004020202020204" pitchFamily="34" charset="0"/>
                      </a:endParaRPr>
                    </a:p>
                  </a:txBody>
                  <a:tcPr marL="9525" marR="9525" marT="9525" marB="0"/>
                </a:tc>
                <a:extLst>
                  <a:ext uri="{0D108BD9-81ED-4DB2-BD59-A6C34878D82A}">
                    <a16:rowId xmlns:a16="http://schemas.microsoft.com/office/drawing/2014/main" val="3723359273"/>
                  </a:ext>
                </a:extLst>
              </a:tr>
              <a:tr h="456876">
                <a:tc>
                  <a:txBody>
                    <a:bodyPr/>
                    <a:lstStyle/>
                    <a:p>
                      <a:pPr algn="ctr" fontAlgn="t">
                        <a:buNone/>
                      </a:pPr>
                      <a:r>
                        <a:rPr lang="en-CA" sz="1100" b="0" i="0" u="none" strike="noStrike" dirty="0">
                          <a:solidFill>
                            <a:srgbClr val="000000"/>
                          </a:solidFill>
                          <a:effectLst/>
                          <a:latin typeface="Aptos Narrow" panose="020B0004020202020204" pitchFamily="34" charset="0"/>
                        </a:rPr>
                        <a:t>NM1 - BCIM - SSC</a:t>
                      </a:r>
                    </a:p>
                  </a:txBody>
                  <a:tcPr marL="9525" marR="9525" marT="9525" marB="0"/>
                </a:tc>
                <a:tc>
                  <a:txBody>
                    <a:bodyPr/>
                    <a:lstStyle/>
                    <a:p>
                      <a:pPr algn="ctr" fontAlgn="t">
                        <a:buNone/>
                      </a:pPr>
                      <a:r>
                        <a:rPr lang="en-CA" sz="1100" b="0" i="0" u="none" strike="noStrike" dirty="0">
                          <a:solidFill>
                            <a:srgbClr val="000000"/>
                          </a:solidFill>
                          <a:effectLst/>
                          <a:latin typeface="Aptos Narrow" panose="020B0004020202020204" pitchFamily="34" charset="0"/>
                        </a:rPr>
                        <a:t>TBD with POCs</a:t>
                      </a:r>
                    </a:p>
                  </a:txBody>
                  <a:tcPr marL="9525" marR="9525" marT="9525" marB="0"/>
                </a:tc>
                <a:tc>
                  <a:txBody>
                    <a:bodyPr/>
                    <a:lstStyle/>
                    <a:p>
                      <a:pPr algn="ctr" fontAlgn="t">
                        <a:buNone/>
                      </a:pPr>
                      <a:r>
                        <a:rPr lang="en-CA" sz="1100" b="0" i="0" u="none" strike="noStrike" dirty="0">
                          <a:solidFill>
                            <a:srgbClr val="000000"/>
                          </a:solidFill>
                          <a:effectLst/>
                          <a:latin typeface="Aptos Narrow" panose="020B0004020202020204" pitchFamily="34" charset="0"/>
                        </a:rPr>
                        <a:t>NAG and BAN</a:t>
                      </a:r>
                    </a:p>
                  </a:txBody>
                  <a:tcPr marL="9525" marR="9525" marT="9525" marB="0"/>
                </a:tc>
                <a:tc>
                  <a:txBody>
                    <a:bodyPr/>
                    <a:lstStyle/>
                    <a:p>
                      <a:pPr algn="l" fontAlgn="t">
                        <a:buNone/>
                      </a:pPr>
                      <a:r>
                        <a:rPr lang="en-CA" sz="1100" b="0" i="0" u="none" strike="noStrike" dirty="0">
                          <a:solidFill>
                            <a:srgbClr val="000000"/>
                          </a:solidFill>
                          <a:effectLst/>
                          <a:latin typeface="Aptos Narrow" panose="020B0004020202020204" pitchFamily="34" charset="0"/>
                        </a:rPr>
                        <a:t>5 NAGs and multiple associated data based on "Additional Comments"</a:t>
                      </a:r>
                    </a:p>
                  </a:txBody>
                  <a:tcPr marL="9525" marR="9525" marT="9525" marB="0"/>
                </a:tc>
                <a:tc>
                  <a:txBody>
                    <a:bodyPr/>
                    <a:lstStyle/>
                    <a:p>
                      <a:pPr marL="0" indent="0" algn="l" fontAlgn="t">
                        <a:buFont typeface="Arial" panose="020B0604020202020204" pitchFamily="34" charset="0"/>
                        <a:buNone/>
                      </a:pPr>
                      <a:r>
                        <a:rPr lang="en-CA" sz="1100" b="0" i="0" u="none" strike="noStrike" dirty="0">
                          <a:solidFill>
                            <a:srgbClr val="000000"/>
                          </a:solidFill>
                          <a:effectLst/>
                          <a:latin typeface="Aptos Narrow" panose="020B0004020202020204" pitchFamily="34" charset="0"/>
                        </a:rPr>
                        <a:t>* Multiple Nag and Associated multiple BANs and multiple Subscriber with different Statuses</a:t>
                      </a:r>
                    </a:p>
                    <a:p>
                      <a:pPr marL="171450" indent="-171450" algn="l" fontAlgn="t">
                        <a:buFont typeface="Arial" panose="020B0604020202020204" pitchFamily="34" charset="0"/>
                        <a:buChar char="•"/>
                      </a:pPr>
                      <a:endParaRPr lang="en-CA" sz="1100" b="0" i="0" u="none" strike="noStrike" dirty="0">
                        <a:solidFill>
                          <a:srgbClr val="000000"/>
                        </a:solidFill>
                        <a:effectLst/>
                        <a:latin typeface="Aptos Narrow" panose="020B0004020202020204" pitchFamily="34" charset="0"/>
                      </a:endParaRPr>
                    </a:p>
                  </a:txBody>
                  <a:tcPr marL="9525" marR="9525" marT="9525" marB="0"/>
                </a:tc>
                <a:extLst>
                  <a:ext uri="{0D108BD9-81ED-4DB2-BD59-A6C34878D82A}">
                    <a16:rowId xmlns:a16="http://schemas.microsoft.com/office/drawing/2014/main" val="2666080373"/>
                  </a:ext>
                </a:extLst>
              </a:tr>
              <a:tr h="456876">
                <a:tc>
                  <a:txBody>
                    <a:bodyPr/>
                    <a:lstStyle/>
                    <a:p>
                      <a:pPr marL="0" algn="ctr" defTabSz="1218987" rtl="0" eaLnBrk="1" fontAlgn="t" latinLnBrk="0" hangingPunct="1">
                        <a:buNone/>
                      </a:pPr>
                      <a:r>
                        <a:rPr lang="en-CA" sz="1100" b="0" i="0" u="none" strike="noStrike" kern="1200">
                          <a:solidFill>
                            <a:srgbClr val="000000"/>
                          </a:solidFill>
                          <a:effectLst/>
                          <a:latin typeface="Aptos Narrow" panose="020B0004020202020204" pitchFamily="34" charset="0"/>
                          <a:ea typeface="+mn-ea"/>
                          <a:cs typeface="+mn-cs"/>
                        </a:rPr>
                        <a:t>BBSSC (from EORD)</a:t>
                      </a:r>
                    </a:p>
                  </a:txBody>
                  <a:tcPr marL="9525" marR="9525" marT="9525" marB="0"/>
                </a:tc>
                <a:tc>
                  <a:txBody>
                    <a:bodyPr/>
                    <a:lstStyle/>
                    <a:p>
                      <a:pPr marL="0" algn="ctr" defTabSz="1218987" rtl="0" eaLnBrk="1" fontAlgn="t" latinLnBrk="0" hangingPunct="1">
                        <a:buNone/>
                      </a:pPr>
                      <a:r>
                        <a:rPr lang="en-CA" sz="1100" b="0" i="0" u="none" strike="noStrike" kern="1200">
                          <a:solidFill>
                            <a:srgbClr val="000000"/>
                          </a:solidFill>
                          <a:effectLst/>
                          <a:latin typeface="Aptos Narrow" panose="020B0004020202020204" pitchFamily="34" charset="0"/>
                          <a:ea typeface="+mn-ea"/>
                          <a:cs typeface="+mn-cs"/>
                        </a:rPr>
                        <a:t>TBD with POCs</a:t>
                      </a:r>
                    </a:p>
                  </a:txBody>
                  <a:tcPr marL="9525" marR="9525" marT="9525" marB="0"/>
                </a:tc>
                <a:tc>
                  <a:txBody>
                    <a:bodyPr/>
                    <a:lstStyle/>
                    <a:p>
                      <a:pPr marL="0" algn="ctr" defTabSz="1218987" rtl="0" eaLnBrk="1" fontAlgn="t" latinLnBrk="0" hangingPunct="1">
                        <a:buNone/>
                      </a:pPr>
                      <a:r>
                        <a:rPr lang="en-CA" sz="1100" b="0" i="0" u="none" strike="noStrike" kern="1200">
                          <a:solidFill>
                            <a:srgbClr val="000000"/>
                          </a:solidFill>
                          <a:effectLst/>
                          <a:latin typeface="Aptos Narrow" panose="020B0004020202020204" pitchFamily="34" charset="0"/>
                          <a:ea typeface="+mn-ea"/>
                          <a:cs typeface="+mn-cs"/>
                        </a:rPr>
                        <a:t>Shopping and Orders data</a:t>
                      </a:r>
                    </a:p>
                  </a:txBody>
                  <a:tcPr marL="9525" marR="9525" marT="9525" marB="0"/>
                </a:tc>
                <a:tc>
                  <a:txBody>
                    <a:bodyPr/>
                    <a:lstStyle/>
                    <a:p>
                      <a:pPr marL="0" algn="ctr" defTabSz="1218987" rtl="0" eaLnBrk="1" fontAlgn="t" latinLnBrk="0" hangingPunct="1">
                        <a:buNone/>
                      </a:pPr>
                      <a:r>
                        <a:rPr lang="en-CA" sz="1100" b="0" i="0" u="none" strike="noStrike" kern="1200">
                          <a:solidFill>
                            <a:srgbClr val="000000"/>
                          </a:solidFill>
                          <a:effectLst/>
                          <a:latin typeface="Aptos Narrow" panose="020B0004020202020204" pitchFamily="34" charset="0"/>
                          <a:ea typeface="+mn-ea"/>
                          <a:cs typeface="+mn-cs"/>
                        </a:rPr>
                        <a:t>Last 30 days Orders (Must be more than 5)</a:t>
                      </a:r>
                    </a:p>
                  </a:txBody>
                  <a:tcPr marL="9525" marR="9525" marT="9525" marB="0"/>
                </a:tc>
                <a:tc>
                  <a:txBody>
                    <a:bodyPr/>
                    <a:lstStyle/>
                    <a:p>
                      <a:pPr marL="0" indent="0" algn="l" defTabSz="1218987" rtl="0" eaLnBrk="1" fontAlgn="t" latinLnBrk="0" hangingPunct="1">
                        <a:buFont typeface="Arial" panose="020B0604020202020204" pitchFamily="34" charset="0"/>
                        <a:buNone/>
                      </a:pPr>
                      <a:r>
                        <a:rPr lang="en-CA" sz="1100" b="0" i="0" u="none" strike="noStrike" kern="1200" dirty="0">
                          <a:solidFill>
                            <a:srgbClr val="000000"/>
                          </a:solidFill>
                          <a:effectLst/>
                          <a:latin typeface="Aptos Narrow" panose="020B0004020202020204" pitchFamily="34" charset="0"/>
                          <a:ea typeface="+mn-ea"/>
                          <a:cs typeface="+mn-cs"/>
                        </a:rPr>
                        <a:t>* Mobile devices &amp; plans service Orders (Req ID#) for given user profile showing different statuses and creation date</a:t>
                      </a:r>
                    </a:p>
                    <a:p>
                      <a:pPr marL="0" indent="0" algn="l" defTabSz="1218987" rtl="0" eaLnBrk="1" fontAlgn="t" latinLnBrk="0" hangingPunct="1">
                        <a:buFont typeface="Arial" panose="020B0604020202020204" pitchFamily="34" charset="0"/>
                        <a:buNone/>
                      </a:pPr>
                      <a:endParaRPr lang="en-CA" sz="1100" b="0" i="0" u="none" strike="noStrike" kern="1200" dirty="0">
                        <a:solidFill>
                          <a:srgbClr val="000000"/>
                        </a:solidFill>
                        <a:effectLst/>
                        <a:latin typeface="Aptos Narrow" panose="020B0004020202020204" pitchFamily="34" charset="0"/>
                        <a:ea typeface="+mn-ea"/>
                        <a:cs typeface="+mn-cs"/>
                      </a:endParaRPr>
                    </a:p>
                  </a:txBody>
                  <a:tcPr marL="9525" marR="9525" marT="9525" marB="0"/>
                </a:tc>
                <a:extLst>
                  <a:ext uri="{0D108BD9-81ED-4DB2-BD59-A6C34878D82A}">
                    <a16:rowId xmlns:a16="http://schemas.microsoft.com/office/drawing/2014/main" val="2203959886"/>
                  </a:ext>
                </a:extLst>
              </a:tr>
            </a:tbl>
          </a:graphicData>
        </a:graphic>
      </p:graphicFrame>
    </p:spTree>
    <p:extLst>
      <p:ext uri="{BB962C8B-B14F-4D97-AF65-F5344CB8AC3E}">
        <p14:creationId xmlns:p14="http://schemas.microsoft.com/office/powerpoint/2010/main" val="96867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 calcmode="lin" valueType="num">
                                      <p:cBhvr additive="base">
                                        <p:cTn id="10" dur="500" fill="hold"/>
                                        <p:tgtEl>
                                          <p:spTgt spid="29"/>
                                        </p:tgtEl>
                                        <p:attrNameLst>
                                          <p:attrName>ppt_x</p:attrName>
                                        </p:attrNameLst>
                                      </p:cBhvr>
                                      <p:tavLst>
                                        <p:tav tm="0">
                                          <p:val>
                                            <p:strVal val="1+#ppt_w/2"/>
                                          </p:val>
                                        </p:tav>
                                        <p:tav tm="100000">
                                          <p:val>
                                            <p:strVal val="#ppt_x"/>
                                          </p:val>
                                        </p:tav>
                                      </p:tavLst>
                                    </p:anim>
                                    <p:anim calcmode="lin" valueType="num">
                                      <p:cBhvr additive="base">
                                        <p:cTn id="1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93F4B-820A-06CA-BA98-E1868C5690DB}"/>
              </a:ext>
            </a:extLst>
          </p:cNvPr>
          <p:cNvSpPr>
            <a:spLocks noGrp="1"/>
          </p:cNvSpPr>
          <p:nvPr>
            <p:ph type="title" idx="4294967295"/>
          </p:nvPr>
        </p:nvSpPr>
        <p:spPr>
          <a:xfrm>
            <a:off x="1121611" y="454025"/>
            <a:ext cx="1008063" cy="696913"/>
          </a:xfrm>
        </p:spPr>
        <p:txBody>
          <a:bodyPr vert="horz" lIns="0" tIns="60949" rIns="0" bIns="60949" rtlCol="0" anchor="ctr">
            <a:noAutofit/>
          </a:bodyPr>
          <a:lstStyle/>
          <a:p>
            <a:r>
              <a:rPr lang="en-US" sz="3200" dirty="0">
                <a:latin typeface="Arial"/>
                <a:cs typeface="Arial"/>
              </a:rPr>
              <a:t>RACI</a:t>
            </a:r>
            <a:endParaRPr lang="en-PH" sz="3200" dirty="0">
              <a:latin typeface="Arial"/>
              <a:cs typeface="Arial"/>
            </a:endParaRPr>
          </a:p>
        </p:txBody>
      </p:sp>
      <p:graphicFrame>
        <p:nvGraphicFramePr>
          <p:cNvPr id="4" name="Table 10">
            <a:extLst>
              <a:ext uri="{FF2B5EF4-FFF2-40B4-BE49-F238E27FC236}">
                <a16:creationId xmlns:a16="http://schemas.microsoft.com/office/drawing/2014/main" id="{21FCF942-DE9D-54C2-10AC-3800D1892EC2}"/>
              </a:ext>
            </a:extLst>
          </p:cNvPr>
          <p:cNvGraphicFramePr>
            <a:graphicFrameLocks noGrp="1"/>
          </p:cNvGraphicFramePr>
          <p:nvPr>
            <p:extLst>
              <p:ext uri="{D42A27DB-BD31-4B8C-83A1-F6EECF244321}">
                <p14:modId xmlns:p14="http://schemas.microsoft.com/office/powerpoint/2010/main" val="1169262487"/>
              </p:ext>
            </p:extLst>
          </p:nvPr>
        </p:nvGraphicFramePr>
        <p:xfrm>
          <a:off x="1147582" y="1274816"/>
          <a:ext cx="9058901" cy="3990776"/>
        </p:xfrm>
        <a:graphic>
          <a:graphicData uri="http://schemas.openxmlformats.org/drawingml/2006/table">
            <a:tbl>
              <a:tblPr firstRow="1" bandRow="1">
                <a:tableStyleId>{5FD0F851-EC5A-4D38-B0AD-8093EC10F338}</a:tableStyleId>
              </a:tblPr>
              <a:tblGrid>
                <a:gridCol w="1690352">
                  <a:extLst>
                    <a:ext uri="{9D8B030D-6E8A-4147-A177-3AD203B41FA5}">
                      <a16:colId xmlns:a16="http://schemas.microsoft.com/office/drawing/2014/main" val="3579042218"/>
                    </a:ext>
                  </a:extLst>
                </a:gridCol>
                <a:gridCol w="556536">
                  <a:extLst>
                    <a:ext uri="{9D8B030D-6E8A-4147-A177-3AD203B41FA5}">
                      <a16:colId xmlns:a16="http://schemas.microsoft.com/office/drawing/2014/main" val="119136213"/>
                    </a:ext>
                  </a:extLst>
                </a:gridCol>
                <a:gridCol w="631064">
                  <a:extLst>
                    <a:ext uri="{9D8B030D-6E8A-4147-A177-3AD203B41FA5}">
                      <a16:colId xmlns:a16="http://schemas.microsoft.com/office/drawing/2014/main" val="2443804742"/>
                    </a:ext>
                  </a:extLst>
                </a:gridCol>
                <a:gridCol w="462027">
                  <a:extLst>
                    <a:ext uri="{9D8B030D-6E8A-4147-A177-3AD203B41FA5}">
                      <a16:colId xmlns:a16="http://schemas.microsoft.com/office/drawing/2014/main" val="1503607309"/>
                    </a:ext>
                  </a:extLst>
                </a:gridCol>
                <a:gridCol w="450760">
                  <a:extLst>
                    <a:ext uri="{9D8B030D-6E8A-4147-A177-3AD203B41FA5}">
                      <a16:colId xmlns:a16="http://schemas.microsoft.com/office/drawing/2014/main" val="560567460"/>
                    </a:ext>
                  </a:extLst>
                </a:gridCol>
                <a:gridCol w="721215">
                  <a:extLst>
                    <a:ext uri="{9D8B030D-6E8A-4147-A177-3AD203B41FA5}">
                      <a16:colId xmlns:a16="http://schemas.microsoft.com/office/drawing/2014/main" val="3582801965"/>
                    </a:ext>
                  </a:extLst>
                </a:gridCol>
                <a:gridCol w="462027">
                  <a:extLst>
                    <a:ext uri="{9D8B030D-6E8A-4147-A177-3AD203B41FA5}">
                      <a16:colId xmlns:a16="http://schemas.microsoft.com/office/drawing/2014/main" val="39854640"/>
                    </a:ext>
                  </a:extLst>
                </a:gridCol>
                <a:gridCol w="383144">
                  <a:extLst>
                    <a:ext uri="{9D8B030D-6E8A-4147-A177-3AD203B41FA5}">
                      <a16:colId xmlns:a16="http://schemas.microsoft.com/office/drawing/2014/main" val="535108105"/>
                    </a:ext>
                  </a:extLst>
                </a:gridCol>
                <a:gridCol w="529643">
                  <a:extLst>
                    <a:ext uri="{9D8B030D-6E8A-4147-A177-3AD203B41FA5}">
                      <a16:colId xmlns:a16="http://schemas.microsoft.com/office/drawing/2014/main" val="807918858"/>
                    </a:ext>
                  </a:extLst>
                </a:gridCol>
                <a:gridCol w="676138">
                  <a:extLst>
                    <a:ext uri="{9D8B030D-6E8A-4147-A177-3AD203B41FA5}">
                      <a16:colId xmlns:a16="http://schemas.microsoft.com/office/drawing/2014/main" val="799594429"/>
                    </a:ext>
                  </a:extLst>
                </a:gridCol>
                <a:gridCol w="462027">
                  <a:extLst>
                    <a:ext uri="{9D8B030D-6E8A-4147-A177-3AD203B41FA5}">
                      <a16:colId xmlns:a16="http://schemas.microsoft.com/office/drawing/2014/main" val="2433179297"/>
                    </a:ext>
                  </a:extLst>
                </a:gridCol>
                <a:gridCol w="315532">
                  <a:extLst>
                    <a:ext uri="{9D8B030D-6E8A-4147-A177-3AD203B41FA5}">
                      <a16:colId xmlns:a16="http://schemas.microsoft.com/office/drawing/2014/main" val="3987773371"/>
                    </a:ext>
                  </a:extLst>
                </a:gridCol>
                <a:gridCol w="416952">
                  <a:extLst>
                    <a:ext uri="{9D8B030D-6E8A-4147-A177-3AD203B41FA5}">
                      <a16:colId xmlns:a16="http://schemas.microsoft.com/office/drawing/2014/main" val="1809046463"/>
                    </a:ext>
                  </a:extLst>
                </a:gridCol>
                <a:gridCol w="507104">
                  <a:extLst>
                    <a:ext uri="{9D8B030D-6E8A-4147-A177-3AD203B41FA5}">
                      <a16:colId xmlns:a16="http://schemas.microsoft.com/office/drawing/2014/main" val="3524017516"/>
                    </a:ext>
                  </a:extLst>
                </a:gridCol>
                <a:gridCol w="794380">
                  <a:extLst>
                    <a:ext uri="{9D8B030D-6E8A-4147-A177-3AD203B41FA5}">
                      <a16:colId xmlns:a16="http://schemas.microsoft.com/office/drawing/2014/main" val="1316251386"/>
                    </a:ext>
                  </a:extLst>
                </a:gridCol>
              </a:tblGrid>
              <a:tr h="50768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sysClr val="windowText" lastClr="000000"/>
                          </a:solidFill>
                          <a:effectLst/>
                          <a:uLnTx/>
                          <a:uFillTx/>
                          <a:latin typeface="Segoe UI"/>
                          <a:ea typeface="+mn-ea"/>
                          <a:cs typeface="Segoe UI"/>
                        </a:rPr>
                        <a:t>Responsibility/Resource</a:t>
                      </a:r>
                    </a:p>
                  </a:txBody>
                  <a:tcPr marL="79325" marR="79325" marT="39663" marB="39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0" u="none" strike="noStrike" kern="1200" cap="none" spc="0" normalizeH="0" baseline="0" noProof="0" dirty="0">
                          <a:ln>
                            <a:noFill/>
                          </a:ln>
                          <a:solidFill>
                            <a:sysClr val="windowText" lastClr="000000"/>
                          </a:solidFill>
                          <a:effectLst/>
                          <a:uLnTx/>
                          <a:uFillTx/>
                        </a:rPr>
                        <a:t>SIT</a:t>
                      </a:r>
                      <a:endParaRPr kumimoji="0" lang="en-CA" sz="11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0" u="none" strike="noStrike" kern="1200" cap="none" spc="0" normalizeH="0" baseline="0" noProof="0" dirty="0">
                          <a:ln>
                            <a:noFill/>
                          </a:ln>
                          <a:solidFill>
                            <a:sysClr val="windowText" lastClr="000000"/>
                          </a:solidFill>
                          <a:effectLst/>
                          <a:uLnTx/>
                          <a:uFillTx/>
                        </a:rPr>
                        <a:t>E2E/REG/DVT</a:t>
                      </a:r>
                      <a:endParaRPr kumimoji="0" lang="en-CA" sz="11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CA"/>
                    </a:p>
                  </a:txBody>
                  <a:tcPr/>
                </a:tc>
                <a:tc hMerge="1">
                  <a:txBody>
                    <a:bodyPr/>
                    <a:lstStyle/>
                    <a:p>
                      <a:endParaRPr lang="en-CA"/>
                    </a:p>
                  </a:txBody>
                  <a:tcPr/>
                </a:tc>
                <a:tc hMerge="1">
                  <a:txBody>
                    <a:bodyPr/>
                    <a:lstStyle/>
                    <a:p>
                      <a:endParaRPr lang="en-CA"/>
                    </a:p>
                  </a:txBody>
                  <a:tcP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0" u="none" strike="noStrike" kern="1200" cap="none" spc="0" normalizeH="0" baseline="0" noProof="0" dirty="0">
                          <a:ln>
                            <a:noFill/>
                          </a:ln>
                          <a:solidFill>
                            <a:sysClr val="windowText" lastClr="000000"/>
                          </a:solidFill>
                          <a:effectLst/>
                          <a:uLnTx/>
                          <a:uFillTx/>
                        </a:rPr>
                        <a:t>UAT</a:t>
                      </a:r>
                    </a:p>
                  </a:txBody>
                  <a:tcPr marL="79325" marR="79325" marT="39663" marB="39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a:p>
                  </a:txBody>
                  <a:tcPr marL="79325" marR="79325" marT="39663" marB="39663"/>
                </a:tc>
                <a:tc hMerge="1">
                  <a:txBody>
                    <a:bodyPr/>
                    <a:lstStyle/>
                    <a:p>
                      <a:endParaRPr lang="en-CA"/>
                    </a:p>
                  </a:txBody>
                  <a:tcPr/>
                </a:tc>
                <a:tc hMerge="1">
                  <a:txBody>
                    <a:bodyPr/>
                    <a:lstStyle/>
                    <a:p>
                      <a:endParaRPr lang="en-CA"/>
                    </a:p>
                  </a:txBody>
                  <a:tcPr/>
                </a:tc>
                <a:tc hMerge="1">
                  <a:txBody>
                    <a:bodyPr/>
                    <a:lstStyle/>
                    <a:p>
                      <a:endParaRPr/>
                    </a:p>
                  </a:txBody>
                  <a:tcPr marL="79325" marR="79325" marT="39663" marB="39663"/>
                </a:tc>
                <a:extLst>
                  <a:ext uri="{0D108BD9-81ED-4DB2-BD59-A6C34878D82A}">
                    <a16:rowId xmlns:a16="http://schemas.microsoft.com/office/drawing/2014/main" val="1756238197"/>
                  </a:ext>
                </a:extLst>
              </a:tr>
              <a:tr h="342058">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9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algn="ctr" rtl="0" fontAlgn="ctr"/>
                      <a:r>
                        <a:rPr lang="en-CA" sz="900" b="0" u="none" strike="noStrike" dirty="0">
                          <a:effectLst/>
                        </a:rPr>
                        <a:t>SIA Prime</a:t>
                      </a:r>
                      <a:endParaRPr lang="en-CA" sz="9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900" b="0" u="none" strike="noStrike" dirty="0">
                          <a:effectLst/>
                        </a:rPr>
                        <a:t>SIT Prime</a:t>
                      </a:r>
                      <a:endParaRPr lang="en-CA" sz="9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900" b="0" u="none" strike="noStrike" dirty="0">
                          <a:effectLst/>
                        </a:rPr>
                        <a:t>DEV Team</a:t>
                      </a:r>
                      <a:endParaRPr lang="en-CA" sz="9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900" b="0" u="none" strike="noStrike" dirty="0">
                          <a:effectLst/>
                        </a:rPr>
                        <a:t>BA Team</a:t>
                      </a:r>
                      <a:endParaRPr lang="en-CA" sz="9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900" b="0" u="none" strike="noStrike" dirty="0">
                          <a:effectLst/>
                        </a:rPr>
                        <a:t>Stakeholders</a:t>
                      </a:r>
                      <a:endParaRPr lang="en-CA" sz="9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900" b="0" u="none" strike="noStrike" dirty="0">
                          <a:effectLst/>
                        </a:rPr>
                        <a:t> E2E Team</a:t>
                      </a:r>
                      <a:endParaRPr lang="en-CA" sz="9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900" b="0" u="none" strike="noStrike" dirty="0">
                          <a:effectLst/>
                        </a:rPr>
                        <a:t>DEV Team</a:t>
                      </a:r>
                      <a:endParaRPr lang="en-CA" sz="9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900" b="0" u="none" strike="noStrike" dirty="0">
                          <a:effectLst/>
                        </a:rPr>
                        <a:t>SIA/BA Team</a:t>
                      </a:r>
                      <a:endParaRPr lang="en-CA" sz="9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900" b="0" u="none" strike="noStrike" dirty="0">
                          <a:effectLst/>
                        </a:rPr>
                        <a:t>Stakeholders</a:t>
                      </a:r>
                      <a:endParaRPr lang="en-CA" sz="9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900" b="0" u="none" strike="noStrike" dirty="0">
                          <a:effectLst/>
                        </a:rPr>
                        <a:t>UAT Team</a:t>
                      </a:r>
                      <a:endParaRPr lang="en-CA" sz="9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900" b="0" u="none" strike="noStrike" dirty="0">
                          <a:effectLst/>
                        </a:rPr>
                        <a:t> E2E Team</a:t>
                      </a:r>
                      <a:endParaRPr lang="en-CA" sz="9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900" b="0" u="none" strike="noStrike" dirty="0">
                          <a:effectLst/>
                        </a:rPr>
                        <a:t>DEV Team</a:t>
                      </a:r>
                      <a:endParaRPr lang="en-CA" sz="9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900" b="0" u="none" strike="noStrike" dirty="0">
                          <a:effectLst/>
                        </a:rPr>
                        <a:t>SIA/BA Team</a:t>
                      </a:r>
                      <a:endParaRPr lang="en-CA" sz="9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900" b="0" u="none" strike="noStrike" dirty="0">
                          <a:effectLst/>
                        </a:rPr>
                        <a:t>Stakeholders</a:t>
                      </a:r>
                      <a:endParaRPr lang="en-CA" sz="9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20447171"/>
                  </a:ext>
                </a:extLst>
              </a:tr>
              <a:tr h="159594">
                <a:tc>
                  <a:txBody>
                    <a:bodyPr/>
                    <a:lstStyle/>
                    <a:p>
                      <a:pPr algn="l" rtl="0" fontAlgn="ctr"/>
                      <a:r>
                        <a:rPr lang="en-CA" sz="900" b="0" u="none" strike="noStrike" dirty="0">
                          <a:solidFill>
                            <a:srgbClr val="002060"/>
                          </a:solidFill>
                          <a:effectLst/>
                        </a:rPr>
                        <a:t>Test Schedule</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A,R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 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45734804"/>
                  </a:ext>
                </a:extLst>
              </a:tr>
              <a:tr h="159132">
                <a:tc>
                  <a:txBody>
                    <a:bodyPr/>
                    <a:lstStyle/>
                    <a:p>
                      <a:pPr algn="l" rtl="0" fontAlgn="ctr"/>
                      <a:r>
                        <a:rPr lang="en-CA" sz="900" b="0" u="none" strike="noStrike" dirty="0">
                          <a:solidFill>
                            <a:srgbClr val="002060"/>
                          </a:solidFill>
                          <a:effectLst/>
                        </a:rPr>
                        <a:t>Test Plan</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A,R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b="0" i="0" u="none" strike="noStrike" dirty="0">
                          <a:solidFill>
                            <a:srgbClr val="000000"/>
                          </a:solidFill>
                          <a:effectLst/>
                          <a:latin typeface="Calibri"/>
                        </a:rPr>
                        <a:t>C</a:t>
                      </a: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09359047"/>
                  </a:ext>
                </a:extLst>
              </a:tr>
              <a:tr h="158670">
                <a:tc>
                  <a:txBody>
                    <a:bodyPr/>
                    <a:lstStyle/>
                    <a:p>
                      <a:pPr algn="l" rtl="0" fontAlgn="ctr"/>
                      <a:r>
                        <a:rPr lang="en-CA" sz="900" b="0" u="none" strike="noStrike" dirty="0">
                          <a:solidFill>
                            <a:srgbClr val="002060"/>
                          </a:solidFill>
                          <a:effectLst/>
                        </a:rPr>
                        <a:t>Test Case Creation/Update</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A</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63408702"/>
                  </a:ext>
                </a:extLst>
              </a:tr>
              <a:tr h="230216">
                <a:tc>
                  <a:txBody>
                    <a:bodyPr/>
                    <a:lstStyle/>
                    <a:p>
                      <a:pPr algn="l" rtl="0" fontAlgn="ctr"/>
                      <a:r>
                        <a:rPr lang="en-CA" sz="900" b="0" u="none" strike="noStrike" dirty="0">
                          <a:solidFill>
                            <a:srgbClr val="002060"/>
                          </a:solidFill>
                          <a:effectLst/>
                        </a:rPr>
                        <a:t>Test Data preparation</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A</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99946039"/>
                  </a:ext>
                </a:extLst>
              </a:tr>
              <a:tr h="144016">
                <a:tc>
                  <a:txBody>
                    <a:bodyPr/>
                    <a:lstStyle/>
                    <a:p>
                      <a:pPr algn="l" rtl="0" fontAlgn="ctr"/>
                      <a:r>
                        <a:rPr lang="en-CA" sz="900" b="0" u="none" strike="noStrike" dirty="0">
                          <a:solidFill>
                            <a:srgbClr val="002060"/>
                          </a:solidFill>
                          <a:effectLst/>
                        </a:rPr>
                        <a:t>Requirements Traceability</a:t>
                      </a:r>
                      <a:r>
                        <a:rPr lang="en-CA" sz="900" b="0" u="none" strike="noStrike" baseline="0" dirty="0">
                          <a:solidFill>
                            <a:srgbClr val="002060"/>
                          </a:solidFill>
                          <a:effectLst/>
                        </a:rPr>
                        <a:t> </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42691573"/>
                  </a:ext>
                </a:extLst>
              </a:tr>
              <a:tr h="215562">
                <a:tc>
                  <a:txBody>
                    <a:bodyPr/>
                    <a:lstStyle/>
                    <a:p>
                      <a:pPr algn="l" rtl="0" fontAlgn="ctr"/>
                      <a:r>
                        <a:rPr lang="en-CA" sz="900" b="0" u="none" strike="noStrike" dirty="0">
                          <a:solidFill>
                            <a:srgbClr val="002060"/>
                          </a:solidFill>
                          <a:effectLst/>
                        </a:rPr>
                        <a:t>Test Environment</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b="0" i="0" u="none" strike="noStrike" dirty="0">
                          <a:solidFill>
                            <a:schemeClr val="dk1"/>
                          </a:solidFill>
                          <a:effectLst/>
                          <a:latin typeface="+mn-l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A</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8531702"/>
                  </a:ext>
                </a:extLst>
              </a:tr>
              <a:tr h="143092">
                <a:tc>
                  <a:txBody>
                    <a:bodyPr/>
                    <a:lstStyle/>
                    <a:p>
                      <a:pPr algn="l" rtl="0" fontAlgn="ctr"/>
                      <a:r>
                        <a:rPr lang="en-CA" sz="900" b="0" u="none" strike="noStrike" dirty="0">
                          <a:solidFill>
                            <a:srgbClr val="002060"/>
                          </a:solidFill>
                          <a:effectLst/>
                        </a:rPr>
                        <a:t>Test Execution</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A</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83691189"/>
                  </a:ext>
                </a:extLst>
              </a:tr>
              <a:tr h="214638">
                <a:tc>
                  <a:txBody>
                    <a:bodyPr/>
                    <a:lstStyle/>
                    <a:p>
                      <a:pPr algn="l" rtl="0" fontAlgn="ctr"/>
                      <a:r>
                        <a:rPr lang="en-CA" sz="900" b="0" u="none" strike="noStrike" dirty="0">
                          <a:solidFill>
                            <a:srgbClr val="002060"/>
                          </a:solidFill>
                          <a:effectLst/>
                        </a:rPr>
                        <a:t>Test Results Analysis</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40982595"/>
                  </a:ext>
                </a:extLst>
              </a:tr>
              <a:tr h="214176">
                <a:tc>
                  <a:txBody>
                    <a:bodyPr/>
                    <a:lstStyle/>
                    <a:p>
                      <a:pPr algn="l" rtl="0" fontAlgn="ctr"/>
                      <a:r>
                        <a:rPr lang="en-CA" sz="900" b="0" u="none" strike="noStrike" dirty="0">
                          <a:solidFill>
                            <a:srgbClr val="002060"/>
                          </a:solidFill>
                          <a:effectLst/>
                        </a:rPr>
                        <a:t>QA Repository Maintenance</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US" sz="1000" b="0" i="0" u="none" strike="noStrike" dirty="0">
                          <a:solidFill>
                            <a:srgbClr val="000000"/>
                          </a:solidFill>
                          <a:effectLst/>
                          <a:latin typeface="Calibri"/>
                        </a:rPr>
                        <a:t>A</a:t>
                      </a:r>
                      <a:endParaRPr lang="en-CA" sz="1000" b="0" i="0" u="none" strike="noStrike" dirty="0">
                        <a:solidFill>
                          <a:srgbClr val="000000"/>
                        </a:solidFill>
                        <a:effectLst/>
                        <a:latin typeface="Calibri"/>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768460"/>
                  </a:ext>
                </a:extLst>
              </a:tr>
              <a:tr h="141706">
                <a:tc>
                  <a:txBody>
                    <a:bodyPr/>
                    <a:lstStyle/>
                    <a:p>
                      <a:pPr algn="l" rtl="0" fontAlgn="ctr"/>
                      <a:r>
                        <a:rPr lang="en-CA" sz="900" b="0" u="none" strike="noStrike" dirty="0">
                          <a:solidFill>
                            <a:srgbClr val="002060"/>
                          </a:solidFill>
                          <a:effectLst/>
                        </a:rPr>
                        <a:t>Defect Management </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US" sz="1000" b="0" i="0" u="none" strike="noStrike" dirty="0">
                          <a:solidFill>
                            <a:srgbClr val="000000"/>
                          </a:solidFill>
                          <a:effectLst/>
                          <a:latin typeface="Calibri"/>
                        </a:rPr>
                        <a:t>A</a:t>
                      </a:r>
                      <a:endParaRPr lang="en-CA" sz="1000" b="0" i="0" u="none" strike="noStrike" dirty="0">
                        <a:solidFill>
                          <a:srgbClr val="000000"/>
                        </a:solidFill>
                        <a:effectLst/>
                        <a:latin typeface="Calibri"/>
                      </a:endParaRPr>
                    </a:p>
                  </a:txBody>
                  <a:tcPr marL="8372" marR="8372" marT="8372" marB="0" anchor="ct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 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39755890"/>
                  </a:ext>
                </a:extLst>
              </a:tr>
              <a:tr h="213252">
                <a:tc>
                  <a:txBody>
                    <a:bodyPr/>
                    <a:lstStyle/>
                    <a:p>
                      <a:pPr algn="l" rtl="0" fontAlgn="ctr"/>
                      <a:r>
                        <a:rPr lang="en-CA" sz="900" b="0" u="none" strike="noStrike" dirty="0">
                          <a:solidFill>
                            <a:srgbClr val="002060"/>
                          </a:solidFill>
                          <a:effectLst/>
                        </a:rPr>
                        <a:t>Test</a:t>
                      </a:r>
                      <a:r>
                        <a:rPr lang="en-CA" sz="900" b="0" u="none" strike="noStrike" baseline="0" dirty="0">
                          <a:solidFill>
                            <a:srgbClr val="002060"/>
                          </a:solidFill>
                          <a:effectLst/>
                        </a:rPr>
                        <a:t> </a:t>
                      </a:r>
                      <a:r>
                        <a:rPr lang="en-CA" sz="900" b="0" u="none" strike="noStrike" dirty="0">
                          <a:solidFill>
                            <a:srgbClr val="002060"/>
                          </a:solidFill>
                          <a:effectLst/>
                        </a:rPr>
                        <a:t>Status Reporting</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A,R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b="0" i="0" u="none" strike="noStrike" dirty="0">
                          <a:solidFill>
                            <a:schemeClr val="dk1"/>
                          </a:solidFill>
                          <a:effectLst/>
                          <a:latin typeface="+mn-l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11628568"/>
                  </a:ext>
                </a:extLst>
              </a:tr>
              <a:tr h="212790">
                <a:tc>
                  <a:txBody>
                    <a:bodyPr/>
                    <a:lstStyle/>
                    <a:p>
                      <a:pPr algn="l" rtl="0" fontAlgn="ctr"/>
                      <a:r>
                        <a:rPr lang="en-CA" sz="900" b="0" u="none" strike="noStrike" dirty="0">
                          <a:solidFill>
                            <a:srgbClr val="002060"/>
                          </a:solidFill>
                          <a:effectLst/>
                        </a:rPr>
                        <a:t>Technical Support/Defect</a:t>
                      </a:r>
                      <a:r>
                        <a:rPr lang="en-CA" sz="900" b="0" u="none" strike="noStrike" baseline="0" dirty="0">
                          <a:solidFill>
                            <a:srgbClr val="002060"/>
                          </a:solidFill>
                          <a:effectLst/>
                        </a:rPr>
                        <a:t> fixing</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98262545"/>
                  </a:ext>
                </a:extLst>
              </a:tr>
              <a:tr h="284336">
                <a:tc>
                  <a:txBody>
                    <a:bodyPr/>
                    <a:lstStyle/>
                    <a:p>
                      <a:pPr algn="l" rtl="0" fontAlgn="ctr"/>
                      <a:r>
                        <a:rPr lang="en-CA" sz="900" b="0" u="none" strike="noStrike" dirty="0">
                          <a:solidFill>
                            <a:srgbClr val="002060"/>
                          </a:solidFill>
                          <a:effectLst/>
                        </a:rPr>
                        <a:t>Test Team Training</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 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b="0" i="0" u="none" strike="noStrike" dirty="0">
                          <a:solidFill>
                            <a:schemeClr val="dk1"/>
                          </a:solidFill>
                          <a:effectLst/>
                          <a:latin typeface="+mn-l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R,A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C</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58173042"/>
                  </a:ext>
                </a:extLst>
              </a:tr>
              <a:tr h="144016">
                <a:tc>
                  <a:txBody>
                    <a:bodyPr/>
                    <a:lstStyle/>
                    <a:p>
                      <a:pPr algn="l" rtl="0" fontAlgn="ctr"/>
                      <a:r>
                        <a:rPr lang="en-CA" sz="900" b="0" u="none" strike="noStrike" dirty="0">
                          <a:solidFill>
                            <a:srgbClr val="002060"/>
                          </a:solidFill>
                          <a:effectLst/>
                        </a:rPr>
                        <a:t>Walkthroughs/ Demos </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 A</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u="none" strike="noStrike" dirty="0">
                          <a:effectLst/>
                        </a:rPr>
                        <a:t>A</a:t>
                      </a:r>
                      <a:endParaRPr lang="en-CA" sz="1000" b="0" i="0" u="none" strike="noStrike" dirty="0">
                        <a:solidFill>
                          <a:srgbClr val="00000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R</a:t>
                      </a:r>
                      <a:endParaRPr lang="en-CA" sz="1000" b="0" i="0" u="none" strike="noStrike" dirty="0">
                        <a:solidFill>
                          <a:srgbClr val="000000"/>
                        </a:solidFill>
                        <a:effectLst/>
                        <a:latin typeface="Calibri" panose="020F0502020204030204" pitchFamily="34" charset="0"/>
                      </a:endParaRPr>
                    </a:p>
                  </a:txBody>
                  <a:tcPr marL="8372" marR="8372" marT="8372" marB="0" anchor="ctr"/>
                </a:tc>
                <a:tc>
                  <a:txBody>
                    <a:bodyPr/>
                    <a:lstStyle/>
                    <a:p>
                      <a:pPr algn="ctr" rtl="0" fontAlgn="ctr"/>
                      <a:r>
                        <a:rPr lang="en-CA" sz="1000" u="none" strike="noStrike" dirty="0">
                          <a:effectLst/>
                        </a:rPr>
                        <a:t>I</a:t>
                      </a:r>
                      <a:endParaRPr lang="en-CA" sz="1000" b="0" i="0" u="none" strike="noStrike" dirty="0">
                        <a:solidFill>
                          <a:srgbClr val="000000"/>
                        </a:solidFill>
                        <a:effectLst/>
                        <a:latin typeface="Calibri" panose="020F0502020204030204" pitchFamily="34" charset="0"/>
                      </a:endParaRP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15697580"/>
                  </a:ext>
                </a:extLst>
              </a:tr>
              <a:tr h="215562">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CA" sz="900" b="0" u="none" strike="noStrike" dirty="0">
                          <a:solidFill>
                            <a:srgbClr val="002060"/>
                          </a:solidFill>
                          <a:effectLst/>
                        </a:rPr>
                        <a:t>Test</a:t>
                      </a:r>
                      <a:r>
                        <a:rPr lang="en-CA" sz="900" b="0" u="none" strike="noStrike" baseline="0" dirty="0">
                          <a:solidFill>
                            <a:srgbClr val="002060"/>
                          </a:solidFill>
                          <a:effectLst/>
                        </a:rPr>
                        <a:t> </a:t>
                      </a:r>
                      <a:r>
                        <a:rPr lang="en-CA" sz="900" b="0" u="none" strike="noStrike" dirty="0">
                          <a:solidFill>
                            <a:srgbClr val="002060"/>
                          </a:solidFill>
                          <a:effectLst/>
                        </a:rPr>
                        <a:t>Cases Signoff </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b="0" i="0" u="none" strike="noStrike" dirty="0">
                          <a:solidFill>
                            <a:srgbClr val="000000"/>
                          </a:solidFill>
                          <a:effectLst/>
                          <a:latin typeface="Calibri"/>
                        </a:rPr>
                        <a:t>I</a:t>
                      </a: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b="0" i="0" u="none" strike="noStrike" dirty="0">
                          <a:solidFill>
                            <a:srgbClr val="000000"/>
                          </a:solidFill>
                          <a:effectLst/>
                          <a:latin typeface="Calibri"/>
                        </a:rPr>
                        <a:t>A</a:t>
                      </a:r>
                    </a:p>
                  </a:txBody>
                  <a:tcPr marL="8372" marR="8372" marT="8372" marB="0" anchor="ctr"/>
                </a:tc>
                <a:tc>
                  <a:txBody>
                    <a:bodyPr/>
                    <a:lstStyle/>
                    <a:p>
                      <a:pPr algn="ctr" rtl="0" fontAlgn="ctr"/>
                      <a:r>
                        <a:rPr lang="en-CA" sz="1000" b="0" i="0" u="none" strike="noStrike" dirty="0">
                          <a:solidFill>
                            <a:srgbClr val="000000"/>
                          </a:solidFill>
                          <a:effectLst/>
                          <a:latin typeface="Calibri"/>
                        </a:rPr>
                        <a:t>R</a:t>
                      </a:r>
                    </a:p>
                  </a:txBody>
                  <a:tcPr marL="8372" marR="8372" marT="8372" marB="0" anchor="ctr"/>
                </a:tc>
                <a:tc>
                  <a:txBody>
                    <a:bodyPr/>
                    <a:lstStyle/>
                    <a:p>
                      <a:pPr algn="ctr" rtl="0" fontAlgn="ctr"/>
                      <a:r>
                        <a:rPr lang="en-CA" sz="1000" b="0" i="0" u="none" strike="noStrike" dirty="0">
                          <a:solidFill>
                            <a:srgbClr val="000000"/>
                          </a:solidFill>
                          <a:effectLst/>
                          <a:latin typeface="Calibri"/>
                        </a:rPr>
                        <a:t>I</a:t>
                      </a:r>
                    </a:p>
                  </a:txBody>
                  <a:tcPr marL="8372" marR="8372" marT="8372" marB="0" anchor="ctr"/>
                </a:tc>
                <a:tc>
                  <a:txBody>
                    <a:bodyPr/>
                    <a:lstStyle/>
                    <a:p>
                      <a:pPr algn="ctr" rtl="0" fontAlgn="ctr"/>
                      <a:r>
                        <a:rPr lang="en-CA" sz="1000" b="0" i="0" u="none" strike="noStrike" dirty="0">
                          <a:solidFill>
                            <a:srgbClr val="000000"/>
                          </a:solidFill>
                          <a:effectLst/>
                          <a:latin typeface="Calibri"/>
                        </a:rPr>
                        <a:t>I</a:t>
                      </a: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b="0" i="0" u="none" strike="noStrike" dirty="0">
                          <a:solidFill>
                            <a:srgbClr val="000000"/>
                          </a:solidFill>
                          <a:effectLst/>
                          <a:latin typeface="Calibri"/>
                        </a:rPr>
                        <a:t>A</a:t>
                      </a:r>
                    </a:p>
                  </a:txBody>
                  <a:tcPr marL="8372" marR="8372" marT="8372" marB="0" anchor="ct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A</a:t>
                      </a:r>
                    </a:p>
                  </a:txBody>
                  <a:tcPr marL="8372" marR="8372" marT="8372" marB="0" anchor="ct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73531437"/>
                  </a:ext>
                </a:extLst>
              </a:tr>
              <a:tr h="21510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CA" sz="900" b="0" u="none" strike="noStrike" dirty="0">
                          <a:solidFill>
                            <a:srgbClr val="002060"/>
                          </a:solidFill>
                          <a:effectLst/>
                        </a:rPr>
                        <a:t>Test</a:t>
                      </a:r>
                      <a:r>
                        <a:rPr lang="en-CA" sz="900" b="0" u="none" strike="noStrike" baseline="0" dirty="0">
                          <a:solidFill>
                            <a:srgbClr val="002060"/>
                          </a:solidFill>
                          <a:effectLst/>
                        </a:rPr>
                        <a:t> </a:t>
                      </a:r>
                      <a:r>
                        <a:rPr lang="en-CA" sz="900" b="0" u="none" strike="noStrike" dirty="0">
                          <a:solidFill>
                            <a:srgbClr val="002060"/>
                          </a:solidFill>
                          <a:effectLst/>
                        </a:rPr>
                        <a:t>Results Signoff </a:t>
                      </a:r>
                      <a:endParaRPr lang="en-CA" sz="900" b="0" i="0" u="none" strike="noStrike" dirty="0">
                        <a:solidFill>
                          <a:srgbClr val="002060"/>
                        </a:solidFill>
                        <a:effectLst/>
                        <a:latin typeface="Calibri" panose="020F0502020204030204" pitchFamily="34" charset="0"/>
                      </a:endParaRPr>
                    </a:p>
                  </a:txBody>
                  <a:tcPr marL="8372" marR="8372" marT="837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CA" sz="1000" b="0" i="0" u="none" strike="noStrike" dirty="0">
                          <a:solidFill>
                            <a:srgbClr val="000000"/>
                          </a:solidFill>
                          <a:effectLst/>
                          <a:latin typeface="Calibri"/>
                        </a:rPr>
                        <a:t>R</a:t>
                      </a:r>
                    </a:p>
                  </a:txBody>
                  <a:tcPr marL="8372" marR="8372" marT="8372" marB="0" anchor="ctr">
                    <a:lnL w="12700" cap="flat" cmpd="sng" algn="ctr">
                      <a:solidFill>
                        <a:schemeClr val="tx1"/>
                      </a:solidFill>
                      <a:prstDash val="solid"/>
                      <a:round/>
                      <a:headEnd type="none" w="med" len="med"/>
                      <a:tailEnd type="none" w="med" len="med"/>
                    </a:lnL>
                  </a:tcPr>
                </a:tc>
                <a:tc>
                  <a:txBody>
                    <a:bodyPr/>
                    <a:lstStyle/>
                    <a:p>
                      <a:pPr algn="ctr" rtl="0" fontAlgn="ctr"/>
                      <a:r>
                        <a:rPr lang="en-CA" sz="1000" b="0" i="0" u="none" strike="noStrike" dirty="0">
                          <a:solidFill>
                            <a:srgbClr val="000000"/>
                          </a:solidFill>
                          <a:effectLst/>
                          <a:latin typeface="Calibri"/>
                        </a:rPr>
                        <a:t>A</a:t>
                      </a:r>
                    </a:p>
                  </a:txBody>
                  <a:tcPr marL="8372" marR="8372" marT="8372" marB="0" anchor="ctr"/>
                </a:tc>
                <a:tc>
                  <a:txBody>
                    <a:bodyPr/>
                    <a:lstStyle/>
                    <a:p>
                      <a:pPr algn="ctr" rtl="0" fontAlgn="ctr"/>
                      <a:r>
                        <a:rPr lang="en-CA" sz="1000" b="0" i="0" u="none" strike="noStrike" dirty="0">
                          <a:solidFill>
                            <a:srgbClr val="000000"/>
                          </a:solidFill>
                          <a:effectLst/>
                          <a:latin typeface="Calibri"/>
                        </a:rPr>
                        <a:t>C</a:t>
                      </a:r>
                    </a:p>
                  </a:txBody>
                  <a:tcPr marL="8372" marR="8372" marT="8372" marB="0" anchor="ctr"/>
                </a:tc>
                <a:tc>
                  <a:txBody>
                    <a:bodyPr/>
                    <a:lstStyle/>
                    <a:p>
                      <a:pPr algn="ctr" rtl="0" fontAlgn="ctr"/>
                      <a:r>
                        <a:rPr lang="en-CA" sz="1000" b="0" i="0" u="none" strike="noStrike" dirty="0">
                          <a:solidFill>
                            <a:srgbClr val="000000"/>
                          </a:solidFill>
                          <a:effectLst/>
                          <a:latin typeface="Calibri"/>
                        </a:rPr>
                        <a:t>C</a:t>
                      </a:r>
                    </a:p>
                  </a:txBody>
                  <a:tcPr marL="8372" marR="8372" marT="8372" marB="0" anchor="ctr"/>
                </a:tc>
                <a:tc>
                  <a:txBody>
                    <a:bodyPr/>
                    <a:lstStyle/>
                    <a:p>
                      <a:pPr algn="ctr" rtl="0" fontAlgn="ctr"/>
                      <a:r>
                        <a:rPr lang="en-CA" sz="1000" b="0" i="0" u="none" strike="noStrike" dirty="0">
                          <a:solidFill>
                            <a:srgbClr val="000000"/>
                          </a:solidFill>
                          <a:effectLst/>
                          <a:latin typeface="Calibri"/>
                        </a:rPr>
                        <a:t>R</a:t>
                      </a:r>
                    </a:p>
                  </a:txBody>
                  <a:tcPr marL="8372" marR="8372" marT="8372" marB="0" anchor="ctr">
                    <a:lnR w="12700" cap="flat" cmpd="sng" algn="ctr">
                      <a:solidFill>
                        <a:schemeClr val="tx1"/>
                      </a:solidFill>
                      <a:prstDash val="solid"/>
                      <a:round/>
                      <a:headEnd type="none" w="med" len="med"/>
                      <a:tailEnd type="none" w="med" len="med"/>
                    </a:lnR>
                  </a:tcPr>
                </a:tc>
                <a:tc>
                  <a:txBody>
                    <a:bodyPr/>
                    <a:lstStyle/>
                    <a:p>
                      <a:pPr algn="ctr" rtl="0" fontAlgn="ctr"/>
                      <a:r>
                        <a:rPr lang="en-CA" sz="1000" b="0" i="0" u="none" strike="noStrike" dirty="0">
                          <a:solidFill>
                            <a:srgbClr val="000000"/>
                          </a:solidFill>
                          <a:effectLst/>
                          <a:latin typeface="Calibri"/>
                        </a:rPr>
                        <a:t>A</a:t>
                      </a:r>
                    </a:p>
                  </a:txBody>
                  <a:tcPr marL="8372" marR="8372" marT="8372" marB="0" anchor="ct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C</a:t>
                      </a:r>
                    </a:p>
                  </a:txBody>
                  <a:tcPr marL="8372" marR="8372" marT="8372"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A</a:t>
                      </a:r>
                    </a:p>
                  </a:txBody>
                  <a:tcPr marL="8372" marR="8372" marT="8372" marB="0" anchor="ct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I</a:t>
                      </a:r>
                    </a:p>
                  </a:txBody>
                  <a:tcPr marL="8372" marR="8372" marT="8372"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C</a:t>
                      </a:r>
                    </a:p>
                  </a:txBody>
                  <a:tcPr marL="8372" marR="8372" marT="8372"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000" b="0" i="0" u="none" strike="noStrike" dirty="0">
                          <a:solidFill>
                            <a:srgbClr val="000000"/>
                          </a:solidFill>
                          <a:effectLst/>
                          <a:latin typeface="Calibri"/>
                        </a:rPr>
                        <a:t>R</a:t>
                      </a:r>
                    </a:p>
                  </a:txBody>
                  <a:tcPr marL="8372" marR="8372" marT="837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2748389"/>
                  </a:ext>
                </a:extLst>
              </a:tr>
            </a:tbl>
          </a:graphicData>
        </a:graphic>
      </p:graphicFrame>
      <p:sp>
        <p:nvSpPr>
          <p:cNvPr id="14" name="TextBox 13">
            <a:extLst>
              <a:ext uri="{FF2B5EF4-FFF2-40B4-BE49-F238E27FC236}">
                <a16:creationId xmlns:a16="http://schemas.microsoft.com/office/drawing/2014/main" id="{2FE1B2FD-9E11-FF20-C26D-0BD2A715EC5D}"/>
              </a:ext>
            </a:extLst>
          </p:cNvPr>
          <p:cNvSpPr txBox="1"/>
          <p:nvPr/>
        </p:nvSpPr>
        <p:spPr>
          <a:xfrm>
            <a:off x="2221702" y="458711"/>
            <a:ext cx="7989675" cy="830997"/>
          </a:xfrm>
          <a:prstGeom prst="rect">
            <a:avLst/>
          </a:prstGeom>
          <a:noFill/>
        </p:spPr>
        <p:txBody>
          <a:bodyPr wrap="square" lIns="91440" tIns="45720" rIns="91440" bIns="45720" rtlCol="0" anchor="t">
            <a:spAutoFit/>
          </a:bodyPr>
          <a:lstStyle/>
          <a:p>
            <a:r>
              <a:rPr lang="en-US" sz="1200" dirty="0"/>
              <a:t>The RACI Model is a table that clearly identifies roles and responsibilities during the test phase of a project/ program. It outlines who is responsible, accountable, or should be consulted or informed of a particular test activity or deliverable. This approach is particularly useful in communicating all key activities and participant roles and expectations</a:t>
            </a:r>
            <a:endParaRPr lang="en-CA" sz="1200" dirty="0">
              <a:cs typeface="Segoe UI"/>
            </a:endParaRPr>
          </a:p>
        </p:txBody>
      </p:sp>
      <p:sp>
        <p:nvSpPr>
          <p:cNvPr id="17" name="TextBox 16">
            <a:extLst>
              <a:ext uri="{FF2B5EF4-FFF2-40B4-BE49-F238E27FC236}">
                <a16:creationId xmlns:a16="http://schemas.microsoft.com/office/drawing/2014/main" id="{36FECC5A-0D25-CFAA-EE9D-59EDBE56EDD7}"/>
              </a:ext>
            </a:extLst>
          </p:cNvPr>
          <p:cNvSpPr txBox="1"/>
          <p:nvPr/>
        </p:nvSpPr>
        <p:spPr>
          <a:xfrm>
            <a:off x="1080774" y="5396511"/>
            <a:ext cx="8192649" cy="400110"/>
          </a:xfrm>
          <a:prstGeom prst="rect">
            <a:avLst/>
          </a:prstGeom>
          <a:noFill/>
        </p:spPr>
        <p:txBody>
          <a:bodyPr wrap="square" rtlCol="0">
            <a:spAutoFit/>
          </a:bodyPr>
          <a:lstStyle/>
          <a:p>
            <a:r>
              <a:rPr lang="en-US" sz="1000" b="1" u="sng">
                <a:solidFill>
                  <a:srgbClr val="002060"/>
                </a:solidFill>
              </a:rPr>
              <a:t>LEGEND:</a:t>
            </a:r>
            <a:endParaRPr lang="en-CA" sz="1000">
              <a:solidFill>
                <a:srgbClr val="002060"/>
              </a:solidFill>
            </a:endParaRPr>
          </a:p>
          <a:p>
            <a:r>
              <a:rPr lang="en-US" sz="1000" b="1">
                <a:solidFill>
                  <a:srgbClr val="002060"/>
                </a:solidFill>
              </a:rPr>
              <a:t>R = Responsible	                      A = Accountable 	                             C = Consulted	I = Informed</a:t>
            </a:r>
            <a:endParaRPr lang="en-CA" sz="1000">
              <a:solidFill>
                <a:srgbClr val="002060"/>
              </a:solidFill>
            </a:endParaRPr>
          </a:p>
        </p:txBody>
      </p:sp>
      <p:grpSp>
        <p:nvGrpSpPr>
          <p:cNvPr id="10" name="Group 9">
            <a:extLst>
              <a:ext uri="{FF2B5EF4-FFF2-40B4-BE49-F238E27FC236}">
                <a16:creationId xmlns:a16="http://schemas.microsoft.com/office/drawing/2014/main" id="{3E72F39A-8F92-558D-8A09-71DBAA206820}"/>
              </a:ext>
            </a:extLst>
          </p:cNvPr>
          <p:cNvGrpSpPr/>
          <p:nvPr/>
        </p:nvGrpSpPr>
        <p:grpSpPr>
          <a:xfrm>
            <a:off x="1" y="4240"/>
            <a:ext cx="909836" cy="930066"/>
            <a:chOff x="1" y="-5685"/>
            <a:chExt cx="909836" cy="930066"/>
          </a:xfrm>
        </p:grpSpPr>
        <p:sp>
          <p:nvSpPr>
            <p:cNvPr id="6" name="Rectangle 5">
              <a:extLst>
                <a:ext uri="{FF2B5EF4-FFF2-40B4-BE49-F238E27FC236}">
                  <a16:creationId xmlns:a16="http://schemas.microsoft.com/office/drawing/2014/main" id="{DDFCD156-16E3-DEC2-4BDC-3FC263581B23}"/>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D0F66BE2-F241-953A-1A17-4D8B2288CC8C}"/>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7">
              <a:extLst>
                <a:ext uri="{FF2B5EF4-FFF2-40B4-BE49-F238E27FC236}">
                  <a16:creationId xmlns:a16="http://schemas.microsoft.com/office/drawing/2014/main" id="{3291475F-D2BA-52F7-D90A-AE3402A6CE0C}"/>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 name="Rectangle 8">
              <a:extLst>
                <a:ext uri="{FF2B5EF4-FFF2-40B4-BE49-F238E27FC236}">
                  <a16:creationId xmlns:a16="http://schemas.microsoft.com/office/drawing/2014/main" id="{3ADB67AA-BCAF-C775-A785-6572F17418A7}"/>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1" name="Group 20">
            <a:extLst>
              <a:ext uri="{FF2B5EF4-FFF2-40B4-BE49-F238E27FC236}">
                <a16:creationId xmlns:a16="http://schemas.microsoft.com/office/drawing/2014/main" id="{EAE6D0C2-8D92-6DFE-7ADD-A2CC5FBFD48D}"/>
              </a:ext>
            </a:extLst>
          </p:cNvPr>
          <p:cNvGrpSpPr/>
          <p:nvPr/>
        </p:nvGrpSpPr>
        <p:grpSpPr>
          <a:xfrm>
            <a:off x="10342891" y="4962097"/>
            <a:ext cx="1845935" cy="1895903"/>
            <a:chOff x="0" y="0"/>
            <a:chExt cx="3161556" cy="3048050"/>
          </a:xfrm>
        </p:grpSpPr>
        <p:grpSp>
          <p:nvGrpSpPr>
            <p:cNvPr id="12" name="Group 11">
              <a:extLst>
                <a:ext uri="{FF2B5EF4-FFF2-40B4-BE49-F238E27FC236}">
                  <a16:creationId xmlns:a16="http://schemas.microsoft.com/office/drawing/2014/main" id="{93FCE99A-995B-F0CC-2CA1-E75B79BE7366}"/>
                </a:ext>
              </a:extLst>
            </p:cNvPr>
            <p:cNvGrpSpPr/>
            <p:nvPr/>
          </p:nvGrpSpPr>
          <p:grpSpPr>
            <a:xfrm>
              <a:off x="0" y="0"/>
              <a:ext cx="2107704" cy="2241545"/>
              <a:chOff x="0" y="0"/>
              <a:chExt cx="2107704" cy="2241545"/>
            </a:xfrm>
          </p:grpSpPr>
          <p:sp>
            <p:nvSpPr>
              <p:cNvPr id="19" name="Rectangle 18">
                <a:extLst>
                  <a:ext uri="{FF2B5EF4-FFF2-40B4-BE49-F238E27FC236}">
                    <a16:creationId xmlns:a16="http://schemas.microsoft.com/office/drawing/2014/main" id="{EF9F0ECE-B031-AA47-668C-6F21E6AE05AA}"/>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19">
                <a:extLst>
                  <a:ext uri="{FF2B5EF4-FFF2-40B4-BE49-F238E27FC236}">
                    <a16:creationId xmlns:a16="http://schemas.microsoft.com/office/drawing/2014/main" id="{58DDCB35-052C-7757-AE38-FC1BFA20EAED}"/>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3" name="Group 12">
              <a:extLst>
                <a:ext uri="{FF2B5EF4-FFF2-40B4-BE49-F238E27FC236}">
                  <a16:creationId xmlns:a16="http://schemas.microsoft.com/office/drawing/2014/main" id="{7A955460-CE7E-F03B-BC3B-34BFC921D80D}"/>
                </a:ext>
              </a:extLst>
            </p:cNvPr>
            <p:cNvGrpSpPr/>
            <p:nvPr/>
          </p:nvGrpSpPr>
          <p:grpSpPr>
            <a:xfrm flipH="1" flipV="1">
              <a:off x="1072246" y="1059210"/>
              <a:ext cx="2089310" cy="1988840"/>
              <a:chOff x="1580778" y="1268760"/>
              <a:chExt cx="2089310" cy="1988840"/>
            </a:xfrm>
          </p:grpSpPr>
          <p:sp>
            <p:nvSpPr>
              <p:cNvPr id="16" name="Rectangle 15">
                <a:extLst>
                  <a:ext uri="{FF2B5EF4-FFF2-40B4-BE49-F238E27FC236}">
                    <a16:creationId xmlns:a16="http://schemas.microsoft.com/office/drawing/2014/main" id="{C0FFF79B-70F0-6E1F-7E69-6BF94EF875E0}"/>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DC9B69A1-A583-75D6-C8B4-13D4703CA43E}"/>
                  </a:ext>
                </a:extLst>
              </p:cNvPr>
              <p:cNvSpPr/>
              <p:nvPr/>
            </p:nvSpPr>
            <p:spPr>
              <a:xfrm rot="5400000">
                <a:off x="2739910" y="1146126"/>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3" name="Picture 22" descr="BEll company logo">
            <a:extLst>
              <a:ext uri="{FF2B5EF4-FFF2-40B4-BE49-F238E27FC236}">
                <a16:creationId xmlns:a16="http://schemas.microsoft.com/office/drawing/2014/main" id="{BE0D1E3C-3468-661A-1F6A-AFBA2C759049}"/>
              </a:ext>
            </a:extLst>
          </p:cNvPr>
          <p:cNvPicPr>
            <a:picLocks noChangeAspect="1"/>
          </p:cNvPicPr>
          <p:nvPr/>
        </p:nvPicPr>
        <p:blipFill>
          <a:blip r:embed="rId2"/>
          <a:stretch>
            <a:fillRect/>
          </a:stretch>
        </p:blipFill>
        <p:spPr>
          <a:xfrm>
            <a:off x="11009239" y="605300"/>
            <a:ext cx="514513" cy="400050"/>
          </a:xfrm>
          <a:prstGeom prst="rect">
            <a:avLst/>
          </a:prstGeom>
        </p:spPr>
      </p:pic>
    </p:spTree>
    <p:extLst>
      <p:ext uri="{BB962C8B-B14F-4D97-AF65-F5344CB8AC3E}">
        <p14:creationId xmlns:p14="http://schemas.microsoft.com/office/powerpoint/2010/main" val="2742482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500" fill="hold"/>
                                        <p:tgtEl>
                                          <p:spTgt spid="21"/>
                                        </p:tgtEl>
                                        <p:attrNameLst>
                                          <p:attrName>ppt_x</p:attrName>
                                        </p:attrNameLst>
                                      </p:cBhvr>
                                      <p:tavLst>
                                        <p:tav tm="0">
                                          <p:val>
                                            <p:strVal val="1+#ppt_w/2"/>
                                          </p:val>
                                        </p:tav>
                                        <p:tav tm="100000">
                                          <p:val>
                                            <p:strVal val="#ppt_x"/>
                                          </p:val>
                                        </p:tav>
                                      </p:tavLst>
                                    </p:anim>
                                    <p:anim calcmode="lin" valueType="num">
                                      <p:cBhvr additive="base">
                                        <p:cTn id="11"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93F4B-820A-06CA-BA98-E1868C5690DB}"/>
              </a:ext>
            </a:extLst>
          </p:cNvPr>
          <p:cNvSpPr>
            <a:spLocks noGrp="1"/>
          </p:cNvSpPr>
          <p:nvPr>
            <p:ph type="title" idx="4294967295"/>
          </p:nvPr>
        </p:nvSpPr>
        <p:spPr>
          <a:xfrm>
            <a:off x="1171240" y="503752"/>
            <a:ext cx="5397364" cy="577816"/>
          </a:xfrm>
        </p:spPr>
        <p:txBody>
          <a:bodyPr>
            <a:noAutofit/>
          </a:bodyPr>
          <a:lstStyle/>
          <a:p>
            <a:r>
              <a:rPr lang="en-US" sz="3200" dirty="0">
                <a:latin typeface="Arial"/>
                <a:cs typeface="Arial"/>
              </a:rPr>
              <a:t>Roles and Responsibilities</a:t>
            </a:r>
            <a:endParaRPr lang="en-PH" sz="3200" dirty="0">
              <a:latin typeface="Arial"/>
              <a:cs typeface="Arial"/>
            </a:endParaRPr>
          </a:p>
        </p:txBody>
      </p:sp>
      <p:sp>
        <p:nvSpPr>
          <p:cNvPr id="14" name="TextBox 13">
            <a:extLst>
              <a:ext uri="{FF2B5EF4-FFF2-40B4-BE49-F238E27FC236}">
                <a16:creationId xmlns:a16="http://schemas.microsoft.com/office/drawing/2014/main" id="{2FE1B2FD-9E11-FF20-C26D-0BD2A715EC5D}"/>
              </a:ext>
            </a:extLst>
          </p:cNvPr>
          <p:cNvSpPr txBox="1"/>
          <p:nvPr/>
        </p:nvSpPr>
        <p:spPr>
          <a:xfrm>
            <a:off x="1076971" y="1029156"/>
            <a:ext cx="8283503" cy="246221"/>
          </a:xfrm>
          <a:prstGeom prst="rect">
            <a:avLst/>
          </a:prstGeom>
          <a:noFill/>
        </p:spPr>
        <p:txBody>
          <a:bodyPr wrap="square" lIns="91440" tIns="45720" rIns="91440" bIns="45720" rtlCol="0" anchor="t">
            <a:spAutoFit/>
          </a:bodyPr>
          <a:lstStyle/>
          <a:p>
            <a:r>
              <a:rPr lang="en-US" sz="1000" dirty="0">
                <a:latin typeface="Arial"/>
                <a:cs typeface="Arial"/>
              </a:rPr>
              <a:t>The following table identifies the resources and their respective roles and responsibilities during the Test phases</a:t>
            </a:r>
            <a:endParaRPr lang="en-CA" sz="1000">
              <a:highlight>
                <a:srgbClr val="FFFF00"/>
              </a:highlight>
              <a:latin typeface="Arial"/>
              <a:cs typeface="Arial"/>
            </a:endParaRPr>
          </a:p>
        </p:txBody>
      </p:sp>
      <p:graphicFrame>
        <p:nvGraphicFramePr>
          <p:cNvPr id="2" name="Table 1">
            <a:extLst>
              <a:ext uri="{FF2B5EF4-FFF2-40B4-BE49-F238E27FC236}">
                <a16:creationId xmlns:a16="http://schemas.microsoft.com/office/drawing/2014/main" id="{E06C78E8-26CD-A8F5-D136-9724A6210A6D}"/>
              </a:ext>
            </a:extLst>
          </p:cNvPr>
          <p:cNvGraphicFramePr>
            <a:graphicFrameLocks noGrp="1"/>
          </p:cNvGraphicFramePr>
          <p:nvPr>
            <p:extLst>
              <p:ext uri="{D42A27DB-BD31-4B8C-83A1-F6EECF244321}">
                <p14:modId xmlns:p14="http://schemas.microsoft.com/office/powerpoint/2010/main" val="4099420104"/>
              </p:ext>
            </p:extLst>
          </p:nvPr>
        </p:nvGraphicFramePr>
        <p:xfrm>
          <a:off x="1198081" y="1414013"/>
          <a:ext cx="8903564" cy="4609812"/>
        </p:xfrm>
        <a:graphic>
          <a:graphicData uri="http://schemas.openxmlformats.org/drawingml/2006/table">
            <a:tbl>
              <a:tblPr firstRow="1" bandRow="1">
                <a:tableStyleId>{17292A2E-F333-43FB-9621-5CBBE7FDCDCB}</a:tableStyleId>
              </a:tblPr>
              <a:tblGrid>
                <a:gridCol w="1183246">
                  <a:extLst>
                    <a:ext uri="{9D8B030D-6E8A-4147-A177-3AD203B41FA5}">
                      <a16:colId xmlns:a16="http://schemas.microsoft.com/office/drawing/2014/main" val="885806954"/>
                    </a:ext>
                  </a:extLst>
                </a:gridCol>
                <a:gridCol w="7720318">
                  <a:extLst>
                    <a:ext uri="{9D8B030D-6E8A-4147-A177-3AD203B41FA5}">
                      <a16:colId xmlns:a16="http://schemas.microsoft.com/office/drawing/2014/main" val="3835851387"/>
                    </a:ext>
                  </a:extLst>
                </a:gridCol>
              </a:tblGrid>
              <a:tr h="290752">
                <a:tc>
                  <a:txBody>
                    <a:bodyPr/>
                    <a:lstStyle/>
                    <a:p>
                      <a:r>
                        <a:rPr lang="en-CA" sz="1400" dirty="0">
                          <a:latin typeface="Arial"/>
                        </a:rPr>
                        <a:t>Resource</a:t>
                      </a:r>
                    </a:p>
                  </a:txBody>
                  <a:tcPr marL="91416" marR="91416" marT="45708" marB="45708"/>
                </a:tc>
                <a:tc>
                  <a:txBody>
                    <a:bodyPr/>
                    <a:lstStyle/>
                    <a:p>
                      <a:r>
                        <a:rPr lang="en-CA" sz="1400" dirty="0">
                          <a:latin typeface="Arial"/>
                        </a:rPr>
                        <a:t>Responsibility</a:t>
                      </a:r>
                    </a:p>
                  </a:txBody>
                  <a:tcPr marL="91416" marR="91416" marT="45708" marB="45708"/>
                </a:tc>
                <a:extLst>
                  <a:ext uri="{0D108BD9-81ED-4DB2-BD59-A6C34878D82A}">
                    <a16:rowId xmlns:a16="http://schemas.microsoft.com/office/drawing/2014/main" val="2685366809"/>
                  </a:ext>
                </a:extLst>
              </a:tr>
              <a:tr h="538431">
                <a:tc>
                  <a:txBody>
                    <a:bodyPr/>
                    <a:lstStyle/>
                    <a:p>
                      <a:r>
                        <a:rPr lang="en-CA" sz="1000" b="0" dirty="0">
                          <a:latin typeface="Arial"/>
                        </a:rPr>
                        <a:t>Project</a:t>
                      </a:r>
                      <a:r>
                        <a:rPr lang="en-CA" sz="1000" b="0" baseline="0" dirty="0">
                          <a:latin typeface="Arial"/>
                        </a:rPr>
                        <a:t> </a:t>
                      </a:r>
                      <a:r>
                        <a:rPr lang="en-CA" sz="1000" b="0" dirty="0">
                          <a:latin typeface="Arial"/>
                        </a:rPr>
                        <a:t>Manager</a:t>
                      </a:r>
                    </a:p>
                  </a:txBody>
                  <a:tcPr marL="91416" marR="91416" marT="45708" marB="45708" anchor="ctr"/>
                </a:tc>
                <a:tc>
                  <a:txBody>
                    <a:bodyPr/>
                    <a:lstStyle/>
                    <a:p>
                      <a:pPr lvl="0"/>
                      <a:r>
                        <a:rPr lang="en-US" sz="1000" kern="1200" dirty="0">
                          <a:solidFill>
                            <a:schemeClr val="dk1"/>
                          </a:solidFill>
                          <a:effectLst/>
                          <a:latin typeface="Arial"/>
                        </a:rPr>
                        <a:t>Final approval of all project deliverables</a:t>
                      </a:r>
                      <a:endParaRPr lang="en-CA" sz="1000" kern="1200" dirty="0">
                        <a:solidFill>
                          <a:schemeClr val="dk1"/>
                        </a:solidFill>
                        <a:effectLst/>
                        <a:latin typeface="Arial"/>
                      </a:endParaRPr>
                    </a:p>
                    <a:p>
                      <a:pPr lvl="0"/>
                      <a:r>
                        <a:rPr lang="en-US" sz="1000" kern="1200" dirty="0">
                          <a:solidFill>
                            <a:schemeClr val="dk1"/>
                          </a:solidFill>
                          <a:effectLst/>
                          <a:latin typeface="Arial"/>
                        </a:rPr>
                        <a:t>Escalation mechanism for Overall</a:t>
                      </a:r>
                      <a:r>
                        <a:rPr lang="en-US" sz="1000" kern="1200" baseline="0" dirty="0">
                          <a:solidFill>
                            <a:schemeClr val="dk1"/>
                          </a:solidFill>
                          <a:effectLst/>
                          <a:latin typeface="Arial"/>
                        </a:rPr>
                        <a:t> </a:t>
                      </a:r>
                      <a:r>
                        <a:rPr lang="en-CA" sz="1000" dirty="0"/>
                        <a:t>Play to Win SS Ph1 - Dashboard &amp; Warranty</a:t>
                      </a:r>
                      <a:r>
                        <a:rPr lang="en-US" sz="1200" b="1" dirty="0"/>
                        <a:t> </a:t>
                      </a:r>
                      <a:endParaRPr lang="en-US" sz="1000" kern="1200" baseline="0" dirty="0">
                        <a:solidFill>
                          <a:schemeClr val="dk1"/>
                        </a:solidFill>
                        <a:effectLst/>
                        <a:latin typeface="Arial"/>
                      </a:endParaRPr>
                    </a:p>
                    <a:p>
                      <a:pPr lvl="0"/>
                      <a:r>
                        <a:rPr lang="en-US" sz="1000" kern="1200" dirty="0">
                          <a:solidFill>
                            <a:schemeClr val="dk1"/>
                          </a:solidFill>
                          <a:effectLst/>
                          <a:latin typeface="Arial"/>
                        </a:rPr>
                        <a:t>Planning prime for budget and schedule</a:t>
                      </a:r>
                      <a:endParaRPr lang="en-CA" sz="1000" kern="1200" dirty="0">
                        <a:solidFill>
                          <a:schemeClr val="dk1"/>
                        </a:solidFill>
                        <a:effectLst/>
                        <a:latin typeface="Arial"/>
                        <a:ea typeface="+mn-ea"/>
                        <a:cs typeface="+mn-cs"/>
                      </a:endParaRPr>
                    </a:p>
                  </a:txBody>
                  <a:tcPr marL="91416" marR="91416" marT="45708" marB="45708"/>
                </a:tc>
                <a:extLst>
                  <a:ext uri="{0D108BD9-81ED-4DB2-BD59-A6C34878D82A}">
                    <a16:rowId xmlns:a16="http://schemas.microsoft.com/office/drawing/2014/main" val="3610237145"/>
                  </a:ext>
                </a:extLst>
              </a:tr>
              <a:tr h="15614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rial"/>
                        </a:rPr>
                        <a:t>Test Lead/Prime</a:t>
                      </a:r>
                    </a:p>
                  </a:txBody>
                  <a:tcPr marL="91416" marR="91416" marT="45708" marB="45708" anchor="ctr"/>
                </a:tc>
                <a:tc>
                  <a:txBody>
                    <a:bodyPr/>
                    <a:lstStyle/>
                    <a:p>
                      <a:pPr marL="171450" indent="-171450">
                        <a:buFont typeface="Arial" panose="020B0604020202020204" pitchFamily="34" charset="0"/>
                        <a:buChar char="•"/>
                      </a:pPr>
                      <a:r>
                        <a:rPr lang="en-CA" sz="1000" dirty="0">
                          <a:latin typeface="Arial"/>
                        </a:rPr>
                        <a:t>Assemble Strategy and Plan for SFT, SIT/E2E, Deployment Validation and Regression Testing of the Implementation scope. </a:t>
                      </a:r>
                    </a:p>
                    <a:p>
                      <a:pPr marL="628650" lvl="1" indent="-171450">
                        <a:buFont typeface="Arial" panose="020B0604020202020204" pitchFamily="34" charset="0"/>
                        <a:buChar char="•"/>
                      </a:pPr>
                      <a:r>
                        <a:rPr lang="en-CA" sz="1000" dirty="0">
                          <a:latin typeface="Arial"/>
                        </a:rPr>
                        <a:t>What will be tested, how it will be tested, when it will be tested (including sequence)</a:t>
                      </a:r>
                    </a:p>
                    <a:p>
                      <a:pPr marL="628650" lvl="1" indent="-171450">
                        <a:buFont typeface="Arial" panose="020B0604020202020204" pitchFamily="34" charset="0"/>
                        <a:buChar char="•"/>
                      </a:pPr>
                      <a:r>
                        <a:rPr lang="en-CA" sz="1000" dirty="0">
                          <a:latin typeface="Arial"/>
                        </a:rPr>
                        <a:t>Identification of dependencies, assumptions/constraints, and data, including by whom is accountable for providing</a:t>
                      </a:r>
                    </a:p>
                    <a:p>
                      <a:pPr marL="628650" lvl="1" indent="-171450">
                        <a:buFont typeface="Arial" panose="020B0604020202020204" pitchFamily="34" charset="0"/>
                        <a:buChar char="•"/>
                      </a:pPr>
                      <a:r>
                        <a:rPr lang="en-CA" sz="1000" dirty="0">
                          <a:latin typeface="Arial"/>
                        </a:rPr>
                        <a:t>Define support needed from the other systems (e.g. Source Systems, Middleware)</a:t>
                      </a:r>
                    </a:p>
                    <a:p>
                      <a:pPr marL="171450" lvl="0" indent="-171450">
                        <a:buFont typeface="Arial" panose="020B0604020202020204" pitchFamily="34" charset="0"/>
                        <a:buChar char="•"/>
                      </a:pPr>
                      <a:r>
                        <a:rPr lang="en-CA" sz="1000" dirty="0">
                          <a:latin typeface="Arial"/>
                        </a:rPr>
                        <a:t>Coordination of E2E, Deployment Validation and Regression test activities</a:t>
                      </a:r>
                    </a:p>
                    <a:p>
                      <a:pPr marL="171450" lvl="0" indent="-171450">
                        <a:buFont typeface="Arial" panose="020B0604020202020204" pitchFamily="34" charset="0"/>
                        <a:buChar char="•"/>
                      </a:pPr>
                      <a:r>
                        <a:rPr lang="en-CA" sz="1000" dirty="0">
                          <a:latin typeface="Arial"/>
                        </a:rPr>
                        <a:t>Manage and triage defects</a:t>
                      </a:r>
                    </a:p>
                    <a:p>
                      <a:pPr marL="171450" lvl="0" indent="-171450">
                        <a:buFont typeface="Arial" panose="020B0604020202020204" pitchFamily="34" charset="0"/>
                        <a:buChar char="•"/>
                      </a:pPr>
                      <a:r>
                        <a:rPr lang="en-CA" sz="1000" dirty="0">
                          <a:latin typeface="Arial"/>
                        </a:rPr>
                        <a:t>Host meeting cadences to ensure proper defect fix cadence and troubleshooting sessions</a:t>
                      </a:r>
                    </a:p>
                    <a:p>
                      <a:pPr marL="171450" lvl="0" indent="-171450">
                        <a:buFont typeface="Arial" panose="020B0604020202020204" pitchFamily="34" charset="0"/>
                        <a:buChar char="•"/>
                      </a:pPr>
                      <a:r>
                        <a:rPr lang="en-CA" sz="1000" dirty="0">
                          <a:latin typeface="Arial"/>
                        </a:rPr>
                        <a:t>Provides QA statuses, along with daily dashboard and report at stand-ups/ status calls </a:t>
                      </a:r>
                    </a:p>
                    <a:p>
                      <a:pPr marL="171450" lvl="0" indent="-171450">
                        <a:buFont typeface="Arial" panose="020B0604020202020204" pitchFamily="34" charset="0"/>
                        <a:buChar char="•"/>
                      </a:pPr>
                      <a:r>
                        <a:rPr lang="en-CA" sz="1000" dirty="0">
                          <a:latin typeface="Arial"/>
                        </a:rPr>
                        <a:t>Own quality and mitigate delivery risk</a:t>
                      </a:r>
                    </a:p>
                  </a:txBody>
                  <a:tcPr marL="91416" marR="91416" marT="45708" marB="45708"/>
                </a:tc>
                <a:extLst>
                  <a:ext uri="{0D108BD9-81ED-4DB2-BD59-A6C34878D82A}">
                    <a16:rowId xmlns:a16="http://schemas.microsoft.com/office/drawing/2014/main" val="3680960301"/>
                  </a:ext>
                </a:extLst>
              </a:tr>
              <a:tr h="2164495">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sz="1000" b="1" dirty="0">
                          <a:effectLst/>
                          <a:latin typeface="Arial"/>
                        </a:rPr>
                        <a:t> </a:t>
                      </a:r>
                      <a:r>
                        <a:rPr lang="en-CA" sz="1000" dirty="0">
                          <a:latin typeface="Arial"/>
                        </a:rPr>
                        <a:t>Quality Engineers (QE)</a:t>
                      </a:r>
                    </a:p>
                    <a:p>
                      <a:pPr>
                        <a:spcAft>
                          <a:spcPts val="0"/>
                        </a:spcAft>
                      </a:pPr>
                      <a:endParaRPr lang="en-CA" sz="1000" b="0" dirty="0">
                        <a:effectLst/>
                        <a:latin typeface="Arial"/>
                        <a:ea typeface="Times New Roman" panose="02020603050405020304" pitchFamily="18" charset="0"/>
                      </a:endParaRPr>
                    </a:p>
                  </a:txBody>
                  <a:tcPr marL="59040" marR="59040" marT="0" marB="0" anchor="ctr"/>
                </a:tc>
                <a:tc>
                  <a:txBody>
                    <a:bodyPr/>
                    <a:lstStyle/>
                    <a:p>
                      <a:pPr marL="171450" indent="-171450">
                        <a:buFont typeface="Arial" panose="020B0604020202020204" pitchFamily="34" charset="0"/>
                        <a:buChar char="•"/>
                      </a:pPr>
                      <a:r>
                        <a:rPr lang="en-CA" sz="1000" dirty="0">
                          <a:latin typeface="Arial"/>
                        </a:rPr>
                        <a:t>Review the following artifacts and provide feedback on content, structure, completeness for detail, and comprehension to support test readiness and execution </a:t>
                      </a:r>
                    </a:p>
                    <a:p>
                      <a:pPr marL="628650" lvl="1" indent="-171450">
                        <a:buFont typeface="Arial" panose="020B0604020202020204" pitchFamily="34" charset="0"/>
                        <a:buChar char="•"/>
                      </a:pPr>
                      <a:r>
                        <a:rPr lang="en-CA" sz="1000" dirty="0">
                          <a:latin typeface="Arial"/>
                        </a:rPr>
                        <a:t>Requirements (e.g., Epics, Features, User Stories, Use Cases)</a:t>
                      </a:r>
                    </a:p>
                    <a:p>
                      <a:pPr marL="628650" lvl="1" indent="-171450">
                        <a:buFont typeface="Arial" panose="020B0604020202020204" pitchFamily="34" charset="0"/>
                        <a:buChar char="•"/>
                      </a:pPr>
                      <a:r>
                        <a:rPr lang="en-CA" sz="1000" dirty="0">
                          <a:latin typeface="Arial"/>
                        </a:rPr>
                        <a:t>Design material (e.g., Mock-ups, wireframes, System Integration architecture, mapping data structure, business rules, etc.)</a:t>
                      </a:r>
                    </a:p>
                    <a:p>
                      <a:pPr marL="171450" indent="-171450">
                        <a:buFont typeface="Arial" panose="020B0604020202020204" pitchFamily="34" charset="0"/>
                        <a:buChar char="•"/>
                      </a:pPr>
                      <a:r>
                        <a:rPr lang="en-CA" sz="1000" dirty="0">
                          <a:latin typeface="Arial"/>
                        </a:rPr>
                        <a:t>Team of testers (by an objective neutral party that did not develop or configure the solution) that validates the functionality released meets the requirements in accordance with the user stories provided by the business</a:t>
                      </a:r>
                    </a:p>
                    <a:p>
                      <a:pPr marL="171450" indent="-171450">
                        <a:buFont typeface="Arial" panose="020B0604020202020204" pitchFamily="34" charset="0"/>
                        <a:buChar char="•"/>
                      </a:pPr>
                      <a:r>
                        <a:rPr lang="en-CA" sz="1000" dirty="0">
                          <a:latin typeface="Arial"/>
                        </a:rPr>
                        <a:t>Include both positive and negative testing - catching nuances that would have been missed during unit testing by developers and/or implementor</a:t>
                      </a:r>
                    </a:p>
                    <a:p>
                      <a:pPr marL="171450" indent="-171450">
                        <a:buFont typeface="Arial" panose="020B0604020202020204" pitchFamily="34" charset="0"/>
                        <a:buChar char="•"/>
                      </a:pPr>
                      <a:r>
                        <a:rPr lang="en-CA" sz="1000" dirty="0">
                          <a:latin typeface="Arial"/>
                        </a:rPr>
                        <a:t>Where and when applicable, stress the solution to mimic end user behaviours, including different variations of use of the systems and omissions with varied data, including validating error handling</a:t>
                      </a:r>
                    </a:p>
                    <a:p>
                      <a:pPr marL="171450" indent="-171450">
                        <a:buFont typeface="Arial" panose="020B0604020202020204" pitchFamily="34" charset="0"/>
                        <a:buChar char="•"/>
                      </a:pPr>
                      <a:r>
                        <a:rPr lang="en-CA" sz="1000" dirty="0">
                          <a:latin typeface="Arial"/>
                        </a:rPr>
                        <a:t>Build a regression package to run regression testing when new builds are released with new configuration/code and/or defect fixes, to ensure any changes impacting previously tested requirements are caught</a:t>
                      </a:r>
                    </a:p>
                    <a:p>
                      <a:pPr marL="0" lvl="0" indent="0">
                        <a:spcAft>
                          <a:spcPts val="0"/>
                        </a:spcAft>
                        <a:buFont typeface="Times New Roman" panose="02020603050405020304" pitchFamily="18" charset="0"/>
                        <a:buNone/>
                        <a:tabLst>
                          <a:tab pos="228600" algn="l"/>
                        </a:tabLst>
                      </a:pPr>
                      <a:endParaRPr lang="en-CA" sz="1000" dirty="0">
                        <a:effectLst/>
                        <a:latin typeface="Arial"/>
                        <a:ea typeface="Times New Roman" panose="02020603050405020304" pitchFamily="18" charset="0"/>
                      </a:endParaRPr>
                    </a:p>
                  </a:txBody>
                  <a:tcPr marL="59040" marR="59040" marT="0" marB="0" anchor="ctr"/>
                </a:tc>
                <a:extLst>
                  <a:ext uri="{0D108BD9-81ED-4DB2-BD59-A6C34878D82A}">
                    <a16:rowId xmlns:a16="http://schemas.microsoft.com/office/drawing/2014/main" val="2047162862"/>
                  </a:ext>
                </a:extLst>
              </a:tr>
            </a:tbl>
          </a:graphicData>
        </a:graphic>
      </p:graphicFrame>
      <p:grpSp>
        <p:nvGrpSpPr>
          <p:cNvPr id="10" name="Group 9">
            <a:extLst>
              <a:ext uri="{FF2B5EF4-FFF2-40B4-BE49-F238E27FC236}">
                <a16:creationId xmlns:a16="http://schemas.microsoft.com/office/drawing/2014/main" id="{01ADBDA6-CF8F-D3DC-E2F2-A31A32522C8E}"/>
              </a:ext>
            </a:extLst>
          </p:cNvPr>
          <p:cNvGrpSpPr/>
          <p:nvPr/>
        </p:nvGrpSpPr>
        <p:grpSpPr>
          <a:xfrm>
            <a:off x="1" y="4240"/>
            <a:ext cx="909836" cy="930066"/>
            <a:chOff x="1" y="-5685"/>
            <a:chExt cx="909836" cy="930066"/>
          </a:xfrm>
        </p:grpSpPr>
        <p:sp>
          <p:nvSpPr>
            <p:cNvPr id="6" name="Rectangle 5">
              <a:extLst>
                <a:ext uri="{FF2B5EF4-FFF2-40B4-BE49-F238E27FC236}">
                  <a16:creationId xmlns:a16="http://schemas.microsoft.com/office/drawing/2014/main" id="{3F44655D-CBBA-4BFC-0B7E-A89B60EDB039}"/>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02BC3DEF-B6C4-9B7A-263D-3372E03A8497}"/>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7">
              <a:extLst>
                <a:ext uri="{FF2B5EF4-FFF2-40B4-BE49-F238E27FC236}">
                  <a16:creationId xmlns:a16="http://schemas.microsoft.com/office/drawing/2014/main" id="{019E1A13-F05A-D370-5478-5DA18C6F9041}"/>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 name="Rectangle 8">
              <a:extLst>
                <a:ext uri="{FF2B5EF4-FFF2-40B4-BE49-F238E27FC236}">
                  <a16:creationId xmlns:a16="http://schemas.microsoft.com/office/drawing/2014/main" id="{1A740897-53A4-1613-DE4D-FFF8E3ECBB1A}"/>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9" name="Group 18">
            <a:extLst>
              <a:ext uri="{FF2B5EF4-FFF2-40B4-BE49-F238E27FC236}">
                <a16:creationId xmlns:a16="http://schemas.microsoft.com/office/drawing/2014/main" id="{D560B9CA-EB98-8B2B-CC13-8EDDEFFFAA46}"/>
              </a:ext>
            </a:extLst>
          </p:cNvPr>
          <p:cNvGrpSpPr/>
          <p:nvPr/>
        </p:nvGrpSpPr>
        <p:grpSpPr>
          <a:xfrm>
            <a:off x="10342891" y="4962097"/>
            <a:ext cx="1845935" cy="1895903"/>
            <a:chOff x="0" y="0"/>
            <a:chExt cx="3161556" cy="3048050"/>
          </a:xfrm>
        </p:grpSpPr>
        <p:grpSp>
          <p:nvGrpSpPr>
            <p:cNvPr id="12" name="Group 11">
              <a:extLst>
                <a:ext uri="{FF2B5EF4-FFF2-40B4-BE49-F238E27FC236}">
                  <a16:creationId xmlns:a16="http://schemas.microsoft.com/office/drawing/2014/main" id="{8B84FB12-7B93-0E02-B82A-9D802851F18B}"/>
                </a:ext>
              </a:extLst>
            </p:cNvPr>
            <p:cNvGrpSpPr/>
            <p:nvPr/>
          </p:nvGrpSpPr>
          <p:grpSpPr>
            <a:xfrm>
              <a:off x="0" y="0"/>
              <a:ext cx="2107704" cy="2241545"/>
              <a:chOff x="0" y="0"/>
              <a:chExt cx="2107704" cy="2241545"/>
            </a:xfrm>
          </p:grpSpPr>
          <p:sp>
            <p:nvSpPr>
              <p:cNvPr id="17" name="Rectangle 16">
                <a:extLst>
                  <a:ext uri="{FF2B5EF4-FFF2-40B4-BE49-F238E27FC236}">
                    <a16:creationId xmlns:a16="http://schemas.microsoft.com/office/drawing/2014/main" id="{65B16BAE-5BDE-FD18-94CD-EE8353176B3A}"/>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533B88CF-76B7-E3ED-30D3-DA856CBB08C1}"/>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3" name="Group 12">
              <a:extLst>
                <a:ext uri="{FF2B5EF4-FFF2-40B4-BE49-F238E27FC236}">
                  <a16:creationId xmlns:a16="http://schemas.microsoft.com/office/drawing/2014/main" id="{0AC5191A-1F12-8FF9-6B86-8A8700DDC73D}"/>
                </a:ext>
              </a:extLst>
            </p:cNvPr>
            <p:cNvGrpSpPr/>
            <p:nvPr/>
          </p:nvGrpSpPr>
          <p:grpSpPr>
            <a:xfrm flipH="1" flipV="1">
              <a:off x="1072246" y="1059210"/>
              <a:ext cx="2089310" cy="1988840"/>
              <a:chOff x="1580778" y="1268760"/>
              <a:chExt cx="2089310" cy="1988840"/>
            </a:xfrm>
          </p:grpSpPr>
          <p:sp>
            <p:nvSpPr>
              <p:cNvPr id="15" name="Rectangle 14">
                <a:extLst>
                  <a:ext uri="{FF2B5EF4-FFF2-40B4-BE49-F238E27FC236}">
                    <a16:creationId xmlns:a16="http://schemas.microsoft.com/office/drawing/2014/main" id="{E20E4DAB-A8FA-146F-7FC7-AE1CDF94DEB1}"/>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D1C40656-6704-5733-8673-98219AEB9101}"/>
                  </a:ext>
                </a:extLst>
              </p:cNvPr>
              <p:cNvSpPr/>
              <p:nvPr/>
            </p:nvSpPr>
            <p:spPr>
              <a:xfrm rot="5400000">
                <a:off x="2739910" y="1146126"/>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1" name="Picture 20" descr="BEll company logo">
            <a:extLst>
              <a:ext uri="{FF2B5EF4-FFF2-40B4-BE49-F238E27FC236}">
                <a16:creationId xmlns:a16="http://schemas.microsoft.com/office/drawing/2014/main" id="{682688C6-1627-59EE-8160-7829252A27D9}"/>
              </a:ext>
            </a:extLst>
          </p:cNvPr>
          <p:cNvPicPr>
            <a:picLocks noChangeAspect="1"/>
          </p:cNvPicPr>
          <p:nvPr/>
        </p:nvPicPr>
        <p:blipFill>
          <a:blip r:embed="rId2"/>
          <a:stretch>
            <a:fillRect/>
          </a:stretch>
        </p:blipFill>
        <p:spPr>
          <a:xfrm>
            <a:off x="11009239" y="635074"/>
            <a:ext cx="514513" cy="400050"/>
          </a:xfrm>
          <a:prstGeom prst="rect">
            <a:avLst/>
          </a:prstGeom>
        </p:spPr>
      </p:pic>
    </p:spTree>
    <p:extLst>
      <p:ext uri="{BB962C8B-B14F-4D97-AF65-F5344CB8AC3E}">
        <p14:creationId xmlns:p14="http://schemas.microsoft.com/office/powerpoint/2010/main" val="305868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 calcmode="lin" valueType="num">
                                      <p:cBhvr additive="base">
                                        <p:cTn id="10" dur="500" fill="hold"/>
                                        <p:tgtEl>
                                          <p:spTgt spid="19"/>
                                        </p:tgtEl>
                                        <p:attrNameLst>
                                          <p:attrName>ppt_x</p:attrName>
                                        </p:attrNameLst>
                                      </p:cBhvr>
                                      <p:tavLst>
                                        <p:tav tm="0">
                                          <p:val>
                                            <p:strVal val="1+#ppt_w/2"/>
                                          </p:val>
                                        </p:tav>
                                        <p:tav tm="100000">
                                          <p:val>
                                            <p:strVal val="#ppt_x"/>
                                          </p:val>
                                        </p:tav>
                                      </p:tavLst>
                                    </p:anim>
                                    <p:anim calcmode="lin" valueType="num">
                                      <p:cBhvr additive="base">
                                        <p:cTn id="1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28797-5A38-784B-535F-4A17771421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763CAF-3579-005F-2AE9-8DEC6F2039AC}"/>
              </a:ext>
            </a:extLst>
          </p:cNvPr>
          <p:cNvSpPr>
            <a:spLocks noGrp="1"/>
          </p:cNvSpPr>
          <p:nvPr>
            <p:ph type="title" idx="4294967295"/>
          </p:nvPr>
        </p:nvSpPr>
        <p:spPr>
          <a:xfrm>
            <a:off x="1171240" y="503752"/>
            <a:ext cx="5397364" cy="577816"/>
          </a:xfrm>
        </p:spPr>
        <p:txBody>
          <a:bodyPr>
            <a:noAutofit/>
          </a:bodyPr>
          <a:lstStyle/>
          <a:p>
            <a:r>
              <a:rPr lang="en-US" sz="3200" dirty="0">
                <a:latin typeface="Arial"/>
                <a:cs typeface="Arial"/>
              </a:rPr>
              <a:t>Roles and Responsibilities</a:t>
            </a:r>
            <a:endParaRPr lang="en-PH" sz="3200" dirty="0">
              <a:latin typeface="Arial"/>
              <a:cs typeface="Arial"/>
            </a:endParaRPr>
          </a:p>
        </p:txBody>
      </p:sp>
      <p:sp>
        <p:nvSpPr>
          <p:cNvPr id="14" name="TextBox 13">
            <a:extLst>
              <a:ext uri="{FF2B5EF4-FFF2-40B4-BE49-F238E27FC236}">
                <a16:creationId xmlns:a16="http://schemas.microsoft.com/office/drawing/2014/main" id="{7078D6DF-9923-208E-AE5C-6EF2D198905B}"/>
              </a:ext>
            </a:extLst>
          </p:cNvPr>
          <p:cNvSpPr txBox="1"/>
          <p:nvPr/>
        </p:nvSpPr>
        <p:spPr>
          <a:xfrm>
            <a:off x="1076971" y="1029156"/>
            <a:ext cx="8283503" cy="246221"/>
          </a:xfrm>
          <a:prstGeom prst="rect">
            <a:avLst/>
          </a:prstGeom>
          <a:noFill/>
        </p:spPr>
        <p:txBody>
          <a:bodyPr wrap="square" lIns="91440" tIns="45720" rIns="91440" bIns="45720" rtlCol="0" anchor="t">
            <a:spAutoFit/>
          </a:bodyPr>
          <a:lstStyle/>
          <a:p>
            <a:r>
              <a:rPr lang="en-US" sz="1000" dirty="0">
                <a:latin typeface="Arial"/>
                <a:cs typeface="Arial"/>
              </a:rPr>
              <a:t>The following table identifies the resources and their respective roles and responsibilities during the Test phases</a:t>
            </a:r>
            <a:endParaRPr lang="en-CA" sz="1000">
              <a:highlight>
                <a:srgbClr val="FFFF00"/>
              </a:highlight>
              <a:latin typeface="Arial"/>
              <a:cs typeface="Arial"/>
            </a:endParaRPr>
          </a:p>
        </p:txBody>
      </p:sp>
      <p:grpSp>
        <p:nvGrpSpPr>
          <p:cNvPr id="10" name="Group 9">
            <a:extLst>
              <a:ext uri="{FF2B5EF4-FFF2-40B4-BE49-F238E27FC236}">
                <a16:creationId xmlns:a16="http://schemas.microsoft.com/office/drawing/2014/main" id="{3A867B28-45A4-9473-6B85-2BB70142914D}"/>
              </a:ext>
            </a:extLst>
          </p:cNvPr>
          <p:cNvGrpSpPr/>
          <p:nvPr/>
        </p:nvGrpSpPr>
        <p:grpSpPr>
          <a:xfrm>
            <a:off x="1" y="4240"/>
            <a:ext cx="909836" cy="930066"/>
            <a:chOff x="1" y="-5685"/>
            <a:chExt cx="909836" cy="930066"/>
          </a:xfrm>
        </p:grpSpPr>
        <p:sp>
          <p:nvSpPr>
            <p:cNvPr id="6" name="Rectangle 5">
              <a:extLst>
                <a:ext uri="{FF2B5EF4-FFF2-40B4-BE49-F238E27FC236}">
                  <a16:creationId xmlns:a16="http://schemas.microsoft.com/office/drawing/2014/main" id="{5F1981E9-47A4-65D7-42EB-0B3F74F67880}"/>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48BE6FC3-FF90-F834-FFE7-AB5D4813D486}"/>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7">
              <a:extLst>
                <a:ext uri="{FF2B5EF4-FFF2-40B4-BE49-F238E27FC236}">
                  <a16:creationId xmlns:a16="http://schemas.microsoft.com/office/drawing/2014/main" id="{ED0A98CF-47A7-E6AB-3FF8-3ADB8F4DD47A}"/>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 name="Rectangle 8">
              <a:extLst>
                <a:ext uri="{FF2B5EF4-FFF2-40B4-BE49-F238E27FC236}">
                  <a16:creationId xmlns:a16="http://schemas.microsoft.com/office/drawing/2014/main" id="{6743E705-BF8A-3787-FD80-858AAE6AA60A}"/>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9" name="Group 18">
            <a:extLst>
              <a:ext uri="{FF2B5EF4-FFF2-40B4-BE49-F238E27FC236}">
                <a16:creationId xmlns:a16="http://schemas.microsoft.com/office/drawing/2014/main" id="{8EA4740D-BCBA-3F2E-CBD2-583479750149}"/>
              </a:ext>
            </a:extLst>
          </p:cNvPr>
          <p:cNvGrpSpPr/>
          <p:nvPr/>
        </p:nvGrpSpPr>
        <p:grpSpPr>
          <a:xfrm>
            <a:off x="10342891" y="4962097"/>
            <a:ext cx="1845935" cy="1895903"/>
            <a:chOff x="0" y="0"/>
            <a:chExt cx="3161556" cy="3048050"/>
          </a:xfrm>
        </p:grpSpPr>
        <p:grpSp>
          <p:nvGrpSpPr>
            <p:cNvPr id="12" name="Group 11">
              <a:extLst>
                <a:ext uri="{FF2B5EF4-FFF2-40B4-BE49-F238E27FC236}">
                  <a16:creationId xmlns:a16="http://schemas.microsoft.com/office/drawing/2014/main" id="{B653BA00-9E51-0D62-A97D-15695153FACD}"/>
                </a:ext>
              </a:extLst>
            </p:cNvPr>
            <p:cNvGrpSpPr/>
            <p:nvPr/>
          </p:nvGrpSpPr>
          <p:grpSpPr>
            <a:xfrm>
              <a:off x="0" y="0"/>
              <a:ext cx="2107704" cy="2241545"/>
              <a:chOff x="0" y="0"/>
              <a:chExt cx="2107704" cy="2241545"/>
            </a:xfrm>
          </p:grpSpPr>
          <p:sp>
            <p:nvSpPr>
              <p:cNvPr id="17" name="Rectangle 16">
                <a:extLst>
                  <a:ext uri="{FF2B5EF4-FFF2-40B4-BE49-F238E27FC236}">
                    <a16:creationId xmlns:a16="http://schemas.microsoft.com/office/drawing/2014/main" id="{18C0B9B9-D957-5511-5999-3251826C42C2}"/>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839A8135-9FC1-ADA1-2E57-4DF48B8C7402}"/>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3" name="Group 12">
              <a:extLst>
                <a:ext uri="{FF2B5EF4-FFF2-40B4-BE49-F238E27FC236}">
                  <a16:creationId xmlns:a16="http://schemas.microsoft.com/office/drawing/2014/main" id="{DEA467ED-0EDE-DD94-ADD8-100099A90F64}"/>
                </a:ext>
              </a:extLst>
            </p:cNvPr>
            <p:cNvGrpSpPr/>
            <p:nvPr/>
          </p:nvGrpSpPr>
          <p:grpSpPr>
            <a:xfrm flipH="1" flipV="1">
              <a:off x="1072246" y="1059210"/>
              <a:ext cx="2089310" cy="1988840"/>
              <a:chOff x="1580778" y="1268760"/>
              <a:chExt cx="2089310" cy="1988840"/>
            </a:xfrm>
          </p:grpSpPr>
          <p:sp>
            <p:nvSpPr>
              <p:cNvPr id="15" name="Rectangle 14">
                <a:extLst>
                  <a:ext uri="{FF2B5EF4-FFF2-40B4-BE49-F238E27FC236}">
                    <a16:creationId xmlns:a16="http://schemas.microsoft.com/office/drawing/2014/main" id="{EBAFAC73-FF6E-64DC-A339-4484B8425596}"/>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424EC324-637B-9824-9DC0-4BC7A2630910}"/>
                  </a:ext>
                </a:extLst>
              </p:cNvPr>
              <p:cNvSpPr/>
              <p:nvPr/>
            </p:nvSpPr>
            <p:spPr>
              <a:xfrm rot="5400000">
                <a:off x="2739910" y="1146126"/>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1" name="Picture 20" descr="BEll company logo">
            <a:extLst>
              <a:ext uri="{FF2B5EF4-FFF2-40B4-BE49-F238E27FC236}">
                <a16:creationId xmlns:a16="http://schemas.microsoft.com/office/drawing/2014/main" id="{9ED4AE75-4600-C53A-B1F6-B3B750B1560B}"/>
              </a:ext>
            </a:extLst>
          </p:cNvPr>
          <p:cNvPicPr>
            <a:picLocks noChangeAspect="1"/>
          </p:cNvPicPr>
          <p:nvPr/>
        </p:nvPicPr>
        <p:blipFill>
          <a:blip r:embed="rId2"/>
          <a:stretch>
            <a:fillRect/>
          </a:stretch>
        </p:blipFill>
        <p:spPr>
          <a:xfrm>
            <a:off x="11009239" y="635074"/>
            <a:ext cx="514513" cy="400050"/>
          </a:xfrm>
          <a:prstGeom prst="rect">
            <a:avLst/>
          </a:prstGeom>
        </p:spPr>
      </p:pic>
      <p:graphicFrame>
        <p:nvGraphicFramePr>
          <p:cNvPr id="11" name="Table 10">
            <a:extLst>
              <a:ext uri="{FF2B5EF4-FFF2-40B4-BE49-F238E27FC236}">
                <a16:creationId xmlns:a16="http://schemas.microsoft.com/office/drawing/2014/main" id="{5A9F01ED-0121-CBB3-91FE-D2D3ADE9A172}"/>
              </a:ext>
            </a:extLst>
          </p:cNvPr>
          <p:cNvGraphicFramePr>
            <a:graphicFrameLocks noGrp="1"/>
          </p:cNvGraphicFramePr>
          <p:nvPr>
            <p:extLst>
              <p:ext uri="{D42A27DB-BD31-4B8C-83A1-F6EECF244321}">
                <p14:modId xmlns:p14="http://schemas.microsoft.com/office/powerpoint/2010/main" val="1723135398"/>
              </p:ext>
            </p:extLst>
          </p:nvPr>
        </p:nvGraphicFramePr>
        <p:xfrm>
          <a:off x="1171238" y="1429163"/>
          <a:ext cx="8812733" cy="3966583"/>
        </p:xfrm>
        <a:graphic>
          <a:graphicData uri="http://schemas.openxmlformats.org/drawingml/2006/table">
            <a:tbl>
              <a:tblPr firstRow="1" bandRow="1">
                <a:tableStyleId>{17292A2E-F333-43FB-9621-5CBBE7FDCDCB}</a:tableStyleId>
              </a:tblPr>
              <a:tblGrid>
                <a:gridCol w="1464971">
                  <a:extLst>
                    <a:ext uri="{9D8B030D-6E8A-4147-A177-3AD203B41FA5}">
                      <a16:colId xmlns:a16="http://schemas.microsoft.com/office/drawing/2014/main" val="885806954"/>
                    </a:ext>
                  </a:extLst>
                </a:gridCol>
                <a:gridCol w="7347762">
                  <a:extLst>
                    <a:ext uri="{9D8B030D-6E8A-4147-A177-3AD203B41FA5}">
                      <a16:colId xmlns:a16="http://schemas.microsoft.com/office/drawing/2014/main" val="3835851387"/>
                    </a:ext>
                  </a:extLst>
                </a:gridCol>
              </a:tblGrid>
              <a:tr h="358985">
                <a:tc>
                  <a:txBody>
                    <a:bodyPr/>
                    <a:lstStyle/>
                    <a:p>
                      <a:r>
                        <a:rPr lang="en-CA" sz="1400" dirty="0">
                          <a:latin typeface="Arial"/>
                        </a:rPr>
                        <a:t>Resource</a:t>
                      </a:r>
                    </a:p>
                  </a:txBody>
                  <a:tcPr marL="91416" marR="91416" marT="45708" marB="45708"/>
                </a:tc>
                <a:tc>
                  <a:txBody>
                    <a:bodyPr/>
                    <a:lstStyle/>
                    <a:p>
                      <a:r>
                        <a:rPr lang="en-CA" sz="1400" dirty="0">
                          <a:latin typeface="Arial"/>
                        </a:rPr>
                        <a:t>Responsibility</a:t>
                      </a:r>
                    </a:p>
                  </a:txBody>
                  <a:tcPr marL="91416" marR="91416" marT="45708" marB="45708"/>
                </a:tc>
                <a:extLst>
                  <a:ext uri="{0D108BD9-81ED-4DB2-BD59-A6C34878D82A}">
                    <a16:rowId xmlns:a16="http://schemas.microsoft.com/office/drawing/2014/main" val="2685366809"/>
                  </a:ext>
                </a:extLst>
              </a:tr>
              <a:tr h="949576">
                <a:tc>
                  <a:txBody>
                    <a:bodyPr/>
                    <a:lstStyle/>
                    <a:p>
                      <a:r>
                        <a:rPr lang="en-CA" sz="1000" b="0" dirty="0">
                          <a:latin typeface="Arial"/>
                        </a:rPr>
                        <a:t>Dev Management</a:t>
                      </a:r>
                    </a:p>
                  </a:txBody>
                  <a:tcPr marL="91416" marR="91416" marT="45708" marB="45708" anchor="ctr"/>
                </a:tc>
                <a:tc>
                  <a:txBody>
                    <a:bodyPr/>
                    <a:lstStyle/>
                    <a:p>
                      <a:pPr lvl="0"/>
                      <a:r>
                        <a:rPr lang="en-US" sz="1000" kern="1200" dirty="0">
                          <a:solidFill>
                            <a:schemeClr val="dk1"/>
                          </a:solidFill>
                          <a:effectLst/>
                          <a:latin typeface="Arial"/>
                        </a:rPr>
                        <a:t>Wireframe UX Design</a:t>
                      </a:r>
                    </a:p>
                    <a:p>
                      <a:pPr lvl="0"/>
                      <a:r>
                        <a:rPr lang="en-US" sz="1000" kern="1200" dirty="0">
                          <a:solidFill>
                            <a:schemeClr val="dk1"/>
                          </a:solidFill>
                          <a:effectLst/>
                          <a:latin typeface="Arial"/>
                        </a:rPr>
                        <a:t>Unit/component testing</a:t>
                      </a:r>
                    </a:p>
                    <a:p>
                      <a:pPr lvl="0"/>
                      <a:r>
                        <a:rPr lang="en-US" sz="1000" kern="1200" dirty="0">
                          <a:solidFill>
                            <a:schemeClr val="dk1"/>
                          </a:solidFill>
                          <a:effectLst/>
                          <a:latin typeface="Arial"/>
                        </a:rPr>
                        <a:t>Development plan</a:t>
                      </a:r>
                    </a:p>
                    <a:p>
                      <a:pPr lvl="0"/>
                      <a:r>
                        <a:rPr lang="en-US" sz="1000" kern="1200" dirty="0">
                          <a:solidFill>
                            <a:schemeClr val="dk1"/>
                          </a:solidFill>
                          <a:effectLst/>
                          <a:latin typeface="Arial"/>
                        </a:rPr>
                        <a:t>Defect solutions, Test Support, Automation support, Environment support, deployment execution and support, Production support</a:t>
                      </a:r>
                      <a:endParaRPr lang="en-CA" sz="1000" kern="1200">
                        <a:solidFill>
                          <a:schemeClr val="dk1"/>
                        </a:solidFill>
                        <a:effectLst/>
                        <a:latin typeface="Arial"/>
                        <a:ea typeface="+mn-ea"/>
                        <a:cs typeface="+mn-cs"/>
                      </a:endParaRPr>
                    </a:p>
                  </a:txBody>
                  <a:tcPr marL="91416" marR="91416" marT="45708" marB="45708" anchor="ctr"/>
                </a:tc>
                <a:extLst>
                  <a:ext uri="{0D108BD9-81ED-4DB2-BD59-A6C34878D82A}">
                    <a16:rowId xmlns:a16="http://schemas.microsoft.com/office/drawing/2014/main" val="3610237145"/>
                  </a:ext>
                </a:extLst>
              </a:tr>
              <a:tr h="944152">
                <a:tc>
                  <a:txBody>
                    <a:bodyPr/>
                    <a:lstStyle/>
                    <a:p>
                      <a:r>
                        <a:rPr lang="en-US" sz="1000" dirty="0">
                          <a:latin typeface="Arial"/>
                        </a:rPr>
                        <a:t>BA/Architect</a:t>
                      </a:r>
                      <a:endParaRPr lang="en-CA" sz="1000" b="0" dirty="0">
                        <a:solidFill>
                          <a:schemeClr val="tx1"/>
                        </a:solidFill>
                        <a:latin typeface="Arial"/>
                      </a:endParaRPr>
                    </a:p>
                  </a:txBody>
                  <a:tcPr marL="91416" marR="91416" marT="45708" marB="45708"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00" dirty="0">
                          <a:latin typeface="Arial"/>
                        </a:rPr>
                        <a:t>Final approval of all BRD/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00" dirty="0">
                          <a:latin typeface="Arial"/>
                        </a:rPr>
                        <a:t>Extending right solution and design diagram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00" dirty="0">
                          <a:latin typeface="Arial"/>
                        </a:rPr>
                        <a:t>Offering requirement clarity and solution correction, if needed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00" dirty="0">
                          <a:latin typeface="Arial"/>
                        </a:rPr>
                        <a:t>Carry out UAT or/and ORT execution and other required activity (if any)</a:t>
                      </a:r>
                    </a:p>
                  </a:txBody>
                  <a:tcPr marL="91416" marR="91416" marT="45708" marB="45708" anchor="ctr"/>
                </a:tc>
                <a:extLst>
                  <a:ext uri="{0D108BD9-81ED-4DB2-BD59-A6C34878D82A}">
                    <a16:rowId xmlns:a16="http://schemas.microsoft.com/office/drawing/2014/main" val="3680960301"/>
                  </a:ext>
                </a:extLst>
              </a:tr>
              <a:tr h="1713870">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CA" sz="1000" dirty="0">
                          <a:latin typeface="Arial"/>
                        </a:rPr>
                        <a:t>Program-Level Overall Test Manager</a:t>
                      </a:r>
                    </a:p>
                    <a:p>
                      <a:pPr>
                        <a:spcAft>
                          <a:spcPts val="0"/>
                        </a:spcAft>
                      </a:pPr>
                      <a:endParaRPr lang="en-CA" sz="1000" b="0" dirty="0">
                        <a:effectLst/>
                        <a:latin typeface="Arial"/>
                        <a:ea typeface="Times New Roman" panose="02020603050405020304" pitchFamily="18" charset="0"/>
                      </a:endParaRPr>
                    </a:p>
                  </a:txBody>
                  <a:tcPr marL="59040" marR="59040" marT="0" marB="0" anchor="ctr"/>
                </a:tc>
                <a:tc>
                  <a:txBody>
                    <a:bodyPr/>
                    <a:lstStyle/>
                    <a:p>
                      <a:pPr marL="171450" indent="-171450">
                        <a:buFont typeface="Arial" panose="020B0604020202020204" pitchFamily="34" charset="0"/>
                        <a:buChar char="•"/>
                      </a:pPr>
                      <a:r>
                        <a:rPr lang="en-CA" sz="1000" dirty="0">
                          <a:latin typeface="Arial"/>
                        </a:rPr>
                        <a:t>Leads the QA team and is the overall end to end program test prime</a:t>
                      </a:r>
                    </a:p>
                    <a:p>
                      <a:pPr marL="171450" indent="-171450">
                        <a:buFont typeface="Arial" panose="020B0604020202020204" pitchFamily="34" charset="0"/>
                        <a:buChar char="•"/>
                      </a:pPr>
                      <a:r>
                        <a:rPr lang="en-CA" sz="1000" dirty="0">
                          <a:latin typeface="Arial"/>
                        </a:rPr>
                        <a:t>Plans and coordinates all systems, integrations layers and 3</a:t>
                      </a:r>
                      <a:r>
                        <a:rPr lang="en-CA" sz="1000" baseline="30000" dirty="0">
                          <a:latin typeface="Arial"/>
                        </a:rPr>
                        <a:t>rd</a:t>
                      </a:r>
                      <a:r>
                        <a:rPr lang="en-CA" sz="1000" dirty="0">
                          <a:latin typeface="Arial"/>
                        </a:rPr>
                        <a:t> party across all test phases</a:t>
                      </a:r>
                    </a:p>
                    <a:p>
                      <a:pPr marL="171450" indent="-171450">
                        <a:buFont typeface="Arial" panose="020B0604020202020204" pitchFamily="34" charset="0"/>
                        <a:buChar char="•"/>
                      </a:pPr>
                      <a:r>
                        <a:rPr lang="en-CA" sz="1000" dirty="0">
                          <a:latin typeface="Arial"/>
                        </a:rPr>
                        <a:t>Planning for what systems need to be ready at what point, monitoring progress and flagging risks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Arial"/>
                        </a:rPr>
                        <a:t>Definition and assurance of Entry and Exit criteria for all testing gates</a:t>
                      </a:r>
                    </a:p>
                    <a:p>
                      <a:pPr marL="171450" indent="-171450">
                        <a:buFont typeface="Arial" panose="020B0604020202020204" pitchFamily="34" charset="0"/>
                        <a:buChar char="•"/>
                      </a:pPr>
                      <a:r>
                        <a:rPr lang="en-CA" sz="1000" dirty="0">
                          <a:latin typeface="Arial"/>
                        </a:rPr>
                        <a:t>Manage and Triage defects that are E2E and unclear what system should fix</a:t>
                      </a:r>
                    </a:p>
                    <a:p>
                      <a:pPr marL="171450" indent="-171450">
                        <a:buFont typeface="Arial" panose="020B0604020202020204" pitchFamily="34" charset="0"/>
                        <a:buChar char="•"/>
                      </a:pPr>
                      <a:r>
                        <a:rPr lang="en-CA" sz="1000" dirty="0">
                          <a:latin typeface="Arial"/>
                        </a:rPr>
                        <a:t>Ensure team handles the issues at a proper velocity</a:t>
                      </a:r>
                    </a:p>
                    <a:p>
                      <a:pPr marL="171450" indent="-171450">
                        <a:buFont typeface="Arial" panose="020B0604020202020204" pitchFamily="34" charset="0"/>
                        <a:buChar char="•"/>
                      </a:pPr>
                      <a:r>
                        <a:rPr lang="en-CA" sz="1000" dirty="0">
                          <a:latin typeface="Arial"/>
                        </a:rPr>
                        <a:t>Provides QA statuses snapshot across all systems and overall state of testing for the program and not just each system</a:t>
                      </a:r>
                    </a:p>
                    <a:p>
                      <a:pPr marL="171450" indent="-171450">
                        <a:buFont typeface="Arial" panose="020B0604020202020204" pitchFamily="34" charset="0"/>
                        <a:buChar char="•"/>
                      </a:pPr>
                      <a:r>
                        <a:rPr lang="en-CA" sz="1000" dirty="0">
                          <a:latin typeface="Arial"/>
                        </a:rPr>
                        <a:t>The main goal of the program Prime is to own program-wide quality and mitigate delivery risk across all systems as a single team</a:t>
                      </a:r>
                    </a:p>
                    <a:p>
                      <a:pPr marL="171450" indent="-171450">
                        <a:buFont typeface="Arial" panose="020B0604020202020204" pitchFamily="34" charset="0"/>
                        <a:buChar char="•"/>
                      </a:pPr>
                      <a:r>
                        <a:rPr lang="en-CA" sz="1000" dirty="0">
                          <a:latin typeface="Arial"/>
                        </a:rPr>
                        <a:t>Interaction with delivery vendor and Bell business team, to be aware of requirements and delivery progress</a:t>
                      </a:r>
                    </a:p>
                  </a:txBody>
                  <a:tcPr marL="59040" marR="59040" marT="0" marB="0" anchor="ctr"/>
                </a:tc>
                <a:extLst>
                  <a:ext uri="{0D108BD9-81ED-4DB2-BD59-A6C34878D82A}">
                    <a16:rowId xmlns:a16="http://schemas.microsoft.com/office/drawing/2014/main" val="3738314203"/>
                  </a:ext>
                </a:extLst>
              </a:tr>
            </a:tbl>
          </a:graphicData>
        </a:graphic>
      </p:graphicFrame>
    </p:spTree>
    <p:extLst>
      <p:ext uri="{BB962C8B-B14F-4D97-AF65-F5344CB8AC3E}">
        <p14:creationId xmlns:p14="http://schemas.microsoft.com/office/powerpoint/2010/main" val="4214594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 calcmode="lin" valueType="num">
                                      <p:cBhvr additive="base">
                                        <p:cTn id="10" dur="500" fill="hold"/>
                                        <p:tgtEl>
                                          <p:spTgt spid="19"/>
                                        </p:tgtEl>
                                        <p:attrNameLst>
                                          <p:attrName>ppt_x</p:attrName>
                                        </p:attrNameLst>
                                      </p:cBhvr>
                                      <p:tavLst>
                                        <p:tav tm="0">
                                          <p:val>
                                            <p:strVal val="1+#ppt_w/2"/>
                                          </p:val>
                                        </p:tav>
                                        <p:tav tm="100000">
                                          <p:val>
                                            <p:strVal val="#ppt_x"/>
                                          </p:val>
                                        </p:tav>
                                      </p:tavLst>
                                    </p:anim>
                                    <p:anim calcmode="lin" valueType="num">
                                      <p:cBhvr additive="base">
                                        <p:cTn id="1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79ECCE4-A0C1-19FC-22C7-431251FADEA4}"/>
              </a:ext>
            </a:extLst>
          </p:cNvPr>
          <p:cNvGrpSpPr/>
          <p:nvPr/>
        </p:nvGrpSpPr>
        <p:grpSpPr>
          <a:xfrm>
            <a:off x="3173435" y="1324298"/>
            <a:ext cx="6860477" cy="3362472"/>
            <a:chOff x="5085003" y="1374323"/>
            <a:chExt cx="6862264" cy="3363348"/>
          </a:xfrm>
        </p:grpSpPr>
        <p:pic>
          <p:nvPicPr>
            <p:cNvPr id="15" name="Picture 14">
              <a:extLst>
                <a:ext uri="{FF2B5EF4-FFF2-40B4-BE49-F238E27FC236}">
                  <a16:creationId xmlns:a16="http://schemas.microsoft.com/office/drawing/2014/main" id="{CB73F119-9455-B602-A1BA-E0E6DBCF34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85003" y="1374323"/>
              <a:ext cx="6862264" cy="3363348"/>
            </a:xfrm>
            <a:prstGeom prst="rect">
              <a:avLst/>
            </a:prstGeom>
            <a:ln>
              <a:noFill/>
            </a:ln>
            <a:effectLst>
              <a:outerShdw blurRad="292100" dist="139700" dir="2700000" algn="tl" rotWithShape="0">
                <a:srgbClr val="333333">
                  <a:alpha val="65000"/>
                </a:srgbClr>
              </a:outerShdw>
            </a:effectLst>
          </p:spPr>
        </p:pic>
        <p:sp>
          <p:nvSpPr>
            <p:cNvPr id="16" name="TextBox 15">
              <a:extLst>
                <a:ext uri="{FF2B5EF4-FFF2-40B4-BE49-F238E27FC236}">
                  <a16:creationId xmlns:a16="http://schemas.microsoft.com/office/drawing/2014/main" id="{5A3A1193-266C-70BE-AF0B-12A6AA7413B3}"/>
                </a:ext>
              </a:extLst>
            </p:cNvPr>
            <p:cNvSpPr txBox="1"/>
            <p:nvPr/>
          </p:nvSpPr>
          <p:spPr>
            <a:xfrm>
              <a:off x="5158308" y="1412776"/>
              <a:ext cx="6264696" cy="461537"/>
            </a:xfrm>
            <a:prstGeom prst="rect">
              <a:avLst/>
            </a:prstGeom>
            <a:solidFill>
              <a:schemeClr val="bg1"/>
            </a:solid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2399" b="1" i="0" u="none" strike="noStrike" kern="1200" cap="none" spc="0" normalizeH="0" baseline="0" noProof="0">
                  <a:ln>
                    <a:noFill/>
                  </a:ln>
                  <a:solidFill>
                    <a:prstClr val="black"/>
                  </a:solidFill>
                  <a:effectLst/>
                  <a:uLnTx/>
                  <a:uFillTx/>
                  <a:latin typeface="Tw Cen MT" panose="020B0602020104020603"/>
                  <a:ea typeface="+mn-ea"/>
                  <a:cs typeface="+mn-cs"/>
                </a:rPr>
                <a:t>Legacy vs Stack Testing Approach</a:t>
              </a:r>
              <a:endParaRPr kumimoji="0" lang="en-CA" sz="2399" b="1" i="0" u="none" strike="noStrike" kern="1200" cap="none" spc="0" normalizeH="0" baseline="0" noProof="0">
                <a:ln>
                  <a:noFill/>
                </a:ln>
                <a:solidFill>
                  <a:prstClr val="black"/>
                </a:solidFill>
                <a:effectLst/>
                <a:uLnTx/>
                <a:uFillTx/>
                <a:latin typeface="Tw Cen MT" panose="020B0602020104020603"/>
                <a:ea typeface="+mn-ea"/>
                <a:cs typeface="+mn-cs"/>
              </a:endParaRPr>
            </a:p>
          </p:txBody>
        </p:sp>
      </p:grpSp>
      <p:grpSp>
        <p:nvGrpSpPr>
          <p:cNvPr id="19" name="Group 18">
            <a:extLst>
              <a:ext uri="{FF2B5EF4-FFF2-40B4-BE49-F238E27FC236}">
                <a16:creationId xmlns:a16="http://schemas.microsoft.com/office/drawing/2014/main" id="{FF2286AD-A432-A9A7-78DB-51040C434E72}"/>
              </a:ext>
            </a:extLst>
          </p:cNvPr>
          <p:cNvGrpSpPr/>
          <p:nvPr/>
        </p:nvGrpSpPr>
        <p:grpSpPr>
          <a:xfrm>
            <a:off x="6964294" y="3371964"/>
            <a:ext cx="3182300" cy="2616427"/>
            <a:chOff x="7126282" y="3363194"/>
            <a:chExt cx="3183129" cy="2617109"/>
          </a:xfrm>
        </p:grpSpPr>
        <p:sp>
          <p:nvSpPr>
            <p:cNvPr id="17" name="Arrow: Up 16">
              <a:extLst>
                <a:ext uri="{FF2B5EF4-FFF2-40B4-BE49-F238E27FC236}">
                  <a16:creationId xmlns:a16="http://schemas.microsoft.com/office/drawing/2014/main" id="{B14C0EAE-790C-53EB-9545-5E8112384FA4}"/>
                </a:ext>
              </a:extLst>
            </p:cNvPr>
            <p:cNvSpPr/>
            <p:nvPr/>
          </p:nvSpPr>
          <p:spPr>
            <a:xfrm>
              <a:off x="8854909" y="3363194"/>
              <a:ext cx="482468" cy="2586105"/>
            </a:xfrm>
            <a:prstGeom prst="upArrow">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prstClr val="white"/>
                </a:solidFill>
                <a:effectLst/>
                <a:uLnTx/>
                <a:uFillTx/>
                <a:latin typeface="Segoe UI"/>
                <a:ea typeface="+mn-ea"/>
                <a:cs typeface="+mn-cs"/>
              </a:endParaRPr>
            </a:p>
          </p:txBody>
        </p:sp>
        <p:sp>
          <p:nvSpPr>
            <p:cNvPr id="18" name="Arrow: Up 17">
              <a:extLst>
                <a:ext uri="{FF2B5EF4-FFF2-40B4-BE49-F238E27FC236}">
                  <a16:creationId xmlns:a16="http://schemas.microsoft.com/office/drawing/2014/main" id="{042053A0-C49C-9EE7-3A54-39D9DCBE2166}"/>
                </a:ext>
              </a:extLst>
            </p:cNvPr>
            <p:cNvSpPr/>
            <p:nvPr/>
          </p:nvSpPr>
          <p:spPr>
            <a:xfrm>
              <a:off x="7294988" y="4680773"/>
              <a:ext cx="482468" cy="979127"/>
            </a:xfrm>
            <a:prstGeom prst="upArrow">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prstClr val="white"/>
                </a:solidFill>
                <a:effectLst/>
                <a:uLnTx/>
                <a:uFillTx/>
                <a:latin typeface="Segoe UI"/>
                <a:ea typeface="+mn-ea"/>
                <a:cs typeface="+mn-cs"/>
              </a:endParaRPr>
            </a:p>
          </p:txBody>
        </p:sp>
        <p:sp>
          <p:nvSpPr>
            <p:cNvPr id="20" name="Rectangle: Rounded Corners 19">
              <a:extLst>
                <a:ext uri="{FF2B5EF4-FFF2-40B4-BE49-F238E27FC236}">
                  <a16:creationId xmlns:a16="http://schemas.microsoft.com/office/drawing/2014/main" id="{8C82CED5-0FE1-6EFE-5A1C-4070589324F2}"/>
                </a:ext>
              </a:extLst>
            </p:cNvPr>
            <p:cNvSpPr/>
            <p:nvPr/>
          </p:nvSpPr>
          <p:spPr>
            <a:xfrm>
              <a:off x="7126282" y="5339497"/>
              <a:ext cx="3183129" cy="640806"/>
            </a:xfrm>
            <a:prstGeom prst="round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Segoe UI"/>
                  <a:ea typeface="+mn-ea"/>
                  <a:cs typeface="Segoe UI"/>
                </a:rPr>
                <a:t>Increase in TTM Improvement – early UAT Exposure</a:t>
              </a:r>
            </a:p>
          </p:txBody>
        </p:sp>
      </p:grpSp>
      <p:sp>
        <p:nvSpPr>
          <p:cNvPr id="21" name="Title 8">
            <a:extLst>
              <a:ext uri="{FF2B5EF4-FFF2-40B4-BE49-F238E27FC236}">
                <a16:creationId xmlns:a16="http://schemas.microsoft.com/office/drawing/2014/main" id="{7483906A-9C14-A820-4A04-E3BDA881C43E}"/>
              </a:ext>
            </a:extLst>
          </p:cNvPr>
          <p:cNvSpPr txBox="1">
            <a:spLocks/>
          </p:cNvSpPr>
          <p:nvPr/>
        </p:nvSpPr>
        <p:spPr>
          <a:xfrm>
            <a:off x="1031591" y="186838"/>
            <a:ext cx="9530753" cy="1051124"/>
          </a:xfrm>
          <a:prstGeom prst="rect">
            <a:avLst/>
          </a:prstGeom>
          <a:noFill/>
          <a:ln>
            <a:noFill/>
          </a:ln>
        </p:spPr>
        <p:txBody>
          <a:bodyPr spcFirstLastPara="1" vert="horz" wrap="square" lIns="91401" tIns="45688" rIns="91401" bIns="45688" rtlCol="0" anchor="ctr" anchorCtr="0">
            <a:normAutofit fontScale="85000" lnSpcReduction="10000"/>
          </a:bodyPr>
          <a:lstStyle>
            <a:lvl1pPr lvl="0" algn="l" defTabSz="1218987" rtl="0" eaLnBrk="1" latinLnBrk="0" hangingPunct="1">
              <a:lnSpc>
                <a:spcPct val="90000"/>
              </a:lnSpc>
              <a:spcBef>
                <a:spcPts val="0"/>
              </a:spcBef>
              <a:spcAft>
                <a:spcPts val="0"/>
              </a:spcAft>
              <a:buClr>
                <a:schemeClr val="dk1"/>
              </a:buClr>
              <a:buSzPts val="3600"/>
              <a:buFont typeface="Open Sans"/>
              <a:buNone/>
              <a:defRPr sz="3599" kern="1200">
                <a:solidFill>
                  <a:schemeClr val="tx1"/>
                </a:solidFill>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marL="0" marR="0" lvl="0" indent="0" algn="l" defTabSz="1218987" rtl="0" eaLnBrk="1" fontAlgn="auto" latinLnBrk="0" hangingPunct="1">
              <a:lnSpc>
                <a:spcPct val="90000"/>
              </a:lnSpc>
              <a:spcBef>
                <a:spcPts val="0"/>
              </a:spcBef>
              <a:spcAft>
                <a:spcPts val="0"/>
              </a:spcAft>
              <a:buClr>
                <a:prstClr val="black"/>
              </a:buClr>
              <a:buSzPts val="3600"/>
              <a:buFont typeface="Open Sans"/>
              <a:buNone/>
              <a:tabLst/>
              <a:defRPr/>
            </a:pPr>
            <a:r>
              <a:rPr kumimoji="0" lang="en-IN" sz="3200" b="1" i="0" u="none" strike="noStrike" kern="1200" cap="none" spc="0" normalizeH="0" baseline="0" noProof="0" dirty="0">
                <a:ln>
                  <a:noFill/>
                </a:ln>
                <a:solidFill>
                  <a:srgbClr val="143055"/>
                </a:solidFill>
                <a:effectLst/>
                <a:uLnTx/>
                <a:uFillTx/>
                <a:latin typeface="Arial"/>
                <a:cs typeface="Arial"/>
              </a:rPr>
              <a:t>Example of how Stacking Testing Activities Increase Time To Market and UAT Exposure – High-level Timelines</a:t>
            </a:r>
            <a:r>
              <a:rPr kumimoji="0" lang="en-IN" sz="2000" b="1" i="0" u="none" strike="noStrike" kern="1200" cap="none" spc="0" normalizeH="0" baseline="0" noProof="0" dirty="0">
                <a:ln>
                  <a:noFill/>
                </a:ln>
                <a:solidFill>
                  <a:srgbClr val="143055"/>
                </a:solidFill>
                <a:effectLst/>
                <a:uLnTx/>
                <a:uFillTx/>
                <a:latin typeface="Segoe UI"/>
                <a:ea typeface="+mj-ea"/>
                <a:cs typeface="+mj-cs"/>
              </a:rPr>
              <a:t> </a:t>
            </a:r>
          </a:p>
        </p:txBody>
      </p:sp>
      <p:sp>
        <p:nvSpPr>
          <p:cNvPr id="22" name="Text Placeholder 1">
            <a:extLst>
              <a:ext uri="{FF2B5EF4-FFF2-40B4-BE49-F238E27FC236}">
                <a16:creationId xmlns:a16="http://schemas.microsoft.com/office/drawing/2014/main" id="{320D9684-A4A3-0CD9-A3A0-D73EC8299B73}"/>
              </a:ext>
            </a:extLst>
          </p:cNvPr>
          <p:cNvSpPr txBox="1">
            <a:spLocks/>
          </p:cNvSpPr>
          <p:nvPr/>
        </p:nvSpPr>
        <p:spPr>
          <a:xfrm>
            <a:off x="632165" y="1285721"/>
            <a:ext cx="2417962" cy="4333976"/>
          </a:xfrm>
          <a:prstGeom prst="rect">
            <a:avLst/>
          </a:prstGeom>
          <a:noFill/>
          <a:ln>
            <a:noFill/>
          </a:ln>
        </p:spPr>
        <p:txBody>
          <a:bodyPr spcFirstLastPara="1" vert="horz" wrap="square" lIns="91401" tIns="45688" rIns="91401" bIns="45688" rtlCol="0" anchor="t" anchorCtr="0">
            <a:normAutofit/>
          </a:bodyPr>
          <a:lstStyle>
            <a:lvl1pPr marL="457063" lvl="0" indent="-330101" algn="l" defTabSz="1218987" rtl="0" eaLnBrk="1" latinLnBrk="0" hangingPunct="1">
              <a:lnSpc>
                <a:spcPct val="120000"/>
              </a:lnSpc>
              <a:spcBef>
                <a:spcPts val="1000"/>
              </a:spcBef>
              <a:spcAft>
                <a:spcPts val="0"/>
              </a:spcAft>
              <a:buClr>
                <a:schemeClr val="dk1"/>
              </a:buClr>
              <a:buSzPts val="1600"/>
              <a:buFont typeface="Arial" pitchFamily="34" charset="0"/>
              <a:buChar char="•"/>
              <a:defRPr sz="1600" kern="1200">
                <a:solidFill>
                  <a:schemeClr val="tx1"/>
                </a:solidFill>
                <a:latin typeface="+mj-lt"/>
                <a:ea typeface="+mn-ea"/>
                <a:cs typeface="+mn-cs"/>
              </a:defRPr>
            </a:lvl1pPr>
            <a:lvl2pPr marL="914126" lvl="1" indent="-317405" algn="l" defTabSz="1218987" rtl="0" eaLnBrk="1" latinLnBrk="0" hangingPunct="1">
              <a:lnSpc>
                <a:spcPct val="120000"/>
              </a:lnSpc>
              <a:spcBef>
                <a:spcPts val="500"/>
              </a:spcBef>
              <a:spcAft>
                <a:spcPts val="0"/>
              </a:spcAft>
              <a:buClr>
                <a:schemeClr val="dk1"/>
              </a:buClr>
              <a:buSzPts val="1400"/>
              <a:buFont typeface="Arial" pitchFamily="34" charset="0"/>
              <a:buChar char="•"/>
              <a:defRPr sz="1400" kern="1200">
                <a:solidFill>
                  <a:schemeClr val="tx1"/>
                </a:solidFill>
                <a:latin typeface="+mj-lt"/>
                <a:ea typeface="+mn-ea"/>
                <a:cs typeface="+mn-cs"/>
              </a:defRPr>
            </a:lvl2pPr>
            <a:lvl3pPr marL="1371189" lvl="2" indent="-304709" algn="l" defTabSz="1218987" rtl="0" eaLnBrk="1" latinLnBrk="0" hangingPunct="1">
              <a:lnSpc>
                <a:spcPct val="120000"/>
              </a:lnSpc>
              <a:spcBef>
                <a:spcPts val="500"/>
              </a:spcBef>
              <a:spcAft>
                <a:spcPts val="0"/>
              </a:spcAft>
              <a:buClr>
                <a:schemeClr val="dk1"/>
              </a:buClr>
              <a:buSzPts val="1200"/>
              <a:buFont typeface="Arial" pitchFamily="34" charset="0"/>
              <a:buChar char="•"/>
              <a:defRPr sz="1200" kern="1200">
                <a:solidFill>
                  <a:schemeClr val="tx1"/>
                </a:solidFill>
                <a:latin typeface="+mj-lt"/>
                <a:ea typeface="+mn-ea"/>
                <a:cs typeface="+mn-cs"/>
              </a:defRPr>
            </a:lvl3pPr>
            <a:lvl4pPr marL="1828251" lvl="3" indent="-298360" algn="l" defTabSz="1218987" rtl="0" eaLnBrk="1" latinLnBrk="0" hangingPunct="1">
              <a:lnSpc>
                <a:spcPct val="120000"/>
              </a:lnSpc>
              <a:spcBef>
                <a:spcPts val="500"/>
              </a:spcBef>
              <a:spcAft>
                <a:spcPts val="0"/>
              </a:spcAft>
              <a:buClr>
                <a:schemeClr val="dk1"/>
              </a:buClr>
              <a:buSzPts val="1100"/>
              <a:buFont typeface="Arial" pitchFamily="34" charset="0"/>
              <a:buChar char="•"/>
              <a:defRPr sz="1100" kern="1200">
                <a:solidFill>
                  <a:schemeClr val="tx1"/>
                </a:solidFill>
                <a:latin typeface="+mj-lt"/>
                <a:ea typeface="+mn-ea"/>
                <a:cs typeface="+mn-cs"/>
              </a:defRPr>
            </a:lvl4pPr>
            <a:lvl5pPr marL="2285314" lvl="4" indent="-298360" algn="l" defTabSz="1218987" rtl="0" eaLnBrk="1" latinLnBrk="0" hangingPunct="1">
              <a:lnSpc>
                <a:spcPct val="120000"/>
              </a:lnSpc>
              <a:spcBef>
                <a:spcPts val="500"/>
              </a:spcBef>
              <a:spcAft>
                <a:spcPts val="0"/>
              </a:spcAft>
              <a:buClr>
                <a:schemeClr val="dk1"/>
              </a:buClr>
              <a:buSzPts val="1100"/>
              <a:buFont typeface="Arial" pitchFamily="34" charset="0"/>
              <a:buChar char="•"/>
              <a:defRPr sz="1100" kern="1200">
                <a:solidFill>
                  <a:schemeClr val="tx1"/>
                </a:solidFill>
                <a:latin typeface="+mj-lt"/>
                <a:ea typeface="+mn-ea"/>
                <a:cs typeface="+mn-cs"/>
              </a:defRPr>
            </a:lvl5pPr>
            <a:lvl6pPr marL="2742377" lvl="5" indent="-342797" algn="l" defTabSz="1218987" rtl="0" eaLnBrk="1" latinLnBrk="0" hangingPunct="1">
              <a:lnSpc>
                <a:spcPct val="90000"/>
              </a:lnSpc>
              <a:spcBef>
                <a:spcPts val="500"/>
              </a:spcBef>
              <a:spcAft>
                <a:spcPts val="0"/>
              </a:spcAft>
              <a:buClr>
                <a:schemeClr val="dk1"/>
              </a:buClr>
              <a:buSzPts val="1800"/>
              <a:buFont typeface="Arial" pitchFamily="34" charset="0"/>
              <a:buChar char="•"/>
              <a:defRPr sz="2700" kern="1200">
                <a:solidFill>
                  <a:schemeClr val="tx1"/>
                </a:solidFill>
                <a:latin typeface="+mn-lt"/>
                <a:ea typeface="+mn-ea"/>
                <a:cs typeface="+mn-cs"/>
              </a:defRPr>
            </a:lvl6pPr>
            <a:lvl7pPr marL="3199440" lvl="6" indent="-342797" algn="l" defTabSz="1218987" rtl="0" eaLnBrk="1" latinLnBrk="0" hangingPunct="1">
              <a:lnSpc>
                <a:spcPct val="90000"/>
              </a:lnSpc>
              <a:spcBef>
                <a:spcPts val="500"/>
              </a:spcBef>
              <a:spcAft>
                <a:spcPts val="0"/>
              </a:spcAft>
              <a:buClr>
                <a:schemeClr val="dk1"/>
              </a:buClr>
              <a:buSzPts val="1800"/>
              <a:buFont typeface="Arial" pitchFamily="34" charset="0"/>
              <a:buChar char="•"/>
              <a:defRPr sz="2700" kern="1200">
                <a:solidFill>
                  <a:schemeClr val="tx1"/>
                </a:solidFill>
                <a:latin typeface="+mn-lt"/>
                <a:ea typeface="+mn-ea"/>
                <a:cs typeface="+mn-cs"/>
              </a:defRPr>
            </a:lvl7pPr>
            <a:lvl8pPr marL="3656503" lvl="7" indent="-342797" algn="l" defTabSz="1218987" rtl="0" eaLnBrk="1" latinLnBrk="0" hangingPunct="1">
              <a:lnSpc>
                <a:spcPct val="90000"/>
              </a:lnSpc>
              <a:spcBef>
                <a:spcPts val="500"/>
              </a:spcBef>
              <a:spcAft>
                <a:spcPts val="0"/>
              </a:spcAft>
              <a:buClr>
                <a:schemeClr val="dk1"/>
              </a:buClr>
              <a:buSzPts val="1800"/>
              <a:buFont typeface="Arial" pitchFamily="34" charset="0"/>
              <a:buChar char="•"/>
              <a:defRPr sz="2700" kern="1200">
                <a:solidFill>
                  <a:schemeClr val="tx1"/>
                </a:solidFill>
                <a:latin typeface="+mn-lt"/>
                <a:ea typeface="+mn-ea"/>
                <a:cs typeface="+mn-cs"/>
              </a:defRPr>
            </a:lvl8pPr>
            <a:lvl9pPr marL="4113566" lvl="8" indent="-342797" algn="l" defTabSz="1218987" rtl="0" eaLnBrk="1" latinLnBrk="0" hangingPunct="1">
              <a:lnSpc>
                <a:spcPct val="90000"/>
              </a:lnSpc>
              <a:spcBef>
                <a:spcPts val="500"/>
              </a:spcBef>
              <a:spcAft>
                <a:spcPts val="0"/>
              </a:spcAft>
              <a:buClr>
                <a:schemeClr val="dk1"/>
              </a:buClr>
              <a:buSzPts val="1800"/>
              <a:buFont typeface="Arial" pitchFamily="34" charset="0"/>
              <a:buChar char="•"/>
              <a:defRPr sz="2700" kern="1200">
                <a:solidFill>
                  <a:schemeClr val="tx1"/>
                </a:solidFill>
                <a:latin typeface="+mn-lt"/>
                <a:ea typeface="+mn-ea"/>
                <a:cs typeface="+mn-cs"/>
              </a:defRPr>
            </a:lvl9pPr>
          </a:lstStyle>
          <a:p>
            <a:pPr marL="126365" marR="0" lvl="0" indent="0" algn="l" defTabSz="1218987" rtl="0" eaLnBrk="1" fontAlgn="auto" latinLnBrk="0" hangingPunct="1">
              <a:lnSpc>
                <a:spcPct val="120000"/>
              </a:lnSpc>
              <a:spcBef>
                <a:spcPts val="1000"/>
              </a:spcBef>
              <a:spcAft>
                <a:spcPts val="0"/>
              </a:spcAft>
              <a:buClr>
                <a:prstClr val="black"/>
              </a:buClr>
              <a:buSzPts val="1600"/>
              <a:buFont typeface="Arial" pitchFamily="34" charset="0"/>
              <a:buNone/>
              <a:tabLst/>
              <a:defRPr/>
            </a:pPr>
            <a:r>
              <a:rPr kumimoji="0" lang="en-CA" sz="1200" b="1" i="0" u="none" strike="noStrike" kern="1200" cap="none" spc="0" normalizeH="0" baseline="0" noProof="0" dirty="0">
                <a:ln>
                  <a:noFill/>
                </a:ln>
                <a:solidFill>
                  <a:prstClr val="black"/>
                </a:solidFill>
                <a:effectLst/>
                <a:uLnTx/>
                <a:uFillTx/>
                <a:latin typeface="Arial"/>
                <a:cs typeface="Segoe UI"/>
              </a:rPr>
              <a:t>Stacked Testing </a:t>
            </a:r>
            <a:r>
              <a:rPr kumimoji="0" lang="en-CA" sz="1200" b="0" i="0" u="none" strike="noStrike" kern="1200" cap="none" spc="0" normalizeH="0" baseline="0" noProof="0" dirty="0">
                <a:ln>
                  <a:noFill/>
                </a:ln>
                <a:solidFill>
                  <a:prstClr val="black"/>
                </a:solidFill>
                <a:effectLst/>
                <a:uLnTx/>
                <a:uFillTx/>
                <a:latin typeface="Arial"/>
                <a:cs typeface="Segoe UI"/>
              </a:rPr>
              <a:t>maintains quality driven project testing, no shortcuts, while reducing the window of execution. Even before enhancing automation, improving functional testing methodology to Stack Testing can Decrease TTM. </a:t>
            </a:r>
            <a:endParaRPr lang="en-US" sz="1200">
              <a:solidFill>
                <a:prstClr val="black"/>
              </a:solidFill>
              <a:latin typeface="Arial"/>
              <a:cs typeface="Arial"/>
            </a:endParaRPr>
          </a:p>
          <a:p>
            <a:pPr marL="126365" marR="0" lvl="0" indent="0" algn="l" defTabSz="1218987" rtl="0" eaLnBrk="1" fontAlgn="auto" latinLnBrk="0" hangingPunct="1">
              <a:lnSpc>
                <a:spcPct val="120000"/>
              </a:lnSpc>
              <a:spcBef>
                <a:spcPts val="1000"/>
              </a:spcBef>
              <a:spcAft>
                <a:spcPts val="0"/>
              </a:spcAft>
              <a:buClr>
                <a:prstClr val="black"/>
              </a:buClr>
              <a:buSzPts val="1600"/>
              <a:buFont typeface="Arial" pitchFamily="34" charset="0"/>
              <a:buNone/>
              <a:tabLst/>
              <a:defRPr/>
            </a:pPr>
            <a:r>
              <a:rPr kumimoji="0" lang="en-CA" sz="1200" b="0" i="0" u="none" strike="noStrike" kern="1200" cap="none" spc="0" normalizeH="0" baseline="0" noProof="0" dirty="0">
                <a:ln>
                  <a:noFill/>
                </a:ln>
                <a:solidFill>
                  <a:prstClr val="black"/>
                </a:solidFill>
                <a:effectLst/>
                <a:uLnTx/>
                <a:uFillTx/>
                <a:latin typeface="Arial"/>
                <a:cs typeface="Segoe UI"/>
              </a:rPr>
              <a:t>Planning the product centric business solutions with a </a:t>
            </a:r>
            <a:r>
              <a:rPr lang="en-CA" sz="1200" dirty="0">
                <a:solidFill>
                  <a:prstClr val="black"/>
                </a:solidFill>
                <a:latin typeface="Arial"/>
                <a:cs typeface="Segoe UI"/>
              </a:rPr>
              <a:t>test-driven</a:t>
            </a:r>
            <a:r>
              <a:rPr kumimoji="0" lang="en-CA" sz="1200" b="0" i="0" u="none" strike="noStrike" kern="1200" cap="none" spc="0" normalizeH="0" baseline="0" noProof="0" dirty="0">
                <a:ln>
                  <a:noFill/>
                </a:ln>
                <a:solidFill>
                  <a:prstClr val="black"/>
                </a:solidFill>
                <a:effectLst/>
                <a:uLnTx/>
                <a:uFillTx/>
                <a:latin typeface="Arial"/>
                <a:cs typeface="Segoe UI"/>
              </a:rPr>
              <a:t> delivery model early in the planning process allows you to plan for stacked testing. Stacked testing increases your ability to integrate Smart Automated testing earlier to a new product delivery and regression testing.</a:t>
            </a:r>
            <a:endParaRPr lang="en-US" sz="1200" b="0" i="0" u="none" strike="noStrike" kern="1200" cap="none" spc="0" normalizeH="0" baseline="0" noProof="0" dirty="0">
              <a:ln>
                <a:noFill/>
              </a:ln>
              <a:solidFill>
                <a:prstClr val="black"/>
              </a:solidFill>
              <a:effectLst/>
              <a:uLnTx/>
              <a:uFillTx/>
              <a:latin typeface="Arial"/>
              <a:cs typeface="Segoe UI"/>
            </a:endParaRPr>
          </a:p>
          <a:p>
            <a:pPr marL="126365" marR="0" lvl="0" indent="0" algn="l" defTabSz="1218987" rtl="0" eaLnBrk="1" fontAlgn="auto" latinLnBrk="0" hangingPunct="1">
              <a:lnSpc>
                <a:spcPct val="120000"/>
              </a:lnSpc>
              <a:spcBef>
                <a:spcPts val="1000"/>
              </a:spcBef>
              <a:spcAft>
                <a:spcPts val="0"/>
              </a:spcAft>
              <a:buClr>
                <a:prstClr val="black"/>
              </a:buClr>
              <a:buSzPts val="1600"/>
              <a:buFont typeface="Arial" pitchFamily="34" charset="0"/>
              <a:buNone/>
              <a:tabLst/>
              <a:defRPr/>
            </a:pPr>
            <a:endParaRPr lang="en-CA" sz="1999" b="0" i="0" u="none" strike="noStrike" kern="1200" cap="none" spc="0" normalizeH="0" baseline="0" noProof="0">
              <a:ln>
                <a:noFill/>
              </a:ln>
              <a:solidFill>
                <a:prstClr val="black"/>
              </a:solidFill>
              <a:effectLst/>
              <a:uLnTx/>
              <a:uFillTx/>
              <a:latin typeface="Segoe UI"/>
              <a:ea typeface="Calibri"/>
              <a:cs typeface="Segoe UI"/>
            </a:endParaRPr>
          </a:p>
          <a:p>
            <a:pPr marL="455930" marR="0" lvl="0" indent="-328930" algn="l" defTabSz="1218987" rtl="0" eaLnBrk="1" fontAlgn="auto" latinLnBrk="0" hangingPunct="1">
              <a:lnSpc>
                <a:spcPct val="120000"/>
              </a:lnSpc>
              <a:spcBef>
                <a:spcPts val="1000"/>
              </a:spcBef>
              <a:spcAft>
                <a:spcPts val="0"/>
              </a:spcAft>
              <a:buClr>
                <a:srgbClr val="000000"/>
              </a:buClr>
              <a:buSzPts val="1600"/>
              <a:buFont typeface="Arial" pitchFamily="34" charset="0"/>
              <a:buChar char="•"/>
              <a:tabLst/>
              <a:defRPr/>
            </a:pPr>
            <a:endParaRPr lang="en-US" sz="1400" b="0" i="0" u="none" strike="noStrike" kern="1200" cap="none" spc="0" normalizeH="0" baseline="0" noProof="0">
              <a:ln>
                <a:noFill/>
              </a:ln>
              <a:solidFill>
                <a:prstClr val="black"/>
              </a:solidFill>
              <a:effectLst/>
              <a:uLnTx/>
              <a:uFillTx/>
              <a:latin typeface="Tw Cen MT Condensed" panose="020B0606020104020203"/>
              <a:ea typeface="Calibri"/>
              <a:cs typeface="Calibri"/>
            </a:endParaRPr>
          </a:p>
        </p:txBody>
      </p:sp>
      <p:grpSp>
        <p:nvGrpSpPr>
          <p:cNvPr id="26" name="Group 25">
            <a:extLst>
              <a:ext uri="{FF2B5EF4-FFF2-40B4-BE49-F238E27FC236}">
                <a16:creationId xmlns:a16="http://schemas.microsoft.com/office/drawing/2014/main" id="{3BE6F55D-7846-EDC9-DB30-21D91B575D35}"/>
              </a:ext>
            </a:extLst>
          </p:cNvPr>
          <p:cNvGrpSpPr/>
          <p:nvPr/>
        </p:nvGrpSpPr>
        <p:grpSpPr>
          <a:xfrm>
            <a:off x="1" y="4240"/>
            <a:ext cx="909836" cy="930066"/>
            <a:chOff x="1" y="-5685"/>
            <a:chExt cx="909836" cy="930066"/>
          </a:xfrm>
        </p:grpSpPr>
        <p:sp>
          <p:nvSpPr>
            <p:cNvPr id="3" name="Rectangle 2">
              <a:extLst>
                <a:ext uri="{FF2B5EF4-FFF2-40B4-BE49-F238E27FC236}">
                  <a16:creationId xmlns:a16="http://schemas.microsoft.com/office/drawing/2014/main" id="{2B46E50A-A423-9279-3BD3-72AE1E2F814E}"/>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5766501C-3BC1-B9C0-0C57-591F72BA9EF3}"/>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a:extLst>
                <a:ext uri="{FF2B5EF4-FFF2-40B4-BE49-F238E27FC236}">
                  <a16:creationId xmlns:a16="http://schemas.microsoft.com/office/drawing/2014/main" id="{18A5BE83-489F-41B3-0489-FB61A53F7FDD}"/>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D7F1BA75-ED9D-C0DE-0E2B-E45A181AD8B7}"/>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34" name="Group 33">
            <a:extLst>
              <a:ext uri="{FF2B5EF4-FFF2-40B4-BE49-F238E27FC236}">
                <a16:creationId xmlns:a16="http://schemas.microsoft.com/office/drawing/2014/main" id="{A1C6E0D1-A47B-F500-AFE2-6E051DD634A4}"/>
              </a:ext>
            </a:extLst>
          </p:cNvPr>
          <p:cNvGrpSpPr/>
          <p:nvPr/>
        </p:nvGrpSpPr>
        <p:grpSpPr>
          <a:xfrm>
            <a:off x="10342891" y="4962097"/>
            <a:ext cx="1845935" cy="1895903"/>
            <a:chOff x="0" y="0"/>
            <a:chExt cx="3161556" cy="3048050"/>
          </a:xfrm>
        </p:grpSpPr>
        <p:grpSp>
          <p:nvGrpSpPr>
            <p:cNvPr id="28" name="Group 27">
              <a:extLst>
                <a:ext uri="{FF2B5EF4-FFF2-40B4-BE49-F238E27FC236}">
                  <a16:creationId xmlns:a16="http://schemas.microsoft.com/office/drawing/2014/main" id="{954EF2BB-F327-906C-A744-893B304CAAF7}"/>
                </a:ext>
              </a:extLst>
            </p:cNvPr>
            <p:cNvGrpSpPr/>
            <p:nvPr/>
          </p:nvGrpSpPr>
          <p:grpSpPr>
            <a:xfrm>
              <a:off x="0" y="0"/>
              <a:ext cx="2107704" cy="2241545"/>
              <a:chOff x="0" y="0"/>
              <a:chExt cx="2107704" cy="2241545"/>
            </a:xfrm>
          </p:grpSpPr>
          <p:sp>
            <p:nvSpPr>
              <p:cNvPr id="32" name="Rectangle 31">
                <a:extLst>
                  <a:ext uri="{FF2B5EF4-FFF2-40B4-BE49-F238E27FC236}">
                    <a16:creationId xmlns:a16="http://schemas.microsoft.com/office/drawing/2014/main" id="{15565161-D881-5658-BF73-AF182663B487}"/>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3" name="Rectangle 32">
                <a:extLst>
                  <a:ext uri="{FF2B5EF4-FFF2-40B4-BE49-F238E27FC236}">
                    <a16:creationId xmlns:a16="http://schemas.microsoft.com/office/drawing/2014/main" id="{217094D2-DF1C-1976-670F-BC2CA17A8F93}"/>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9" name="Group 28">
              <a:extLst>
                <a:ext uri="{FF2B5EF4-FFF2-40B4-BE49-F238E27FC236}">
                  <a16:creationId xmlns:a16="http://schemas.microsoft.com/office/drawing/2014/main" id="{005AA059-10F5-C736-BDF2-072508A9FA11}"/>
                </a:ext>
              </a:extLst>
            </p:cNvPr>
            <p:cNvGrpSpPr/>
            <p:nvPr/>
          </p:nvGrpSpPr>
          <p:grpSpPr>
            <a:xfrm flipH="1" flipV="1">
              <a:off x="1072246" y="1059210"/>
              <a:ext cx="2089310" cy="1988840"/>
              <a:chOff x="1580778" y="1268760"/>
              <a:chExt cx="2089310" cy="1988840"/>
            </a:xfrm>
          </p:grpSpPr>
          <p:sp>
            <p:nvSpPr>
              <p:cNvPr id="30" name="Rectangle 29">
                <a:extLst>
                  <a:ext uri="{FF2B5EF4-FFF2-40B4-BE49-F238E27FC236}">
                    <a16:creationId xmlns:a16="http://schemas.microsoft.com/office/drawing/2014/main" id="{3731081B-FA60-B0CC-A91A-1E8EE4B70B2A}"/>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Rectangle 30">
                <a:extLst>
                  <a:ext uri="{FF2B5EF4-FFF2-40B4-BE49-F238E27FC236}">
                    <a16:creationId xmlns:a16="http://schemas.microsoft.com/office/drawing/2014/main" id="{3B3B25D8-4A1E-2C3C-7BAF-C7103D55BABE}"/>
                  </a:ext>
                </a:extLst>
              </p:cNvPr>
              <p:cNvSpPr/>
              <p:nvPr/>
            </p:nvSpPr>
            <p:spPr>
              <a:xfrm rot="5400000">
                <a:off x="2739910" y="1146126"/>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6" name="Picture 35" descr="BEll company logo">
            <a:extLst>
              <a:ext uri="{FF2B5EF4-FFF2-40B4-BE49-F238E27FC236}">
                <a16:creationId xmlns:a16="http://schemas.microsoft.com/office/drawing/2014/main" id="{4FCC165E-BBBC-DEC1-29CB-7388C0757295}"/>
              </a:ext>
            </a:extLst>
          </p:cNvPr>
          <p:cNvPicPr>
            <a:picLocks noChangeAspect="1"/>
          </p:cNvPicPr>
          <p:nvPr/>
        </p:nvPicPr>
        <p:blipFill>
          <a:blip r:embed="rId3"/>
          <a:stretch>
            <a:fillRect/>
          </a:stretch>
        </p:blipFill>
        <p:spPr>
          <a:xfrm>
            <a:off x="11009239" y="625149"/>
            <a:ext cx="514513" cy="400050"/>
          </a:xfrm>
          <a:prstGeom prst="rect">
            <a:avLst/>
          </a:prstGeom>
        </p:spPr>
      </p:pic>
    </p:spTree>
    <p:extLst>
      <p:ext uri="{BB962C8B-B14F-4D97-AF65-F5344CB8AC3E}">
        <p14:creationId xmlns:p14="http://schemas.microsoft.com/office/powerpoint/2010/main" val="186450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1+#ppt_w/2"/>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4E86D2B6-81B1-7BD0-9BBA-929F2F26A4B0}"/>
              </a:ext>
            </a:extLst>
          </p:cNvPr>
          <p:cNvGrpSpPr/>
          <p:nvPr/>
        </p:nvGrpSpPr>
        <p:grpSpPr>
          <a:xfrm>
            <a:off x="1" y="9925"/>
            <a:ext cx="909836" cy="924381"/>
            <a:chOff x="1" y="0"/>
            <a:chExt cx="909836" cy="924381"/>
          </a:xfrm>
        </p:grpSpPr>
        <p:sp>
          <p:nvSpPr>
            <p:cNvPr id="41" name="Rectangle 40">
              <a:extLst>
                <a:ext uri="{FF2B5EF4-FFF2-40B4-BE49-F238E27FC236}">
                  <a16:creationId xmlns:a16="http://schemas.microsoft.com/office/drawing/2014/main" id="{6DCE3E08-DA6D-ECBA-031E-B7D8A3D44FED}"/>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42" name="Rectangle 41">
              <a:extLst>
                <a:ext uri="{FF2B5EF4-FFF2-40B4-BE49-F238E27FC236}">
                  <a16:creationId xmlns:a16="http://schemas.microsoft.com/office/drawing/2014/main" id="{98E6B06A-86E8-1049-07F0-5D5F1E45277B}"/>
                </a:ext>
              </a:extLst>
            </p:cNvPr>
            <p:cNvSpPr/>
            <p:nvPr/>
          </p:nvSpPr>
          <p:spPr>
            <a:xfrm rot="5400000">
              <a:off x="289785" y="1511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43" name="Rectangle 42">
              <a:extLst>
                <a:ext uri="{FF2B5EF4-FFF2-40B4-BE49-F238E27FC236}">
                  <a16:creationId xmlns:a16="http://schemas.microsoft.com/office/drawing/2014/main" id="{7D16CDF8-78D2-BC66-2C7E-E0DF4B93D9B9}"/>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44" name="Rectangle 43">
              <a:extLst>
                <a:ext uri="{FF2B5EF4-FFF2-40B4-BE49-F238E27FC236}">
                  <a16:creationId xmlns:a16="http://schemas.microsoft.com/office/drawing/2014/main" id="{3EF68080-BBE3-7BDF-0674-31E856B271CC}"/>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93" name="Group 92">
            <a:extLst>
              <a:ext uri="{FF2B5EF4-FFF2-40B4-BE49-F238E27FC236}">
                <a16:creationId xmlns:a16="http://schemas.microsoft.com/office/drawing/2014/main" id="{4BA3940B-45A6-F304-0BC1-5C2A48F3E814}"/>
              </a:ext>
            </a:extLst>
          </p:cNvPr>
          <p:cNvGrpSpPr/>
          <p:nvPr/>
        </p:nvGrpSpPr>
        <p:grpSpPr>
          <a:xfrm>
            <a:off x="10342891" y="4962097"/>
            <a:ext cx="1845934" cy="1895903"/>
            <a:chOff x="0" y="0"/>
            <a:chExt cx="3161556" cy="3048050"/>
          </a:xfrm>
        </p:grpSpPr>
        <p:grpSp>
          <p:nvGrpSpPr>
            <p:cNvPr id="58" name="Group 57">
              <a:extLst>
                <a:ext uri="{FF2B5EF4-FFF2-40B4-BE49-F238E27FC236}">
                  <a16:creationId xmlns:a16="http://schemas.microsoft.com/office/drawing/2014/main" id="{81E3E108-06E5-7EA6-B91A-40D524723F85}"/>
                </a:ext>
              </a:extLst>
            </p:cNvPr>
            <p:cNvGrpSpPr/>
            <p:nvPr/>
          </p:nvGrpSpPr>
          <p:grpSpPr>
            <a:xfrm>
              <a:off x="0" y="0"/>
              <a:ext cx="2090423" cy="2241545"/>
              <a:chOff x="0" y="0"/>
              <a:chExt cx="2090423" cy="2241545"/>
            </a:xfrm>
          </p:grpSpPr>
          <p:sp>
            <p:nvSpPr>
              <p:cNvPr id="87" name="Rectangle 86">
                <a:extLst>
                  <a:ext uri="{FF2B5EF4-FFF2-40B4-BE49-F238E27FC236}">
                    <a16:creationId xmlns:a16="http://schemas.microsoft.com/office/drawing/2014/main" id="{B98BEDE3-5053-BD48-547C-97937C15D7C9}"/>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2" name="Rectangle 91">
                <a:extLst>
                  <a:ext uri="{FF2B5EF4-FFF2-40B4-BE49-F238E27FC236}">
                    <a16:creationId xmlns:a16="http://schemas.microsoft.com/office/drawing/2014/main" id="{A7828829-2A49-FDA8-AA32-708DD9DA82A6}"/>
                  </a:ext>
                </a:extLst>
              </p:cNvPr>
              <p:cNvSpPr/>
              <p:nvPr/>
            </p:nvSpPr>
            <p:spPr>
              <a:xfrm rot="5400000">
                <a:off x="1036570" y="0"/>
                <a:ext cx="1053853" cy="10538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66" name="Group 65">
              <a:extLst>
                <a:ext uri="{FF2B5EF4-FFF2-40B4-BE49-F238E27FC236}">
                  <a16:creationId xmlns:a16="http://schemas.microsoft.com/office/drawing/2014/main" id="{7CB4B26D-30CC-B267-3F98-EEA7EFC8D379}"/>
                </a:ext>
              </a:extLst>
            </p:cNvPr>
            <p:cNvGrpSpPr/>
            <p:nvPr/>
          </p:nvGrpSpPr>
          <p:grpSpPr>
            <a:xfrm flipH="1" flipV="1">
              <a:off x="1072246" y="1059210"/>
              <a:ext cx="2089310" cy="1988840"/>
              <a:chOff x="1580778" y="1268760"/>
              <a:chExt cx="2089310" cy="1988840"/>
            </a:xfrm>
          </p:grpSpPr>
          <p:sp>
            <p:nvSpPr>
              <p:cNvPr id="85" name="Rectangle 84">
                <a:extLst>
                  <a:ext uri="{FF2B5EF4-FFF2-40B4-BE49-F238E27FC236}">
                    <a16:creationId xmlns:a16="http://schemas.microsoft.com/office/drawing/2014/main" id="{ECF77F96-48F4-6B1A-DB3D-60A6416D2234}"/>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6" name="Rectangle 85">
                <a:extLst>
                  <a:ext uri="{FF2B5EF4-FFF2-40B4-BE49-F238E27FC236}">
                    <a16:creationId xmlns:a16="http://schemas.microsoft.com/office/drawing/2014/main" id="{213D63FC-BE9D-FAA6-75F4-DF1794DF5691}"/>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99" name="Picture 98" descr="BEll company logo">
            <a:extLst>
              <a:ext uri="{FF2B5EF4-FFF2-40B4-BE49-F238E27FC236}">
                <a16:creationId xmlns:a16="http://schemas.microsoft.com/office/drawing/2014/main" id="{EA56F26D-A350-F8D3-E351-153F8FFE8547}"/>
              </a:ext>
            </a:extLst>
          </p:cNvPr>
          <p:cNvPicPr>
            <a:picLocks noChangeAspect="1"/>
          </p:cNvPicPr>
          <p:nvPr/>
        </p:nvPicPr>
        <p:blipFill>
          <a:blip r:embed="rId2"/>
          <a:stretch>
            <a:fillRect/>
          </a:stretch>
        </p:blipFill>
        <p:spPr>
          <a:xfrm>
            <a:off x="11009239" y="635555"/>
            <a:ext cx="514513" cy="400050"/>
          </a:xfrm>
          <a:prstGeom prst="rect">
            <a:avLst/>
          </a:prstGeom>
        </p:spPr>
      </p:pic>
      <p:sp>
        <p:nvSpPr>
          <p:cNvPr id="101" name="TextBox 100">
            <a:extLst>
              <a:ext uri="{FF2B5EF4-FFF2-40B4-BE49-F238E27FC236}">
                <a16:creationId xmlns:a16="http://schemas.microsoft.com/office/drawing/2014/main" id="{2CD31C37-FBD9-E1E2-4F03-193B99253D26}"/>
              </a:ext>
            </a:extLst>
          </p:cNvPr>
          <p:cNvSpPr txBox="1"/>
          <p:nvPr/>
        </p:nvSpPr>
        <p:spPr>
          <a:xfrm>
            <a:off x="1164441" y="601444"/>
            <a:ext cx="5508757" cy="486287"/>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Segoe UI"/>
              </a:rPr>
              <a:t>Testing Schedule Gantt</a:t>
            </a:r>
          </a:p>
        </p:txBody>
      </p:sp>
      <p:pic>
        <p:nvPicPr>
          <p:cNvPr id="9" name="Picture 8">
            <a:extLst>
              <a:ext uri="{FF2B5EF4-FFF2-40B4-BE49-F238E27FC236}">
                <a16:creationId xmlns:a16="http://schemas.microsoft.com/office/drawing/2014/main" id="{02A23FE9-E92E-3618-47EE-45540A8DF298}"/>
              </a:ext>
            </a:extLst>
          </p:cNvPr>
          <p:cNvPicPr>
            <a:picLocks noChangeAspect="1"/>
          </p:cNvPicPr>
          <p:nvPr/>
        </p:nvPicPr>
        <p:blipFill>
          <a:blip r:embed="rId3"/>
          <a:stretch>
            <a:fillRect/>
          </a:stretch>
        </p:blipFill>
        <p:spPr>
          <a:xfrm>
            <a:off x="1031840" y="1035605"/>
            <a:ext cx="8867534" cy="5220951"/>
          </a:xfrm>
          <a:prstGeom prst="rect">
            <a:avLst/>
          </a:prstGeom>
        </p:spPr>
      </p:pic>
      <p:graphicFrame>
        <p:nvGraphicFramePr>
          <p:cNvPr id="10" name="Object 9">
            <a:extLst>
              <a:ext uri="{FF2B5EF4-FFF2-40B4-BE49-F238E27FC236}">
                <a16:creationId xmlns:a16="http://schemas.microsoft.com/office/drawing/2014/main" id="{5C766D19-AD80-5EA5-8AF0-BC1D78C6AB4A}"/>
              </a:ext>
            </a:extLst>
          </p:cNvPr>
          <p:cNvGraphicFramePr>
            <a:graphicFrameLocks noChangeAspect="1"/>
          </p:cNvGraphicFramePr>
          <p:nvPr>
            <p:extLst>
              <p:ext uri="{D42A27DB-BD31-4B8C-83A1-F6EECF244321}">
                <p14:modId xmlns:p14="http://schemas.microsoft.com/office/powerpoint/2010/main" val="4287482658"/>
              </p:ext>
            </p:extLst>
          </p:nvPr>
        </p:nvGraphicFramePr>
        <p:xfrm>
          <a:off x="5104476" y="5050870"/>
          <a:ext cx="914400" cy="771525"/>
        </p:xfrm>
        <a:graphic>
          <a:graphicData uri="http://schemas.openxmlformats.org/presentationml/2006/ole">
            <mc:AlternateContent xmlns:mc="http://schemas.openxmlformats.org/markup-compatibility/2006">
              <mc:Choice xmlns:v="urn:schemas-microsoft-com:vml" Requires="v">
                <p:oleObj name="Worksheet" showAsIcon="1" r:id="rId4" imgW="914400" imgH="771525" progId="Excel.Sheet.12">
                  <p:embed/>
                </p:oleObj>
              </mc:Choice>
              <mc:Fallback>
                <p:oleObj name="Worksheet" showAsIcon="1" r:id="rId4" imgW="914400" imgH="771525" progId="Excel.Sheet.12">
                  <p:embed/>
                  <p:pic>
                    <p:nvPicPr>
                      <p:cNvPr id="0" name=""/>
                      <p:cNvPicPr/>
                      <p:nvPr/>
                    </p:nvPicPr>
                    <p:blipFill>
                      <a:blip r:embed="rId5"/>
                      <a:stretch>
                        <a:fillRect/>
                      </a:stretch>
                    </p:blipFill>
                    <p:spPr>
                      <a:xfrm>
                        <a:off x="5104476" y="5050870"/>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299088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500" fill="hold"/>
                                        <p:tgtEl>
                                          <p:spTgt spid="93"/>
                                        </p:tgtEl>
                                        <p:attrNameLst>
                                          <p:attrName>ppt_x</p:attrName>
                                        </p:attrNameLst>
                                      </p:cBhvr>
                                      <p:tavLst>
                                        <p:tav tm="0">
                                          <p:val>
                                            <p:strVal val="1+#ppt_w/2"/>
                                          </p:val>
                                        </p:tav>
                                        <p:tav tm="100000">
                                          <p:val>
                                            <p:strVal val="#ppt_x"/>
                                          </p:val>
                                        </p:tav>
                                      </p:tavLst>
                                    </p:anim>
                                    <p:anim calcmode="lin" valueType="num">
                                      <p:cBhvr additive="base">
                                        <p:cTn id="8"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8229E-4727-3BCE-3A61-2418BC34CC9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599B31D-1C1C-8B81-AE82-D76450FEE9C2}"/>
              </a:ext>
            </a:extLst>
          </p:cNvPr>
          <p:cNvSpPr>
            <a:spLocks noGrp="1"/>
          </p:cNvSpPr>
          <p:nvPr>
            <p:ph type="title" idx="4294967295"/>
          </p:nvPr>
        </p:nvSpPr>
        <p:spPr>
          <a:xfrm>
            <a:off x="1206782" y="429482"/>
            <a:ext cx="5175478" cy="718269"/>
          </a:xfrm>
        </p:spPr>
        <p:txBody>
          <a:bodyPr>
            <a:normAutofit/>
          </a:bodyPr>
          <a:lstStyle/>
          <a:p>
            <a:r>
              <a:rPr lang="en-US" sz="3200" dirty="0">
                <a:latin typeface="Arial"/>
                <a:cs typeface="Arial"/>
              </a:rPr>
              <a:t>Features In/Out of Scope</a:t>
            </a:r>
            <a:endParaRPr lang="en-PH" sz="3200" dirty="0">
              <a:latin typeface="Arial"/>
              <a:cs typeface="Arial"/>
            </a:endParaRPr>
          </a:p>
        </p:txBody>
      </p:sp>
      <p:graphicFrame>
        <p:nvGraphicFramePr>
          <p:cNvPr id="4" name="Table 10">
            <a:extLst>
              <a:ext uri="{FF2B5EF4-FFF2-40B4-BE49-F238E27FC236}">
                <a16:creationId xmlns:a16="http://schemas.microsoft.com/office/drawing/2014/main" id="{C201E573-D78B-3291-D0B0-EC4EBC628925}"/>
              </a:ext>
            </a:extLst>
          </p:cNvPr>
          <p:cNvGraphicFramePr>
            <a:graphicFrameLocks noGrp="1"/>
          </p:cNvGraphicFramePr>
          <p:nvPr>
            <p:extLst>
              <p:ext uri="{D42A27DB-BD31-4B8C-83A1-F6EECF244321}">
                <p14:modId xmlns:p14="http://schemas.microsoft.com/office/powerpoint/2010/main" val="1811733044"/>
              </p:ext>
            </p:extLst>
          </p:nvPr>
        </p:nvGraphicFramePr>
        <p:xfrm>
          <a:off x="1079561" y="1323799"/>
          <a:ext cx="8532039" cy="4819304"/>
        </p:xfrm>
        <a:graphic>
          <a:graphicData uri="http://schemas.openxmlformats.org/drawingml/2006/table">
            <a:tbl>
              <a:tblPr firstRow="1" bandRow="1">
                <a:tableStyleId>{5FD0F851-EC5A-4D38-B0AD-8093EC10F338}</a:tableStyleId>
              </a:tblPr>
              <a:tblGrid>
                <a:gridCol w="1397314">
                  <a:extLst>
                    <a:ext uri="{9D8B030D-6E8A-4147-A177-3AD203B41FA5}">
                      <a16:colId xmlns:a16="http://schemas.microsoft.com/office/drawing/2014/main" val="3579042218"/>
                    </a:ext>
                  </a:extLst>
                </a:gridCol>
                <a:gridCol w="1290740">
                  <a:extLst>
                    <a:ext uri="{9D8B030D-6E8A-4147-A177-3AD203B41FA5}">
                      <a16:colId xmlns:a16="http://schemas.microsoft.com/office/drawing/2014/main" val="119136213"/>
                    </a:ext>
                  </a:extLst>
                </a:gridCol>
                <a:gridCol w="1217853">
                  <a:extLst>
                    <a:ext uri="{9D8B030D-6E8A-4147-A177-3AD203B41FA5}">
                      <a16:colId xmlns:a16="http://schemas.microsoft.com/office/drawing/2014/main" val="39854640"/>
                    </a:ext>
                  </a:extLst>
                </a:gridCol>
                <a:gridCol w="1079740">
                  <a:extLst>
                    <a:ext uri="{9D8B030D-6E8A-4147-A177-3AD203B41FA5}">
                      <a16:colId xmlns:a16="http://schemas.microsoft.com/office/drawing/2014/main" val="2433179297"/>
                    </a:ext>
                  </a:extLst>
                </a:gridCol>
                <a:gridCol w="725206">
                  <a:extLst>
                    <a:ext uri="{9D8B030D-6E8A-4147-A177-3AD203B41FA5}">
                      <a16:colId xmlns:a16="http://schemas.microsoft.com/office/drawing/2014/main" val="3987773371"/>
                    </a:ext>
                  </a:extLst>
                </a:gridCol>
                <a:gridCol w="1439186">
                  <a:extLst>
                    <a:ext uri="{9D8B030D-6E8A-4147-A177-3AD203B41FA5}">
                      <a16:colId xmlns:a16="http://schemas.microsoft.com/office/drawing/2014/main" val="1316251386"/>
                    </a:ext>
                  </a:extLst>
                </a:gridCol>
                <a:gridCol w="1382000">
                  <a:extLst>
                    <a:ext uri="{9D8B030D-6E8A-4147-A177-3AD203B41FA5}">
                      <a16:colId xmlns:a16="http://schemas.microsoft.com/office/drawing/2014/main" val="3883829560"/>
                    </a:ext>
                  </a:extLst>
                </a:gridCol>
              </a:tblGrid>
              <a:tr h="539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a:ln>
                            <a:noFill/>
                          </a:ln>
                          <a:solidFill>
                            <a:sysClr val="windowText" lastClr="000000"/>
                          </a:solidFill>
                          <a:effectLst/>
                          <a:uLnTx/>
                          <a:uFillTx/>
                        </a:rPr>
                        <a:t>Req./Feature ID</a:t>
                      </a:r>
                      <a:endParaRPr kumimoji="0" lang="en-CA" sz="10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a:ln>
                            <a:noFill/>
                          </a:ln>
                          <a:solidFill>
                            <a:sysClr val="windowText" lastClr="000000"/>
                          </a:solidFill>
                          <a:effectLst/>
                          <a:uLnTx/>
                          <a:uFillTx/>
                        </a:rPr>
                        <a:t>Domaine/System</a:t>
                      </a:r>
                      <a:endParaRPr kumimoji="0" lang="en-CA" sz="10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a:ln>
                            <a:noFill/>
                          </a:ln>
                          <a:solidFill>
                            <a:sysClr val="windowText" lastClr="000000"/>
                          </a:solidFill>
                          <a:effectLst/>
                          <a:uLnTx/>
                          <a:uFillTx/>
                        </a:rPr>
                        <a:t>Team Accountable </a:t>
                      </a:r>
                      <a:endParaRPr kumimoji="0" lang="en-CA" sz="10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a:ln>
                            <a:noFill/>
                          </a:ln>
                          <a:solidFill>
                            <a:sysClr val="windowText" lastClr="000000"/>
                          </a:solidFill>
                          <a:effectLst/>
                          <a:uLnTx/>
                          <a:uFillTx/>
                        </a:rPr>
                        <a:t>In/Out of Scope</a:t>
                      </a:r>
                      <a:endParaRPr kumimoji="0" lang="en-CA" sz="10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a:ln>
                            <a:noFill/>
                          </a:ln>
                          <a:solidFill>
                            <a:sysClr val="windowText" lastClr="000000"/>
                          </a:solidFill>
                          <a:effectLst/>
                          <a:uLnTx/>
                          <a:uFillTx/>
                        </a:rPr>
                        <a:t>Impact</a:t>
                      </a:r>
                      <a:endParaRPr kumimoji="0" lang="en-CA" sz="10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a:ln>
                            <a:noFill/>
                          </a:ln>
                          <a:solidFill>
                            <a:sysClr val="windowText" lastClr="000000"/>
                          </a:solidFill>
                          <a:effectLst/>
                          <a:uLnTx/>
                          <a:uFillTx/>
                        </a:rPr>
                        <a:t>Functions to be tested</a:t>
                      </a:r>
                      <a:endParaRPr kumimoji="0" lang="en-CA" sz="10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dirty="0">
                          <a:ln>
                            <a:noFill/>
                          </a:ln>
                          <a:solidFill>
                            <a:sysClr val="windowText" lastClr="000000"/>
                          </a:solidFill>
                          <a:effectLst/>
                          <a:uLnTx/>
                          <a:uFillTx/>
                        </a:rPr>
                        <a:t>Dependencies (Ie: Data, hardware)</a:t>
                      </a:r>
                      <a:endParaRPr kumimoji="0" lang="en-CA" sz="10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756238197"/>
                  </a:ext>
                </a:extLst>
              </a:tr>
              <a:tr h="5366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PTWPH1 - 1W</a:t>
                      </a:r>
                      <a:b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b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PTWPH1 - 2W</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BBSSC</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BCIM, NM1, eSide</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High</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Subscriber Page Warranty Display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BAN Page Warranty Display</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BAN Data and related Information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System and Env integration</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420447171"/>
                  </a:ext>
                </a:extLst>
              </a:tr>
              <a:tr h="324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PTWPH1 - 4</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BBSSC</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IDD, IDR, NM1, </a:t>
                      </a:r>
                      <a:r>
                        <a:rPr kumimoji="0" lang="en-US" sz="1000" b="0" i="0" u="none" strike="noStrike" kern="1200" cap="none" spc="0" normalizeH="0" baseline="0" noProof="0" dirty="0" err="1">
                          <a:ln>
                            <a:noFill/>
                          </a:ln>
                          <a:solidFill>
                            <a:prstClr val="black"/>
                          </a:solidFill>
                          <a:effectLst/>
                          <a:uLnTx/>
                          <a:uFillTx/>
                          <a:latin typeface="Segoe UI" panose="020B0502040204020203" pitchFamily="34" charset="0"/>
                          <a:ea typeface="+mn-ea"/>
                          <a:cs typeface="Segoe UI" panose="020B0502040204020203" pitchFamily="34" charset="0"/>
                        </a:rPr>
                        <a:t>Analance</a:t>
                      </a: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BCIM, eSide</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High</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Usage Export Feature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NAG (Group) Filter and Favoriting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NAG Metric Tiles</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NAG and Usage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System and Env integration</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3345734804"/>
                  </a:ext>
                </a:extLst>
              </a:tr>
              <a:tr h="324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8</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BBSSC</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IDD, IDR, NM1, </a:t>
                      </a:r>
                      <a:r>
                        <a:rPr kumimoji="0" lang="en-US" sz="1000" b="0" i="0" u="none" strike="noStrike" kern="1200" cap="none" spc="0" normalizeH="0" baseline="0" noProof="0" dirty="0" err="1">
                          <a:ln>
                            <a:noFill/>
                          </a:ln>
                          <a:solidFill>
                            <a:prstClr val="black"/>
                          </a:solidFill>
                          <a:effectLst/>
                          <a:uLnTx/>
                          <a:uFillTx/>
                          <a:latin typeface="Segoe UI" panose="020B0502040204020203" pitchFamily="34" charset="0"/>
                          <a:ea typeface="+mn-ea"/>
                          <a:cs typeface="Segoe UI" panose="020B0502040204020203" pitchFamily="34" charset="0"/>
                        </a:rPr>
                        <a:t>Analance</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High</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Usage summary tabs &amp; usage bar chart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Interaction prompt under graph </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Billed and Unbilled Usage data</a:t>
                      </a:r>
                      <a:b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br>
                      <a:b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b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System and Env integration</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309359047"/>
                  </a:ext>
                </a:extLst>
              </a:tr>
              <a:tr h="324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BBSSC</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IDD, IDR, NM1, </a:t>
                      </a:r>
                      <a:r>
                        <a:rPr kumimoji="0" lang="en-US" sz="1000" b="0" i="0" u="none" strike="noStrike" kern="1200" cap="none" spc="0" normalizeH="0" baseline="0" noProof="0" dirty="0" err="1">
                          <a:ln>
                            <a:noFill/>
                          </a:ln>
                          <a:solidFill>
                            <a:prstClr val="black"/>
                          </a:solidFill>
                          <a:effectLst/>
                          <a:uLnTx/>
                          <a:uFillTx/>
                          <a:latin typeface="Segoe UI" panose="020B0502040204020203" pitchFamily="34" charset="0"/>
                          <a:ea typeface="+mn-ea"/>
                          <a:cs typeface="Segoe UI" panose="020B0502040204020203" pitchFamily="34" charset="0"/>
                        </a:rPr>
                        <a:t>Analance</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High</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Usage bar chart drill down and </a:t>
                      </a: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In-plan Usage Threshold "Donut Wheel“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Shared Plans detail and Usage Breakdown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Individual Plans detail and Usage Breakdown</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Billed and Unbilled Usage data</a:t>
                      </a:r>
                      <a:b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br>
                      <a:b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b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System and Env integration</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963408702"/>
                  </a:ext>
                </a:extLst>
              </a:tr>
            </a:tbl>
          </a:graphicData>
        </a:graphic>
      </p:graphicFrame>
      <p:grpSp>
        <p:nvGrpSpPr>
          <p:cNvPr id="19" name="Group 18">
            <a:extLst>
              <a:ext uri="{FF2B5EF4-FFF2-40B4-BE49-F238E27FC236}">
                <a16:creationId xmlns:a16="http://schemas.microsoft.com/office/drawing/2014/main" id="{8EDED0C7-0B75-1226-D44C-7A9CD0C21C49}"/>
              </a:ext>
            </a:extLst>
          </p:cNvPr>
          <p:cNvGrpSpPr/>
          <p:nvPr/>
        </p:nvGrpSpPr>
        <p:grpSpPr>
          <a:xfrm>
            <a:off x="1" y="4240"/>
            <a:ext cx="909836" cy="930066"/>
            <a:chOff x="1" y="-5685"/>
            <a:chExt cx="909836" cy="930066"/>
          </a:xfrm>
        </p:grpSpPr>
        <p:sp>
          <p:nvSpPr>
            <p:cNvPr id="6" name="Rectangle 5">
              <a:extLst>
                <a:ext uri="{FF2B5EF4-FFF2-40B4-BE49-F238E27FC236}">
                  <a16:creationId xmlns:a16="http://schemas.microsoft.com/office/drawing/2014/main" id="{6A004B02-8CD1-2C3B-0017-3B3C31B43048}"/>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Rectangle 13">
              <a:extLst>
                <a:ext uri="{FF2B5EF4-FFF2-40B4-BE49-F238E27FC236}">
                  <a16:creationId xmlns:a16="http://schemas.microsoft.com/office/drawing/2014/main" id="{F124BE68-DDF8-F038-8042-2CA5619F0F3F}"/>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7" name="Rectangle 16">
              <a:extLst>
                <a:ext uri="{FF2B5EF4-FFF2-40B4-BE49-F238E27FC236}">
                  <a16:creationId xmlns:a16="http://schemas.microsoft.com/office/drawing/2014/main" id="{8AEEE408-B47F-1A98-4CFF-E89B013A11DF}"/>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D7B02FCD-3178-1FB8-5F07-0FE3A8FED1B7}"/>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7" name="Group 26">
            <a:extLst>
              <a:ext uri="{FF2B5EF4-FFF2-40B4-BE49-F238E27FC236}">
                <a16:creationId xmlns:a16="http://schemas.microsoft.com/office/drawing/2014/main" id="{43EFF169-52EE-8B19-E71B-FEF5942C6AEA}"/>
              </a:ext>
            </a:extLst>
          </p:cNvPr>
          <p:cNvGrpSpPr/>
          <p:nvPr/>
        </p:nvGrpSpPr>
        <p:grpSpPr>
          <a:xfrm>
            <a:off x="10342891" y="4962097"/>
            <a:ext cx="1845935" cy="1905341"/>
            <a:chOff x="0" y="0"/>
            <a:chExt cx="3161556" cy="3063223"/>
          </a:xfrm>
        </p:grpSpPr>
        <p:grpSp>
          <p:nvGrpSpPr>
            <p:cNvPr id="21" name="Group 20">
              <a:extLst>
                <a:ext uri="{FF2B5EF4-FFF2-40B4-BE49-F238E27FC236}">
                  <a16:creationId xmlns:a16="http://schemas.microsoft.com/office/drawing/2014/main" id="{3D64FECA-BC95-6316-2AD8-23411ECC7755}"/>
                </a:ext>
              </a:extLst>
            </p:cNvPr>
            <p:cNvGrpSpPr/>
            <p:nvPr/>
          </p:nvGrpSpPr>
          <p:grpSpPr>
            <a:xfrm>
              <a:off x="0" y="0"/>
              <a:ext cx="2107704" cy="2241545"/>
              <a:chOff x="0" y="0"/>
              <a:chExt cx="2107704" cy="2241545"/>
            </a:xfrm>
          </p:grpSpPr>
          <p:sp>
            <p:nvSpPr>
              <p:cNvPr id="25" name="Rectangle 24">
                <a:extLst>
                  <a:ext uri="{FF2B5EF4-FFF2-40B4-BE49-F238E27FC236}">
                    <a16:creationId xmlns:a16="http://schemas.microsoft.com/office/drawing/2014/main" id="{BB1D8E5E-F802-FDF3-E0CE-77FFE038C8E8}"/>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25">
                <a:extLst>
                  <a:ext uri="{FF2B5EF4-FFF2-40B4-BE49-F238E27FC236}">
                    <a16:creationId xmlns:a16="http://schemas.microsoft.com/office/drawing/2014/main" id="{95035A08-72A3-4F66-CE13-8FA258A7BA12}"/>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2" name="Group 21">
              <a:extLst>
                <a:ext uri="{FF2B5EF4-FFF2-40B4-BE49-F238E27FC236}">
                  <a16:creationId xmlns:a16="http://schemas.microsoft.com/office/drawing/2014/main" id="{1D4CF52B-300C-9C59-783E-CFF132850140}"/>
                </a:ext>
              </a:extLst>
            </p:cNvPr>
            <p:cNvGrpSpPr/>
            <p:nvPr/>
          </p:nvGrpSpPr>
          <p:grpSpPr>
            <a:xfrm flipH="1" flipV="1">
              <a:off x="1072246" y="1059210"/>
              <a:ext cx="2089310" cy="2004013"/>
              <a:chOff x="1580778" y="1253587"/>
              <a:chExt cx="2089310" cy="2004013"/>
            </a:xfrm>
          </p:grpSpPr>
          <p:sp>
            <p:nvSpPr>
              <p:cNvPr id="23" name="Rectangle 22">
                <a:extLst>
                  <a:ext uri="{FF2B5EF4-FFF2-40B4-BE49-F238E27FC236}">
                    <a16:creationId xmlns:a16="http://schemas.microsoft.com/office/drawing/2014/main" id="{1EF8B80D-260D-3338-4239-C4E631566CA7}"/>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Rectangle 23">
                <a:extLst>
                  <a:ext uri="{FF2B5EF4-FFF2-40B4-BE49-F238E27FC236}">
                    <a16:creationId xmlns:a16="http://schemas.microsoft.com/office/drawing/2014/main" id="{60552D81-78D2-0AC4-E8C1-B246362FEAA1}"/>
                  </a:ext>
                </a:extLst>
              </p:cNvPr>
              <p:cNvSpPr/>
              <p:nvPr/>
            </p:nvSpPr>
            <p:spPr>
              <a:xfrm rot="5400000">
                <a:off x="2739910" y="1129913"/>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9" name="Picture 28" descr="BEll company logo">
            <a:extLst>
              <a:ext uri="{FF2B5EF4-FFF2-40B4-BE49-F238E27FC236}">
                <a16:creationId xmlns:a16="http://schemas.microsoft.com/office/drawing/2014/main" id="{1A8C7FF5-0CFE-B77C-9C6B-7942B656AD5B}"/>
              </a:ext>
            </a:extLst>
          </p:cNvPr>
          <p:cNvPicPr>
            <a:picLocks noChangeAspect="1"/>
          </p:cNvPicPr>
          <p:nvPr/>
        </p:nvPicPr>
        <p:blipFill>
          <a:blip r:embed="rId2"/>
          <a:stretch>
            <a:fillRect/>
          </a:stretch>
        </p:blipFill>
        <p:spPr>
          <a:xfrm>
            <a:off x="11009239" y="725518"/>
            <a:ext cx="514513" cy="400050"/>
          </a:xfrm>
          <a:prstGeom prst="rect">
            <a:avLst/>
          </a:prstGeom>
        </p:spPr>
      </p:pic>
    </p:spTree>
    <p:extLst>
      <p:ext uri="{BB962C8B-B14F-4D97-AF65-F5344CB8AC3E}">
        <p14:creationId xmlns:p14="http://schemas.microsoft.com/office/powerpoint/2010/main" val="329398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 calcmode="lin" valueType="num">
                                      <p:cBhvr additive="base">
                                        <p:cTn id="10" dur="500" fill="hold"/>
                                        <p:tgtEl>
                                          <p:spTgt spid="27"/>
                                        </p:tgtEl>
                                        <p:attrNameLst>
                                          <p:attrName>ppt_x</p:attrName>
                                        </p:attrNameLst>
                                      </p:cBhvr>
                                      <p:tavLst>
                                        <p:tav tm="0">
                                          <p:val>
                                            <p:strVal val="1+#ppt_w/2"/>
                                          </p:val>
                                        </p:tav>
                                        <p:tav tm="100000">
                                          <p:val>
                                            <p:strVal val="#ppt_x"/>
                                          </p:val>
                                        </p:tav>
                                      </p:tavLst>
                                    </p:anim>
                                    <p:anim calcmode="lin" valueType="num">
                                      <p:cBhvr additive="base">
                                        <p:cTn id="11"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93F4B-820A-06CA-BA98-E1868C5690DB}"/>
              </a:ext>
            </a:extLst>
          </p:cNvPr>
          <p:cNvSpPr>
            <a:spLocks noGrp="1"/>
          </p:cNvSpPr>
          <p:nvPr>
            <p:ph type="title" idx="4294967295"/>
          </p:nvPr>
        </p:nvSpPr>
        <p:spPr>
          <a:xfrm>
            <a:off x="1206782" y="429482"/>
            <a:ext cx="5175478" cy="718269"/>
          </a:xfrm>
        </p:spPr>
        <p:txBody>
          <a:bodyPr>
            <a:normAutofit/>
          </a:bodyPr>
          <a:lstStyle/>
          <a:p>
            <a:r>
              <a:rPr lang="en-US" sz="3200" dirty="0">
                <a:latin typeface="Arial"/>
                <a:cs typeface="Arial"/>
              </a:rPr>
              <a:t>Features In/Out of Scope</a:t>
            </a:r>
            <a:endParaRPr lang="en-PH" sz="3200" dirty="0">
              <a:latin typeface="Arial"/>
              <a:cs typeface="Arial"/>
            </a:endParaRPr>
          </a:p>
        </p:txBody>
      </p:sp>
      <p:graphicFrame>
        <p:nvGraphicFramePr>
          <p:cNvPr id="4" name="Table 10">
            <a:extLst>
              <a:ext uri="{FF2B5EF4-FFF2-40B4-BE49-F238E27FC236}">
                <a16:creationId xmlns:a16="http://schemas.microsoft.com/office/drawing/2014/main" id="{21FCF942-DE9D-54C2-10AC-3800D1892EC2}"/>
              </a:ext>
            </a:extLst>
          </p:cNvPr>
          <p:cNvGraphicFramePr>
            <a:graphicFrameLocks noGrp="1"/>
          </p:cNvGraphicFramePr>
          <p:nvPr>
            <p:extLst>
              <p:ext uri="{D42A27DB-BD31-4B8C-83A1-F6EECF244321}">
                <p14:modId xmlns:p14="http://schemas.microsoft.com/office/powerpoint/2010/main" val="538675366"/>
              </p:ext>
            </p:extLst>
          </p:nvPr>
        </p:nvGraphicFramePr>
        <p:xfrm>
          <a:off x="1079561" y="1323799"/>
          <a:ext cx="8532039" cy="3215978"/>
        </p:xfrm>
        <a:graphic>
          <a:graphicData uri="http://schemas.openxmlformats.org/drawingml/2006/table">
            <a:tbl>
              <a:tblPr firstRow="1" bandRow="1">
                <a:tableStyleId>{5FD0F851-EC5A-4D38-B0AD-8093EC10F338}</a:tableStyleId>
              </a:tblPr>
              <a:tblGrid>
                <a:gridCol w="1397314">
                  <a:extLst>
                    <a:ext uri="{9D8B030D-6E8A-4147-A177-3AD203B41FA5}">
                      <a16:colId xmlns:a16="http://schemas.microsoft.com/office/drawing/2014/main" val="3579042218"/>
                    </a:ext>
                  </a:extLst>
                </a:gridCol>
                <a:gridCol w="1290740">
                  <a:extLst>
                    <a:ext uri="{9D8B030D-6E8A-4147-A177-3AD203B41FA5}">
                      <a16:colId xmlns:a16="http://schemas.microsoft.com/office/drawing/2014/main" val="119136213"/>
                    </a:ext>
                  </a:extLst>
                </a:gridCol>
                <a:gridCol w="1217853">
                  <a:extLst>
                    <a:ext uri="{9D8B030D-6E8A-4147-A177-3AD203B41FA5}">
                      <a16:colId xmlns:a16="http://schemas.microsoft.com/office/drawing/2014/main" val="39854640"/>
                    </a:ext>
                  </a:extLst>
                </a:gridCol>
                <a:gridCol w="978010">
                  <a:extLst>
                    <a:ext uri="{9D8B030D-6E8A-4147-A177-3AD203B41FA5}">
                      <a16:colId xmlns:a16="http://schemas.microsoft.com/office/drawing/2014/main" val="2433179297"/>
                    </a:ext>
                  </a:extLst>
                </a:gridCol>
                <a:gridCol w="755374">
                  <a:extLst>
                    <a:ext uri="{9D8B030D-6E8A-4147-A177-3AD203B41FA5}">
                      <a16:colId xmlns:a16="http://schemas.microsoft.com/office/drawing/2014/main" val="3987773371"/>
                    </a:ext>
                  </a:extLst>
                </a:gridCol>
                <a:gridCol w="1510748">
                  <a:extLst>
                    <a:ext uri="{9D8B030D-6E8A-4147-A177-3AD203B41FA5}">
                      <a16:colId xmlns:a16="http://schemas.microsoft.com/office/drawing/2014/main" val="1316251386"/>
                    </a:ext>
                  </a:extLst>
                </a:gridCol>
                <a:gridCol w="1382000">
                  <a:extLst>
                    <a:ext uri="{9D8B030D-6E8A-4147-A177-3AD203B41FA5}">
                      <a16:colId xmlns:a16="http://schemas.microsoft.com/office/drawing/2014/main" val="3883829560"/>
                    </a:ext>
                  </a:extLst>
                </a:gridCol>
              </a:tblGrid>
              <a:tr h="539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a:ln>
                            <a:noFill/>
                          </a:ln>
                          <a:solidFill>
                            <a:sysClr val="windowText" lastClr="000000"/>
                          </a:solidFill>
                          <a:effectLst/>
                          <a:uLnTx/>
                          <a:uFillTx/>
                        </a:rPr>
                        <a:t>Req./Feature ID</a:t>
                      </a:r>
                      <a:endParaRPr kumimoji="0" lang="en-CA" sz="10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a:ln>
                            <a:noFill/>
                          </a:ln>
                          <a:solidFill>
                            <a:sysClr val="windowText" lastClr="000000"/>
                          </a:solidFill>
                          <a:effectLst/>
                          <a:uLnTx/>
                          <a:uFillTx/>
                        </a:rPr>
                        <a:t>Domaine/System</a:t>
                      </a:r>
                      <a:endParaRPr kumimoji="0" lang="en-CA" sz="10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a:ln>
                            <a:noFill/>
                          </a:ln>
                          <a:solidFill>
                            <a:sysClr val="windowText" lastClr="000000"/>
                          </a:solidFill>
                          <a:effectLst/>
                          <a:uLnTx/>
                          <a:uFillTx/>
                        </a:rPr>
                        <a:t>Team Accountable </a:t>
                      </a:r>
                      <a:endParaRPr kumimoji="0" lang="en-CA" sz="10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dirty="0">
                          <a:ln>
                            <a:noFill/>
                          </a:ln>
                          <a:solidFill>
                            <a:sysClr val="windowText" lastClr="000000"/>
                          </a:solidFill>
                          <a:effectLst/>
                          <a:uLnTx/>
                          <a:uFillTx/>
                        </a:rPr>
                        <a:t>In/Out of Scope</a:t>
                      </a:r>
                      <a:endParaRPr kumimoji="0" lang="en-CA" sz="10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dirty="0">
                          <a:ln>
                            <a:noFill/>
                          </a:ln>
                          <a:solidFill>
                            <a:sysClr val="windowText" lastClr="000000"/>
                          </a:solidFill>
                          <a:effectLst/>
                          <a:uLnTx/>
                          <a:uFillTx/>
                        </a:rPr>
                        <a:t>Impact</a:t>
                      </a:r>
                      <a:endParaRPr kumimoji="0" lang="en-CA" sz="10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a:ln>
                            <a:noFill/>
                          </a:ln>
                          <a:solidFill>
                            <a:sysClr val="windowText" lastClr="000000"/>
                          </a:solidFill>
                          <a:effectLst/>
                          <a:uLnTx/>
                          <a:uFillTx/>
                        </a:rPr>
                        <a:t>Functions to be tested</a:t>
                      </a:r>
                      <a:endParaRPr kumimoji="0" lang="en-CA" sz="10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u="none" strike="noStrike" kern="1200" cap="none" spc="0" normalizeH="0" baseline="0" noProof="0" dirty="0">
                          <a:ln>
                            <a:noFill/>
                          </a:ln>
                          <a:solidFill>
                            <a:sysClr val="windowText" lastClr="000000"/>
                          </a:solidFill>
                          <a:effectLst/>
                          <a:uLnTx/>
                          <a:uFillTx/>
                        </a:rPr>
                        <a:t>Dependencies (Ie: Data, hardware)</a:t>
                      </a:r>
                      <a:endParaRPr kumimoji="0" lang="en-CA" sz="10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756238197"/>
                  </a:ext>
                </a:extLst>
              </a:tr>
              <a:tr h="1683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16</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BBSSC</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IDD, IDR, NM1, </a:t>
                      </a:r>
                      <a:r>
                        <a:rPr kumimoji="0" lang="en-US" sz="1000" b="0" i="0" u="none" strike="noStrike" kern="1200" cap="none" spc="0" normalizeH="0" baseline="0" noProof="0" dirty="0" err="1">
                          <a:ln>
                            <a:noFill/>
                          </a:ln>
                          <a:solidFill>
                            <a:prstClr val="black"/>
                          </a:solidFill>
                          <a:effectLst/>
                          <a:uLnTx/>
                          <a:uFillTx/>
                          <a:latin typeface="Segoe UI" panose="020B0502040204020203" pitchFamily="34" charset="0"/>
                          <a:ea typeface="+mn-ea"/>
                          <a:cs typeface="Segoe UI" panose="020B0502040204020203" pitchFamily="34" charset="0"/>
                        </a:rPr>
                        <a:t>Analance</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Medium</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Back button functionality</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Billed and Unbilled usage tiles</a:t>
                      </a:r>
                      <a:b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br>
                      <a:b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b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System and Env integration</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420447171"/>
                  </a:ext>
                </a:extLst>
              </a:tr>
              <a:tr h="324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PTWPH1 - 23</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BBSSC</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(EORD)</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High</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Shopping and Orders Widget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Latest Orders Table with 30 days Req#</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Display of View All Orders link</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Shopping and Order date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System and Env integration</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3345734804"/>
                  </a:ext>
                </a:extLst>
              </a:tr>
              <a:tr h="324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PTWPH1 – 24</a:t>
                      </a: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BBSSC</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BBP</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High</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Permissions Quick Links and external link</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Associate QA links for permissions (TBD)</a:t>
                      </a:r>
                      <a:b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br>
                      <a:b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br>
                      <a:r>
                        <a:rPr kumimoji="0" lang="en-US"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System and Env integration</a:t>
                      </a:r>
                      <a:endParaRPr kumimoji="0" lang="en-CA" sz="10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9325" marR="79325" marT="39663" marB="39663"/>
                </a:tc>
                <a:extLst>
                  <a:ext uri="{0D108BD9-81ED-4DB2-BD59-A6C34878D82A}">
                    <a16:rowId xmlns:a16="http://schemas.microsoft.com/office/drawing/2014/main" val="1309359047"/>
                  </a:ext>
                </a:extLst>
              </a:tr>
            </a:tbl>
          </a:graphicData>
        </a:graphic>
      </p:graphicFrame>
      <p:grpSp>
        <p:nvGrpSpPr>
          <p:cNvPr id="19" name="Group 18">
            <a:extLst>
              <a:ext uri="{FF2B5EF4-FFF2-40B4-BE49-F238E27FC236}">
                <a16:creationId xmlns:a16="http://schemas.microsoft.com/office/drawing/2014/main" id="{34319BFB-5690-15E9-7D60-0A859583A312}"/>
              </a:ext>
            </a:extLst>
          </p:cNvPr>
          <p:cNvGrpSpPr/>
          <p:nvPr/>
        </p:nvGrpSpPr>
        <p:grpSpPr>
          <a:xfrm>
            <a:off x="1" y="4240"/>
            <a:ext cx="909836" cy="930066"/>
            <a:chOff x="1" y="-5685"/>
            <a:chExt cx="909836" cy="930066"/>
          </a:xfrm>
        </p:grpSpPr>
        <p:sp>
          <p:nvSpPr>
            <p:cNvPr id="6" name="Rectangle 5">
              <a:extLst>
                <a:ext uri="{FF2B5EF4-FFF2-40B4-BE49-F238E27FC236}">
                  <a16:creationId xmlns:a16="http://schemas.microsoft.com/office/drawing/2014/main" id="{3E24CD33-0BAE-42B7-DAED-2E449953A437}"/>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Rectangle 13">
              <a:extLst>
                <a:ext uri="{FF2B5EF4-FFF2-40B4-BE49-F238E27FC236}">
                  <a16:creationId xmlns:a16="http://schemas.microsoft.com/office/drawing/2014/main" id="{FD2E0659-2F6A-74BE-9CFC-C15B88916F6B}"/>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7" name="Rectangle 16">
              <a:extLst>
                <a:ext uri="{FF2B5EF4-FFF2-40B4-BE49-F238E27FC236}">
                  <a16:creationId xmlns:a16="http://schemas.microsoft.com/office/drawing/2014/main" id="{DB4B8EF5-AE43-E7FD-C00D-A4783D80DEBF}"/>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D7F44D92-121B-ACBC-F44B-8B4D07E4ED68}"/>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7" name="Group 26">
            <a:extLst>
              <a:ext uri="{FF2B5EF4-FFF2-40B4-BE49-F238E27FC236}">
                <a16:creationId xmlns:a16="http://schemas.microsoft.com/office/drawing/2014/main" id="{7D6DF32C-2CCD-7C72-C6C5-4AAEEB07F91D}"/>
              </a:ext>
            </a:extLst>
          </p:cNvPr>
          <p:cNvGrpSpPr/>
          <p:nvPr/>
        </p:nvGrpSpPr>
        <p:grpSpPr>
          <a:xfrm>
            <a:off x="10342891" y="4962097"/>
            <a:ext cx="1845935" cy="1905341"/>
            <a:chOff x="0" y="0"/>
            <a:chExt cx="3161556" cy="3063223"/>
          </a:xfrm>
        </p:grpSpPr>
        <p:grpSp>
          <p:nvGrpSpPr>
            <p:cNvPr id="21" name="Group 20">
              <a:extLst>
                <a:ext uri="{FF2B5EF4-FFF2-40B4-BE49-F238E27FC236}">
                  <a16:creationId xmlns:a16="http://schemas.microsoft.com/office/drawing/2014/main" id="{40DD79E2-B5E7-2C1D-90B6-922C31FDBDCB}"/>
                </a:ext>
              </a:extLst>
            </p:cNvPr>
            <p:cNvGrpSpPr/>
            <p:nvPr/>
          </p:nvGrpSpPr>
          <p:grpSpPr>
            <a:xfrm>
              <a:off x="0" y="0"/>
              <a:ext cx="2107704" cy="2241545"/>
              <a:chOff x="0" y="0"/>
              <a:chExt cx="2107704" cy="2241545"/>
            </a:xfrm>
          </p:grpSpPr>
          <p:sp>
            <p:nvSpPr>
              <p:cNvPr id="25" name="Rectangle 24">
                <a:extLst>
                  <a:ext uri="{FF2B5EF4-FFF2-40B4-BE49-F238E27FC236}">
                    <a16:creationId xmlns:a16="http://schemas.microsoft.com/office/drawing/2014/main" id="{70C923BC-A02D-7732-429A-A70A2C81E6A3}"/>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25">
                <a:extLst>
                  <a:ext uri="{FF2B5EF4-FFF2-40B4-BE49-F238E27FC236}">
                    <a16:creationId xmlns:a16="http://schemas.microsoft.com/office/drawing/2014/main" id="{80EB6822-2AEB-A941-687A-A2BF684735B3}"/>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2" name="Group 21">
              <a:extLst>
                <a:ext uri="{FF2B5EF4-FFF2-40B4-BE49-F238E27FC236}">
                  <a16:creationId xmlns:a16="http://schemas.microsoft.com/office/drawing/2014/main" id="{014B37B4-6071-F5A8-F53A-BCF218B54F32}"/>
                </a:ext>
              </a:extLst>
            </p:cNvPr>
            <p:cNvGrpSpPr/>
            <p:nvPr/>
          </p:nvGrpSpPr>
          <p:grpSpPr>
            <a:xfrm flipH="1" flipV="1">
              <a:off x="1072246" y="1059210"/>
              <a:ext cx="2089310" cy="2004013"/>
              <a:chOff x="1580778" y="1253587"/>
              <a:chExt cx="2089310" cy="2004013"/>
            </a:xfrm>
          </p:grpSpPr>
          <p:sp>
            <p:nvSpPr>
              <p:cNvPr id="23" name="Rectangle 22">
                <a:extLst>
                  <a:ext uri="{FF2B5EF4-FFF2-40B4-BE49-F238E27FC236}">
                    <a16:creationId xmlns:a16="http://schemas.microsoft.com/office/drawing/2014/main" id="{B4A8393A-11C8-DB63-F038-8497FE35401E}"/>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Rectangle 23">
                <a:extLst>
                  <a:ext uri="{FF2B5EF4-FFF2-40B4-BE49-F238E27FC236}">
                    <a16:creationId xmlns:a16="http://schemas.microsoft.com/office/drawing/2014/main" id="{03660512-5A8A-9150-6794-B8506453A96D}"/>
                  </a:ext>
                </a:extLst>
              </p:cNvPr>
              <p:cNvSpPr/>
              <p:nvPr/>
            </p:nvSpPr>
            <p:spPr>
              <a:xfrm rot="5400000">
                <a:off x="2739910" y="1129913"/>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9" name="Picture 28" descr="BEll company logo">
            <a:extLst>
              <a:ext uri="{FF2B5EF4-FFF2-40B4-BE49-F238E27FC236}">
                <a16:creationId xmlns:a16="http://schemas.microsoft.com/office/drawing/2014/main" id="{E3DBA82E-2F95-4902-14C7-6E1C9838BACF}"/>
              </a:ext>
            </a:extLst>
          </p:cNvPr>
          <p:cNvPicPr>
            <a:picLocks noChangeAspect="1"/>
          </p:cNvPicPr>
          <p:nvPr/>
        </p:nvPicPr>
        <p:blipFill>
          <a:blip r:embed="rId2"/>
          <a:stretch>
            <a:fillRect/>
          </a:stretch>
        </p:blipFill>
        <p:spPr>
          <a:xfrm>
            <a:off x="11009239" y="725518"/>
            <a:ext cx="514513" cy="400050"/>
          </a:xfrm>
          <a:prstGeom prst="rect">
            <a:avLst/>
          </a:prstGeom>
        </p:spPr>
      </p:pic>
    </p:spTree>
    <p:extLst>
      <p:ext uri="{BB962C8B-B14F-4D97-AF65-F5344CB8AC3E}">
        <p14:creationId xmlns:p14="http://schemas.microsoft.com/office/powerpoint/2010/main" val="170734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 calcmode="lin" valueType="num">
                                      <p:cBhvr additive="base">
                                        <p:cTn id="10" dur="500" fill="hold"/>
                                        <p:tgtEl>
                                          <p:spTgt spid="27"/>
                                        </p:tgtEl>
                                        <p:attrNameLst>
                                          <p:attrName>ppt_x</p:attrName>
                                        </p:attrNameLst>
                                      </p:cBhvr>
                                      <p:tavLst>
                                        <p:tav tm="0">
                                          <p:val>
                                            <p:strVal val="1+#ppt_w/2"/>
                                          </p:val>
                                        </p:tav>
                                        <p:tav tm="100000">
                                          <p:val>
                                            <p:strVal val="#ppt_x"/>
                                          </p:val>
                                        </p:tav>
                                      </p:tavLst>
                                    </p:anim>
                                    <p:anim calcmode="lin" valueType="num">
                                      <p:cBhvr additive="base">
                                        <p:cTn id="11"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36B683C-1AF0-0A33-67DE-7F9E0A7E401F}"/>
              </a:ext>
            </a:extLst>
          </p:cNvPr>
          <p:cNvSpPr txBox="1"/>
          <p:nvPr/>
        </p:nvSpPr>
        <p:spPr>
          <a:xfrm>
            <a:off x="1164441" y="591520"/>
            <a:ext cx="7672571" cy="486287"/>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Segoe UI"/>
              </a:rPr>
              <a:t>Defect Severity, Priority and Heat Map</a:t>
            </a:r>
          </a:p>
        </p:txBody>
      </p:sp>
      <p:sp>
        <p:nvSpPr>
          <p:cNvPr id="14" name="TextBox 13">
            <a:extLst>
              <a:ext uri="{FF2B5EF4-FFF2-40B4-BE49-F238E27FC236}">
                <a16:creationId xmlns:a16="http://schemas.microsoft.com/office/drawing/2014/main" id="{104F98D0-46E8-7966-C4F9-312AAAA5AE8E}"/>
              </a:ext>
            </a:extLst>
          </p:cNvPr>
          <p:cNvSpPr txBox="1"/>
          <p:nvPr/>
        </p:nvSpPr>
        <p:spPr>
          <a:xfrm>
            <a:off x="1167115" y="1447399"/>
            <a:ext cx="9324787" cy="3239669"/>
          </a:xfrm>
          <a:prstGeom prst="rect">
            <a:avLst/>
          </a:prstGeom>
          <a:noFill/>
        </p:spPr>
        <p:txBody>
          <a:bodyPr wrap="square" lIns="91440" tIns="45720" rIns="91440" bIns="45720" rtlCol="0" anchor="t">
            <a:spAutoFit/>
          </a:bodyPr>
          <a:lstStyle/>
          <a:p>
            <a:pPr defTabSz="1218621">
              <a:lnSpc>
                <a:spcPct val="107000"/>
              </a:lnSpc>
              <a:spcAft>
                <a:spcPts val="800"/>
              </a:spcAft>
            </a:pPr>
            <a:r>
              <a:rPr lang="en-CA" sz="1800" kern="100" dirty="0">
                <a:solidFill>
                  <a:srgbClr val="000000"/>
                </a:solidFill>
                <a:latin typeface="Arial"/>
                <a:ea typeface="Times New Roman" panose="02020603050405020304" pitchFamily="18" charset="0"/>
                <a:cs typeface="Segoe UI"/>
              </a:rPr>
              <a:t>To effectively manage defects, it's important to classify them by their severity and priority. Severity is the impact a defect has on the system, while priority is the level of urgency to fix the defect. </a:t>
            </a:r>
          </a:p>
          <a:p>
            <a:pPr defTabSz="1218621">
              <a:lnSpc>
                <a:spcPct val="107000"/>
              </a:lnSpc>
              <a:spcAft>
                <a:spcPts val="800"/>
              </a:spcAft>
            </a:pPr>
            <a:r>
              <a:rPr lang="en-CA" sz="1800" kern="100" dirty="0">
                <a:solidFill>
                  <a:srgbClr val="000000"/>
                </a:solidFill>
                <a:latin typeface="Arial"/>
                <a:ea typeface="Times New Roman" panose="02020603050405020304" pitchFamily="18" charset="0"/>
                <a:cs typeface="Segoe UI"/>
              </a:rPr>
              <a:t>Using both factors, you can create a heatmap that shows which defects need to be addressed first. Use color coding to indicate the severity levels and priority levels. This will help your team stay organized and focused on the most critical issues.</a:t>
            </a:r>
          </a:p>
          <a:p>
            <a:pPr defTabSz="1218621">
              <a:lnSpc>
                <a:spcPct val="107000"/>
              </a:lnSpc>
              <a:spcAft>
                <a:spcPts val="800"/>
              </a:spcAft>
            </a:pPr>
            <a:r>
              <a:rPr lang="en-CA" sz="1800" kern="100" dirty="0">
                <a:solidFill>
                  <a:srgbClr val="000000"/>
                </a:solidFill>
                <a:latin typeface="Arial"/>
                <a:ea typeface="Times New Roman" panose="02020603050405020304" pitchFamily="18" charset="0"/>
                <a:cs typeface="Segoe UI"/>
              </a:rPr>
              <a:t>**If a defect is opened and later defined as a change request, the defect must be closed and associated to a CR which should follow a predefined CR Process outside of the defects. The relating test cases should be adjusted or descoped based on the agreement for the CR.</a:t>
            </a:r>
          </a:p>
        </p:txBody>
      </p:sp>
      <p:grpSp>
        <p:nvGrpSpPr>
          <p:cNvPr id="16" name="Group 15">
            <a:extLst>
              <a:ext uri="{FF2B5EF4-FFF2-40B4-BE49-F238E27FC236}">
                <a16:creationId xmlns:a16="http://schemas.microsoft.com/office/drawing/2014/main" id="{1F86C176-9E9C-DD95-DF00-B312D8631686}"/>
              </a:ext>
            </a:extLst>
          </p:cNvPr>
          <p:cNvGrpSpPr/>
          <p:nvPr/>
        </p:nvGrpSpPr>
        <p:grpSpPr>
          <a:xfrm>
            <a:off x="1" y="4240"/>
            <a:ext cx="909836" cy="930066"/>
            <a:chOff x="1" y="-5685"/>
            <a:chExt cx="909836" cy="930066"/>
          </a:xfrm>
        </p:grpSpPr>
        <p:sp>
          <p:nvSpPr>
            <p:cNvPr id="3" name="Rectangle 2">
              <a:extLst>
                <a:ext uri="{FF2B5EF4-FFF2-40B4-BE49-F238E27FC236}">
                  <a16:creationId xmlns:a16="http://schemas.microsoft.com/office/drawing/2014/main" id="{B0A3C2B9-CE7B-CDD9-B51C-87A4F6E4E193}"/>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4" name="Rectangle 3">
              <a:extLst>
                <a:ext uri="{FF2B5EF4-FFF2-40B4-BE49-F238E27FC236}">
                  <a16:creationId xmlns:a16="http://schemas.microsoft.com/office/drawing/2014/main" id="{52AC2F4A-0702-5580-4CB9-AE702D7603FC}"/>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5" name="Rectangle 4">
              <a:extLst>
                <a:ext uri="{FF2B5EF4-FFF2-40B4-BE49-F238E27FC236}">
                  <a16:creationId xmlns:a16="http://schemas.microsoft.com/office/drawing/2014/main" id="{28FC5E82-8E2D-0527-2804-01FE6496DA77}"/>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5" name="Rectangle 14">
              <a:extLst>
                <a:ext uri="{FF2B5EF4-FFF2-40B4-BE49-F238E27FC236}">
                  <a16:creationId xmlns:a16="http://schemas.microsoft.com/office/drawing/2014/main" id="{19BFB9F5-AAA9-2351-93AB-04C6CE8BF8ED}"/>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24" name="Group 23">
            <a:extLst>
              <a:ext uri="{FF2B5EF4-FFF2-40B4-BE49-F238E27FC236}">
                <a16:creationId xmlns:a16="http://schemas.microsoft.com/office/drawing/2014/main" id="{52A262F1-FCBB-054F-C99B-E4AC60B14BEF}"/>
              </a:ext>
            </a:extLst>
          </p:cNvPr>
          <p:cNvGrpSpPr/>
          <p:nvPr/>
        </p:nvGrpSpPr>
        <p:grpSpPr>
          <a:xfrm>
            <a:off x="10342891" y="4962097"/>
            <a:ext cx="1845935" cy="1895903"/>
            <a:chOff x="0" y="0"/>
            <a:chExt cx="3161556" cy="3048050"/>
          </a:xfrm>
        </p:grpSpPr>
        <p:grpSp>
          <p:nvGrpSpPr>
            <p:cNvPr id="18" name="Group 17">
              <a:extLst>
                <a:ext uri="{FF2B5EF4-FFF2-40B4-BE49-F238E27FC236}">
                  <a16:creationId xmlns:a16="http://schemas.microsoft.com/office/drawing/2014/main" id="{0F03758F-4A83-F3D9-2592-F2E4C63063A5}"/>
                </a:ext>
              </a:extLst>
            </p:cNvPr>
            <p:cNvGrpSpPr/>
            <p:nvPr/>
          </p:nvGrpSpPr>
          <p:grpSpPr>
            <a:xfrm>
              <a:off x="0" y="0"/>
              <a:ext cx="2107704" cy="2241545"/>
              <a:chOff x="0" y="0"/>
              <a:chExt cx="2107704" cy="2241545"/>
            </a:xfrm>
          </p:grpSpPr>
          <p:sp>
            <p:nvSpPr>
              <p:cNvPr id="22" name="Rectangle 21">
                <a:extLst>
                  <a:ext uri="{FF2B5EF4-FFF2-40B4-BE49-F238E27FC236}">
                    <a16:creationId xmlns:a16="http://schemas.microsoft.com/office/drawing/2014/main" id="{E98E363B-AC46-094D-9449-E427A3801F76}"/>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3" name="Rectangle 22">
                <a:extLst>
                  <a:ext uri="{FF2B5EF4-FFF2-40B4-BE49-F238E27FC236}">
                    <a16:creationId xmlns:a16="http://schemas.microsoft.com/office/drawing/2014/main" id="{67B41F4C-76C6-9A76-386E-D2CA6B3E0162}"/>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9" name="Group 18">
              <a:extLst>
                <a:ext uri="{FF2B5EF4-FFF2-40B4-BE49-F238E27FC236}">
                  <a16:creationId xmlns:a16="http://schemas.microsoft.com/office/drawing/2014/main" id="{A30F5CDE-8E15-A2EA-D9EB-FBAE5F4F83CC}"/>
                </a:ext>
              </a:extLst>
            </p:cNvPr>
            <p:cNvGrpSpPr/>
            <p:nvPr/>
          </p:nvGrpSpPr>
          <p:grpSpPr>
            <a:xfrm flipH="1" flipV="1">
              <a:off x="1072246" y="1059210"/>
              <a:ext cx="2089310" cy="1988840"/>
              <a:chOff x="1580778" y="1268760"/>
              <a:chExt cx="2089310" cy="1988840"/>
            </a:xfrm>
          </p:grpSpPr>
          <p:sp>
            <p:nvSpPr>
              <p:cNvPr id="20" name="Rectangle 19">
                <a:extLst>
                  <a:ext uri="{FF2B5EF4-FFF2-40B4-BE49-F238E27FC236}">
                    <a16:creationId xmlns:a16="http://schemas.microsoft.com/office/drawing/2014/main" id="{16FE1CE3-075B-3AF2-D5C5-3846E236D19D}"/>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Rectangle 20">
                <a:extLst>
                  <a:ext uri="{FF2B5EF4-FFF2-40B4-BE49-F238E27FC236}">
                    <a16:creationId xmlns:a16="http://schemas.microsoft.com/office/drawing/2014/main" id="{FE718CBD-63B1-B2EA-2F61-4D2D609B188C}"/>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6" name="Picture 25" descr="BEll company logo">
            <a:extLst>
              <a:ext uri="{FF2B5EF4-FFF2-40B4-BE49-F238E27FC236}">
                <a16:creationId xmlns:a16="http://schemas.microsoft.com/office/drawing/2014/main" id="{A93180D1-C7B2-55E7-C7F9-87D0CFD685F1}"/>
              </a:ext>
            </a:extLst>
          </p:cNvPr>
          <p:cNvPicPr>
            <a:picLocks noChangeAspect="1"/>
          </p:cNvPicPr>
          <p:nvPr/>
        </p:nvPicPr>
        <p:blipFill>
          <a:blip r:embed="rId2"/>
          <a:stretch>
            <a:fillRect/>
          </a:stretch>
        </p:blipFill>
        <p:spPr>
          <a:xfrm>
            <a:off x="11009239" y="635555"/>
            <a:ext cx="514513" cy="400050"/>
          </a:xfrm>
          <a:prstGeom prst="rect">
            <a:avLst/>
          </a:prstGeom>
        </p:spPr>
      </p:pic>
    </p:spTree>
    <p:extLst>
      <p:ext uri="{BB962C8B-B14F-4D97-AF65-F5344CB8AC3E}">
        <p14:creationId xmlns:p14="http://schemas.microsoft.com/office/powerpoint/2010/main" val="4258416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0B73F2-3C3A-68CE-FD2E-A5FB2394C98B}"/>
              </a:ext>
            </a:extLst>
          </p:cNvPr>
          <p:cNvSpPr txBox="1"/>
          <p:nvPr/>
        </p:nvSpPr>
        <p:spPr>
          <a:xfrm>
            <a:off x="5960443" y="1278870"/>
            <a:ext cx="2289409" cy="356251"/>
          </a:xfrm>
          <a:prstGeom prst="rect">
            <a:avLst/>
          </a:prstGeom>
          <a:noFill/>
        </p:spPr>
        <p:txBody>
          <a:bodyPr wrap="none" lIns="91440" tIns="45720" rIns="91440" bIns="45720" rtlCol="0" anchor="t">
            <a:spAutoFit/>
          </a:bodyPr>
          <a:lstStyle/>
          <a:p>
            <a:pPr defTabSz="1218621">
              <a:lnSpc>
                <a:spcPct val="70000"/>
              </a:lnSpc>
            </a:pPr>
            <a:r>
              <a:rPr lang="en-IN" b="1" dirty="0">
                <a:solidFill>
                  <a:srgbClr val="0070C0"/>
                </a:solidFill>
                <a:latin typeface="Arial"/>
                <a:ea typeface="Open Sans"/>
                <a:cs typeface="Segoe UI"/>
              </a:rPr>
              <a:t>Defect Priority</a:t>
            </a:r>
          </a:p>
        </p:txBody>
      </p:sp>
      <p:sp>
        <p:nvSpPr>
          <p:cNvPr id="3" name="TextBox 2">
            <a:extLst>
              <a:ext uri="{FF2B5EF4-FFF2-40B4-BE49-F238E27FC236}">
                <a16:creationId xmlns:a16="http://schemas.microsoft.com/office/drawing/2014/main" id="{29674F20-A83A-9E4D-9D62-A8B9BE5BEF7B}"/>
              </a:ext>
            </a:extLst>
          </p:cNvPr>
          <p:cNvSpPr txBox="1"/>
          <p:nvPr/>
        </p:nvSpPr>
        <p:spPr>
          <a:xfrm>
            <a:off x="5957527" y="1593625"/>
            <a:ext cx="4246325" cy="1228157"/>
          </a:xfrm>
          <a:prstGeom prst="rect">
            <a:avLst/>
          </a:prstGeom>
          <a:noFill/>
        </p:spPr>
        <p:txBody>
          <a:bodyPr wrap="square" lIns="91440" tIns="45720" rIns="91440" bIns="45720" rtlCol="0" anchor="t">
            <a:spAutoFit/>
          </a:bodyPr>
          <a:lstStyle/>
          <a:p>
            <a:pPr defTabSz="1218621">
              <a:lnSpc>
                <a:spcPct val="107000"/>
              </a:lnSpc>
              <a:spcAft>
                <a:spcPts val="800"/>
              </a:spcAft>
            </a:pPr>
            <a:r>
              <a:rPr lang="en-CA" sz="1400" kern="100" dirty="0">
                <a:latin typeface="Arial"/>
                <a:ea typeface="Times New Roman" panose="02020603050405020304" pitchFamily="18" charset="0"/>
                <a:cs typeface="Segoe UI"/>
              </a:rPr>
              <a:t>Prioritization should be based on the potential impact of the defect on the system and the users. Effective prioritization can help you efficiently allocate your resources and improve customer satisfaction.</a:t>
            </a:r>
          </a:p>
        </p:txBody>
      </p:sp>
      <p:graphicFrame>
        <p:nvGraphicFramePr>
          <p:cNvPr id="4" name="Table 3">
            <a:extLst>
              <a:ext uri="{FF2B5EF4-FFF2-40B4-BE49-F238E27FC236}">
                <a16:creationId xmlns:a16="http://schemas.microsoft.com/office/drawing/2014/main" id="{DB53CA66-6855-040D-DD75-780E8D3185F3}"/>
              </a:ext>
            </a:extLst>
          </p:cNvPr>
          <p:cNvGraphicFramePr>
            <a:graphicFrameLocks noGrp="1"/>
          </p:cNvGraphicFramePr>
          <p:nvPr>
            <p:extLst>
              <p:ext uri="{D42A27DB-BD31-4B8C-83A1-F6EECF244321}">
                <p14:modId xmlns:p14="http://schemas.microsoft.com/office/powerpoint/2010/main" val="2010542625"/>
              </p:ext>
            </p:extLst>
          </p:nvPr>
        </p:nvGraphicFramePr>
        <p:xfrm>
          <a:off x="6046859" y="2890638"/>
          <a:ext cx="4111898" cy="2852302"/>
        </p:xfrm>
        <a:graphic>
          <a:graphicData uri="http://schemas.openxmlformats.org/drawingml/2006/table">
            <a:tbl>
              <a:tblPr firstRow="1" firstCol="1"/>
              <a:tblGrid>
                <a:gridCol w="999535">
                  <a:extLst>
                    <a:ext uri="{9D8B030D-6E8A-4147-A177-3AD203B41FA5}">
                      <a16:colId xmlns:a16="http://schemas.microsoft.com/office/drawing/2014/main" val="1794345590"/>
                    </a:ext>
                  </a:extLst>
                </a:gridCol>
                <a:gridCol w="3112363">
                  <a:extLst>
                    <a:ext uri="{9D8B030D-6E8A-4147-A177-3AD203B41FA5}">
                      <a16:colId xmlns:a16="http://schemas.microsoft.com/office/drawing/2014/main" val="386127167"/>
                    </a:ext>
                  </a:extLst>
                </a:gridCol>
              </a:tblGrid>
              <a:tr h="594229">
                <a:tc>
                  <a:txBody>
                    <a:bodyPr/>
                    <a:lstStyle/>
                    <a:p>
                      <a:pPr>
                        <a:lnSpc>
                          <a:spcPts val="1200"/>
                        </a:lnSpc>
                      </a:pPr>
                      <a:r>
                        <a:rPr lang="en-CA" sz="1600" b="1" dirty="0">
                          <a:solidFill>
                            <a:schemeClr val="bg1"/>
                          </a:solidFill>
                          <a:effectLst/>
                          <a:latin typeface="Arial"/>
                          <a:ea typeface="Calibri"/>
                          <a:cs typeface="Arial"/>
                        </a:rPr>
                        <a:t>Priority</a:t>
                      </a:r>
                      <a:endParaRPr lang="en-CA" sz="1600" dirty="0">
                        <a:solidFill>
                          <a:schemeClr val="bg1"/>
                        </a:solidFill>
                        <a:effectLst/>
                        <a:latin typeface="Arial"/>
                        <a:ea typeface="Calibri"/>
                        <a:cs typeface="Arial"/>
                      </a:endParaRPr>
                    </a:p>
                  </a:txBody>
                  <a:tcPr marL="68562" marR="68562"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nSpc>
                          <a:spcPts val="1200"/>
                        </a:lnSpc>
                      </a:pPr>
                      <a:r>
                        <a:rPr lang="en-CA" sz="1600" b="1" dirty="0">
                          <a:solidFill>
                            <a:schemeClr val="bg1"/>
                          </a:solidFill>
                          <a:effectLst/>
                          <a:latin typeface="Arial"/>
                          <a:ea typeface="Calibri"/>
                          <a:cs typeface="Arial"/>
                        </a:rPr>
                        <a:t>Customer Impact</a:t>
                      </a:r>
                      <a:endParaRPr lang="en-CA" sz="1600" dirty="0">
                        <a:solidFill>
                          <a:schemeClr val="bg1"/>
                        </a:solidFill>
                        <a:effectLst/>
                        <a:latin typeface="Arial"/>
                        <a:ea typeface="Calibri"/>
                        <a:cs typeface="Arial"/>
                      </a:endParaRPr>
                    </a:p>
                  </a:txBody>
                  <a:tcPr marL="68562" marR="68562"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967067882"/>
                  </a:ext>
                </a:extLst>
              </a:tr>
              <a:tr h="558576">
                <a:tc>
                  <a:txBody>
                    <a:bodyPr/>
                    <a:lstStyle/>
                    <a:p>
                      <a:pPr>
                        <a:lnSpc>
                          <a:spcPts val="1200"/>
                        </a:lnSpc>
                      </a:pPr>
                      <a:r>
                        <a:rPr lang="en-CA" sz="1800" b="1" baseline="30000" dirty="0">
                          <a:solidFill>
                            <a:schemeClr val="bg1"/>
                          </a:solidFill>
                          <a:effectLst/>
                          <a:latin typeface="Arial"/>
                          <a:ea typeface="Calibri"/>
                          <a:cs typeface="Arial"/>
                        </a:rPr>
                        <a:t>P1</a:t>
                      </a:r>
                      <a:endParaRPr lang="en-CA" sz="1800" dirty="0">
                        <a:solidFill>
                          <a:schemeClr val="bg1"/>
                        </a:solidFill>
                        <a:effectLst/>
                        <a:latin typeface="Arial"/>
                        <a:ea typeface="Calibri"/>
                        <a:cs typeface="Arial"/>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nSpc>
                          <a:spcPts val="1200"/>
                        </a:lnSpc>
                      </a:pPr>
                      <a:r>
                        <a:rPr lang="en-CA" sz="1800" baseline="30000" dirty="0">
                          <a:solidFill>
                            <a:srgbClr val="000000"/>
                          </a:solidFill>
                          <a:effectLst/>
                          <a:latin typeface="Arial"/>
                          <a:ea typeface="Calibri"/>
                          <a:cs typeface="Arial"/>
                        </a:rPr>
                        <a:t>All users will encounter the issue on the core path</a:t>
                      </a:r>
                      <a:endParaRPr lang="en-CA" sz="1800" dirty="0">
                        <a:solidFill>
                          <a:srgbClr val="000000"/>
                        </a:solidFill>
                        <a:effectLst/>
                        <a:latin typeface="Arial"/>
                        <a:ea typeface="Calibri"/>
                        <a:cs typeface="Arial"/>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3058727080"/>
                  </a:ext>
                </a:extLst>
              </a:tr>
              <a:tr h="558576">
                <a:tc>
                  <a:txBody>
                    <a:bodyPr/>
                    <a:lstStyle/>
                    <a:p>
                      <a:pPr>
                        <a:lnSpc>
                          <a:spcPts val="1200"/>
                        </a:lnSpc>
                      </a:pPr>
                      <a:r>
                        <a:rPr lang="en-CA" sz="1800" b="1" baseline="30000" dirty="0">
                          <a:solidFill>
                            <a:schemeClr val="bg1"/>
                          </a:solidFill>
                          <a:effectLst/>
                          <a:latin typeface="Arial"/>
                          <a:ea typeface="Calibri"/>
                          <a:cs typeface="Arial"/>
                        </a:rPr>
                        <a:t>P2</a:t>
                      </a:r>
                      <a:endParaRPr lang="en-CA" sz="1800" dirty="0">
                        <a:solidFill>
                          <a:schemeClr val="bg1"/>
                        </a:solidFill>
                        <a:effectLst/>
                        <a:latin typeface="Arial"/>
                        <a:ea typeface="Calibri"/>
                        <a:cs typeface="Arial"/>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nSpc>
                          <a:spcPts val="1200"/>
                        </a:lnSpc>
                      </a:pPr>
                      <a:r>
                        <a:rPr lang="en-CA" sz="1800" baseline="30000" dirty="0">
                          <a:solidFill>
                            <a:srgbClr val="000000"/>
                          </a:solidFill>
                          <a:effectLst/>
                          <a:latin typeface="Arial"/>
                          <a:ea typeface="Calibri"/>
                          <a:cs typeface="Arial"/>
                        </a:rPr>
                        <a:t>All average users will encounter the issue on non-core path</a:t>
                      </a:r>
                      <a:endParaRPr lang="en-CA" sz="1800" dirty="0">
                        <a:solidFill>
                          <a:srgbClr val="000000"/>
                        </a:solidFill>
                        <a:effectLst/>
                        <a:latin typeface="Arial"/>
                        <a:ea typeface="Calibri"/>
                        <a:cs typeface="Arial"/>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2387711436"/>
                  </a:ext>
                </a:extLst>
              </a:tr>
              <a:tr h="558576">
                <a:tc>
                  <a:txBody>
                    <a:bodyPr/>
                    <a:lstStyle/>
                    <a:p>
                      <a:pPr>
                        <a:lnSpc>
                          <a:spcPts val="1200"/>
                        </a:lnSpc>
                      </a:pPr>
                      <a:r>
                        <a:rPr lang="en-CA" sz="1800" b="1" baseline="30000" dirty="0">
                          <a:solidFill>
                            <a:schemeClr val="bg1"/>
                          </a:solidFill>
                          <a:effectLst/>
                          <a:latin typeface="Arial"/>
                          <a:ea typeface="Calibri"/>
                          <a:cs typeface="Arial"/>
                        </a:rPr>
                        <a:t>P3</a:t>
                      </a:r>
                      <a:endParaRPr lang="en-CA" sz="1800" dirty="0">
                        <a:solidFill>
                          <a:schemeClr val="bg1"/>
                        </a:solidFill>
                        <a:effectLst/>
                        <a:latin typeface="Arial"/>
                        <a:ea typeface="Calibri"/>
                        <a:cs typeface="Arial"/>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nSpc>
                          <a:spcPts val="1200"/>
                        </a:lnSpc>
                      </a:pPr>
                      <a:r>
                        <a:rPr lang="en-CA" sz="1800" baseline="30000" dirty="0">
                          <a:solidFill>
                            <a:srgbClr val="000000"/>
                          </a:solidFill>
                          <a:effectLst/>
                          <a:latin typeface="Arial"/>
                          <a:ea typeface="Calibri"/>
                          <a:cs typeface="Arial"/>
                        </a:rPr>
                        <a:t>Some users, some of the time will encounter the issue</a:t>
                      </a:r>
                      <a:endParaRPr lang="en-CA" sz="1800" dirty="0">
                        <a:solidFill>
                          <a:srgbClr val="000000"/>
                        </a:solidFill>
                        <a:effectLst/>
                        <a:latin typeface="Arial"/>
                        <a:ea typeface="Calibri"/>
                        <a:cs typeface="Arial"/>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345922034"/>
                  </a:ext>
                </a:extLst>
              </a:tr>
              <a:tr h="582345">
                <a:tc>
                  <a:txBody>
                    <a:bodyPr/>
                    <a:lstStyle/>
                    <a:p>
                      <a:pPr>
                        <a:lnSpc>
                          <a:spcPts val="1200"/>
                        </a:lnSpc>
                      </a:pPr>
                      <a:r>
                        <a:rPr lang="en-CA" sz="1800" b="1" baseline="30000" dirty="0">
                          <a:solidFill>
                            <a:schemeClr val="bg1"/>
                          </a:solidFill>
                          <a:effectLst/>
                          <a:latin typeface="Arial"/>
                          <a:ea typeface="Calibri"/>
                          <a:cs typeface="Arial"/>
                        </a:rPr>
                        <a:t>P4</a:t>
                      </a:r>
                      <a:endParaRPr lang="en-CA" sz="1800" dirty="0">
                        <a:solidFill>
                          <a:schemeClr val="bg1"/>
                        </a:solidFill>
                        <a:effectLst/>
                        <a:latin typeface="Arial"/>
                        <a:ea typeface="Calibri"/>
                        <a:cs typeface="Arial"/>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nSpc>
                          <a:spcPts val="1200"/>
                        </a:lnSpc>
                      </a:pPr>
                      <a:r>
                        <a:rPr lang="en-CA" sz="1800" baseline="30000" dirty="0">
                          <a:solidFill>
                            <a:srgbClr val="000000"/>
                          </a:solidFill>
                          <a:effectLst/>
                          <a:latin typeface="Arial"/>
                          <a:ea typeface="Calibri"/>
                          <a:cs typeface="Arial"/>
                        </a:rPr>
                        <a:t>Very unlikely to be encountered by the average user.</a:t>
                      </a:r>
                      <a:endParaRPr lang="en-CA" sz="1800" dirty="0">
                        <a:solidFill>
                          <a:srgbClr val="000000"/>
                        </a:solidFill>
                        <a:effectLst/>
                        <a:latin typeface="Arial"/>
                        <a:ea typeface="Calibri"/>
                        <a:cs typeface="Arial"/>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2338477792"/>
                  </a:ext>
                </a:extLst>
              </a:tr>
            </a:tbl>
          </a:graphicData>
        </a:graphic>
      </p:graphicFrame>
      <p:sp>
        <p:nvSpPr>
          <p:cNvPr id="5" name="TextBox 4">
            <a:extLst>
              <a:ext uri="{FF2B5EF4-FFF2-40B4-BE49-F238E27FC236}">
                <a16:creationId xmlns:a16="http://schemas.microsoft.com/office/drawing/2014/main" id="{6E22A107-24D4-D831-F75E-8118FA4572D4}"/>
              </a:ext>
            </a:extLst>
          </p:cNvPr>
          <p:cNvSpPr txBox="1"/>
          <p:nvPr/>
        </p:nvSpPr>
        <p:spPr>
          <a:xfrm>
            <a:off x="1174221" y="1275740"/>
            <a:ext cx="3024336" cy="356251"/>
          </a:xfrm>
          <a:prstGeom prst="rect">
            <a:avLst/>
          </a:prstGeom>
          <a:noFill/>
        </p:spPr>
        <p:txBody>
          <a:bodyPr wrap="square" lIns="91440" tIns="45720" rIns="91440" bIns="45720" rtlCol="0" anchor="t">
            <a:spAutoFit/>
          </a:bodyPr>
          <a:lstStyle/>
          <a:p>
            <a:pPr defTabSz="1218621">
              <a:lnSpc>
                <a:spcPct val="70000"/>
              </a:lnSpc>
            </a:pPr>
            <a:r>
              <a:rPr lang="en-IN" b="1" dirty="0">
                <a:solidFill>
                  <a:srgbClr val="0070C0"/>
                </a:solidFill>
                <a:latin typeface="Arial"/>
                <a:ea typeface="Open Sans"/>
                <a:cs typeface="Segoe UI"/>
              </a:rPr>
              <a:t>Defect Severity</a:t>
            </a:r>
          </a:p>
        </p:txBody>
      </p:sp>
      <p:sp>
        <p:nvSpPr>
          <p:cNvPr id="15" name="TextBox 14">
            <a:extLst>
              <a:ext uri="{FF2B5EF4-FFF2-40B4-BE49-F238E27FC236}">
                <a16:creationId xmlns:a16="http://schemas.microsoft.com/office/drawing/2014/main" id="{47D0E7DA-05B0-10D0-C31C-603B72F31A5F}"/>
              </a:ext>
            </a:extLst>
          </p:cNvPr>
          <p:cNvSpPr txBox="1"/>
          <p:nvPr/>
        </p:nvSpPr>
        <p:spPr>
          <a:xfrm>
            <a:off x="1179532" y="1590969"/>
            <a:ext cx="4335302" cy="767133"/>
          </a:xfrm>
          <a:prstGeom prst="rect">
            <a:avLst/>
          </a:prstGeom>
          <a:noFill/>
        </p:spPr>
        <p:txBody>
          <a:bodyPr wrap="square" lIns="91440" tIns="45720" rIns="91440" bIns="45720" rtlCol="0" anchor="t">
            <a:spAutoFit/>
          </a:bodyPr>
          <a:lstStyle/>
          <a:p>
            <a:pPr defTabSz="1218621">
              <a:lnSpc>
                <a:spcPct val="107000"/>
              </a:lnSpc>
              <a:spcAft>
                <a:spcPts val="800"/>
              </a:spcAft>
            </a:pPr>
            <a:r>
              <a:rPr lang="en-CA" sz="1400" kern="100" dirty="0">
                <a:solidFill>
                  <a:srgbClr val="000000"/>
                </a:solidFill>
                <a:latin typeface="Arial"/>
                <a:ea typeface="Times New Roman" panose="02020603050405020304" pitchFamily="18" charset="0"/>
                <a:cs typeface="Segoe UI"/>
              </a:rPr>
              <a:t>The definitions indicate the degree of negative impact on the quality of software. Severity is driven by functionality.</a:t>
            </a:r>
          </a:p>
        </p:txBody>
      </p:sp>
      <p:graphicFrame>
        <p:nvGraphicFramePr>
          <p:cNvPr id="16" name="Table 15">
            <a:extLst>
              <a:ext uri="{FF2B5EF4-FFF2-40B4-BE49-F238E27FC236}">
                <a16:creationId xmlns:a16="http://schemas.microsoft.com/office/drawing/2014/main" id="{94A992BB-2D63-FF40-63C6-276BDD85FAE6}"/>
              </a:ext>
            </a:extLst>
          </p:cNvPr>
          <p:cNvGraphicFramePr>
            <a:graphicFrameLocks noGrp="1"/>
          </p:cNvGraphicFramePr>
          <p:nvPr>
            <p:extLst>
              <p:ext uri="{D42A27DB-BD31-4B8C-83A1-F6EECF244321}">
                <p14:modId xmlns:p14="http://schemas.microsoft.com/office/powerpoint/2010/main" val="4219765088"/>
              </p:ext>
            </p:extLst>
          </p:nvPr>
        </p:nvGraphicFramePr>
        <p:xfrm>
          <a:off x="1259085" y="2399024"/>
          <a:ext cx="4260522" cy="3752756"/>
        </p:xfrm>
        <a:graphic>
          <a:graphicData uri="http://schemas.openxmlformats.org/drawingml/2006/table">
            <a:tbl>
              <a:tblPr firstRow="1" firstCol="1"/>
              <a:tblGrid>
                <a:gridCol w="1115632">
                  <a:extLst>
                    <a:ext uri="{9D8B030D-6E8A-4147-A177-3AD203B41FA5}">
                      <a16:colId xmlns:a16="http://schemas.microsoft.com/office/drawing/2014/main" val="536056067"/>
                    </a:ext>
                  </a:extLst>
                </a:gridCol>
                <a:gridCol w="3144890">
                  <a:extLst>
                    <a:ext uri="{9D8B030D-6E8A-4147-A177-3AD203B41FA5}">
                      <a16:colId xmlns:a16="http://schemas.microsoft.com/office/drawing/2014/main" val="3128631566"/>
                    </a:ext>
                  </a:extLst>
                </a:gridCol>
              </a:tblGrid>
              <a:tr h="672664">
                <a:tc>
                  <a:txBody>
                    <a:bodyPr/>
                    <a:lstStyle/>
                    <a:p>
                      <a:pPr>
                        <a:lnSpc>
                          <a:spcPts val="1200"/>
                        </a:lnSpc>
                      </a:pPr>
                      <a:r>
                        <a:rPr lang="en-CA" sz="1800" b="1" baseline="30000">
                          <a:solidFill>
                            <a:schemeClr val="bg1"/>
                          </a:solidFill>
                          <a:effectLst/>
                          <a:latin typeface="Arial" panose="020B0604020202020204" pitchFamily="34" charset="0"/>
                          <a:ea typeface="Calibri" panose="020F0502020204030204" pitchFamily="34" charset="0"/>
                          <a:cs typeface="Arial" panose="020B0604020202020204" pitchFamily="34" charset="0"/>
                        </a:rPr>
                        <a:t>Severity</a:t>
                      </a:r>
                      <a:endParaRPr lang="en-CA" sz="18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62" marR="68562"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nSpc>
                          <a:spcPts val="1200"/>
                        </a:lnSpc>
                      </a:pPr>
                      <a:r>
                        <a:rPr lang="en-CA" sz="1800" b="1" baseline="30000">
                          <a:solidFill>
                            <a:schemeClr val="bg1"/>
                          </a:solidFill>
                          <a:effectLst/>
                          <a:latin typeface="Arial" panose="020B0604020202020204" pitchFamily="34" charset="0"/>
                          <a:ea typeface="Calibri" panose="020F0502020204030204" pitchFamily="34" charset="0"/>
                          <a:cs typeface="Arial" panose="020B0604020202020204" pitchFamily="34" charset="0"/>
                        </a:rPr>
                        <a:t>Functionality</a:t>
                      </a:r>
                      <a:endParaRPr lang="en-CA" sz="18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62" marR="68562"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2973143490"/>
                  </a:ext>
                </a:extLst>
              </a:tr>
              <a:tr h="672664">
                <a:tc>
                  <a:txBody>
                    <a:bodyPr/>
                    <a:lstStyle/>
                    <a:p>
                      <a:pPr>
                        <a:lnSpc>
                          <a:spcPts val="1200"/>
                        </a:lnSpc>
                      </a:pPr>
                      <a:r>
                        <a:rPr lang="en-CA" sz="1800" b="1" baseline="30000">
                          <a:solidFill>
                            <a:schemeClr val="bg1"/>
                          </a:solidFill>
                          <a:effectLst/>
                          <a:latin typeface="Arial" panose="020B0604020202020204" pitchFamily="34" charset="0"/>
                          <a:ea typeface="Calibri" panose="020F0502020204030204" pitchFamily="34" charset="0"/>
                          <a:cs typeface="Arial" panose="020B0604020202020204" pitchFamily="34" charset="0"/>
                        </a:rPr>
                        <a:t>S1 (Critical)</a:t>
                      </a:r>
                      <a:endParaRPr lang="en-CA" sz="18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nSpc>
                          <a:spcPts val="1200"/>
                        </a:lnSpc>
                      </a:pPr>
                      <a:r>
                        <a:rPr lang="en-CA" sz="1800" baseline="30000" dirty="0">
                          <a:solidFill>
                            <a:srgbClr val="000000"/>
                          </a:solidFill>
                          <a:effectLst/>
                          <a:latin typeface="Arial" panose="020B0604020202020204" pitchFamily="34" charset="0"/>
                          <a:ea typeface="Calibri" panose="020F0502020204030204" pitchFamily="34" charset="0"/>
                          <a:cs typeface="Arial" panose="020B0604020202020204" pitchFamily="34" charset="0"/>
                        </a:rPr>
                        <a:t>Core functionality is totally broken, thereby blocking further testing. There is no workaround</a:t>
                      </a:r>
                      <a:endParaRPr lang="en-CA" sz="18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2307857574"/>
                  </a:ext>
                </a:extLst>
              </a:tr>
              <a:tr h="790675">
                <a:tc>
                  <a:txBody>
                    <a:bodyPr/>
                    <a:lstStyle/>
                    <a:p>
                      <a:pPr>
                        <a:lnSpc>
                          <a:spcPts val="1200"/>
                        </a:lnSpc>
                      </a:pPr>
                      <a:r>
                        <a:rPr lang="en-CA" sz="1800" b="1" baseline="30000">
                          <a:solidFill>
                            <a:schemeClr val="bg1"/>
                          </a:solidFill>
                          <a:effectLst/>
                          <a:latin typeface="Arial" panose="020B0604020202020204" pitchFamily="34" charset="0"/>
                          <a:ea typeface="Calibri" panose="020F0502020204030204" pitchFamily="34" charset="0"/>
                          <a:cs typeface="Arial" panose="020B0604020202020204" pitchFamily="34" charset="0"/>
                        </a:rPr>
                        <a:t>S2 (Major)</a:t>
                      </a:r>
                      <a:endParaRPr lang="en-CA" sz="18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nSpc>
                          <a:spcPts val="1200"/>
                        </a:lnSpc>
                      </a:pPr>
                      <a:r>
                        <a:rPr lang="en-CA" sz="1800" baseline="30000" dirty="0">
                          <a:solidFill>
                            <a:srgbClr val="000000"/>
                          </a:solidFill>
                          <a:effectLst/>
                          <a:latin typeface="Arial" panose="020B0604020202020204" pitchFamily="34" charset="0"/>
                          <a:ea typeface="Calibri" panose="020F0502020204030204" pitchFamily="34" charset="0"/>
                          <a:cs typeface="Arial" panose="020B0604020202020204" pitchFamily="34" charset="0"/>
                        </a:rPr>
                        <a:t>Isolated aspect of core functionality totally broken, OR an isolated problem with a core feature. No reasonable workaround is available.</a:t>
                      </a:r>
                      <a:endParaRPr lang="en-CA" sz="18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3294321073"/>
                  </a:ext>
                </a:extLst>
              </a:tr>
              <a:tr h="696266">
                <a:tc>
                  <a:txBody>
                    <a:bodyPr/>
                    <a:lstStyle/>
                    <a:p>
                      <a:pPr>
                        <a:lnSpc>
                          <a:spcPts val="1200"/>
                        </a:lnSpc>
                      </a:pPr>
                      <a:r>
                        <a:rPr lang="en-CA" sz="1800" b="1" baseline="30000">
                          <a:solidFill>
                            <a:schemeClr val="bg1"/>
                          </a:solidFill>
                          <a:effectLst/>
                          <a:latin typeface="Arial" panose="020B0604020202020204" pitchFamily="34" charset="0"/>
                          <a:ea typeface="Calibri" panose="020F0502020204030204" pitchFamily="34" charset="0"/>
                          <a:cs typeface="Arial" panose="020B0604020202020204" pitchFamily="34" charset="0"/>
                        </a:rPr>
                        <a:t>S3 (Medium)</a:t>
                      </a:r>
                      <a:endParaRPr lang="en-CA" sz="18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nSpc>
                          <a:spcPts val="1200"/>
                        </a:lnSpc>
                      </a:pPr>
                      <a:r>
                        <a:rPr lang="en-CA" sz="1800" baseline="30000" dirty="0">
                          <a:solidFill>
                            <a:srgbClr val="000000"/>
                          </a:solidFill>
                          <a:effectLst/>
                          <a:latin typeface="Arial" panose="020B0604020202020204" pitchFamily="34" charset="0"/>
                          <a:ea typeface="Calibri" panose="020F0502020204030204" pitchFamily="34" charset="0"/>
                          <a:cs typeface="Arial" panose="020B0604020202020204" pitchFamily="34" charset="0"/>
                        </a:rPr>
                        <a:t>Isolated aspect of a feature experiencing an isolated problem. Obvious workaround is available.</a:t>
                      </a:r>
                      <a:endParaRPr lang="en-CA" sz="18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65411155"/>
                  </a:ext>
                </a:extLst>
              </a:tr>
              <a:tr h="920487">
                <a:tc>
                  <a:txBody>
                    <a:bodyPr/>
                    <a:lstStyle/>
                    <a:p>
                      <a:pPr>
                        <a:lnSpc>
                          <a:spcPts val="1200"/>
                        </a:lnSpc>
                      </a:pPr>
                      <a:r>
                        <a:rPr lang="en-CA" sz="1800" b="1" baseline="30000">
                          <a:solidFill>
                            <a:schemeClr val="bg1"/>
                          </a:solidFill>
                          <a:effectLst/>
                          <a:latin typeface="Arial" panose="020B0604020202020204" pitchFamily="34" charset="0"/>
                          <a:ea typeface="Calibri" panose="020F0502020204030204" pitchFamily="34" charset="0"/>
                          <a:cs typeface="Arial" panose="020B0604020202020204" pitchFamily="34" charset="0"/>
                        </a:rPr>
                        <a:t>S4 (Low)</a:t>
                      </a:r>
                      <a:endParaRPr lang="en-CA" sz="18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nSpc>
                          <a:spcPts val="1200"/>
                        </a:lnSpc>
                      </a:pPr>
                      <a:r>
                        <a:rPr lang="en-CA" sz="1800" baseline="30000" dirty="0">
                          <a:solidFill>
                            <a:srgbClr val="000000"/>
                          </a:solidFill>
                          <a:effectLst/>
                          <a:latin typeface="Arial" panose="020B0604020202020204" pitchFamily="34" charset="0"/>
                          <a:ea typeface="Calibri" panose="020F0502020204030204" pitchFamily="34" charset="0"/>
                          <a:cs typeface="Arial" panose="020B0604020202020204" pitchFamily="34" charset="0"/>
                        </a:rPr>
                        <a:t>Minor issues, such as visual glitches/inconsistencies/does not meet specification - that do not impede customer from using the service.</a:t>
                      </a:r>
                      <a:endParaRPr lang="en-CA" sz="18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62" marR="6856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2663289689"/>
                  </a:ext>
                </a:extLst>
              </a:tr>
            </a:tbl>
          </a:graphicData>
        </a:graphic>
      </p:graphicFrame>
      <p:sp>
        <p:nvSpPr>
          <p:cNvPr id="14" name="TextBox 13">
            <a:extLst>
              <a:ext uri="{FF2B5EF4-FFF2-40B4-BE49-F238E27FC236}">
                <a16:creationId xmlns:a16="http://schemas.microsoft.com/office/drawing/2014/main" id="{AC34C54D-74D4-F926-9D80-A473BEBB8ACE}"/>
              </a:ext>
            </a:extLst>
          </p:cNvPr>
          <p:cNvSpPr txBox="1"/>
          <p:nvPr/>
        </p:nvSpPr>
        <p:spPr>
          <a:xfrm>
            <a:off x="1164441" y="591520"/>
            <a:ext cx="6620442" cy="486287"/>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Segoe UI"/>
              </a:rPr>
              <a:t>Defect Severity vs Defect Priority</a:t>
            </a:r>
          </a:p>
        </p:txBody>
      </p:sp>
      <p:grpSp>
        <p:nvGrpSpPr>
          <p:cNvPr id="23" name="Group 22">
            <a:extLst>
              <a:ext uri="{FF2B5EF4-FFF2-40B4-BE49-F238E27FC236}">
                <a16:creationId xmlns:a16="http://schemas.microsoft.com/office/drawing/2014/main" id="{2FF7FB42-21B1-EA0A-547A-CA40A41F0593}"/>
              </a:ext>
            </a:extLst>
          </p:cNvPr>
          <p:cNvGrpSpPr/>
          <p:nvPr/>
        </p:nvGrpSpPr>
        <p:grpSpPr>
          <a:xfrm>
            <a:off x="1" y="4240"/>
            <a:ext cx="909836" cy="930066"/>
            <a:chOff x="1" y="-5685"/>
            <a:chExt cx="909836" cy="930066"/>
          </a:xfrm>
        </p:grpSpPr>
        <p:sp>
          <p:nvSpPr>
            <p:cNvPr id="19" name="Rectangle 18">
              <a:extLst>
                <a:ext uri="{FF2B5EF4-FFF2-40B4-BE49-F238E27FC236}">
                  <a16:creationId xmlns:a16="http://schemas.microsoft.com/office/drawing/2014/main" id="{50085FEF-C418-5B26-61D4-ACC20EB4BBD3}"/>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20" name="Rectangle 19">
              <a:extLst>
                <a:ext uri="{FF2B5EF4-FFF2-40B4-BE49-F238E27FC236}">
                  <a16:creationId xmlns:a16="http://schemas.microsoft.com/office/drawing/2014/main" id="{8137AAC7-B0CF-42F2-D244-98DE840D004B}"/>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21" name="Rectangle 20">
              <a:extLst>
                <a:ext uri="{FF2B5EF4-FFF2-40B4-BE49-F238E27FC236}">
                  <a16:creationId xmlns:a16="http://schemas.microsoft.com/office/drawing/2014/main" id="{CCEA235C-1E90-CCBF-EE66-84C305529799}"/>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22" name="Rectangle 21">
              <a:extLst>
                <a:ext uri="{FF2B5EF4-FFF2-40B4-BE49-F238E27FC236}">
                  <a16:creationId xmlns:a16="http://schemas.microsoft.com/office/drawing/2014/main" id="{65A80192-7E8B-AAA2-247F-0235F874F3D5}"/>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31" name="Group 30">
            <a:extLst>
              <a:ext uri="{FF2B5EF4-FFF2-40B4-BE49-F238E27FC236}">
                <a16:creationId xmlns:a16="http://schemas.microsoft.com/office/drawing/2014/main" id="{F518DB27-F285-F8D9-B3CB-CD08074D5993}"/>
              </a:ext>
            </a:extLst>
          </p:cNvPr>
          <p:cNvGrpSpPr/>
          <p:nvPr/>
        </p:nvGrpSpPr>
        <p:grpSpPr>
          <a:xfrm>
            <a:off x="10342891" y="4962097"/>
            <a:ext cx="1845935" cy="1895903"/>
            <a:chOff x="0" y="0"/>
            <a:chExt cx="3161556" cy="3048050"/>
          </a:xfrm>
        </p:grpSpPr>
        <p:grpSp>
          <p:nvGrpSpPr>
            <p:cNvPr id="25" name="Group 24">
              <a:extLst>
                <a:ext uri="{FF2B5EF4-FFF2-40B4-BE49-F238E27FC236}">
                  <a16:creationId xmlns:a16="http://schemas.microsoft.com/office/drawing/2014/main" id="{93558DF3-E12D-3E60-9602-28BCAB62EBEE}"/>
                </a:ext>
              </a:extLst>
            </p:cNvPr>
            <p:cNvGrpSpPr/>
            <p:nvPr/>
          </p:nvGrpSpPr>
          <p:grpSpPr>
            <a:xfrm>
              <a:off x="0" y="0"/>
              <a:ext cx="2107704" cy="2241545"/>
              <a:chOff x="0" y="0"/>
              <a:chExt cx="2107704" cy="2241545"/>
            </a:xfrm>
          </p:grpSpPr>
          <p:sp>
            <p:nvSpPr>
              <p:cNvPr id="29" name="Rectangle 28">
                <a:extLst>
                  <a:ext uri="{FF2B5EF4-FFF2-40B4-BE49-F238E27FC236}">
                    <a16:creationId xmlns:a16="http://schemas.microsoft.com/office/drawing/2014/main" id="{C6307801-AD30-9EEB-5090-3F47DA5B17A6}"/>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Rectangle 29">
                <a:extLst>
                  <a:ext uri="{FF2B5EF4-FFF2-40B4-BE49-F238E27FC236}">
                    <a16:creationId xmlns:a16="http://schemas.microsoft.com/office/drawing/2014/main" id="{D3D8DB27-4786-51E8-DCD0-E3779BFB086A}"/>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6" name="Group 25">
              <a:extLst>
                <a:ext uri="{FF2B5EF4-FFF2-40B4-BE49-F238E27FC236}">
                  <a16:creationId xmlns:a16="http://schemas.microsoft.com/office/drawing/2014/main" id="{F4ECD844-9C27-5739-D9CE-693836D614A4}"/>
                </a:ext>
              </a:extLst>
            </p:cNvPr>
            <p:cNvGrpSpPr/>
            <p:nvPr/>
          </p:nvGrpSpPr>
          <p:grpSpPr>
            <a:xfrm flipH="1" flipV="1">
              <a:off x="1072246" y="1059210"/>
              <a:ext cx="2089310" cy="1988840"/>
              <a:chOff x="1580778" y="1268760"/>
              <a:chExt cx="2089310" cy="1988840"/>
            </a:xfrm>
          </p:grpSpPr>
          <p:sp>
            <p:nvSpPr>
              <p:cNvPr id="27" name="Rectangle 26">
                <a:extLst>
                  <a:ext uri="{FF2B5EF4-FFF2-40B4-BE49-F238E27FC236}">
                    <a16:creationId xmlns:a16="http://schemas.microsoft.com/office/drawing/2014/main" id="{7DBB9600-D8D4-9F26-1216-BA5F0892B822}"/>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27">
                <a:extLst>
                  <a:ext uri="{FF2B5EF4-FFF2-40B4-BE49-F238E27FC236}">
                    <a16:creationId xmlns:a16="http://schemas.microsoft.com/office/drawing/2014/main" id="{8FEC282D-DD14-4D18-CB15-095DAB1A9B01}"/>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3" name="Picture 32" descr="BEll company logo">
            <a:extLst>
              <a:ext uri="{FF2B5EF4-FFF2-40B4-BE49-F238E27FC236}">
                <a16:creationId xmlns:a16="http://schemas.microsoft.com/office/drawing/2014/main" id="{EDFA2052-A2A3-41B9-9261-26A9038BBF2B}"/>
              </a:ext>
            </a:extLst>
          </p:cNvPr>
          <p:cNvPicPr>
            <a:picLocks noChangeAspect="1"/>
          </p:cNvPicPr>
          <p:nvPr/>
        </p:nvPicPr>
        <p:blipFill>
          <a:blip r:embed="rId2"/>
          <a:stretch>
            <a:fillRect/>
          </a:stretch>
        </p:blipFill>
        <p:spPr>
          <a:xfrm>
            <a:off x="11009239" y="635555"/>
            <a:ext cx="514513" cy="400050"/>
          </a:xfrm>
          <a:prstGeom prst="rect">
            <a:avLst/>
          </a:prstGeom>
        </p:spPr>
      </p:pic>
    </p:spTree>
    <p:extLst>
      <p:ext uri="{BB962C8B-B14F-4D97-AF65-F5344CB8AC3E}">
        <p14:creationId xmlns:p14="http://schemas.microsoft.com/office/powerpoint/2010/main" val="146302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1+#ppt_w/2"/>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7B768202-4629-F83D-D1BB-B877752EA552}"/>
              </a:ext>
            </a:extLst>
          </p:cNvPr>
          <p:cNvGraphicFramePr>
            <a:graphicFrameLocks noGrp="1"/>
          </p:cNvGraphicFramePr>
          <p:nvPr>
            <p:extLst>
              <p:ext uri="{D42A27DB-BD31-4B8C-83A1-F6EECF244321}">
                <p14:modId xmlns:p14="http://schemas.microsoft.com/office/powerpoint/2010/main" val="584855957"/>
              </p:ext>
            </p:extLst>
          </p:nvPr>
        </p:nvGraphicFramePr>
        <p:xfrm>
          <a:off x="1270495" y="1925400"/>
          <a:ext cx="4517010" cy="3464374"/>
        </p:xfrm>
        <a:graphic>
          <a:graphicData uri="http://schemas.openxmlformats.org/drawingml/2006/table">
            <a:tbl>
              <a:tblPr firstRow="1" firstCol="1"/>
              <a:tblGrid>
                <a:gridCol w="903404">
                  <a:extLst>
                    <a:ext uri="{9D8B030D-6E8A-4147-A177-3AD203B41FA5}">
                      <a16:colId xmlns:a16="http://schemas.microsoft.com/office/drawing/2014/main" val="2780055895"/>
                    </a:ext>
                  </a:extLst>
                </a:gridCol>
                <a:gridCol w="845176">
                  <a:extLst>
                    <a:ext uri="{9D8B030D-6E8A-4147-A177-3AD203B41FA5}">
                      <a16:colId xmlns:a16="http://schemas.microsoft.com/office/drawing/2014/main" val="64340301"/>
                    </a:ext>
                  </a:extLst>
                </a:gridCol>
                <a:gridCol w="924059">
                  <a:extLst>
                    <a:ext uri="{9D8B030D-6E8A-4147-A177-3AD203B41FA5}">
                      <a16:colId xmlns:a16="http://schemas.microsoft.com/office/drawing/2014/main" val="2425722938"/>
                    </a:ext>
                  </a:extLst>
                </a:gridCol>
                <a:gridCol w="916987">
                  <a:extLst>
                    <a:ext uri="{9D8B030D-6E8A-4147-A177-3AD203B41FA5}">
                      <a16:colId xmlns:a16="http://schemas.microsoft.com/office/drawing/2014/main" val="1193272346"/>
                    </a:ext>
                  </a:extLst>
                </a:gridCol>
                <a:gridCol w="927384">
                  <a:extLst>
                    <a:ext uri="{9D8B030D-6E8A-4147-A177-3AD203B41FA5}">
                      <a16:colId xmlns:a16="http://schemas.microsoft.com/office/drawing/2014/main" val="1650648357"/>
                    </a:ext>
                  </a:extLst>
                </a:gridCol>
              </a:tblGrid>
              <a:tr h="631064">
                <a:tc>
                  <a:txBody>
                    <a:bodyPr/>
                    <a:lstStyle/>
                    <a:p>
                      <a:pPr algn="ctr">
                        <a:lnSpc>
                          <a:spcPts val="1200"/>
                        </a:lnSpc>
                      </a:pPr>
                      <a:r>
                        <a:rPr lang="en-CA" sz="1800" b="1" baseline="30000" dirty="0">
                          <a:solidFill>
                            <a:schemeClr val="bg1"/>
                          </a:solidFill>
                          <a:effectLst/>
                          <a:latin typeface="Arial"/>
                          <a:ea typeface="Calibri"/>
                          <a:cs typeface="Arial"/>
                        </a:rPr>
                        <a:t>Severity/ Priority</a:t>
                      </a:r>
                      <a:endParaRPr lang="en-CA" sz="1800" b="1" dirty="0">
                        <a:solidFill>
                          <a:schemeClr val="bg1"/>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lnSpc>
                          <a:spcPts val="1200"/>
                        </a:lnSpc>
                      </a:pPr>
                      <a:r>
                        <a:rPr lang="en-CA" sz="1800" b="1" baseline="30000" dirty="0">
                          <a:solidFill>
                            <a:schemeClr val="bg1"/>
                          </a:solidFill>
                          <a:effectLst/>
                          <a:latin typeface="Arial"/>
                          <a:ea typeface="Calibri"/>
                          <a:cs typeface="Arial"/>
                        </a:rPr>
                        <a:t>S1</a:t>
                      </a:r>
                      <a:endParaRPr lang="en-CA" sz="1800" b="1" dirty="0">
                        <a:solidFill>
                          <a:schemeClr val="bg1"/>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lnSpc>
                          <a:spcPts val="1200"/>
                        </a:lnSpc>
                      </a:pPr>
                      <a:r>
                        <a:rPr lang="en-CA" sz="1800" b="1" baseline="30000" dirty="0">
                          <a:solidFill>
                            <a:schemeClr val="bg1"/>
                          </a:solidFill>
                          <a:effectLst/>
                          <a:latin typeface="Arial"/>
                          <a:ea typeface="Calibri"/>
                          <a:cs typeface="Arial"/>
                        </a:rPr>
                        <a:t>S2</a:t>
                      </a:r>
                      <a:endParaRPr lang="en-CA" sz="1800" b="1" dirty="0">
                        <a:solidFill>
                          <a:schemeClr val="bg1"/>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lnSpc>
                          <a:spcPts val="1200"/>
                        </a:lnSpc>
                      </a:pPr>
                      <a:r>
                        <a:rPr lang="en-CA" sz="1800" b="1" baseline="30000" dirty="0">
                          <a:solidFill>
                            <a:schemeClr val="bg1"/>
                          </a:solidFill>
                          <a:effectLst/>
                          <a:latin typeface="Arial"/>
                          <a:ea typeface="Calibri"/>
                          <a:cs typeface="Arial"/>
                        </a:rPr>
                        <a:t>S3</a:t>
                      </a:r>
                      <a:endParaRPr lang="en-CA" sz="1800" b="1" dirty="0">
                        <a:solidFill>
                          <a:schemeClr val="bg1"/>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lnSpc>
                          <a:spcPts val="1200"/>
                        </a:lnSpc>
                      </a:pPr>
                      <a:r>
                        <a:rPr lang="en-CA" sz="1800" b="1" baseline="30000" dirty="0">
                          <a:solidFill>
                            <a:schemeClr val="bg1"/>
                          </a:solidFill>
                          <a:effectLst/>
                          <a:latin typeface="Arial"/>
                          <a:ea typeface="Calibri"/>
                          <a:cs typeface="Arial"/>
                        </a:rPr>
                        <a:t>S4</a:t>
                      </a:r>
                      <a:endParaRPr lang="en-CA" sz="1800" b="1" dirty="0">
                        <a:solidFill>
                          <a:schemeClr val="bg1"/>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4121268381"/>
                  </a:ext>
                </a:extLst>
              </a:tr>
              <a:tr h="658393">
                <a:tc>
                  <a:txBody>
                    <a:bodyPr/>
                    <a:lstStyle/>
                    <a:p>
                      <a:pPr algn="ctr">
                        <a:lnSpc>
                          <a:spcPts val="1200"/>
                        </a:lnSpc>
                      </a:pPr>
                      <a:r>
                        <a:rPr lang="en-CA" sz="1800" b="1" baseline="30000" dirty="0">
                          <a:solidFill>
                            <a:schemeClr val="bg1"/>
                          </a:solidFill>
                          <a:effectLst/>
                          <a:latin typeface="Arial"/>
                          <a:ea typeface="Calibri"/>
                          <a:cs typeface="Arial"/>
                        </a:rPr>
                        <a:t>P1</a:t>
                      </a:r>
                      <a:endParaRPr lang="en-CA" sz="1800" b="1" dirty="0">
                        <a:solidFill>
                          <a:schemeClr val="bg1"/>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lnSpc>
                          <a:spcPts val="1200"/>
                        </a:lnSpc>
                      </a:pPr>
                      <a:r>
                        <a:rPr lang="en-CA" sz="1800" baseline="30000" dirty="0">
                          <a:solidFill>
                            <a:srgbClr val="000000"/>
                          </a:solidFill>
                          <a:effectLst/>
                          <a:latin typeface="Arial"/>
                          <a:ea typeface="Calibri"/>
                          <a:cs typeface="Arial"/>
                        </a:rPr>
                        <a:t>Critical</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algn="ctr">
                        <a:lnSpc>
                          <a:spcPts val="1200"/>
                        </a:lnSpc>
                      </a:pPr>
                      <a:r>
                        <a:rPr lang="en-CA" sz="1800" baseline="30000" dirty="0">
                          <a:solidFill>
                            <a:srgbClr val="000000"/>
                          </a:solidFill>
                          <a:effectLst/>
                          <a:latin typeface="Arial"/>
                          <a:ea typeface="Calibri"/>
                          <a:cs typeface="Arial"/>
                        </a:rPr>
                        <a:t>Critical</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algn="ctr">
                        <a:lnSpc>
                          <a:spcPts val="1200"/>
                        </a:lnSpc>
                      </a:pPr>
                      <a:r>
                        <a:rPr lang="en-CA" sz="1800" baseline="30000" dirty="0">
                          <a:solidFill>
                            <a:srgbClr val="000000"/>
                          </a:solidFill>
                          <a:effectLst/>
                          <a:latin typeface="Arial"/>
                          <a:ea typeface="Calibri"/>
                          <a:cs typeface="Arial"/>
                        </a:rPr>
                        <a:t>Critical</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algn="ctr">
                        <a:lnSpc>
                          <a:spcPts val="1200"/>
                        </a:lnSpc>
                      </a:pPr>
                      <a:r>
                        <a:rPr lang="en-CA" sz="1800" baseline="30000" dirty="0">
                          <a:solidFill>
                            <a:srgbClr val="000000"/>
                          </a:solidFill>
                          <a:effectLst/>
                          <a:latin typeface="Arial"/>
                          <a:ea typeface="Calibri"/>
                          <a:cs typeface="Arial"/>
                        </a:rPr>
                        <a:t>Major</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3503467814"/>
                  </a:ext>
                </a:extLst>
              </a:tr>
              <a:tr h="721216">
                <a:tc>
                  <a:txBody>
                    <a:bodyPr/>
                    <a:lstStyle/>
                    <a:p>
                      <a:pPr algn="ctr">
                        <a:lnSpc>
                          <a:spcPts val="1200"/>
                        </a:lnSpc>
                      </a:pPr>
                      <a:r>
                        <a:rPr lang="en-CA" sz="1800" b="1" baseline="30000" dirty="0">
                          <a:solidFill>
                            <a:schemeClr val="bg1"/>
                          </a:solidFill>
                          <a:effectLst/>
                          <a:latin typeface="Arial"/>
                          <a:ea typeface="Calibri"/>
                          <a:cs typeface="Arial"/>
                        </a:rPr>
                        <a:t>P2</a:t>
                      </a:r>
                      <a:endParaRPr lang="en-CA" sz="1800" b="1" dirty="0">
                        <a:solidFill>
                          <a:schemeClr val="bg1"/>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lnSpc>
                          <a:spcPts val="1200"/>
                        </a:lnSpc>
                      </a:pPr>
                      <a:r>
                        <a:rPr lang="en-CA" sz="1800" baseline="30000" dirty="0">
                          <a:solidFill>
                            <a:srgbClr val="000000"/>
                          </a:solidFill>
                          <a:effectLst/>
                          <a:latin typeface="Arial"/>
                          <a:ea typeface="Calibri"/>
                          <a:cs typeface="Arial"/>
                        </a:rPr>
                        <a:t>Critical</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algn="ctr">
                        <a:lnSpc>
                          <a:spcPts val="1200"/>
                        </a:lnSpc>
                      </a:pPr>
                      <a:r>
                        <a:rPr lang="en-CA" sz="1800" baseline="30000" dirty="0">
                          <a:solidFill>
                            <a:srgbClr val="000000"/>
                          </a:solidFill>
                          <a:effectLst/>
                          <a:latin typeface="Arial"/>
                          <a:ea typeface="Calibri"/>
                          <a:cs typeface="Arial"/>
                        </a:rPr>
                        <a:t>Critical</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algn="ctr">
                        <a:lnSpc>
                          <a:spcPts val="1200"/>
                        </a:lnSpc>
                      </a:pPr>
                      <a:r>
                        <a:rPr lang="en-CA" sz="1800" baseline="30000" dirty="0">
                          <a:solidFill>
                            <a:srgbClr val="000000"/>
                          </a:solidFill>
                          <a:effectLst/>
                          <a:latin typeface="Arial"/>
                          <a:ea typeface="Calibri"/>
                          <a:cs typeface="Arial"/>
                        </a:rPr>
                        <a:t>Major</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a:lnSpc>
                          <a:spcPts val="1200"/>
                        </a:lnSpc>
                      </a:pPr>
                      <a:r>
                        <a:rPr lang="en-CA" sz="1800" baseline="30000" dirty="0">
                          <a:solidFill>
                            <a:srgbClr val="000000"/>
                          </a:solidFill>
                          <a:effectLst/>
                          <a:latin typeface="Arial"/>
                          <a:ea typeface="Calibri"/>
                          <a:cs typeface="Arial"/>
                        </a:rPr>
                        <a:t>Medium</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solidFill>
                  </a:tcPr>
                </a:tc>
                <a:extLst>
                  <a:ext uri="{0D108BD9-81ED-4DB2-BD59-A6C34878D82A}">
                    <a16:rowId xmlns:a16="http://schemas.microsoft.com/office/drawing/2014/main" val="2014555627"/>
                  </a:ext>
                </a:extLst>
              </a:tr>
              <a:tr h="743754">
                <a:tc>
                  <a:txBody>
                    <a:bodyPr/>
                    <a:lstStyle/>
                    <a:p>
                      <a:pPr algn="ctr">
                        <a:lnSpc>
                          <a:spcPts val="1200"/>
                        </a:lnSpc>
                      </a:pPr>
                      <a:r>
                        <a:rPr lang="en-CA" sz="1800" b="1" baseline="30000" dirty="0">
                          <a:solidFill>
                            <a:schemeClr val="bg1"/>
                          </a:solidFill>
                          <a:effectLst/>
                          <a:latin typeface="Arial"/>
                          <a:ea typeface="Calibri"/>
                          <a:cs typeface="Arial"/>
                        </a:rPr>
                        <a:t>P3</a:t>
                      </a:r>
                      <a:endParaRPr lang="en-CA" sz="1800" b="1" dirty="0">
                        <a:solidFill>
                          <a:schemeClr val="bg1"/>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lnSpc>
                          <a:spcPts val="1200"/>
                        </a:lnSpc>
                      </a:pPr>
                      <a:r>
                        <a:rPr lang="en-CA" sz="1800" baseline="30000" dirty="0">
                          <a:solidFill>
                            <a:srgbClr val="000000"/>
                          </a:solidFill>
                          <a:effectLst/>
                          <a:latin typeface="Arial"/>
                          <a:ea typeface="Calibri"/>
                          <a:cs typeface="Arial"/>
                        </a:rPr>
                        <a:t>Critical</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7D31"/>
                    </a:solidFill>
                  </a:tcPr>
                </a:tc>
                <a:tc>
                  <a:txBody>
                    <a:bodyPr/>
                    <a:lstStyle/>
                    <a:p>
                      <a:pPr algn="ctr">
                        <a:lnSpc>
                          <a:spcPts val="1200"/>
                        </a:lnSpc>
                      </a:pPr>
                      <a:r>
                        <a:rPr lang="en-CA" sz="1800" baseline="30000" dirty="0">
                          <a:solidFill>
                            <a:srgbClr val="000000"/>
                          </a:solidFill>
                          <a:effectLst/>
                          <a:latin typeface="Arial"/>
                          <a:ea typeface="Calibri"/>
                          <a:cs typeface="Arial"/>
                        </a:rPr>
                        <a:t>Major</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a:lnSpc>
                          <a:spcPts val="1200"/>
                        </a:lnSpc>
                      </a:pPr>
                      <a:r>
                        <a:rPr lang="en-CA" sz="1800" baseline="30000" dirty="0">
                          <a:solidFill>
                            <a:srgbClr val="000000"/>
                          </a:solidFill>
                          <a:effectLst/>
                          <a:latin typeface="Arial"/>
                          <a:ea typeface="Calibri"/>
                          <a:cs typeface="Arial"/>
                        </a:rPr>
                        <a:t>Medium</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solidFill>
                  </a:tcPr>
                </a:tc>
                <a:tc>
                  <a:txBody>
                    <a:bodyPr/>
                    <a:lstStyle/>
                    <a:p>
                      <a:pPr algn="ctr">
                        <a:lnSpc>
                          <a:spcPts val="1200"/>
                        </a:lnSpc>
                      </a:pPr>
                      <a:r>
                        <a:rPr lang="en-CA" sz="1800" baseline="30000" dirty="0">
                          <a:solidFill>
                            <a:srgbClr val="000000"/>
                          </a:solidFill>
                          <a:effectLst/>
                          <a:latin typeface="Arial"/>
                          <a:ea typeface="Calibri"/>
                          <a:cs typeface="Arial"/>
                        </a:rPr>
                        <a:t>Minor</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28389086"/>
                  </a:ext>
                </a:extLst>
              </a:tr>
              <a:tr h="709947">
                <a:tc>
                  <a:txBody>
                    <a:bodyPr/>
                    <a:lstStyle/>
                    <a:p>
                      <a:pPr algn="ctr">
                        <a:lnSpc>
                          <a:spcPts val="1200"/>
                        </a:lnSpc>
                      </a:pPr>
                      <a:r>
                        <a:rPr lang="en-CA" sz="1800" b="1" baseline="30000" dirty="0">
                          <a:solidFill>
                            <a:schemeClr val="bg1"/>
                          </a:solidFill>
                          <a:effectLst/>
                          <a:latin typeface="Arial"/>
                          <a:ea typeface="Calibri"/>
                          <a:cs typeface="Arial"/>
                        </a:rPr>
                        <a:t>P4</a:t>
                      </a:r>
                      <a:endParaRPr lang="en-CA" sz="1800" b="1" dirty="0">
                        <a:solidFill>
                          <a:schemeClr val="bg1"/>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lnSpc>
                          <a:spcPts val="1200"/>
                        </a:lnSpc>
                      </a:pPr>
                      <a:r>
                        <a:rPr lang="en-CA" sz="1800" baseline="30000" dirty="0">
                          <a:solidFill>
                            <a:srgbClr val="000000"/>
                          </a:solidFill>
                          <a:effectLst/>
                          <a:latin typeface="Arial"/>
                          <a:ea typeface="Calibri"/>
                          <a:cs typeface="Arial"/>
                        </a:rPr>
                        <a:t>Major</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a:lnSpc>
                          <a:spcPts val="1200"/>
                        </a:lnSpc>
                      </a:pPr>
                      <a:r>
                        <a:rPr lang="en-CA" sz="1800" baseline="30000" dirty="0">
                          <a:solidFill>
                            <a:srgbClr val="000000"/>
                          </a:solidFill>
                          <a:effectLst/>
                          <a:latin typeface="Arial"/>
                          <a:ea typeface="Calibri"/>
                          <a:cs typeface="Arial"/>
                        </a:rPr>
                        <a:t>Major</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ctr">
                        <a:lnSpc>
                          <a:spcPts val="1200"/>
                        </a:lnSpc>
                      </a:pPr>
                      <a:r>
                        <a:rPr lang="en-CA" sz="1800" baseline="30000" dirty="0">
                          <a:solidFill>
                            <a:srgbClr val="000000"/>
                          </a:solidFill>
                          <a:effectLst/>
                          <a:latin typeface="Arial"/>
                          <a:ea typeface="Calibri"/>
                          <a:cs typeface="Arial"/>
                        </a:rPr>
                        <a:t>Minor</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a:lnSpc>
                          <a:spcPts val="1200"/>
                        </a:lnSpc>
                      </a:pPr>
                      <a:r>
                        <a:rPr lang="en-CA" sz="1800" baseline="30000" dirty="0">
                          <a:solidFill>
                            <a:srgbClr val="000000"/>
                          </a:solidFill>
                          <a:effectLst/>
                          <a:latin typeface="Arial"/>
                          <a:ea typeface="Calibri"/>
                          <a:cs typeface="Arial"/>
                        </a:rPr>
                        <a:t>Minor</a:t>
                      </a:r>
                      <a:endParaRPr lang="en-CA" sz="1800" dirty="0">
                        <a:solidFill>
                          <a:srgbClr val="000000"/>
                        </a:solidFill>
                        <a:effectLst/>
                        <a:latin typeface="Arial"/>
                        <a:ea typeface="Calibri"/>
                        <a:cs typeface="Arial"/>
                      </a:endParaRPr>
                    </a:p>
                  </a:txBody>
                  <a:tcPr marL="85703" marR="85703" marT="38090" marB="380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97408014"/>
                  </a:ext>
                </a:extLst>
              </a:tr>
            </a:tbl>
          </a:graphicData>
        </a:graphic>
      </p:graphicFrame>
      <p:graphicFrame>
        <p:nvGraphicFramePr>
          <p:cNvPr id="14" name="Table 13">
            <a:extLst>
              <a:ext uri="{FF2B5EF4-FFF2-40B4-BE49-F238E27FC236}">
                <a16:creationId xmlns:a16="http://schemas.microsoft.com/office/drawing/2014/main" id="{E18A915A-59BF-3A86-8B08-28DFEB72240C}"/>
              </a:ext>
            </a:extLst>
          </p:cNvPr>
          <p:cNvGraphicFramePr>
            <a:graphicFrameLocks noGrp="1"/>
          </p:cNvGraphicFramePr>
          <p:nvPr>
            <p:extLst>
              <p:ext uri="{D42A27DB-BD31-4B8C-83A1-F6EECF244321}">
                <p14:modId xmlns:p14="http://schemas.microsoft.com/office/powerpoint/2010/main" val="2387344828"/>
              </p:ext>
            </p:extLst>
          </p:nvPr>
        </p:nvGraphicFramePr>
        <p:xfrm>
          <a:off x="6021829" y="1924291"/>
          <a:ext cx="4140883" cy="3436021"/>
        </p:xfrm>
        <a:graphic>
          <a:graphicData uri="http://schemas.openxmlformats.org/drawingml/2006/table">
            <a:tbl>
              <a:tblPr firstRow="1" firstCol="1"/>
              <a:tblGrid>
                <a:gridCol w="932137">
                  <a:extLst>
                    <a:ext uri="{9D8B030D-6E8A-4147-A177-3AD203B41FA5}">
                      <a16:colId xmlns:a16="http://schemas.microsoft.com/office/drawing/2014/main" val="2586892550"/>
                    </a:ext>
                  </a:extLst>
                </a:gridCol>
                <a:gridCol w="3208746">
                  <a:extLst>
                    <a:ext uri="{9D8B030D-6E8A-4147-A177-3AD203B41FA5}">
                      <a16:colId xmlns:a16="http://schemas.microsoft.com/office/drawing/2014/main" val="3885757381"/>
                    </a:ext>
                  </a:extLst>
                </a:gridCol>
              </a:tblGrid>
              <a:tr h="642333">
                <a:tc>
                  <a:txBody>
                    <a:bodyPr/>
                    <a:lstStyle/>
                    <a:p>
                      <a:pPr>
                        <a:lnSpc>
                          <a:spcPts val="1200"/>
                        </a:lnSpc>
                      </a:pPr>
                      <a:r>
                        <a:rPr lang="en-CA" sz="1800" b="1" baseline="30000" dirty="0">
                          <a:solidFill>
                            <a:schemeClr val="bg1"/>
                          </a:solidFill>
                          <a:effectLst/>
                          <a:latin typeface="Arial"/>
                          <a:ea typeface="Calibri"/>
                          <a:cs typeface="Arial"/>
                        </a:rPr>
                        <a:t>Risk Level</a:t>
                      </a:r>
                      <a:endParaRPr lang="en-CA" sz="1800" b="1" dirty="0">
                        <a:solidFill>
                          <a:schemeClr val="bg1"/>
                        </a:solidFill>
                        <a:effectLst/>
                        <a:latin typeface="Arial"/>
                        <a:ea typeface="Calibri"/>
                        <a:cs typeface="Arial"/>
                      </a:endParaRPr>
                    </a:p>
                  </a:txBody>
                  <a:tcPr marL="85703" marR="85703" marT="38090" marB="3809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4472C4"/>
                    </a:solidFill>
                  </a:tcPr>
                </a:tc>
                <a:tc>
                  <a:txBody>
                    <a:bodyPr/>
                    <a:lstStyle/>
                    <a:p>
                      <a:pPr>
                        <a:lnSpc>
                          <a:spcPts val="1200"/>
                        </a:lnSpc>
                      </a:pPr>
                      <a:r>
                        <a:rPr lang="en-CA" sz="1800" b="1" baseline="30000" dirty="0">
                          <a:solidFill>
                            <a:schemeClr val="bg1"/>
                          </a:solidFill>
                          <a:effectLst/>
                          <a:latin typeface="Arial"/>
                          <a:ea typeface="Calibri"/>
                          <a:cs typeface="Arial"/>
                        </a:rPr>
                        <a:t>(How Developer sees the priority)</a:t>
                      </a:r>
                      <a:endParaRPr lang="en-CA" sz="1800" b="1" dirty="0">
                        <a:solidFill>
                          <a:schemeClr val="bg1"/>
                        </a:solidFill>
                        <a:effectLst/>
                        <a:latin typeface="Arial"/>
                        <a:ea typeface="Calibri"/>
                        <a:cs typeface="Arial"/>
                      </a:endParaRPr>
                    </a:p>
                  </a:txBody>
                  <a:tcPr marL="85703" marR="85703" marT="38090" marB="38090" anchor="ctr">
                    <a:lnL w="0" cap="flat" cmpd="sng" algn="ctr">
                      <a:noFill/>
                      <a:prstDash val="solid"/>
                      <a:round/>
                      <a:headEnd type="none" w="med" len="med"/>
                      <a:tailEnd type="none" w="med" len="med"/>
                    </a:lnL>
                    <a:lnR w="3175" cap="flat" cmpd="sng" algn="ctr">
                      <a:solidFill>
                        <a:schemeClr val="accent3">
                          <a:lumMod val="40000"/>
                          <a:lumOff val="60000"/>
                        </a:schemeClr>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4472C4"/>
                    </a:solidFill>
                  </a:tcPr>
                </a:tc>
                <a:extLst>
                  <a:ext uri="{0D108BD9-81ED-4DB2-BD59-A6C34878D82A}">
                    <a16:rowId xmlns:a16="http://schemas.microsoft.com/office/drawing/2014/main" val="763009277"/>
                  </a:ext>
                </a:extLst>
              </a:tr>
              <a:tr h="642333">
                <a:tc>
                  <a:txBody>
                    <a:bodyPr/>
                    <a:lstStyle/>
                    <a:p>
                      <a:pPr>
                        <a:lnSpc>
                          <a:spcPts val="1200"/>
                        </a:lnSpc>
                      </a:pPr>
                      <a:r>
                        <a:rPr lang="en-CA" sz="1800" baseline="30000" dirty="0">
                          <a:solidFill>
                            <a:srgbClr val="000000"/>
                          </a:solidFill>
                          <a:effectLst/>
                          <a:latin typeface="Arial"/>
                          <a:ea typeface="Calibri"/>
                          <a:cs typeface="Arial"/>
                        </a:rPr>
                        <a:t>Critical</a:t>
                      </a:r>
                      <a:endParaRPr lang="en-CA" sz="1800" dirty="0">
                        <a:solidFill>
                          <a:srgbClr val="000000"/>
                        </a:solidFill>
                        <a:effectLst/>
                        <a:latin typeface="Arial"/>
                        <a:ea typeface="Calibri"/>
                        <a:cs typeface="Arial"/>
                      </a:endParaRPr>
                    </a:p>
                  </a:txBody>
                  <a:tcPr marL="85703" marR="85703" marT="38090" marB="3809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ED7D31"/>
                    </a:solidFill>
                  </a:tcPr>
                </a:tc>
                <a:tc>
                  <a:txBody>
                    <a:bodyPr/>
                    <a:lstStyle/>
                    <a:p>
                      <a:pPr>
                        <a:lnSpc>
                          <a:spcPts val="1200"/>
                        </a:lnSpc>
                      </a:pPr>
                      <a:r>
                        <a:rPr lang="en-CA" sz="1800" baseline="30000" dirty="0">
                          <a:solidFill>
                            <a:srgbClr val="000000"/>
                          </a:solidFill>
                          <a:effectLst/>
                          <a:latin typeface="Arial"/>
                          <a:ea typeface="Calibri"/>
                          <a:cs typeface="Arial"/>
                        </a:rPr>
                        <a:t> This must be fixed immediately</a:t>
                      </a:r>
                      <a:endParaRPr lang="en-CA" sz="1800" dirty="0">
                        <a:solidFill>
                          <a:srgbClr val="000000"/>
                        </a:solidFill>
                        <a:effectLst/>
                        <a:latin typeface="Arial"/>
                        <a:ea typeface="Calibri"/>
                        <a:cs typeface="Arial"/>
                      </a:endParaRPr>
                    </a:p>
                  </a:txBody>
                  <a:tcPr marL="85703" marR="85703" marT="38090" marB="38090" anchor="ctr">
                    <a:lnL w="0" cap="flat" cmpd="sng" algn="ctr">
                      <a:noFill/>
                      <a:prstDash val="solid"/>
                      <a:round/>
                      <a:headEnd type="none" w="med" len="med"/>
                      <a:tailEnd type="none" w="med" len="med"/>
                    </a:lnL>
                    <a:lnR w="3175" cap="flat" cmpd="sng" algn="ctr">
                      <a:solidFill>
                        <a:schemeClr val="accent3">
                          <a:lumMod val="40000"/>
                          <a:lumOff val="60000"/>
                        </a:schemeClr>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841488528"/>
                  </a:ext>
                </a:extLst>
              </a:tr>
              <a:tr h="743754">
                <a:tc>
                  <a:txBody>
                    <a:bodyPr/>
                    <a:lstStyle/>
                    <a:p>
                      <a:pPr>
                        <a:lnSpc>
                          <a:spcPts val="1200"/>
                        </a:lnSpc>
                      </a:pPr>
                      <a:r>
                        <a:rPr lang="en-CA" sz="1800" baseline="30000" dirty="0">
                          <a:solidFill>
                            <a:srgbClr val="000000"/>
                          </a:solidFill>
                          <a:effectLst/>
                          <a:latin typeface="Arial"/>
                          <a:ea typeface="Calibri"/>
                          <a:cs typeface="Arial"/>
                        </a:rPr>
                        <a:t>Major</a:t>
                      </a:r>
                      <a:endParaRPr lang="en-CA" sz="1800" dirty="0">
                        <a:solidFill>
                          <a:srgbClr val="000000"/>
                        </a:solidFill>
                        <a:effectLst/>
                        <a:latin typeface="Arial"/>
                        <a:ea typeface="Calibri"/>
                        <a:cs typeface="Arial"/>
                      </a:endParaRPr>
                    </a:p>
                  </a:txBody>
                  <a:tcPr marL="85703" marR="85703" marT="38090" marB="3809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FFC000"/>
                    </a:solidFill>
                  </a:tcPr>
                </a:tc>
                <a:tc>
                  <a:txBody>
                    <a:bodyPr/>
                    <a:lstStyle/>
                    <a:p>
                      <a:pPr>
                        <a:lnSpc>
                          <a:spcPts val="1200"/>
                        </a:lnSpc>
                      </a:pPr>
                      <a:r>
                        <a:rPr lang="en-CA" sz="1800" baseline="30000" dirty="0">
                          <a:solidFill>
                            <a:srgbClr val="000000"/>
                          </a:solidFill>
                          <a:effectLst/>
                          <a:latin typeface="Arial"/>
                          <a:ea typeface="Calibri"/>
                          <a:cs typeface="Arial"/>
                        </a:rPr>
                        <a:t>The problem should be fixed in the next Release, or a workaround must be issued and accepted by client</a:t>
                      </a:r>
                      <a:endParaRPr lang="en-CA" sz="1800" dirty="0">
                        <a:solidFill>
                          <a:srgbClr val="000000"/>
                        </a:solidFill>
                        <a:effectLst/>
                        <a:latin typeface="Arial"/>
                        <a:ea typeface="Calibri"/>
                        <a:cs typeface="Arial"/>
                      </a:endParaRPr>
                    </a:p>
                  </a:txBody>
                  <a:tcPr marL="85703" marR="85703" marT="38090" marB="38090" anchor="ctr">
                    <a:lnL w="0" cap="flat" cmpd="sng" algn="ctr">
                      <a:noFill/>
                      <a:prstDash val="solid"/>
                      <a:round/>
                      <a:headEnd type="none" w="med" len="med"/>
                      <a:tailEnd type="none" w="med" len="med"/>
                    </a:lnL>
                    <a:lnR w="3175" cap="flat" cmpd="sng" algn="ctr">
                      <a:solidFill>
                        <a:schemeClr val="accent3">
                          <a:lumMod val="40000"/>
                          <a:lumOff val="60000"/>
                        </a:schemeClr>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704805972"/>
                  </a:ext>
                </a:extLst>
              </a:tr>
              <a:tr h="743754">
                <a:tc>
                  <a:txBody>
                    <a:bodyPr/>
                    <a:lstStyle/>
                    <a:p>
                      <a:pPr>
                        <a:lnSpc>
                          <a:spcPts val="1200"/>
                        </a:lnSpc>
                      </a:pPr>
                      <a:r>
                        <a:rPr lang="en-CA" sz="1800" baseline="30000" dirty="0">
                          <a:solidFill>
                            <a:srgbClr val="000000"/>
                          </a:solidFill>
                          <a:effectLst/>
                          <a:latin typeface="Arial"/>
                          <a:ea typeface="Calibri"/>
                          <a:cs typeface="Arial"/>
                        </a:rPr>
                        <a:t>Medium</a:t>
                      </a:r>
                      <a:endParaRPr lang="en-CA" sz="1800" dirty="0">
                        <a:solidFill>
                          <a:srgbClr val="000000"/>
                        </a:solidFill>
                        <a:effectLst/>
                        <a:latin typeface="Arial"/>
                        <a:ea typeface="Calibri"/>
                        <a:cs typeface="Arial"/>
                      </a:endParaRPr>
                    </a:p>
                  </a:txBody>
                  <a:tcPr marL="85703" marR="85703" marT="38090" marB="3809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FFF2CC"/>
                    </a:solidFill>
                  </a:tcPr>
                </a:tc>
                <a:tc>
                  <a:txBody>
                    <a:bodyPr/>
                    <a:lstStyle/>
                    <a:p>
                      <a:pPr>
                        <a:lnSpc>
                          <a:spcPts val="1200"/>
                        </a:lnSpc>
                      </a:pPr>
                      <a:r>
                        <a:rPr lang="en-CA" sz="1800" baseline="30000" dirty="0">
                          <a:solidFill>
                            <a:srgbClr val="000000"/>
                          </a:solidFill>
                          <a:effectLst/>
                          <a:latin typeface="Arial"/>
                          <a:ea typeface="Calibri"/>
                          <a:cs typeface="Arial"/>
                        </a:rPr>
                        <a:t>It can be deferred by client until a future release or to an agreed upon time by both client and Vendor</a:t>
                      </a:r>
                      <a:endParaRPr lang="en-CA" sz="1800" dirty="0">
                        <a:solidFill>
                          <a:srgbClr val="000000"/>
                        </a:solidFill>
                        <a:effectLst/>
                        <a:latin typeface="Arial"/>
                        <a:ea typeface="Calibri"/>
                        <a:cs typeface="Arial"/>
                      </a:endParaRPr>
                    </a:p>
                  </a:txBody>
                  <a:tcPr marL="85703" marR="85703" marT="38090" marB="38090" anchor="ctr">
                    <a:lnL w="0" cap="flat" cmpd="sng" algn="ctr">
                      <a:noFill/>
                      <a:prstDash val="solid"/>
                      <a:round/>
                      <a:headEnd type="none" w="med" len="med"/>
                      <a:tailEnd type="none" w="med" len="med"/>
                    </a:lnL>
                    <a:lnR w="3175" cap="flat" cmpd="sng" algn="ctr">
                      <a:solidFill>
                        <a:schemeClr val="accent3">
                          <a:lumMod val="40000"/>
                          <a:lumOff val="60000"/>
                        </a:schemeClr>
                      </a:solid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793061128"/>
                  </a:ext>
                </a:extLst>
              </a:tr>
              <a:tr h="663847">
                <a:tc>
                  <a:txBody>
                    <a:bodyPr/>
                    <a:lstStyle/>
                    <a:p>
                      <a:pPr>
                        <a:lnSpc>
                          <a:spcPts val="1200"/>
                        </a:lnSpc>
                      </a:pPr>
                      <a:r>
                        <a:rPr lang="en-CA" sz="1800" baseline="30000" dirty="0">
                          <a:solidFill>
                            <a:srgbClr val="000000"/>
                          </a:solidFill>
                          <a:effectLst/>
                          <a:latin typeface="Arial"/>
                          <a:ea typeface="Calibri"/>
                          <a:cs typeface="Arial"/>
                        </a:rPr>
                        <a:t>Minor</a:t>
                      </a:r>
                      <a:endParaRPr lang="en-CA" sz="1800" dirty="0">
                        <a:solidFill>
                          <a:srgbClr val="000000"/>
                        </a:solidFill>
                        <a:effectLst/>
                        <a:latin typeface="Arial"/>
                        <a:ea typeface="Calibri"/>
                        <a:cs typeface="Arial"/>
                      </a:endParaRPr>
                    </a:p>
                  </a:txBody>
                  <a:tcPr marL="85703" marR="85703" marT="38090" marB="3809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3175" cap="flat" cmpd="sng" algn="ctr">
                      <a:solidFill>
                        <a:schemeClr val="accent3">
                          <a:lumMod val="40000"/>
                          <a:lumOff val="60000"/>
                        </a:schemeClr>
                      </a:solidFill>
                      <a:prstDash val="solid"/>
                      <a:round/>
                      <a:headEnd type="none" w="med" len="med"/>
                      <a:tailEnd type="none" w="med" len="med"/>
                    </a:lnB>
                    <a:solidFill>
                      <a:srgbClr val="F2F2F2"/>
                    </a:solidFill>
                  </a:tcPr>
                </a:tc>
                <a:tc>
                  <a:txBody>
                    <a:bodyPr/>
                    <a:lstStyle/>
                    <a:p>
                      <a:pPr>
                        <a:lnSpc>
                          <a:spcPts val="1200"/>
                        </a:lnSpc>
                      </a:pPr>
                      <a:r>
                        <a:rPr lang="en-CA" sz="1800" baseline="30000" dirty="0">
                          <a:solidFill>
                            <a:srgbClr val="000000"/>
                          </a:solidFill>
                          <a:effectLst/>
                          <a:latin typeface="Arial"/>
                          <a:ea typeface="Calibri"/>
                          <a:cs typeface="Arial"/>
                        </a:rPr>
                        <a:t>These defects can be considered as technical debt.</a:t>
                      </a:r>
                      <a:endParaRPr lang="en-CA" sz="1800" dirty="0">
                        <a:solidFill>
                          <a:srgbClr val="000000"/>
                        </a:solidFill>
                        <a:effectLst/>
                        <a:latin typeface="Arial"/>
                        <a:ea typeface="Calibri"/>
                        <a:cs typeface="Arial"/>
                      </a:endParaRPr>
                    </a:p>
                  </a:txBody>
                  <a:tcPr marL="85703" marR="85703" marT="38090" marB="38090" anchor="ctr">
                    <a:lnL w="0" cap="flat" cmpd="sng" algn="ctr">
                      <a:noFill/>
                      <a:prstDash val="solid"/>
                      <a:round/>
                      <a:headEnd type="none" w="med" len="med"/>
                      <a:tailEnd type="none" w="med" len="med"/>
                    </a:lnL>
                    <a:lnR w="3175" cap="flat" cmpd="sng" algn="ctr">
                      <a:solidFill>
                        <a:schemeClr val="accent3">
                          <a:lumMod val="40000"/>
                          <a:lumOff val="60000"/>
                        </a:schemeClr>
                      </a:solidFill>
                      <a:prstDash val="solid"/>
                      <a:round/>
                      <a:headEnd type="none" w="med" len="med"/>
                      <a:tailEnd type="none" w="med" len="med"/>
                    </a:lnR>
                    <a:lnT w="0" cap="flat" cmpd="sng" algn="ctr">
                      <a:noFill/>
                      <a:prstDash val="solid"/>
                      <a:round/>
                      <a:headEnd type="none" w="med" len="med"/>
                      <a:tailEnd type="none" w="med" len="med"/>
                    </a:lnT>
                    <a:lnB w="3175" cap="flat" cmpd="sng" algn="ctr">
                      <a:solidFill>
                        <a:schemeClr val="accent3">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08285618"/>
                  </a:ext>
                </a:extLst>
              </a:tr>
            </a:tbl>
          </a:graphicData>
        </a:graphic>
      </p:graphicFrame>
      <p:sp>
        <p:nvSpPr>
          <p:cNvPr id="18" name="TextBox 17">
            <a:extLst>
              <a:ext uri="{FF2B5EF4-FFF2-40B4-BE49-F238E27FC236}">
                <a16:creationId xmlns:a16="http://schemas.microsoft.com/office/drawing/2014/main" id="{366BF823-7D6A-16FD-CE5D-F459AE641230}"/>
              </a:ext>
            </a:extLst>
          </p:cNvPr>
          <p:cNvSpPr txBox="1"/>
          <p:nvPr/>
        </p:nvSpPr>
        <p:spPr>
          <a:xfrm>
            <a:off x="1163215" y="1385976"/>
            <a:ext cx="9645738" cy="461665"/>
          </a:xfrm>
          <a:prstGeom prst="rect">
            <a:avLst/>
          </a:prstGeom>
          <a:noFill/>
        </p:spPr>
        <p:txBody>
          <a:bodyPr wrap="square" lIns="91440" tIns="45720" rIns="91440" bIns="45720" anchor="t">
            <a:spAutoFit/>
          </a:bodyPr>
          <a:lstStyle/>
          <a:p>
            <a:pPr defTabSz="1218621"/>
            <a:r>
              <a:rPr lang="en-CA" sz="2350" dirty="0">
                <a:solidFill>
                  <a:srgbClr val="002060"/>
                </a:solidFill>
                <a:latin typeface="Arial"/>
                <a:cs typeface="Segoe UI"/>
              </a:rPr>
              <a:t>Example Guideline for defect management and triage prioritization</a:t>
            </a:r>
          </a:p>
        </p:txBody>
      </p:sp>
      <p:sp>
        <p:nvSpPr>
          <p:cNvPr id="4" name="TextBox 3">
            <a:extLst>
              <a:ext uri="{FF2B5EF4-FFF2-40B4-BE49-F238E27FC236}">
                <a16:creationId xmlns:a16="http://schemas.microsoft.com/office/drawing/2014/main" id="{ED232C85-875C-30FE-D366-6C84137CB15F}"/>
              </a:ext>
            </a:extLst>
          </p:cNvPr>
          <p:cNvSpPr txBox="1"/>
          <p:nvPr/>
        </p:nvSpPr>
        <p:spPr>
          <a:xfrm>
            <a:off x="1164441" y="601444"/>
            <a:ext cx="3692345" cy="486287"/>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Segoe UI"/>
              </a:rPr>
              <a:t>Defect Heat Map</a:t>
            </a:r>
          </a:p>
        </p:txBody>
      </p:sp>
      <p:grpSp>
        <p:nvGrpSpPr>
          <p:cNvPr id="21" name="Group 20">
            <a:extLst>
              <a:ext uri="{FF2B5EF4-FFF2-40B4-BE49-F238E27FC236}">
                <a16:creationId xmlns:a16="http://schemas.microsoft.com/office/drawing/2014/main" id="{9D5399E7-5827-7762-D4B4-82C4E44DD65F}"/>
              </a:ext>
            </a:extLst>
          </p:cNvPr>
          <p:cNvGrpSpPr/>
          <p:nvPr/>
        </p:nvGrpSpPr>
        <p:grpSpPr>
          <a:xfrm>
            <a:off x="1" y="4240"/>
            <a:ext cx="909836" cy="930066"/>
            <a:chOff x="1" y="-5685"/>
            <a:chExt cx="909836" cy="930066"/>
          </a:xfrm>
        </p:grpSpPr>
        <p:sp>
          <p:nvSpPr>
            <p:cNvPr id="15" name="Rectangle 14">
              <a:extLst>
                <a:ext uri="{FF2B5EF4-FFF2-40B4-BE49-F238E27FC236}">
                  <a16:creationId xmlns:a16="http://schemas.microsoft.com/office/drawing/2014/main" id="{42BAF608-57FF-73F5-938F-4990F807C335}"/>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6" name="Rectangle 15">
              <a:extLst>
                <a:ext uri="{FF2B5EF4-FFF2-40B4-BE49-F238E27FC236}">
                  <a16:creationId xmlns:a16="http://schemas.microsoft.com/office/drawing/2014/main" id="{716EFCAA-CF07-5088-04F8-0A3837C5E757}"/>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7" name="Rectangle 16">
              <a:extLst>
                <a:ext uri="{FF2B5EF4-FFF2-40B4-BE49-F238E27FC236}">
                  <a16:creationId xmlns:a16="http://schemas.microsoft.com/office/drawing/2014/main" id="{704C4400-AA54-4D6E-FA26-C0B5BBE0F48F}"/>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20" name="Rectangle 19">
              <a:extLst>
                <a:ext uri="{FF2B5EF4-FFF2-40B4-BE49-F238E27FC236}">
                  <a16:creationId xmlns:a16="http://schemas.microsoft.com/office/drawing/2014/main" id="{AC1424D2-F7DF-8CC5-DBA7-C8485BF1EA69}"/>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29" name="Group 28">
            <a:extLst>
              <a:ext uri="{FF2B5EF4-FFF2-40B4-BE49-F238E27FC236}">
                <a16:creationId xmlns:a16="http://schemas.microsoft.com/office/drawing/2014/main" id="{59725C9E-CA5E-F8E4-325D-15B45B31CF87}"/>
              </a:ext>
            </a:extLst>
          </p:cNvPr>
          <p:cNvGrpSpPr/>
          <p:nvPr/>
        </p:nvGrpSpPr>
        <p:grpSpPr>
          <a:xfrm>
            <a:off x="10342891" y="4962097"/>
            <a:ext cx="1845935" cy="1895903"/>
            <a:chOff x="0" y="0"/>
            <a:chExt cx="3161556" cy="3048050"/>
          </a:xfrm>
        </p:grpSpPr>
        <p:grpSp>
          <p:nvGrpSpPr>
            <p:cNvPr id="23" name="Group 22">
              <a:extLst>
                <a:ext uri="{FF2B5EF4-FFF2-40B4-BE49-F238E27FC236}">
                  <a16:creationId xmlns:a16="http://schemas.microsoft.com/office/drawing/2014/main" id="{296805E3-0653-14DF-04A1-6DEBBA07D2F1}"/>
                </a:ext>
              </a:extLst>
            </p:cNvPr>
            <p:cNvGrpSpPr/>
            <p:nvPr/>
          </p:nvGrpSpPr>
          <p:grpSpPr>
            <a:xfrm>
              <a:off x="0" y="0"/>
              <a:ext cx="2107704" cy="2241545"/>
              <a:chOff x="0" y="0"/>
              <a:chExt cx="2107704" cy="2241545"/>
            </a:xfrm>
          </p:grpSpPr>
          <p:sp>
            <p:nvSpPr>
              <p:cNvPr id="27" name="Rectangle 26">
                <a:extLst>
                  <a:ext uri="{FF2B5EF4-FFF2-40B4-BE49-F238E27FC236}">
                    <a16:creationId xmlns:a16="http://schemas.microsoft.com/office/drawing/2014/main" id="{961AA365-5806-6E2D-6C40-79A202EDCD0F}"/>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27">
                <a:extLst>
                  <a:ext uri="{FF2B5EF4-FFF2-40B4-BE49-F238E27FC236}">
                    <a16:creationId xmlns:a16="http://schemas.microsoft.com/office/drawing/2014/main" id="{7119B8D3-472E-1B0E-54F7-29FD3070BDDA}"/>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4" name="Group 23">
              <a:extLst>
                <a:ext uri="{FF2B5EF4-FFF2-40B4-BE49-F238E27FC236}">
                  <a16:creationId xmlns:a16="http://schemas.microsoft.com/office/drawing/2014/main" id="{75EF29A9-4F44-415F-CBE0-49BD2B14B146}"/>
                </a:ext>
              </a:extLst>
            </p:cNvPr>
            <p:cNvGrpSpPr/>
            <p:nvPr/>
          </p:nvGrpSpPr>
          <p:grpSpPr>
            <a:xfrm flipH="1" flipV="1">
              <a:off x="1072246" y="1059210"/>
              <a:ext cx="2089310" cy="1988840"/>
              <a:chOff x="1580778" y="1268760"/>
              <a:chExt cx="2089310" cy="1988840"/>
            </a:xfrm>
          </p:grpSpPr>
          <p:sp>
            <p:nvSpPr>
              <p:cNvPr id="25" name="Rectangle 24">
                <a:extLst>
                  <a:ext uri="{FF2B5EF4-FFF2-40B4-BE49-F238E27FC236}">
                    <a16:creationId xmlns:a16="http://schemas.microsoft.com/office/drawing/2014/main" id="{2BAB467C-E0DF-5338-6947-674A79B92FAE}"/>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25">
                <a:extLst>
                  <a:ext uri="{FF2B5EF4-FFF2-40B4-BE49-F238E27FC236}">
                    <a16:creationId xmlns:a16="http://schemas.microsoft.com/office/drawing/2014/main" id="{C78E4BEE-508A-C9FD-B0CE-34AE607D3390}"/>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1" name="Picture 30" descr="BEll company logo">
            <a:extLst>
              <a:ext uri="{FF2B5EF4-FFF2-40B4-BE49-F238E27FC236}">
                <a16:creationId xmlns:a16="http://schemas.microsoft.com/office/drawing/2014/main" id="{43155895-77F9-8DDE-B199-1D3E11B2FAB1}"/>
              </a:ext>
            </a:extLst>
          </p:cNvPr>
          <p:cNvPicPr>
            <a:picLocks noChangeAspect="1"/>
          </p:cNvPicPr>
          <p:nvPr/>
        </p:nvPicPr>
        <p:blipFill>
          <a:blip r:embed="rId2"/>
          <a:stretch>
            <a:fillRect/>
          </a:stretch>
        </p:blipFill>
        <p:spPr>
          <a:xfrm>
            <a:off x="11009239" y="635555"/>
            <a:ext cx="514513" cy="400050"/>
          </a:xfrm>
          <a:prstGeom prst="rect">
            <a:avLst/>
          </a:prstGeom>
        </p:spPr>
      </p:pic>
    </p:spTree>
    <p:extLst>
      <p:ext uri="{BB962C8B-B14F-4D97-AF65-F5344CB8AC3E}">
        <p14:creationId xmlns:p14="http://schemas.microsoft.com/office/powerpoint/2010/main" val="263879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1+#ppt_w/2"/>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A061E4-7577-1E5B-C2DA-CA805D413333}"/>
              </a:ext>
            </a:extLst>
          </p:cNvPr>
          <p:cNvSpPr txBox="1"/>
          <p:nvPr/>
        </p:nvSpPr>
        <p:spPr>
          <a:xfrm>
            <a:off x="1255000" y="1036513"/>
            <a:ext cx="9075801" cy="2022285"/>
          </a:xfrm>
          <a:prstGeom prst="rect">
            <a:avLst/>
          </a:prstGeom>
          <a:noFill/>
        </p:spPr>
        <p:txBody>
          <a:bodyPr wrap="square" lIns="91440" tIns="45720" rIns="91440" bIns="45720" rtlCol="0" anchor="t">
            <a:spAutoFit/>
          </a:bodyPr>
          <a:lstStyle/>
          <a:p>
            <a:pPr defTabSz="1218621">
              <a:lnSpc>
                <a:spcPct val="107000"/>
              </a:lnSpc>
              <a:spcAft>
                <a:spcPts val="800"/>
              </a:spcAft>
            </a:pPr>
            <a:r>
              <a:rPr lang="en-CA" sz="1400" kern="100" dirty="0">
                <a:solidFill>
                  <a:srgbClr val="000000"/>
                </a:solidFill>
                <a:latin typeface="Arial"/>
                <a:ea typeface="Times New Roman" panose="02020603050405020304" pitchFamily="18" charset="0"/>
                <a:cs typeface="Segoe UI"/>
              </a:rPr>
              <a:t>SLA stands for Service Level Agreement, and SLO stands for Service Level Objective. Both SLA and SLO are terms commonly used in the context of service management to define and measure the performance and quality of services provided to customers or users. While they are related, they have distinct purposes and characteristics.</a:t>
            </a:r>
          </a:p>
          <a:p>
            <a:pPr defTabSz="1218621">
              <a:lnSpc>
                <a:spcPct val="107000"/>
              </a:lnSpc>
              <a:spcAft>
                <a:spcPts val="800"/>
              </a:spcAft>
            </a:pPr>
            <a:r>
              <a:rPr lang="en-CA" sz="1400" kern="100" dirty="0">
                <a:solidFill>
                  <a:srgbClr val="000000"/>
                </a:solidFill>
                <a:latin typeface="Arial"/>
                <a:ea typeface="Times New Roman" panose="02020603050405020304" pitchFamily="18" charset="0"/>
                <a:cs typeface="Segoe UI"/>
              </a:rPr>
              <a:t>SLAs are formal agreements that define the service commitments made to customers, while SLOs are specific, measurable objectives used to assess the actual performance of the service. SLOs often serve as the basis for setting SLA targets, and both are critical in ensuring the quality and reliability of services provided by service providers or vendors.</a:t>
            </a:r>
          </a:p>
        </p:txBody>
      </p:sp>
      <p:sp>
        <p:nvSpPr>
          <p:cNvPr id="4" name="TextBox 3">
            <a:extLst>
              <a:ext uri="{FF2B5EF4-FFF2-40B4-BE49-F238E27FC236}">
                <a16:creationId xmlns:a16="http://schemas.microsoft.com/office/drawing/2014/main" id="{310970FD-4613-6DC8-A1B8-FF27D52340EF}"/>
              </a:ext>
            </a:extLst>
          </p:cNvPr>
          <p:cNvSpPr txBox="1"/>
          <p:nvPr/>
        </p:nvSpPr>
        <p:spPr>
          <a:xfrm>
            <a:off x="1250761" y="3139760"/>
            <a:ext cx="2590125" cy="246093"/>
          </a:xfrm>
          <a:prstGeom prst="rect">
            <a:avLst/>
          </a:prstGeom>
          <a:noFill/>
        </p:spPr>
        <p:txBody>
          <a:bodyPr wrap="square" rtlCol="0">
            <a:spAutoFit/>
          </a:bodyPr>
          <a:lstStyle/>
          <a:p>
            <a:pPr defTabSz="1218621">
              <a:lnSpc>
                <a:spcPct val="70000"/>
              </a:lnSpc>
            </a:pPr>
            <a:r>
              <a:rPr lang="en-IN" sz="1400" b="1">
                <a:solidFill>
                  <a:srgbClr val="0779B7"/>
                </a:solidFill>
                <a:latin typeface="Segoe UI" panose="020B0502040204020203" pitchFamily="34" charset="0"/>
                <a:ea typeface="Open Sans" panose="020B0606030504020204" pitchFamily="34" charset="0"/>
                <a:cs typeface="Segoe UI" panose="020B0502040204020203" pitchFamily="34" charset="0"/>
              </a:rPr>
              <a:t>Defect SLA:</a:t>
            </a:r>
            <a:endParaRPr lang="en-IN" sz="1400">
              <a:solidFill>
                <a:srgbClr val="0779B7"/>
              </a:solidFill>
              <a:latin typeface="Segoe UI" panose="020B0502040204020203" pitchFamily="34" charset="0"/>
              <a:ea typeface="Open Sans" panose="020B0606030504020204" pitchFamily="34" charset="0"/>
              <a:cs typeface="Segoe UI" panose="020B0502040204020203" pitchFamily="34" charset="0"/>
            </a:endParaRPr>
          </a:p>
        </p:txBody>
      </p:sp>
      <p:sp>
        <p:nvSpPr>
          <p:cNvPr id="5" name="TextBox 4">
            <a:extLst>
              <a:ext uri="{FF2B5EF4-FFF2-40B4-BE49-F238E27FC236}">
                <a16:creationId xmlns:a16="http://schemas.microsoft.com/office/drawing/2014/main" id="{75CC14F1-836D-1497-A8B8-9FEEF44F2952}"/>
              </a:ext>
            </a:extLst>
          </p:cNvPr>
          <p:cNvSpPr txBox="1"/>
          <p:nvPr/>
        </p:nvSpPr>
        <p:spPr>
          <a:xfrm>
            <a:off x="1277460" y="3461309"/>
            <a:ext cx="4032448" cy="1958934"/>
          </a:xfrm>
          <a:prstGeom prst="rect">
            <a:avLst/>
          </a:prstGeom>
          <a:noFill/>
        </p:spPr>
        <p:txBody>
          <a:bodyPr wrap="square" lIns="91440" tIns="45720" rIns="91440" bIns="45720" rtlCol="0" anchor="t">
            <a:spAutoFit/>
          </a:bodyPr>
          <a:lstStyle/>
          <a:p>
            <a:pPr defTabSz="1218621">
              <a:lnSpc>
                <a:spcPct val="107000"/>
              </a:lnSpc>
              <a:spcAft>
                <a:spcPts val="800"/>
              </a:spcAft>
            </a:pPr>
            <a:r>
              <a:rPr lang="en-CA" sz="1200" kern="100" dirty="0">
                <a:solidFill>
                  <a:schemeClr val="tx2"/>
                </a:solidFill>
                <a:latin typeface="Arial"/>
                <a:ea typeface="Times New Roman" panose="02020603050405020304" pitchFamily="18" charset="0"/>
                <a:cs typeface="Segoe UI"/>
              </a:rPr>
              <a:t>Defect management SLAs typically contain conditions defined by level of priority of defect in Heatmap. The most common are response time and resolution time, but others may include time to triage and time to deliver root cause analysis (RCA).  </a:t>
            </a:r>
          </a:p>
          <a:p>
            <a:pPr defTabSz="1218621">
              <a:lnSpc>
                <a:spcPct val="107000"/>
              </a:lnSpc>
              <a:spcAft>
                <a:spcPts val="800"/>
              </a:spcAft>
            </a:pPr>
            <a:r>
              <a:rPr lang="en-CA" sz="1200" kern="100" dirty="0">
                <a:solidFill>
                  <a:schemeClr val="tx2"/>
                </a:solidFill>
                <a:latin typeface="Arial"/>
                <a:ea typeface="Times New Roman" panose="02020603050405020304" pitchFamily="18" charset="0"/>
                <a:cs typeface="Segoe UI"/>
              </a:rPr>
              <a:t>The benefit having service levels vary by defect heatmap allows the provider to match the urgency with the impact of the defect. The higher the impact, the greater the sense of urgency to respond and resolve.</a:t>
            </a:r>
          </a:p>
        </p:txBody>
      </p:sp>
      <p:sp>
        <p:nvSpPr>
          <p:cNvPr id="15" name="TextBox 14">
            <a:extLst>
              <a:ext uri="{FF2B5EF4-FFF2-40B4-BE49-F238E27FC236}">
                <a16:creationId xmlns:a16="http://schemas.microsoft.com/office/drawing/2014/main" id="{638A2E58-3DF1-F742-D849-CF3D1AD496F9}"/>
              </a:ext>
            </a:extLst>
          </p:cNvPr>
          <p:cNvSpPr txBox="1"/>
          <p:nvPr/>
        </p:nvSpPr>
        <p:spPr>
          <a:xfrm>
            <a:off x="5477043" y="3159180"/>
            <a:ext cx="2590125" cy="246093"/>
          </a:xfrm>
          <a:prstGeom prst="rect">
            <a:avLst/>
          </a:prstGeom>
          <a:noFill/>
        </p:spPr>
        <p:txBody>
          <a:bodyPr wrap="square" rtlCol="0">
            <a:spAutoFit/>
          </a:bodyPr>
          <a:lstStyle/>
          <a:p>
            <a:pPr defTabSz="1218621">
              <a:lnSpc>
                <a:spcPct val="70000"/>
              </a:lnSpc>
            </a:pPr>
            <a:r>
              <a:rPr lang="en-IN" sz="1400" b="1">
                <a:solidFill>
                  <a:srgbClr val="0779B7"/>
                </a:solidFill>
                <a:latin typeface="Segoe UI" panose="020B0502040204020203" pitchFamily="34" charset="0"/>
                <a:ea typeface="Open Sans" panose="020B0606030504020204" pitchFamily="34" charset="0"/>
                <a:cs typeface="Segoe UI" panose="020B0502040204020203" pitchFamily="34" charset="0"/>
              </a:rPr>
              <a:t>Defect SLO:</a:t>
            </a:r>
            <a:endParaRPr lang="en-IN" sz="1400">
              <a:solidFill>
                <a:srgbClr val="0779B7"/>
              </a:solidFill>
              <a:latin typeface="Segoe UI" panose="020B0502040204020203" pitchFamily="34" charset="0"/>
              <a:ea typeface="Open Sans" panose="020B0606030504020204" pitchFamily="34" charset="0"/>
              <a:cs typeface="Segoe UI" panose="020B0502040204020203" pitchFamily="34" charset="0"/>
            </a:endParaRPr>
          </a:p>
        </p:txBody>
      </p:sp>
      <p:sp>
        <p:nvSpPr>
          <p:cNvPr id="16" name="TextBox 15">
            <a:extLst>
              <a:ext uri="{FF2B5EF4-FFF2-40B4-BE49-F238E27FC236}">
                <a16:creationId xmlns:a16="http://schemas.microsoft.com/office/drawing/2014/main" id="{C6497CD9-24B9-DFFD-D1C8-0C06A8516A37}"/>
              </a:ext>
            </a:extLst>
          </p:cNvPr>
          <p:cNvSpPr txBox="1"/>
          <p:nvPr/>
        </p:nvSpPr>
        <p:spPr>
          <a:xfrm>
            <a:off x="5474516" y="3458292"/>
            <a:ext cx="4763369" cy="2054217"/>
          </a:xfrm>
          <a:prstGeom prst="rect">
            <a:avLst/>
          </a:prstGeom>
          <a:noFill/>
        </p:spPr>
        <p:txBody>
          <a:bodyPr wrap="square" lIns="91440" tIns="45720" rIns="91440" bIns="45720" rtlCol="0" anchor="t">
            <a:spAutoFit/>
          </a:bodyPr>
          <a:lstStyle/>
          <a:p>
            <a:pPr defTabSz="1218621">
              <a:lnSpc>
                <a:spcPct val="107000"/>
              </a:lnSpc>
              <a:spcAft>
                <a:spcPts val="800"/>
              </a:spcAft>
            </a:pPr>
            <a:r>
              <a:rPr lang="en-CA" sz="1200" kern="100" dirty="0">
                <a:solidFill>
                  <a:schemeClr val="tx2"/>
                </a:solidFill>
                <a:latin typeface="Arial"/>
                <a:ea typeface="Times New Roman" panose="02020603050405020304" pitchFamily="18" charset="0"/>
                <a:cs typeface="Segoe UI"/>
              </a:rPr>
              <a:t>The purpose of an SLO is to provide a clear, measurable objective that the Client aims to achieve. An SLO is a specific target or goal set by a Client to measure the performance of a service. SLOs are typically more granular and specific than SLAs and may be used internally by the Client to track and manage service performance. SLOs are often used as a basis for setting SLA targets, but they may not always be explicitly stated in customer-facing agreements. Monitoring SLO performance allows the provider to proactively identify areas for improvement and ensure that the service meets the desired quality levels.</a:t>
            </a:r>
          </a:p>
        </p:txBody>
      </p:sp>
      <p:sp>
        <p:nvSpPr>
          <p:cNvPr id="14" name="TextBox 13">
            <a:extLst>
              <a:ext uri="{FF2B5EF4-FFF2-40B4-BE49-F238E27FC236}">
                <a16:creationId xmlns:a16="http://schemas.microsoft.com/office/drawing/2014/main" id="{7D315DD5-9700-D5C6-A5C8-B106A5C64D79}"/>
              </a:ext>
            </a:extLst>
          </p:cNvPr>
          <p:cNvSpPr txBox="1"/>
          <p:nvPr/>
        </p:nvSpPr>
        <p:spPr>
          <a:xfrm>
            <a:off x="1001318" y="148472"/>
            <a:ext cx="4598577" cy="486287"/>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Segoe UI"/>
              </a:rPr>
              <a:t>Defect SLA &amp; SLO</a:t>
            </a:r>
          </a:p>
        </p:txBody>
      </p:sp>
      <p:grpSp>
        <p:nvGrpSpPr>
          <p:cNvPr id="23" name="Group 22">
            <a:extLst>
              <a:ext uri="{FF2B5EF4-FFF2-40B4-BE49-F238E27FC236}">
                <a16:creationId xmlns:a16="http://schemas.microsoft.com/office/drawing/2014/main" id="{0D1E2054-C227-0A05-3C41-88BD00F0DB0A}"/>
              </a:ext>
            </a:extLst>
          </p:cNvPr>
          <p:cNvGrpSpPr/>
          <p:nvPr/>
        </p:nvGrpSpPr>
        <p:grpSpPr>
          <a:xfrm>
            <a:off x="1" y="4240"/>
            <a:ext cx="909836" cy="930066"/>
            <a:chOff x="1" y="-5685"/>
            <a:chExt cx="909836" cy="930066"/>
          </a:xfrm>
        </p:grpSpPr>
        <p:sp>
          <p:nvSpPr>
            <p:cNvPr id="19" name="Rectangle 18">
              <a:extLst>
                <a:ext uri="{FF2B5EF4-FFF2-40B4-BE49-F238E27FC236}">
                  <a16:creationId xmlns:a16="http://schemas.microsoft.com/office/drawing/2014/main" id="{AF38F3B7-5199-74BC-3DEF-8B1F56E391B5}"/>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20" name="Rectangle 19">
              <a:extLst>
                <a:ext uri="{FF2B5EF4-FFF2-40B4-BE49-F238E27FC236}">
                  <a16:creationId xmlns:a16="http://schemas.microsoft.com/office/drawing/2014/main" id="{9C6E96E8-347C-52EF-7923-75D83DB56201}"/>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21" name="Rectangle 20">
              <a:extLst>
                <a:ext uri="{FF2B5EF4-FFF2-40B4-BE49-F238E27FC236}">
                  <a16:creationId xmlns:a16="http://schemas.microsoft.com/office/drawing/2014/main" id="{6E9F772C-7B4B-FD0D-BCCD-9B76CF72084F}"/>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22" name="Rectangle 21">
              <a:extLst>
                <a:ext uri="{FF2B5EF4-FFF2-40B4-BE49-F238E27FC236}">
                  <a16:creationId xmlns:a16="http://schemas.microsoft.com/office/drawing/2014/main" id="{D94BAD28-0081-4663-2CF0-8FC5FE830DAF}"/>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31" name="Group 30">
            <a:extLst>
              <a:ext uri="{FF2B5EF4-FFF2-40B4-BE49-F238E27FC236}">
                <a16:creationId xmlns:a16="http://schemas.microsoft.com/office/drawing/2014/main" id="{FAF6F876-0B64-E944-894D-4DC61F332F05}"/>
              </a:ext>
            </a:extLst>
          </p:cNvPr>
          <p:cNvGrpSpPr/>
          <p:nvPr/>
        </p:nvGrpSpPr>
        <p:grpSpPr>
          <a:xfrm>
            <a:off x="10342891" y="4962097"/>
            <a:ext cx="1845935" cy="1895903"/>
            <a:chOff x="0" y="0"/>
            <a:chExt cx="3161556" cy="3048050"/>
          </a:xfrm>
        </p:grpSpPr>
        <p:grpSp>
          <p:nvGrpSpPr>
            <p:cNvPr id="25" name="Group 24">
              <a:extLst>
                <a:ext uri="{FF2B5EF4-FFF2-40B4-BE49-F238E27FC236}">
                  <a16:creationId xmlns:a16="http://schemas.microsoft.com/office/drawing/2014/main" id="{DCB3C1A3-70C3-0970-CADF-E7B7F34FF9E3}"/>
                </a:ext>
              </a:extLst>
            </p:cNvPr>
            <p:cNvGrpSpPr/>
            <p:nvPr/>
          </p:nvGrpSpPr>
          <p:grpSpPr>
            <a:xfrm>
              <a:off x="0" y="0"/>
              <a:ext cx="2107704" cy="2241545"/>
              <a:chOff x="0" y="0"/>
              <a:chExt cx="2107704" cy="2241545"/>
            </a:xfrm>
          </p:grpSpPr>
          <p:sp>
            <p:nvSpPr>
              <p:cNvPr id="29" name="Rectangle 28">
                <a:extLst>
                  <a:ext uri="{FF2B5EF4-FFF2-40B4-BE49-F238E27FC236}">
                    <a16:creationId xmlns:a16="http://schemas.microsoft.com/office/drawing/2014/main" id="{DE427030-AC44-F1B4-AE52-A1E1A8A34F92}"/>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Rectangle 29">
                <a:extLst>
                  <a:ext uri="{FF2B5EF4-FFF2-40B4-BE49-F238E27FC236}">
                    <a16:creationId xmlns:a16="http://schemas.microsoft.com/office/drawing/2014/main" id="{87FCAA62-5B68-C183-A141-AC381361643C}"/>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6" name="Group 25">
              <a:extLst>
                <a:ext uri="{FF2B5EF4-FFF2-40B4-BE49-F238E27FC236}">
                  <a16:creationId xmlns:a16="http://schemas.microsoft.com/office/drawing/2014/main" id="{1F247750-2F20-3A40-F1A2-16005C3911B9}"/>
                </a:ext>
              </a:extLst>
            </p:cNvPr>
            <p:cNvGrpSpPr/>
            <p:nvPr/>
          </p:nvGrpSpPr>
          <p:grpSpPr>
            <a:xfrm flipH="1" flipV="1">
              <a:off x="1072246" y="1059210"/>
              <a:ext cx="2089310" cy="1988840"/>
              <a:chOff x="1580778" y="1268760"/>
              <a:chExt cx="2089310" cy="1988840"/>
            </a:xfrm>
          </p:grpSpPr>
          <p:sp>
            <p:nvSpPr>
              <p:cNvPr id="27" name="Rectangle 26">
                <a:extLst>
                  <a:ext uri="{FF2B5EF4-FFF2-40B4-BE49-F238E27FC236}">
                    <a16:creationId xmlns:a16="http://schemas.microsoft.com/office/drawing/2014/main" id="{8AD1895F-B832-BD18-4497-528CCB12C207}"/>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27">
                <a:extLst>
                  <a:ext uri="{FF2B5EF4-FFF2-40B4-BE49-F238E27FC236}">
                    <a16:creationId xmlns:a16="http://schemas.microsoft.com/office/drawing/2014/main" id="{834358C0-827F-DD13-C512-9844446D232B}"/>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3" name="Picture 32" descr="BEll company logo">
            <a:extLst>
              <a:ext uri="{FF2B5EF4-FFF2-40B4-BE49-F238E27FC236}">
                <a16:creationId xmlns:a16="http://schemas.microsoft.com/office/drawing/2014/main" id="{F8B2BEEE-8DFF-BE3E-41F8-2BA3FC4BFD75}"/>
              </a:ext>
            </a:extLst>
          </p:cNvPr>
          <p:cNvPicPr>
            <a:picLocks noChangeAspect="1"/>
          </p:cNvPicPr>
          <p:nvPr/>
        </p:nvPicPr>
        <p:blipFill>
          <a:blip r:embed="rId2"/>
          <a:stretch>
            <a:fillRect/>
          </a:stretch>
        </p:blipFill>
        <p:spPr>
          <a:xfrm>
            <a:off x="11009239" y="635555"/>
            <a:ext cx="514513" cy="400050"/>
          </a:xfrm>
          <a:prstGeom prst="rect">
            <a:avLst/>
          </a:prstGeom>
        </p:spPr>
      </p:pic>
    </p:spTree>
    <p:extLst>
      <p:ext uri="{BB962C8B-B14F-4D97-AF65-F5344CB8AC3E}">
        <p14:creationId xmlns:p14="http://schemas.microsoft.com/office/powerpoint/2010/main" val="1422583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1+#ppt_w/2"/>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53AC52-F3ED-00F0-06C1-552A9806BDB6}"/>
              </a:ext>
            </a:extLst>
          </p:cNvPr>
          <p:cNvSpPr txBox="1"/>
          <p:nvPr/>
        </p:nvSpPr>
        <p:spPr>
          <a:xfrm>
            <a:off x="1038719" y="722387"/>
            <a:ext cx="5560998" cy="312330"/>
          </a:xfrm>
          <a:prstGeom prst="rect">
            <a:avLst/>
          </a:prstGeom>
          <a:noFill/>
        </p:spPr>
        <p:txBody>
          <a:bodyPr wrap="square" lIns="91440" tIns="45720" rIns="91440" bIns="45720" rtlCol="0" anchor="t">
            <a:spAutoFit/>
          </a:bodyPr>
          <a:lstStyle/>
          <a:p>
            <a:pPr defTabSz="1218621">
              <a:lnSpc>
                <a:spcPct val="70000"/>
              </a:lnSpc>
            </a:pPr>
            <a:r>
              <a:rPr lang="en-IN" sz="2000" b="1" dirty="0">
                <a:solidFill>
                  <a:schemeClr val="tx2"/>
                </a:solidFill>
                <a:latin typeface="Arial"/>
                <a:ea typeface="Open Sans"/>
                <a:cs typeface="Segoe UI"/>
              </a:rPr>
              <a:t>Defect SLA During the Development Cycle</a:t>
            </a:r>
            <a:endParaRPr lang="en-IN" sz="2000" dirty="0">
              <a:solidFill>
                <a:schemeClr val="tx2"/>
              </a:solidFill>
              <a:latin typeface="Arial"/>
              <a:ea typeface="Open Sans"/>
              <a:cs typeface="Segoe UI"/>
            </a:endParaRPr>
          </a:p>
        </p:txBody>
      </p:sp>
      <p:sp>
        <p:nvSpPr>
          <p:cNvPr id="14" name="TextBox 13">
            <a:extLst>
              <a:ext uri="{FF2B5EF4-FFF2-40B4-BE49-F238E27FC236}">
                <a16:creationId xmlns:a16="http://schemas.microsoft.com/office/drawing/2014/main" id="{D6F45547-D1EA-43D6-D4EE-34A64AFB8010}"/>
              </a:ext>
            </a:extLst>
          </p:cNvPr>
          <p:cNvSpPr txBox="1"/>
          <p:nvPr/>
        </p:nvSpPr>
        <p:spPr>
          <a:xfrm>
            <a:off x="456492" y="1033854"/>
            <a:ext cx="5913127" cy="441468"/>
          </a:xfrm>
          <a:prstGeom prst="rect">
            <a:avLst/>
          </a:prstGeom>
          <a:noFill/>
        </p:spPr>
        <p:txBody>
          <a:bodyPr wrap="square" lIns="91440" tIns="45720" rIns="91440" bIns="45720" rtlCol="0" anchor="t">
            <a:spAutoFit/>
          </a:bodyPr>
          <a:lstStyle/>
          <a:p>
            <a:pPr defTabSz="1218621">
              <a:lnSpc>
                <a:spcPct val="107000"/>
              </a:lnSpc>
              <a:spcAft>
                <a:spcPts val="800"/>
              </a:spcAft>
            </a:pPr>
            <a:r>
              <a:rPr lang="en-CA" sz="1100" kern="100" dirty="0">
                <a:solidFill>
                  <a:srgbClr val="0070C0"/>
                </a:solidFill>
                <a:latin typeface="Arial"/>
                <a:ea typeface="Times New Roman" panose="02020603050405020304" pitchFamily="18" charset="0"/>
                <a:cs typeface="Segoe UI"/>
              </a:rPr>
              <a:t>During Development Cycle, there are no actual customers, therefore the SLA can be longer. Below is a guideline for managing SLAs within agreed plan with Development and MSAs</a:t>
            </a:r>
            <a:endParaRPr lang="en-US" sz="1100">
              <a:solidFill>
                <a:srgbClr val="0070C0"/>
              </a:solidFill>
              <a:latin typeface="Arial"/>
              <a:cs typeface="Segoe UI"/>
            </a:endParaRPr>
          </a:p>
        </p:txBody>
      </p:sp>
      <p:sp>
        <p:nvSpPr>
          <p:cNvPr id="18" name="TextBox 17">
            <a:extLst>
              <a:ext uri="{FF2B5EF4-FFF2-40B4-BE49-F238E27FC236}">
                <a16:creationId xmlns:a16="http://schemas.microsoft.com/office/drawing/2014/main" id="{060F4717-FA5D-8AB7-1ED1-C28048C66BD0}"/>
              </a:ext>
            </a:extLst>
          </p:cNvPr>
          <p:cNvSpPr txBox="1"/>
          <p:nvPr/>
        </p:nvSpPr>
        <p:spPr>
          <a:xfrm>
            <a:off x="6429617" y="708372"/>
            <a:ext cx="4189909" cy="312330"/>
          </a:xfrm>
          <a:prstGeom prst="rect">
            <a:avLst/>
          </a:prstGeom>
          <a:noFill/>
        </p:spPr>
        <p:txBody>
          <a:bodyPr wrap="square" lIns="91440" tIns="45720" rIns="91440" bIns="45720" rtlCol="0" anchor="t">
            <a:spAutoFit/>
          </a:bodyPr>
          <a:lstStyle/>
          <a:p>
            <a:pPr defTabSz="1218621">
              <a:lnSpc>
                <a:spcPct val="70000"/>
              </a:lnSpc>
            </a:pPr>
            <a:r>
              <a:rPr lang="en-IN" sz="2000" b="1">
                <a:solidFill>
                  <a:schemeClr val="tx2"/>
                </a:solidFill>
                <a:latin typeface="Arial"/>
                <a:ea typeface="Open Sans"/>
                <a:cs typeface="Segoe UI"/>
              </a:rPr>
              <a:t>Defect SLA Post Deployment</a:t>
            </a:r>
            <a:endParaRPr lang="en-IN" sz="2000">
              <a:solidFill>
                <a:schemeClr val="tx2"/>
              </a:solidFill>
              <a:latin typeface="Arial"/>
              <a:ea typeface="Open Sans"/>
              <a:cs typeface="Segoe UI"/>
            </a:endParaRPr>
          </a:p>
        </p:txBody>
      </p:sp>
      <p:sp>
        <p:nvSpPr>
          <p:cNvPr id="19" name="TextBox 18">
            <a:extLst>
              <a:ext uri="{FF2B5EF4-FFF2-40B4-BE49-F238E27FC236}">
                <a16:creationId xmlns:a16="http://schemas.microsoft.com/office/drawing/2014/main" id="{179F5642-F9A7-5065-D963-4FD0CF121C2C}"/>
              </a:ext>
            </a:extLst>
          </p:cNvPr>
          <p:cNvSpPr txBox="1"/>
          <p:nvPr/>
        </p:nvSpPr>
        <p:spPr>
          <a:xfrm>
            <a:off x="6425347" y="1033854"/>
            <a:ext cx="5577712" cy="441468"/>
          </a:xfrm>
          <a:prstGeom prst="rect">
            <a:avLst/>
          </a:prstGeom>
          <a:noFill/>
        </p:spPr>
        <p:txBody>
          <a:bodyPr wrap="square" lIns="91440" tIns="45720" rIns="91440" bIns="45720" rtlCol="0" anchor="t">
            <a:spAutoFit/>
          </a:bodyPr>
          <a:lstStyle/>
          <a:p>
            <a:pPr defTabSz="1218621">
              <a:lnSpc>
                <a:spcPct val="107000"/>
              </a:lnSpc>
              <a:spcAft>
                <a:spcPts val="800"/>
              </a:spcAft>
            </a:pPr>
            <a:r>
              <a:rPr lang="en-CA" sz="1100" kern="100" dirty="0">
                <a:solidFill>
                  <a:srgbClr val="0070C0"/>
                </a:solidFill>
                <a:latin typeface="Arial"/>
                <a:ea typeface="Times New Roman" panose="02020603050405020304" pitchFamily="18" charset="0"/>
                <a:cs typeface="Segoe UI"/>
              </a:rPr>
              <a:t>Post Deployment there are actual live customers who will be impacted, therefor the SLA guide is more restrictive.</a:t>
            </a:r>
            <a:endParaRPr lang="en-US" sz="1100" dirty="0">
              <a:solidFill>
                <a:srgbClr val="000000"/>
              </a:solidFill>
              <a:latin typeface="Arial"/>
              <a:cs typeface="Segoe UI"/>
            </a:endParaRPr>
          </a:p>
        </p:txBody>
      </p:sp>
      <p:graphicFrame>
        <p:nvGraphicFramePr>
          <p:cNvPr id="20" name="Table 19">
            <a:extLst>
              <a:ext uri="{FF2B5EF4-FFF2-40B4-BE49-F238E27FC236}">
                <a16:creationId xmlns:a16="http://schemas.microsoft.com/office/drawing/2014/main" id="{52638A5E-2C63-1D25-7148-EE2E3EDF0DC4}"/>
              </a:ext>
            </a:extLst>
          </p:cNvPr>
          <p:cNvGraphicFramePr>
            <a:graphicFrameLocks noGrp="1"/>
          </p:cNvGraphicFramePr>
          <p:nvPr>
            <p:extLst>
              <p:ext uri="{D42A27DB-BD31-4B8C-83A1-F6EECF244321}">
                <p14:modId xmlns:p14="http://schemas.microsoft.com/office/powerpoint/2010/main" val="1941317931"/>
              </p:ext>
            </p:extLst>
          </p:nvPr>
        </p:nvGraphicFramePr>
        <p:xfrm>
          <a:off x="526064" y="1528411"/>
          <a:ext cx="5552365" cy="4102483"/>
        </p:xfrm>
        <a:graphic>
          <a:graphicData uri="http://schemas.openxmlformats.org/drawingml/2006/table">
            <a:tbl>
              <a:tblPr firstRow="1" firstCol="1">
                <a:tableStyleId>{93296810-A885-4BE3-A3E7-6D5BEEA58F35}</a:tableStyleId>
              </a:tblPr>
              <a:tblGrid>
                <a:gridCol w="667906">
                  <a:extLst>
                    <a:ext uri="{9D8B030D-6E8A-4147-A177-3AD203B41FA5}">
                      <a16:colId xmlns:a16="http://schemas.microsoft.com/office/drawing/2014/main" val="609340635"/>
                    </a:ext>
                  </a:extLst>
                </a:gridCol>
                <a:gridCol w="2197335">
                  <a:extLst>
                    <a:ext uri="{9D8B030D-6E8A-4147-A177-3AD203B41FA5}">
                      <a16:colId xmlns:a16="http://schemas.microsoft.com/office/drawing/2014/main" val="3454534205"/>
                    </a:ext>
                  </a:extLst>
                </a:gridCol>
                <a:gridCol w="594604">
                  <a:extLst>
                    <a:ext uri="{9D8B030D-6E8A-4147-A177-3AD203B41FA5}">
                      <a16:colId xmlns:a16="http://schemas.microsoft.com/office/drawing/2014/main" val="763747362"/>
                    </a:ext>
                  </a:extLst>
                </a:gridCol>
                <a:gridCol w="1006305">
                  <a:extLst>
                    <a:ext uri="{9D8B030D-6E8A-4147-A177-3AD203B41FA5}">
                      <a16:colId xmlns:a16="http://schemas.microsoft.com/office/drawing/2014/main" val="614711779"/>
                    </a:ext>
                  </a:extLst>
                </a:gridCol>
                <a:gridCol w="1086215">
                  <a:extLst>
                    <a:ext uri="{9D8B030D-6E8A-4147-A177-3AD203B41FA5}">
                      <a16:colId xmlns:a16="http://schemas.microsoft.com/office/drawing/2014/main" val="1470231774"/>
                    </a:ext>
                  </a:extLst>
                </a:gridCol>
              </a:tblGrid>
              <a:tr h="574719">
                <a:tc>
                  <a:txBody>
                    <a:bodyPr/>
                    <a:lstStyle/>
                    <a:p>
                      <a:pPr>
                        <a:lnSpc>
                          <a:spcPts val="1200"/>
                        </a:lnSpc>
                      </a:pPr>
                      <a:r>
                        <a:rPr lang="en-CA" sz="1100" b="1" baseline="30000" dirty="0">
                          <a:solidFill>
                            <a:sysClr val="windowText" lastClr="000000"/>
                          </a:solidFill>
                          <a:effectLst/>
                          <a:latin typeface="Arial"/>
                        </a:rPr>
                        <a:t>Risk Level</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1" baseline="30000" dirty="0">
                          <a:solidFill>
                            <a:sysClr val="windowText" lastClr="000000"/>
                          </a:solidFill>
                          <a:effectLst/>
                          <a:latin typeface="Arial"/>
                        </a:rPr>
                        <a:t>Definition</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1" baseline="30000" dirty="0">
                          <a:solidFill>
                            <a:sysClr val="windowText" lastClr="000000"/>
                          </a:solidFill>
                          <a:effectLst/>
                          <a:latin typeface="Arial"/>
                        </a:rPr>
                        <a:t>Target Response Time</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1" baseline="30000" dirty="0">
                          <a:solidFill>
                            <a:sysClr val="windowText" lastClr="000000"/>
                          </a:solidFill>
                          <a:effectLst/>
                          <a:latin typeface="Arial"/>
                        </a:rPr>
                        <a:t>Target resolution time</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1" baseline="30000" dirty="0">
                          <a:solidFill>
                            <a:sysClr val="windowText" lastClr="000000"/>
                          </a:solidFill>
                          <a:effectLst/>
                          <a:latin typeface="Arial"/>
                        </a:rPr>
                        <a:t>Follow-up</a:t>
                      </a:r>
                      <a:endParaRPr lang="en-CA" sz="1100" dirty="0">
                        <a:solidFill>
                          <a:sysClr val="windowText" lastClr="000000"/>
                        </a:solidFill>
                        <a:effectLst/>
                        <a:latin typeface="Arial"/>
                        <a:ea typeface="Calibri"/>
                        <a:cs typeface="Segoe UI"/>
                      </a:endParaRPr>
                    </a:p>
                  </a:txBody>
                  <a:tcPr marL="68562" marR="68562" marT="0" marB="0" anchor="ctr"/>
                </a:tc>
                <a:extLst>
                  <a:ext uri="{0D108BD9-81ED-4DB2-BD59-A6C34878D82A}">
                    <a16:rowId xmlns:a16="http://schemas.microsoft.com/office/drawing/2014/main" val="330209738"/>
                  </a:ext>
                </a:extLst>
              </a:tr>
              <a:tr h="698678">
                <a:tc>
                  <a:txBody>
                    <a:bodyPr/>
                    <a:lstStyle/>
                    <a:p>
                      <a:pPr>
                        <a:lnSpc>
                          <a:spcPts val="1200"/>
                        </a:lnSpc>
                      </a:pPr>
                      <a:r>
                        <a:rPr lang="en-CA" sz="1100" b="1" baseline="30000" dirty="0">
                          <a:solidFill>
                            <a:sysClr val="windowText" lastClr="000000"/>
                          </a:solidFill>
                          <a:effectLst/>
                          <a:latin typeface="Arial"/>
                        </a:rPr>
                        <a:t>Critical</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These defects need to be acknowledged within one business day. This has a major impact on the customer or testing. This must be fixed immediately.</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1 day</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Immediately in the same code release/code drop</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Review the defect in every defect call and request for the update.</a:t>
                      </a:r>
                      <a:endParaRPr lang="en-CA" sz="1100" dirty="0">
                        <a:solidFill>
                          <a:sysClr val="windowText" lastClr="000000"/>
                        </a:solidFill>
                        <a:effectLst/>
                        <a:latin typeface="Arial"/>
                        <a:ea typeface="Calibri"/>
                        <a:cs typeface="Segoe UI"/>
                      </a:endParaRPr>
                    </a:p>
                  </a:txBody>
                  <a:tcPr marL="68562" marR="68562" marT="0" marB="0" anchor="ctr"/>
                </a:tc>
                <a:extLst>
                  <a:ext uri="{0D108BD9-81ED-4DB2-BD59-A6C34878D82A}">
                    <a16:rowId xmlns:a16="http://schemas.microsoft.com/office/drawing/2014/main" val="4236813735"/>
                  </a:ext>
                </a:extLst>
              </a:tr>
              <a:tr h="1025480">
                <a:tc>
                  <a:txBody>
                    <a:bodyPr/>
                    <a:lstStyle/>
                    <a:p>
                      <a:pPr>
                        <a:lnSpc>
                          <a:spcPts val="1200"/>
                        </a:lnSpc>
                      </a:pPr>
                      <a:r>
                        <a:rPr lang="en-CA" sz="1100" b="1" baseline="30000" dirty="0">
                          <a:solidFill>
                            <a:sysClr val="windowText" lastClr="000000"/>
                          </a:solidFill>
                          <a:effectLst/>
                          <a:latin typeface="Arial"/>
                        </a:rPr>
                        <a:t>Major </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These defects need to be acknowledged with in 2 Business Day. This has a major impact on the customer or Testing. The problem should be fixed in the next Release, or a workaround must be issued and accepted by client</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2 days</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Resolution should be in the next code release/code drop</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Review the defect in every other defect call after reviewing all the critical tickets</a:t>
                      </a:r>
                      <a:endParaRPr lang="en-CA" sz="1100" dirty="0">
                        <a:solidFill>
                          <a:sysClr val="windowText" lastClr="000000"/>
                        </a:solidFill>
                        <a:effectLst/>
                        <a:latin typeface="Arial"/>
                      </a:endParaRPr>
                    </a:p>
                    <a:p>
                      <a:pPr>
                        <a:lnSpc>
                          <a:spcPts val="1200"/>
                        </a:lnSpc>
                      </a:pPr>
                      <a:endParaRPr lang="en-CA" sz="1100" dirty="0">
                        <a:solidFill>
                          <a:sysClr val="windowText" lastClr="000000"/>
                        </a:solidFill>
                        <a:effectLst/>
                        <a:latin typeface="Arial"/>
                        <a:ea typeface="Calibri"/>
                        <a:cs typeface="Segoe UI"/>
                      </a:endParaRPr>
                    </a:p>
                  </a:txBody>
                  <a:tcPr marL="68562" marR="68562" marT="0" marB="0" anchor="ctr"/>
                </a:tc>
                <a:extLst>
                  <a:ext uri="{0D108BD9-81ED-4DB2-BD59-A6C34878D82A}">
                    <a16:rowId xmlns:a16="http://schemas.microsoft.com/office/drawing/2014/main" val="2770947902"/>
                  </a:ext>
                </a:extLst>
              </a:tr>
              <a:tr h="1014211">
                <a:tc>
                  <a:txBody>
                    <a:bodyPr/>
                    <a:lstStyle/>
                    <a:p>
                      <a:pPr>
                        <a:lnSpc>
                          <a:spcPts val="1200"/>
                        </a:lnSpc>
                      </a:pPr>
                      <a:r>
                        <a:rPr lang="en-CA" sz="1100" b="1" baseline="30000" dirty="0">
                          <a:solidFill>
                            <a:sysClr val="windowText" lastClr="000000"/>
                          </a:solidFill>
                          <a:effectLst/>
                          <a:latin typeface="Arial"/>
                        </a:rPr>
                        <a:t>Medium </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These defects need to be acknowledged within a week. The flaw should be fixed if there is time, but it can be deferred by client until a future release or to an agreed upon time by both client and Vendor</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5 days</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Resolution should be in the agreed upon code release/code drop</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Review the defects once a week</a:t>
                      </a:r>
                      <a:endParaRPr lang="en-CA" sz="1100" dirty="0">
                        <a:solidFill>
                          <a:sysClr val="windowText" lastClr="000000"/>
                        </a:solidFill>
                        <a:effectLst/>
                        <a:latin typeface="Arial"/>
                        <a:ea typeface="Calibri"/>
                        <a:cs typeface="Segoe UI"/>
                      </a:endParaRPr>
                    </a:p>
                  </a:txBody>
                  <a:tcPr marL="68562" marR="68562" marT="0" marB="0" anchor="ctr"/>
                </a:tc>
                <a:extLst>
                  <a:ext uri="{0D108BD9-81ED-4DB2-BD59-A6C34878D82A}">
                    <a16:rowId xmlns:a16="http://schemas.microsoft.com/office/drawing/2014/main" val="1973830054"/>
                  </a:ext>
                </a:extLst>
              </a:tr>
              <a:tr h="789395">
                <a:tc>
                  <a:txBody>
                    <a:bodyPr/>
                    <a:lstStyle/>
                    <a:p>
                      <a:pPr>
                        <a:lnSpc>
                          <a:spcPts val="1200"/>
                        </a:lnSpc>
                      </a:pPr>
                      <a:r>
                        <a:rPr lang="en-CA" sz="1100" b="1" baseline="30000" dirty="0">
                          <a:solidFill>
                            <a:sysClr val="windowText" lastClr="000000"/>
                          </a:solidFill>
                          <a:effectLst/>
                          <a:latin typeface="Arial"/>
                        </a:rPr>
                        <a:t>Minor</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These defects need to be acknowledged within the same release and fix need to provide whenever possible. These defects can be considered as technical debt.</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10 days</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Technical debt that needs to be fixed eventually by vendors</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N/A</a:t>
                      </a:r>
                      <a:endParaRPr lang="en-CA" sz="1100" dirty="0">
                        <a:solidFill>
                          <a:sysClr val="windowText" lastClr="000000"/>
                        </a:solidFill>
                        <a:effectLst/>
                        <a:latin typeface="Arial"/>
                        <a:ea typeface="Calibri"/>
                        <a:cs typeface="Segoe UI"/>
                      </a:endParaRPr>
                    </a:p>
                  </a:txBody>
                  <a:tcPr marL="68562" marR="68562" marT="0" marB="0" anchor="ctr"/>
                </a:tc>
                <a:extLst>
                  <a:ext uri="{0D108BD9-81ED-4DB2-BD59-A6C34878D82A}">
                    <a16:rowId xmlns:a16="http://schemas.microsoft.com/office/drawing/2014/main" val="3155127004"/>
                  </a:ext>
                </a:extLst>
              </a:tr>
            </a:tbl>
          </a:graphicData>
        </a:graphic>
      </p:graphicFrame>
      <p:grpSp>
        <p:nvGrpSpPr>
          <p:cNvPr id="16" name="Group 15">
            <a:extLst>
              <a:ext uri="{FF2B5EF4-FFF2-40B4-BE49-F238E27FC236}">
                <a16:creationId xmlns:a16="http://schemas.microsoft.com/office/drawing/2014/main" id="{D4CE749B-297C-F15E-7FB2-7A2812A4620C}"/>
              </a:ext>
            </a:extLst>
          </p:cNvPr>
          <p:cNvGrpSpPr/>
          <p:nvPr/>
        </p:nvGrpSpPr>
        <p:grpSpPr>
          <a:xfrm>
            <a:off x="1" y="4240"/>
            <a:ext cx="909836" cy="930066"/>
            <a:chOff x="1" y="-5685"/>
            <a:chExt cx="909836" cy="930066"/>
          </a:xfrm>
        </p:grpSpPr>
        <p:sp>
          <p:nvSpPr>
            <p:cNvPr id="3" name="Rectangle 2">
              <a:extLst>
                <a:ext uri="{FF2B5EF4-FFF2-40B4-BE49-F238E27FC236}">
                  <a16:creationId xmlns:a16="http://schemas.microsoft.com/office/drawing/2014/main" id="{9C87DA15-948E-2923-9CFD-AAF35D9FA966}"/>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4" name="Rectangle 3">
              <a:extLst>
                <a:ext uri="{FF2B5EF4-FFF2-40B4-BE49-F238E27FC236}">
                  <a16:creationId xmlns:a16="http://schemas.microsoft.com/office/drawing/2014/main" id="{6C2DF2A6-5CDB-51A0-E467-C2CF610900E6}"/>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5" name="Rectangle 4">
              <a:extLst>
                <a:ext uri="{FF2B5EF4-FFF2-40B4-BE49-F238E27FC236}">
                  <a16:creationId xmlns:a16="http://schemas.microsoft.com/office/drawing/2014/main" id="{21E86F7B-9DC7-CE8A-608A-2299B7370956}"/>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5" name="Rectangle 14">
              <a:extLst>
                <a:ext uri="{FF2B5EF4-FFF2-40B4-BE49-F238E27FC236}">
                  <a16:creationId xmlns:a16="http://schemas.microsoft.com/office/drawing/2014/main" id="{F2C93559-89B4-352F-18D1-3C423ED3933B}"/>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29" name="Group 28">
            <a:extLst>
              <a:ext uri="{FF2B5EF4-FFF2-40B4-BE49-F238E27FC236}">
                <a16:creationId xmlns:a16="http://schemas.microsoft.com/office/drawing/2014/main" id="{CEE39980-80C9-1818-99D1-2CB10D2DFB5E}"/>
              </a:ext>
            </a:extLst>
          </p:cNvPr>
          <p:cNvGrpSpPr/>
          <p:nvPr/>
        </p:nvGrpSpPr>
        <p:grpSpPr>
          <a:xfrm>
            <a:off x="10342891" y="4962097"/>
            <a:ext cx="1845935" cy="1895903"/>
            <a:chOff x="0" y="0"/>
            <a:chExt cx="3161556" cy="3048050"/>
          </a:xfrm>
        </p:grpSpPr>
        <p:grpSp>
          <p:nvGrpSpPr>
            <p:cNvPr id="22" name="Group 21">
              <a:extLst>
                <a:ext uri="{FF2B5EF4-FFF2-40B4-BE49-F238E27FC236}">
                  <a16:creationId xmlns:a16="http://schemas.microsoft.com/office/drawing/2014/main" id="{82580F00-B4D9-5B6B-34C0-6E292EB4C922}"/>
                </a:ext>
              </a:extLst>
            </p:cNvPr>
            <p:cNvGrpSpPr/>
            <p:nvPr/>
          </p:nvGrpSpPr>
          <p:grpSpPr>
            <a:xfrm>
              <a:off x="0" y="0"/>
              <a:ext cx="2107704" cy="2241545"/>
              <a:chOff x="0" y="0"/>
              <a:chExt cx="2107704" cy="2241545"/>
            </a:xfrm>
          </p:grpSpPr>
          <p:sp>
            <p:nvSpPr>
              <p:cNvPr id="26" name="Rectangle 25">
                <a:extLst>
                  <a:ext uri="{FF2B5EF4-FFF2-40B4-BE49-F238E27FC236}">
                    <a16:creationId xmlns:a16="http://schemas.microsoft.com/office/drawing/2014/main" id="{C2CCC39B-7233-FD5C-9B16-D760314688C3}"/>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7" name="Rectangle 26">
                <a:extLst>
                  <a:ext uri="{FF2B5EF4-FFF2-40B4-BE49-F238E27FC236}">
                    <a16:creationId xmlns:a16="http://schemas.microsoft.com/office/drawing/2014/main" id="{28467AC2-DDE4-14EA-2281-E2F5369A56A6}"/>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3" name="Group 22">
              <a:extLst>
                <a:ext uri="{FF2B5EF4-FFF2-40B4-BE49-F238E27FC236}">
                  <a16:creationId xmlns:a16="http://schemas.microsoft.com/office/drawing/2014/main" id="{BA8EFB5D-4994-2837-FACB-6120912EAC25}"/>
                </a:ext>
              </a:extLst>
            </p:cNvPr>
            <p:cNvGrpSpPr/>
            <p:nvPr/>
          </p:nvGrpSpPr>
          <p:grpSpPr>
            <a:xfrm flipH="1" flipV="1">
              <a:off x="1072246" y="1059210"/>
              <a:ext cx="2089310" cy="1988840"/>
              <a:chOff x="1580778" y="1268760"/>
              <a:chExt cx="2089310" cy="1988840"/>
            </a:xfrm>
          </p:grpSpPr>
          <p:sp>
            <p:nvSpPr>
              <p:cNvPr id="24" name="Rectangle 23">
                <a:extLst>
                  <a:ext uri="{FF2B5EF4-FFF2-40B4-BE49-F238E27FC236}">
                    <a16:creationId xmlns:a16="http://schemas.microsoft.com/office/drawing/2014/main" id="{C8144179-76A4-7FA2-E643-F13CF6A3BB1E}"/>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5" name="Rectangle 24">
                <a:extLst>
                  <a:ext uri="{FF2B5EF4-FFF2-40B4-BE49-F238E27FC236}">
                    <a16:creationId xmlns:a16="http://schemas.microsoft.com/office/drawing/2014/main" id="{89499C16-F2CC-DDD2-567D-A841D53BC57F}"/>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1" name="Picture 30" descr="BEll company logo">
            <a:extLst>
              <a:ext uri="{FF2B5EF4-FFF2-40B4-BE49-F238E27FC236}">
                <a16:creationId xmlns:a16="http://schemas.microsoft.com/office/drawing/2014/main" id="{A0206258-E1ED-BA88-0541-BA5C8A6963BE}"/>
              </a:ext>
            </a:extLst>
          </p:cNvPr>
          <p:cNvPicPr>
            <a:picLocks noChangeAspect="1"/>
          </p:cNvPicPr>
          <p:nvPr/>
        </p:nvPicPr>
        <p:blipFill>
          <a:blip r:embed="rId2"/>
          <a:stretch>
            <a:fillRect/>
          </a:stretch>
        </p:blipFill>
        <p:spPr>
          <a:xfrm>
            <a:off x="11009239" y="635555"/>
            <a:ext cx="514513" cy="400050"/>
          </a:xfrm>
          <a:prstGeom prst="rect">
            <a:avLst/>
          </a:prstGeom>
        </p:spPr>
      </p:pic>
      <p:graphicFrame>
        <p:nvGraphicFramePr>
          <p:cNvPr id="21" name="Table 20">
            <a:extLst>
              <a:ext uri="{FF2B5EF4-FFF2-40B4-BE49-F238E27FC236}">
                <a16:creationId xmlns:a16="http://schemas.microsoft.com/office/drawing/2014/main" id="{664AD94D-2CEC-B68A-02D2-73F43780C2B0}"/>
              </a:ext>
            </a:extLst>
          </p:cNvPr>
          <p:cNvGraphicFramePr>
            <a:graphicFrameLocks noGrp="1"/>
          </p:cNvGraphicFramePr>
          <p:nvPr>
            <p:extLst>
              <p:ext uri="{D42A27DB-BD31-4B8C-83A1-F6EECF244321}">
                <p14:modId xmlns:p14="http://schemas.microsoft.com/office/powerpoint/2010/main" val="1373887606"/>
              </p:ext>
            </p:extLst>
          </p:nvPr>
        </p:nvGraphicFramePr>
        <p:xfrm>
          <a:off x="6504750" y="1523509"/>
          <a:ext cx="5299243" cy="4097978"/>
        </p:xfrm>
        <a:graphic>
          <a:graphicData uri="http://schemas.openxmlformats.org/drawingml/2006/table">
            <a:tbl>
              <a:tblPr firstRow="1" firstCol="1">
                <a:tableStyleId>{93296810-A885-4BE3-A3E7-6D5BEEA58F35}</a:tableStyleId>
              </a:tblPr>
              <a:tblGrid>
                <a:gridCol w="646256">
                  <a:extLst>
                    <a:ext uri="{9D8B030D-6E8A-4147-A177-3AD203B41FA5}">
                      <a16:colId xmlns:a16="http://schemas.microsoft.com/office/drawing/2014/main" val="2254608669"/>
                    </a:ext>
                  </a:extLst>
                </a:gridCol>
                <a:gridCol w="1956753">
                  <a:extLst>
                    <a:ext uri="{9D8B030D-6E8A-4147-A177-3AD203B41FA5}">
                      <a16:colId xmlns:a16="http://schemas.microsoft.com/office/drawing/2014/main" val="3124041183"/>
                    </a:ext>
                  </a:extLst>
                </a:gridCol>
                <a:gridCol w="558563">
                  <a:extLst>
                    <a:ext uri="{9D8B030D-6E8A-4147-A177-3AD203B41FA5}">
                      <a16:colId xmlns:a16="http://schemas.microsoft.com/office/drawing/2014/main" val="3799788365"/>
                    </a:ext>
                  </a:extLst>
                </a:gridCol>
                <a:gridCol w="1115763">
                  <a:extLst>
                    <a:ext uri="{9D8B030D-6E8A-4147-A177-3AD203B41FA5}">
                      <a16:colId xmlns:a16="http://schemas.microsoft.com/office/drawing/2014/main" val="3563561161"/>
                    </a:ext>
                  </a:extLst>
                </a:gridCol>
                <a:gridCol w="1021908">
                  <a:extLst>
                    <a:ext uri="{9D8B030D-6E8A-4147-A177-3AD203B41FA5}">
                      <a16:colId xmlns:a16="http://schemas.microsoft.com/office/drawing/2014/main" val="3005653740"/>
                    </a:ext>
                  </a:extLst>
                </a:gridCol>
              </a:tblGrid>
              <a:tr h="560313">
                <a:tc>
                  <a:txBody>
                    <a:bodyPr/>
                    <a:lstStyle/>
                    <a:p>
                      <a:pPr>
                        <a:lnSpc>
                          <a:spcPts val="1200"/>
                        </a:lnSpc>
                      </a:pPr>
                      <a:r>
                        <a:rPr lang="en-CA" sz="1100" b="1" baseline="30000" dirty="0">
                          <a:solidFill>
                            <a:sysClr val="windowText" lastClr="000000"/>
                          </a:solidFill>
                          <a:effectLst/>
                          <a:latin typeface="Arial"/>
                        </a:rPr>
                        <a:t>Risk Level</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1" baseline="30000" dirty="0">
                          <a:solidFill>
                            <a:sysClr val="windowText" lastClr="000000"/>
                          </a:solidFill>
                          <a:effectLst/>
                          <a:latin typeface="Arial"/>
                        </a:rPr>
                        <a:t>Definition</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1" baseline="30000" dirty="0">
                          <a:solidFill>
                            <a:sysClr val="windowText" lastClr="000000"/>
                          </a:solidFill>
                          <a:effectLst/>
                          <a:latin typeface="Arial"/>
                        </a:rPr>
                        <a:t>Target Response Time</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1" baseline="30000" dirty="0">
                          <a:solidFill>
                            <a:sysClr val="windowText" lastClr="000000"/>
                          </a:solidFill>
                          <a:effectLst/>
                          <a:latin typeface="Arial"/>
                        </a:rPr>
                        <a:t>Target resolution time</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1" baseline="30000" dirty="0">
                          <a:solidFill>
                            <a:sysClr val="windowText" lastClr="000000"/>
                          </a:solidFill>
                          <a:effectLst/>
                          <a:latin typeface="Arial"/>
                        </a:rPr>
                        <a:t>Follow-up</a:t>
                      </a:r>
                      <a:endParaRPr lang="en-CA" sz="1100" dirty="0">
                        <a:solidFill>
                          <a:sysClr val="windowText" lastClr="000000"/>
                        </a:solidFill>
                        <a:effectLst/>
                        <a:latin typeface="Arial"/>
                        <a:ea typeface="Calibri"/>
                        <a:cs typeface="Segoe UI"/>
                      </a:endParaRPr>
                    </a:p>
                  </a:txBody>
                  <a:tcPr marL="68562" marR="68562" marT="0" marB="0" anchor="ctr"/>
                </a:tc>
                <a:extLst>
                  <a:ext uri="{0D108BD9-81ED-4DB2-BD59-A6C34878D82A}">
                    <a16:rowId xmlns:a16="http://schemas.microsoft.com/office/drawing/2014/main" val="2863306203"/>
                  </a:ext>
                </a:extLst>
              </a:tr>
              <a:tr h="747084">
                <a:tc>
                  <a:txBody>
                    <a:bodyPr/>
                    <a:lstStyle/>
                    <a:p>
                      <a:pPr>
                        <a:lnSpc>
                          <a:spcPts val="1200"/>
                        </a:lnSpc>
                      </a:pPr>
                      <a:r>
                        <a:rPr lang="en-CA" sz="1100" b="1" baseline="30000" dirty="0">
                          <a:solidFill>
                            <a:sysClr val="windowText" lastClr="000000"/>
                          </a:solidFill>
                          <a:effectLst/>
                          <a:latin typeface="Arial"/>
                        </a:rPr>
                        <a:t>Critical</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These defects need to be acknowledged within one business day. This has a major impact on the customer or testing. This must be fixed immediately.</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30 Min</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Whitin 4 Hours or an estimated resolution time must be given, within 4 hours.</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No resolution information at 4 hours/no response by 30 min</a:t>
                      </a:r>
                      <a:endParaRPr lang="en-CA" sz="1100" dirty="0">
                        <a:solidFill>
                          <a:sysClr val="windowText" lastClr="000000"/>
                        </a:solidFill>
                        <a:effectLst/>
                        <a:latin typeface="Arial"/>
                        <a:ea typeface="Calibri"/>
                        <a:cs typeface="Segoe UI"/>
                      </a:endParaRPr>
                    </a:p>
                  </a:txBody>
                  <a:tcPr marL="68562" marR="68562" marT="0" marB="0" anchor="ctr"/>
                </a:tc>
                <a:extLst>
                  <a:ext uri="{0D108BD9-81ED-4DB2-BD59-A6C34878D82A}">
                    <a16:rowId xmlns:a16="http://schemas.microsoft.com/office/drawing/2014/main" val="1577728953"/>
                  </a:ext>
                </a:extLst>
              </a:tr>
              <a:tr h="933856">
                <a:tc>
                  <a:txBody>
                    <a:bodyPr/>
                    <a:lstStyle/>
                    <a:p>
                      <a:pPr>
                        <a:lnSpc>
                          <a:spcPts val="1200"/>
                        </a:lnSpc>
                      </a:pPr>
                      <a:r>
                        <a:rPr lang="en-CA" sz="1100" b="1" baseline="30000" dirty="0">
                          <a:solidFill>
                            <a:sysClr val="windowText" lastClr="000000"/>
                          </a:solidFill>
                          <a:effectLst/>
                          <a:latin typeface="Arial"/>
                        </a:rPr>
                        <a:t>Major </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These defects need to be acknowledged with in 2 Business Day. This has a major impact on the customer or Testing. The problem should be fixed in the next Release, or a workaround must be issued and accepted by client</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4 hours</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Resolution within 24 hours, or an estimated resolution time must be given, within 24 hours.</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Review the defect in every other defect call after reviewing all the critical tickets</a:t>
                      </a:r>
                      <a:endParaRPr lang="en-CA" sz="1100">
                        <a:solidFill>
                          <a:sysClr val="windowText" lastClr="000000"/>
                        </a:solidFill>
                        <a:effectLst/>
                        <a:latin typeface="Arial"/>
                      </a:endParaRPr>
                    </a:p>
                    <a:p>
                      <a:pPr>
                        <a:lnSpc>
                          <a:spcPts val="1200"/>
                        </a:lnSpc>
                      </a:pPr>
                      <a:endParaRPr lang="en-CA" sz="1100" dirty="0">
                        <a:solidFill>
                          <a:sysClr val="windowText" lastClr="000000"/>
                        </a:solidFill>
                        <a:effectLst/>
                        <a:latin typeface="Arial"/>
                        <a:ea typeface="Calibri"/>
                        <a:cs typeface="Segoe UI"/>
                      </a:endParaRPr>
                    </a:p>
                  </a:txBody>
                  <a:tcPr marL="68562" marR="68562" marT="0" marB="0" anchor="ctr"/>
                </a:tc>
                <a:extLst>
                  <a:ext uri="{0D108BD9-81ED-4DB2-BD59-A6C34878D82A}">
                    <a16:rowId xmlns:a16="http://schemas.microsoft.com/office/drawing/2014/main" val="2417080105"/>
                  </a:ext>
                </a:extLst>
              </a:tr>
              <a:tr h="933856">
                <a:tc>
                  <a:txBody>
                    <a:bodyPr/>
                    <a:lstStyle/>
                    <a:p>
                      <a:pPr>
                        <a:lnSpc>
                          <a:spcPts val="1200"/>
                        </a:lnSpc>
                      </a:pPr>
                      <a:r>
                        <a:rPr lang="en-CA" sz="1100" b="1" baseline="30000" dirty="0">
                          <a:solidFill>
                            <a:sysClr val="windowText" lastClr="000000"/>
                          </a:solidFill>
                          <a:effectLst/>
                          <a:latin typeface="Arial"/>
                        </a:rPr>
                        <a:t>Medium </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These defects need to be acknowledged within a week. The flaw should be fixed if there is time, but it can be deferred by client until a future release or to an agreed upon time by both client and Vendor</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24 hours</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Resolution within 48 hours, or an estimated resolution time must be given, within 48 hours.</a:t>
                      </a:r>
                      <a:endParaRPr lang="en-CA" sz="1100">
                        <a:solidFill>
                          <a:sysClr val="windowText" lastClr="000000"/>
                        </a:solidFill>
                        <a:effectLst/>
                        <a:latin typeface="Arial"/>
                      </a:endParaRPr>
                    </a:p>
                    <a:p>
                      <a:pPr>
                        <a:lnSpc>
                          <a:spcPts val="1200"/>
                        </a:lnSpc>
                      </a:pP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Review the defects once a week</a:t>
                      </a:r>
                      <a:endParaRPr lang="en-CA" sz="1100" dirty="0">
                        <a:solidFill>
                          <a:sysClr val="windowText" lastClr="000000"/>
                        </a:solidFill>
                        <a:effectLst/>
                        <a:latin typeface="Arial"/>
                        <a:ea typeface="Calibri"/>
                        <a:cs typeface="Segoe UI"/>
                      </a:endParaRPr>
                    </a:p>
                  </a:txBody>
                  <a:tcPr marL="68562" marR="68562" marT="0" marB="0" anchor="ctr"/>
                </a:tc>
                <a:extLst>
                  <a:ext uri="{0D108BD9-81ED-4DB2-BD59-A6C34878D82A}">
                    <a16:rowId xmlns:a16="http://schemas.microsoft.com/office/drawing/2014/main" val="2607098006"/>
                  </a:ext>
                </a:extLst>
              </a:tr>
              <a:tr h="922869">
                <a:tc>
                  <a:txBody>
                    <a:bodyPr/>
                    <a:lstStyle/>
                    <a:p>
                      <a:pPr>
                        <a:lnSpc>
                          <a:spcPts val="1200"/>
                        </a:lnSpc>
                      </a:pPr>
                      <a:r>
                        <a:rPr lang="en-CA" sz="1100" b="1" baseline="30000" dirty="0">
                          <a:solidFill>
                            <a:sysClr val="windowText" lastClr="000000"/>
                          </a:solidFill>
                          <a:effectLst/>
                          <a:latin typeface="Arial"/>
                        </a:rPr>
                        <a:t>Minor</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These defects need to be acknowledged within the same release and fix need to provide whenever possible. These defects can be considered as technical debt.</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3 Business days</a:t>
                      </a: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Resolution within 72 hours, or an estimated resolution time must be given, within 72 hours.</a:t>
                      </a:r>
                      <a:endParaRPr lang="en-CA" sz="1100">
                        <a:solidFill>
                          <a:sysClr val="windowText" lastClr="000000"/>
                        </a:solidFill>
                        <a:effectLst/>
                        <a:latin typeface="Arial"/>
                      </a:endParaRPr>
                    </a:p>
                    <a:p>
                      <a:pPr>
                        <a:lnSpc>
                          <a:spcPts val="1200"/>
                        </a:lnSpc>
                      </a:pPr>
                      <a:endParaRPr lang="en-CA" sz="1100" dirty="0">
                        <a:solidFill>
                          <a:sysClr val="windowText" lastClr="000000"/>
                        </a:solidFill>
                        <a:effectLst/>
                        <a:latin typeface="Arial"/>
                        <a:ea typeface="Calibri"/>
                        <a:cs typeface="Segoe UI"/>
                      </a:endParaRPr>
                    </a:p>
                  </a:txBody>
                  <a:tcPr marL="68562" marR="68562" marT="0" marB="0" anchor="ctr"/>
                </a:tc>
                <a:tc>
                  <a:txBody>
                    <a:bodyPr/>
                    <a:lstStyle/>
                    <a:p>
                      <a:pPr>
                        <a:lnSpc>
                          <a:spcPts val="1200"/>
                        </a:lnSpc>
                      </a:pPr>
                      <a:r>
                        <a:rPr lang="en-CA" sz="1100" baseline="30000" dirty="0">
                          <a:solidFill>
                            <a:sysClr val="windowText" lastClr="000000"/>
                          </a:solidFill>
                          <a:effectLst/>
                          <a:latin typeface="Arial"/>
                        </a:rPr>
                        <a:t>N/A</a:t>
                      </a:r>
                      <a:endParaRPr lang="en-CA" sz="1100" dirty="0">
                        <a:solidFill>
                          <a:sysClr val="windowText" lastClr="000000"/>
                        </a:solidFill>
                        <a:effectLst/>
                        <a:latin typeface="Arial"/>
                        <a:ea typeface="Calibri"/>
                        <a:cs typeface="Segoe UI"/>
                      </a:endParaRPr>
                    </a:p>
                  </a:txBody>
                  <a:tcPr marL="68562" marR="68562" marT="0" marB="0" anchor="ctr"/>
                </a:tc>
                <a:extLst>
                  <a:ext uri="{0D108BD9-81ED-4DB2-BD59-A6C34878D82A}">
                    <a16:rowId xmlns:a16="http://schemas.microsoft.com/office/drawing/2014/main" val="3228409655"/>
                  </a:ext>
                </a:extLst>
              </a:tr>
            </a:tbl>
          </a:graphicData>
        </a:graphic>
      </p:graphicFrame>
    </p:spTree>
    <p:extLst>
      <p:ext uri="{BB962C8B-B14F-4D97-AF65-F5344CB8AC3E}">
        <p14:creationId xmlns:p14="http://schemas.microsoft.com/office/powerpoint/2010/main" val="1027043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1+#ppt_w/2"/>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2FE1B2FD-9E11-FF20-C26D-0BD2A715EC5D}"/>
              </a:ext>
            </a:extLst>
          </p:cNvPr>
          <p:cNvSpPr txBox="1"/>
          <p:nvPr/>
        </p:nvSpPr>
        <p:spPr>
          <a:xfrm>
            <a:off x="1196081" y="1039079"/>
            <a:ext cx="8283503" cy="276999"/>
          </a:xfrm>
          <a:prstGeom prst="rect">
            <a:avLst/>
          </a:prstGeom>
          <a:noFill/>
        </p:spPr>
        <p:txBody>
          <a:bodyPr wrap="square" lIns="91440" tIns="45720" rIns="91440" bIns="45720" rtlCol="0" anchor="t">
            <a:spAutoFit/>
          </a:bodyPr>
          <a:lstStyle/>
          <a:p>
            <a:r>
              <a:rPr lang="en-US" sz="1200" dirty="0">
                <a:solidFill>
                  <a:srgbClr val="0070C0"/>
                </a:solidFill>
                <a:latin typeface="Arial"/>
                <a:cs typeface="Arial"/>
              </a:rPr>
              <a:t>The following table identifies Entry and Exit Criteria for SIT/E2E Testing Phase</a:t>
            </a:r>
            <a:endParaRPr lang="en-CA" sz="1200" dirty="0">
              <a:solidFill>
                <a:srgbClr val="0070C0"/>
              </a:solidFill>
              <a:highlight>
                <a:srgbClr val="FFFF00"/>
              </a:highlight>
              <a:latin typeface="Segoe UI"/>
              <a:cs typeface="Segoe UI"/>
            </a:endParaRPr>
          </a:p>
        </p:txBody>
      </p:sp>
      <p:graphicFrame>
        <p:nvGraphicFramePr>
          <p:cNvPr id="6" name="Table 5">
            <a:extLst>
              <a:ext uri="{FF2B5EF4-FFF2-40B4-BE49-F238E27FC236}">
                <a16:creationId xmlns:a16="http://schemas.microsoft.com/office/drawing/2014/main" id="{47FC313E-3FA2-4261-B036-047FDC3D0605}"/>
              </a:ext>
            </a:extLst>
          </p:cNvPr>
          <p:cNvGraphicFramePr>
            <a:graphicFrameLocks noGrp="1"/>
          </p:cNvGraphicFramePr>
          <p:nvPr>
            <p:extLst>
              <p:ext uri="{D42A27DB-BD31-4B8C-83A1-F6EECF244321}">
                <p14:modId xmlns:p14="http://schemas.microsoft.com/office/powerpoint/2010/main" val="257396815"/>
              </p:ext>
            </p:extLst>
          </p:nvPr>
        </p:nvGraphicFramePr>
        <p:xfrm>
          <a:off x="327549" y="1409314"/>
          <a:ext cx="11528260" cy="4207605"/>
        </p:xfrm>
        <a:graphic>
          <a:graphicData uri="http://schemas.openxmlformats.org/drawingml/2006/table">
            <a:tbl>
              <a:tblPr>
                <a:tableStyleId>{5C22544A-7EE6-4342-B048-85BDC9FD1C3A}</a:tableStyleId>
              </a:tblPr>
              <a:tblGrid>
                <a:gridCol w="811368">
                  <a:extLst>
                    <a:ext uri="{9D8B030D-6E8A-4147-A177-3AD203B41FA5}">
                      <a16:colId xmlns:a16="http://schemas.microsoft.com/office/drawing/2014/main" val="3257186650"/>
                    </a:ext>
                  </a:extLst>
                </a:gridCol>
                <a:gridCol w="755023">
                  <a:extLst>
                    <a:ext uri="{9D8B030D-6E8A-4147-A177-3AD203B41FA5}">
                      <a16:colId xmlns:a16="http://schemas.microsoft.com/office/drawing/2014/main" val="241022152"/>
                    </a:ext>
                  </a:extLst>
                </a:gridCol>
                <a:gridCol w="5104862">
                  <a:extLst>
                    <a:ext uri="{9D8B030D-6E8A-4147-A177-3AD203B41FA5}">
                      <a16:colId xmlns:a16="http://schemas.microsoft.com/office/drawing/2014/main" val="1615279242"/>
                    </a:ext>
                  </a:extLst>
                </a:gridCol>
                <a:gridCol w="4857007">
                  <a:extLst>
                    <a:ext uri="{9D8B030D-6E8A-4147-A177-3AD203B41FA5}">
                      <a16:colId xmlns:a16="http://schemas.microsoft.com/office/drawing/2014/main" val="1964855723"/>
                    </a:ext>
                  </a:extLst>
                </a:gridCol>
              </a:tblGrid>
              <a:tr h="323661">
                <a:tc>
                  <a:txBody>
                    <a:bodyPr/>
                    <a:lstStyle/>
                    <a:p>
                      <a:pPr algn="ctr" fontAlgn="ctr"/>
                      <a:endParaRPr lang="en-CA" sz="1100" b="0" i="0" u="none" strike="noStrike">
                        <a:solidFill>
                          <a:srgbClr val="000000"/>
                        </a:solidFill>
                        <a:effectLst/>
                        <a:latin typeface="Segoe UI" panose="020B0502040204020203" pitchFamily="34" charset="0"/>
                        <a:cs typeface="Segoe UI" panose="020B0502040204020203" pitchFamily="34" charset="0"/>
                      </a:endParaRPr>
                    </a:p>
                  </a:txBody>
                  <a:tcPr marL="4680" marR="4680" marT="4680" marB="0" anchor="ctr"/>
                </a:tc>
                <a:tc>
                  <a:txBody>
                    <a:bodyPr/>
                    <a:lstStyle/>
                    <a:p>
                      <a:pPr algn="l" fontAlgn="b"/>
                      <a:endParaRPr lang="en-CA" sz="1100" b="0" i="0" u="none" strike="noStrike">
                        <a:solidFill>
                          <a:srgbClr val="000000"/>
                        </a:solidFill>
                        <a:effectLst/>
                        <a:latin typeface="Segoe UI" panose="020B0502040204020203" pitchFamily="34" charset="0"/>
                        <a:cs typeface="Segoe UI" panose="020B0502040204020203" pitchFamily="34" charset="0"/>
                      </a:endParaRPr>
                    </a:p>
                  </a:txBody>
                  <a:tcPr marL="4680" marR="4680" marT="4680" marB="0" anchor="b"/>
                </a:tc>
                <a:tc>
                  <a:txBody>
                    <a:bodyPr/>
                    <a:lstStyle/>
                    <a:p>
                      <a:pPr algn="ctr" fontAlgn="b"/>
                      <a:r>
                        <a:rPr lang="en-CA" sz="1200" b="1" u="none" strike="noStrike" dirty="0">
                          <a:solidFill>
                            <a:schemeClr val="bg1"/>
                          </a:solidFill>
                          <a:effectLst/>
                          <a:latin typeface="Arial"/>
                          <a:cs typeface="Segoe UI"/>
                        </a:rPr>
                        <a:t>Entrance criteria</a:t>
                      </a:r>
                      <a:endParaRPr lang="en-CA" sz="1200" b="1" i="0" u="none" strike="noStrike" dirty="0">
                        <a:solidFill>
                          <a:schemeClr val="bg1"/>
                        </a:solidFill>
                        <a:effectLst/>
                        <a:latin typeface="Arial"/>
                        <a:cs typeface="Segoe UI"/>
                      </a:endParaRPr>
                    </a:p>
                  </a:txBody>
                  <a:tcPr marL="4680" marR="4680" marT="4680" marB="0" anchor="ctr">
                    <a:solidFill>
                      <a:schemeClr val="tx2"/>
                    </a:solidFill>
                  </a:tcPr>
                </a:tc>
                <a:tc>
                  <a:txBody>
                    <a:bodyPr/>
                    <a:lstStyle/>
                    <a:p>
                      <a:pPr algn="ctr" fontAlgn="b"/>
                      <a:r>
                        <a:rPr lang="en-CA" sz="1200" b="1" u="none" strike="noStrike" dirty="0">
                          <a:solidFill>
                            <a:schemeClr val="bg1"/>
                          </a:solidFill>
                          <a:effectLst/>
                          <a:latin typeface="Arial"/>
                          <a:cs typeface="Segoe UI"/>
                        </a:rPr>
                        <a:t>Exit criteria</a:t>
                      </a:r>
                      <a:endParaRPr lang="en-CA" sz="1200" b="1" i="0" u="none" strike="noStrike" dirty="0">
                        <a:solidFill>
                          <a:schemeClr val="bg1"/>
                        </a:solidFill>
                        <a:effectLst/>
                        <a:latin typeface="Arial"/>
                        <a:cs typeface="Segoe UI"/>
                      </a:endParaRPr>
                    </a:p>
                  </a:txBody>
                  <a:tcPr marL="4680" marR="4680" marT="4680" marB="0" anchor="ctr">
                    <a:solidFill>
                      <a:schemeClr val="tx2"/>
                    </a:solidFill>
                  </a:tcPr>
                </a:tc>
                <a:extLst>
                  <a:ext uri="{0D108BD9-81ED-4DB2-BD59-A6C34878D82A}">
                    <a16:rowId xmlns:a16="http://schemas.microsoft.com/office/drawing/2014/main" val="2728683777"/>
                  </a:ext>
                </a:extLst>
              </a:tr>
              <a:tr h="3883944">
                <a:tc>
                  <a:txBody>
                    <a:bodyPr/>
                    <a:lstStyle/>
                    <a:p>
                      <a:pPr algn="ctr" fontAlgn="ctr"/>
                      <a:r>
                        <a:rPr lang="en-CA" sz="1200" b="1" u="none" strike="noStrike" dirty="0">
                          <a:solidFill>
                            <a:schemeClr val="bg1"/>
                          </a:solidFill>
                          <a:effectLst/>
                          <a:latin typeface="Arial"/>
                          <a:cs typeface="Segoe UI"/>
                        </a:rPr>
                        <a:t>Gating Criteria</a:t>
                      </a:r>
                      <a:endParaRPr lang="en-CA" sz="1200" b="1" i="0" u="none" strike="noStrike" dirty="0">
                        <a:solidFill>
                          <a:schemeClr val="bg1"/>
                        </a:solidFill>
                        <a:effectLst/>
                        <a:latin typeface="Arial"/>
                        <a:cs typeface="Segoe UI"/>
                      </a:endParaRPr>
                    </a:p>
                  </a:txBody>
                  <a:tcPr marL="4680" marR="4680" marT="4680" marB="0" anchor="ctr">
                    <a:solidFill>
                      <a:schemeClr val="tx2"/>
                    </a:solidFill>
                  </a:tcPr>
                </a:tc>
                <a:tc>
                  <a:txBody>
                    <a:bodyPr/>
                    <a:lstStyle/>
                    <a:p>
                      <a:pPr algn="ctr" fontAlgn="ctr"/>
                      <a:r>
                        <a:rPr lang="en-CA" sz="1200" b="1" u="none" strike="noStrike" dirty="0">
                          <a:solidFill>
                            <a:schemeClr val="tx2"/>
                          </a:solidFill>
                          <a:effectLst/>
                          <a:latin typeface="Arial"/>
                          <a:cs typeface="Segoe UI"/>
                        </a:rPr>
                        <a:t>SIT/E2E</a:t>
                      </a:r>
                      <a:endParaRPr lang="en-CA" sz="1200" b="1" i="0" u="none" strike="noStrike" dirty="0">
                        <a:solidFill>
                          <a:schemeClr val="tx2"/>
                        </a:solidFill>
                        <a:effectLst/>
                        <a:latin typeface="Arial"/>
                        <a:cs typeface="Segoe UI"/>
                      </a:endParaRPr>
                    </a:p>
                  </a:txBody>
                  <a:tcPr marL="4680" marR="4680" marT="4680" marB="0" anchor="ctr">
                    <a:solidFill>
                      <a:schemeClr val="accent4"/>
                    </a:solidFill>
                  </a:tcPr>
                </a:tc>
                <a:tc>
                  <a:txBody>
                    <a:bodyPr/>
                    <a:lstStyle/>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Test Plan is produced, reviewed and approval obtained. Scope of testing is defined and approved</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SIT/E2E Test Cases including steps and expected results are documented and approved</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Testing track sheet and Defect tracking tool are configured and available for use. Dashboard is ready</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Unit Test and System Functional Testing are completed with no Severity 1 defects</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System Integration Test Environment Cycle 0 Test (Smoke/Sanity) is Complete </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Delivery dates and content for each code drop is defined and approved</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Development and Environment support is lined up and confirmed to be available during SIT and E2E execution</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Environment for test execution including any inbound and outbound interfaces has been setup, configured and populated with all hardware, software, reference/master data, network and data components required to execute Test Plan</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Test data requirements identified, and data is uploaded to the SIT + E2E environment</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Designated Testers have access to proper environment for SIT and E2E</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Testers have installed all necessary software on their machines</a:t>
                      </a:r>
                      <a:endParaRPr lang="en-CA" sz="1200" b="0" i="0" u="none" strike="noStrike" dirty="0">
                        <a:solidFill>
                          <a:srgbClr val="000000"/>
                        </a:solidFill>
                        <a:effectLst/>
                        <a:latin typeface="Arial"/>
                        <a:cs typeface="Segoe UI"/>
                      </a:endParaRPr>
                    </a:p>
                  </a:txBody>
                  <a:tcPr marL="4680" marR="4680" marT="4680" marB="0">
                    <a:solidFill>
                      <a:srgbClr val="EAEFF7">
                        <a:alpha val="60000"/>
                      </a:srgbClr>
                    </a:solidFill>
                  </a:tcPr>
                </a:tc>
                <a:tc>
                  <a:txBody>
                    <a:bodyPr/>
                    <a:lstStyle/>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100% Test Cases have been executed with actual results documented (pass/fail logs).</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Any deviations are documented and agreed by Business Representatives and project team.</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Any deviations from the original Test Plan have been documented and approved</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Defects:</a:t>
                      </a:r>
                    </a:p>
                    <a:p>
                      <a:pPr marL="628650" lvl="1" indent="-171450" algn="l" fontAlgn="t">
                        <a:buFont typeface="Wingdings" panose="05000000000000000000" pitchFamily="2" charset="2"/>
                        <a:buChar char="ü"/>
                      </a:pPr>
                      <a:r>
                        <a:rPr lang="en-US" sz="1200" b="0" i="0" u="none" strike="noStrike" dirty="0">
                          <a:solidFill>
                            <a:srgbClr val="000000"/>
                          </a:solidFill>
                          <a:effectLst/>
                          <a:latin typeface="Arial"/>
                          <a:cs typeface="Segoe UI"/>
                        </a:rPr>
                        <a:t>All defects reported during Test execution have been documented and resolved with acceptable dispositions (including root cause analysis).</a:t>
                      </a:r>
                    </a:p>
                    <a:p>
                      <a:pPr marL="628650" lvl="1" indent="-171450" algn="l" fontAlgn="t">
                        <a:buFont typeface="Wingdings" panose="05000000000000000000" pitchFamily="2" charset="2"/>
                        <a:buChar char="ü"/>
                      </a:pPr>
                      <a:r>
                        <a:rPr lang="en-US" sz="1200" b="0" i="0" u="none" strike="noStrike" dirty="0">
                          <a:solidFill>
                            <a:srgbClr val="000000"/>
                          </a:solidFill>
                          <a:effectLst/>
                          <a:latin typeface="Arial"/>
                          <a:cs typeface="Segoe UI"/>
                        </a:rPr>
                        <a:t>No severity 1 or 2 defects outstanding</a:t>
                      </a:r>
                    </a:p>
                    <a:p>
                      <a:pPr marL="628650" lvl="1" indent="-171450" algn="l" fontAlgn="t">
                        <a:buFont typeface="Wingdings" panose="05000000000000000000" pitchFamily="2" charset="2"/>
                        <a:buChar char="ü"/>
                      </a:pPr>
                      <a:r>
                        <a:rPr lang="en-US" sz="1200" b="0" i="0" u="none" strike="noStrike" dirty="0">
                          <a:solidFill>
                            <a:srgbClr val="000000"/>
                          </a:solidFill>
                          <a:effectLst/>
                          <a:latin typeface="Arial"/>
                          <a:cs typeface="Segoe UI"/>
                        </a:rPr>
                        <a:t>An approved plan to address Priority 3 and Priority 4 defects</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Status reports documenting results of all testing performed have been produced and distributed</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SIT/ E2E Test Final Report shared during daily stand-up </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Appropriate metrics collected</a:t>
                      </a:r>
                    </a:p>
                    <a:p>
                      <a:pPr marL="171450" indent="-171450" algn="l" fontAlgn="t">
                        <a:buFont typeface="Arial" panose="020B0604020202020204" pitchFamily="34" charset="0"/>
                        <a:buChar char="•"/>
                      </a:pPr>
                      <a:r>
                        <a:rPr lang="en-US" sz="1200" b="0" i="0" u="none" strike="noStrike" dirty="0">
                          <a:solidFill>
                            <a:srgbClr val="000000"/>
                          </a:solidFill>
                          <a:effectLst/>
                          <a:latin typeface="Arial"/>
                          <a:cs typeface="Segoe UI"/>
                        </a:rPr>
                        <a:t>Sign-off documents are prepared and signed</a:t>
                      </a:r>
                    </a:p>
                    <a:p>
                      <a:pPr algn="l" fontAlgn="t"/>
                      <a:endParaRPr lang="en-CA" sz="1200" b="0" i="0" u="none" strike="noStrike" dirty="0">
                        <a:solidFill>
                          <a:srgbClr val="000000"/>
                        </a:solidFill>
                        <a:effectLst/>
                        <a:latin typeface="Arial"/>
                        <a:cs typeface="Segoe UI"/>
                      </a:endParaRPr>
                    </a:p>
                  </a:txBody>
                  <a:tcPr marL="4680" marR="4680" marT="4680" marB="0"/>
                </a:tc>
                <a:extLst>
                  <a:ext uri="{0D108BD9-81ED-4DB2-BD59-A6C34878D82A}">
                    <a16:rowId xmlns:a16="http://schemas.microsoft.com/office/drawing/2014/main" val="398987348"/>
                  </a:ext>
                </a:extLst>
              </a:tr>
            </a:tbl>
          </a:graphicData>
        </a:graphic>
      </p:graphicFrame>
      <p:sp>
        <p:nvSpPr>
          <p:cNvPr id="3" name="TextBox 2">
            <a:extLst>
              <a:ext uri="{FF2B5EF4-FFF2-40B4-BE49-F238E27FC236}">
                <a16:creationId xmlns:a16="http://schemas.microsoft.com/office/drawing/2014/main" id="{4F56878D-BC94-0385-92AC-8D4D0D4C658C}"/>
              </a:ext>
            </a:extLst>
          </p:cNvPr>
          <p:cNvSpPr txBox="1"/>
          <p:nvPr/>
        </p:nvSpPr>
        <p:spPr>
          <a:xfrm>
            <a:off x="1164441" y="601444"/>
            <a:ext cx="5508757" cy="486287"/>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Segoe UI"/>
              </a:rPr>
              <a:t>Entry &amp; Exit Criteria</a:t>
            </a:r>
          </a:p>
        </p:txBody>
      </p:sp>
      <p:grpSp>
        <p:nvGrpSpPr>
          <p:cNvPr id="12" name="Group 11">
            <a:extLst>
              <a:ext uri="{FF2B5EF4-FFF2-40B4-BE49-F238E27FC236}">
                <a16:creationId xmlns:a16="http://schemas.microsoft.com/office/drawing/2014/main" id="{BCDC1614-1525-F05C-6E66-7D20754EA968}"/>
              </a:ext>
            </a:extLst>
          </p:cNvPr>
          <p:cNvGrpSpPr/>
          <p:nvPr/>
        </p:nvGrpSpPr>
        <p:grpSpPr>
          <a:xfrm>
            <a:off x="1" y="4240"/>
            <a:ext cx="909836" cy="930066"/>
            <a:chOff x="1" y="-5685"/>
            <a:chExt cx="909836" cy="930066"/>
          </a:xfrm>
        </p:grpSpPr>
        <p:sp>
          <p:nvSpPr>
            <p:cNvPr id="8" name="Rectangle 7">
              <a:extLst>
                <a:ext uri="{FF2B5EF4-FFF2-40B4-BE49-F238E27FC236}">
                  <a16:creationId xmlns:a16="http://schemas.microsoft.com/office/drawing/2014/main" id="{903C7D6D-5E5A-AAC5-8B85-2064497CFD8B}"/>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9" name="Rectangle 8">
              <a:extLst>
                <a:ext uri="{FF2B5EF4-FFF2-40B4-BE49-F238E27FC236}">
                  <a16:creationId xmlns:a16="http://schemas.microsoft.com/office/drawing/2014/main" id="{32B9F223-F125-ED4A-961B-7614EB6BA912}"/>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0" name="Rectangle 9">
              <a:extLst>
                <a:ext uri="{FF2B5EF4-FFF2-40B4-BE49-F238E27FC236}">
                  <a16:creationId xmlns:a16="http://schemas.microsoft.com/office/drawing/2014/main" id="{7B609240-333E-73BE-5420-C93F5AF5FED6}"/>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1" name="Rectangle 10">
              <a:extLst>
                <a:ext uri="{FF2B5EF4-FFF2-40B4-BE49-F238E27FC236}">
                  <a16:creationId xmlns:a16="http://schemas.microsoft.com/office/drawing/2014/main" id="{457A8E46-5744-9BC0-1A23-007EC353C729}"/>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21" name="Group 20">
            <a:extLst>
              <a:ext uri="{FF2B5EF4-FFF2-40B4-BE49-F238E27FC236}">
                <a16:creationId xmlns:a16="http://schemas.microsoft.com/office/drawing/2014/main" id="{7F0910CB-B418-DB84-AE39-C56187F4EB6A}"/>
              </a:ext>
            </a:extLst>
          </p:cNvPr>
          <p:cNvGrpSpPr/>
          <p:nvPr/>
        </p:nvGrpSpPr>
        <p:grpSpPr>
          <a:xfrm>
            <a:off x="10342891" y="4962097"/>
            <a:ext cx="1845935" cy="1895903"/>
            <a:chOff x="0" y="0"/>
            <a:chExt cx="3161556" cy="3048050"/>
          </a:xfrm>
        </p:grpSpPr>
        <p:grpSp>
          <p:nvGrpSpPr>
            <p:cNvPr id="15" name="Group 14">
              <a:extLst>
                <a:ext uri="{FF2B5EF4-FFF2-40B4-BE49-F238E27FC236}">
                  <a16:creationId xmlns:a16="http://schemas.microsoft.com/office/drawing/2014/main" id="{0575B514-42BE-792F-5AC8-AD9D5FD23DEC}"/>
                </a:ext>
              </a:extLst>
            </p:cNvPr>
            <p:cNvGrpSpPr/>
            <p:nvPr/>
          </p:nvGrpSpPr>
          <p:grpSpPr>
            <a:xfrm>
              <a:off x="0" y="0"/>
              <a:ext cx="2107704" cy="2241545"/>
              <a:chOff x="0" y="0"/>
              <a:chExt cx="2107704" cy="2241545"/>
            </a:xfrm>
          </p:grpSpPr>
          <p:sp>
            <p:nvSpPr>
              <p:cNvPr id="19" name="Rectangle 18">
                <a:extLst>
                  <a:ext uri="{FF2B5EF4-FFF2-40B4-BE49-F238E27FC236}">
                    <a16:creationId xmlns:a16="http://schemas.microsoft.com/office/drawing/2014/main" id="{21D91530-57AF-D3FD-C64C-39D9784B2AD7}"/>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19">
                <a:extLst>
                  <a:ext uri="{FF2B5EF4-FFF2-40B4-BE49-F238E27FC236}">
                    <a16:creationId xmlns:a16="http://schemas.microsoft.com/office/drawing/2014/main" id="{7F786B19-95B7-E3EE-1010-9922B488BF92}"/>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6" name="Group 15">
              <a:extLst>
                <a:ext uri="{FF2B5EF4-FFF2-40B4-BE49-F238E27FC236}">
                  <a16:creationId xmlns:a16="http://schemas.microsoft.com/office/drawing/2014/main" id="{B831187C-D208-0049-D4A5-7966F4B61967}"/>
                </a:ext>
              </a:extLst>
            </p:cNvPr>
            <p:cNvGrpSpPr/>
            <p:nvPr/>
          </p:nvGrpSpPr>
          <p:grpSpPr>
            <a:xfrm flipH="1" flipV="1">
              <a:off x="1072246" y="1059210"/>
              <a:ext cx="2089310" cy="1988840"/>
              <a:chOff x="1580778" y="1268760"/>
              <a:chExt cx="2089310" cy="1988840"/>
            </a:xfrm>
          </p:grpSpPr>
          <p:sp>
            <p:nvSpPr>
              <p:cNvPr id="17" name="Rectangle 16">
                <a:extLst>
                  <a:ext uri="{FF2B5EF4-FFF2-40B4-BE49-F238E27FC236}">
                    <a16:creationId xmlns:a16="http://schemas.microsoft.com/office/drawing/2014/main" id="{1275158E-1B31-9D9F-9264-035ECB2B640F}"/>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2437E53E-1140-32BF-3AC1-4405EB22DAE8}"/>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3" name="Picture 22" descr="BEll company logo">
            <a:extLst>
              <a:ext uri="{FF2B5EF4-FFF2-40B4-BE49-F238E27FC236}">
                <a16:creationId xmlns:a16="http://schemas.microsoft.com/office/drawing/2014/main" id="{BC015042-0458-CE0F-521B-7847D2BE61B1}"/>
              </a:ext>
            </a:extLst>
          </p:cNvPr>
          <p:cNvPicPr>
            <a:picLocks noChangeAspect="1"/>
          </p:cNvPicPr>
          <p:nvPr/>
        </p:nvPicPr>
        <p:blipFill>
          <a:blip r:embed="rId2"/>
          <a:stretch>
            <a:fillRect/>
          </a:stretch>
        </p:blipFill>
        <p:spPr>
          <a:xfrm>
            <a:off x="11009239" y="635555"/>
            <a:ext cx="514513" cy="400050"/>
          </a:xfrm>
          <a:prstGeom prst="rect">
            <a:avLst/>
          </a:prstGeom>
        </p:spPr>
      </p:pic>
    </p:spTree>
    <p:extLst>
      <p:ext uri="{BB962C8B-B14F-4D97-AF65-F5344CB8AC3E}">
        <p14:creationId xmlns:p14="http://schemas.microsoft.com/office/powerpoint/2010/main" val="164686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2FB17-310B-B19A-8D1A-1CDA234950BB}"/>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D039018-0510-E755-30A6-4A40B219651E}"/>
              </a:ext>
            </a:extLst>
          </p:cNvPr>
          <p:cNvSpPr txBox="1"/>
          <p:nvPr/>
        </p:nvSpPr>
        <p:spPr>
          <a:xfrm>
            <a:off x="1196081" y="1039079"/>
            <a:ext cx="8283503" cy="276999"/>
          </a:xfrm>
          <a:prstGeom prst="rect">
            <a:avLst/>
          </a:prstGeom>
          <a:noFill/>
        </p:spPr>
        <p:txBody>
          <a:bodyPr wrap="square" lIns="91440" tIns="45720" rIns="91440" bIns="45720" rtlCol="0" anchor="t">
            <a:spAutoFit/>
          </a:bodyPr>
          <a:lstStyle/>
          <a:p>
            <a:r>
              <a:rPr lang="en-US" sz="1200" dirty="0">
                <a:solidFill>
                  <a:srgbClr val="0070C0"/>
                </a:solidFill>
                <a:latin typeface="Arial"/>
                <a:cs typeface="Arial"/>
              </a:rPr>
              <a:t>The following table identifies Entry and Exit Criteria for UAT</a:t>
            </a:r>
          </a:p>
        </p:txBody>
      </p:sp>
      <p:graphicFrame>
        <p:nvGraphicFramePr>
          <p:cNvPr id="6" name="Table 5">
            <a:extLst>
              <a:ext uri="{FF2B5EF4-FFF2-40B4-BE49-F238E27FC236}">
                <a16:creationId xmlns:a16="http://schemas.microsoft.com/office/drawing/2014/main" id="{E6772FCD-C2B9-84F8-5777-059EB835EBE5}"/>
              </a:ext>
            </a:extLst>
          </p:cNvPr>
          <p:cNvGraphicFramePr>
            <a:graphicFrameLocks noGrp="1"/>
          </p:cNvGraphicFramePr>
          <p:nvPr>
            <p:extLst>
              <p:ext uri="{D42A27DB-BD31-4B8C-83A1-F6EECF244321}">
                <p14:modId xmlns:p14="http://schemas.microsoft.com/office/powerpoint/2010/main" val="2601949403"/>
              </p:ext>
            </p:extLst>
          </p:nvPr>
        </p:nvGraphicFramePr>
        <p:xfrm>
          <a:off x="486361" y="1458938"/>
          <a:ext cx="11221472" cy="3343275"/>
        </p:xfrm>
        <a:graphic>
          <a:graphicData uri="http://schemas.openxmlformats.org/drawingml/2006/table">
            <a:tbl>
              <a:tblPr>
                <a:tableStyleId>{5C22544A-7EE6-4342-B048-85BDC9FD1C3A}</a:tableStyleId>
              </a:tblPr>
              <a:tblGrid>
                <a:gridCol w="789775">
                  <a:extLst>
                    <a:ext uri="{9D8B030D-6E8A-4147-A177-3AD203B41FA5}">
                      <a16:colId xmlns:a16="http://schemas.microsoft.com/office/drawing/2014/main" val="3257186650"/>
                    </a:ext>
                  </a:extLst>
                </a:gridCol>
                <a:gridCol w="734930">
                  <a:extLst>
                    <a:ext uri="{9D8B030D-6E8A-4147-A177-3AD203B41FA5}">
                      <a16:colId xmlns:a16="http://schemas.microsoft.com/office/drawing/2014/main" val="241022152"/>
                    </a:ext>
                  </a:extLst>
                </a:gridCol>
                <a:gridCol w="4969013">
                  <a:extLst>
                    <a:ext uri="{9D8B030D-6E8A-4147-A177-3AD203B41FA5}">
                      <a16:colId xmlns:a16="http://schemas.microsoft.com/office/drawing/2014/main" val="1615279242"/>
                    </a:ext>
                  </a:extLst>
                </a:gridCol>
                <a:gridCol w="4727754">
                  <a:extLst>
                    <a:ext uri="{9D8B030D-6E8A-4147-A177-3AD203B41FA5}">
                      <a16:colId xmlns:a16="http://schemas.microsoft.com/office/drawing/2014/main" val="1964855723"/>
                    </a:ext>
                  </a:extLst>
                </a:gridCol>
              </a:tblGrid>
              <a:tr h="266835">
                <a:tc>
                  <a:txBody>
                    <a:bodyPr/>
                    <a:lstStyle/>
                    <a:p>
                      <a:pPr algn="ctr" fontAlgn="ctr"/>
                      <a:endParaRPr lang="en-CA" sz="1100" b="0" i="0" u="none" strike="noStrike">
                        <a:solidFill>
                          <a:srgbClr val="000000"/>
                        </a:solidFill>
                        <a:effectLst/>
                        <a:latin typeface="Segoe UI" panose="020B0502040204020203" pitchFamily="34" charset="0"/>
                        <a:cs typeface="Segoe UI" panose="020B0502040204020203" pitchFamily="34" charset="0"/>
                      </a:endParaRPr>
                    </a:p>
                  </a:txBody>
                  <a:tcPr marL="4680" marR="4680" marT="4680" marB="0" anchor="ctr"/>
                </a:tc>
                <a:tc>
                  <a:txBody>
                    <a:bodyPr/>
                    <a:lstStyle/>
                    <a:p>
                      <a:pPr algn="l" fontAlgn="b"/>
                      <a:endParaRPr lang="en-CA" sz="1100" b="0" i="0" u="none" strike="noStrike">
                        <a:solidFill>
                          <a:srgbClr val="000000"/>
                        </a:solidFill>
                        <a:effectLst/>
                        <a:latin typeface="Segoe UI" panose="020B0502040204020203" pitchFamily="34" charset="0"/>
                        <a:cs typeface="Segoe UI" panose="020B0502040204020203" pitchFamily="34" charset="0"/>
                      </a:endParaRPr>
                    </a:p>
                  </a:txBody>
                  <a:tcPr marL="4680" marR="4680" marT="4680" marB="0" anchor="b"/>
                </a:tc>
                <a:tc>
                  <a:txBody>
                    <a:bodyPr/>
                    <a:lstStyle/>
                    <a:p>
                      <a:pPr algn="ctr" fontAlgn="b"/>
                      <a:r>
                        <a:rPr lang="en-CA" sz="1200" b="1" u="none" strike="noStrike" dirty="0">
                          <a:solidFill>
                            <a:schemeClr val="bg1"/>
                          </a:solidFill>
                          <a:effectLst/>
                          <a:latin typeface="Arial"/>
                          <a:cs typeface="Segoe UI"/>
                        </a:rPr>
                        <a:t>Entrance criteria</a:t>
                      </a:r>
                      <a:endParaRPr lang="en-CA" sz="1200" b="1" i="0" u="none" strike="noStrike" dirty="0">
                        <a:solidFill>
                          <a:schemeClr val="bg1"/>
                        </a:solidFill>
                        <a:effectLst/>
                        <a:latin typeface="Arial"/>
                        <a:cs typeface="Segoe UI"/>
                      </a:endParaRPr>
                    </a:p>
                  </a:txBody>
                  <a:tcPr marL="4680" marR="4680" marT="4680" marB="0" anchor="ctr">
                    <a:solidFill>
                      <a:schemeClr val="tx2"/>
                    </a:solidFill>
                  </a:tcPr>
                </a:tc>
                <a:tc>
                  <a:txBody>
                    <a:bodyPr/>
                    <a:lstStyle/>
                    <a:p>
                      <a:pPr algn="ctr" fontAlgn="b"/>
                      <a:r>
                        <a:rPr lang="en-CA" sz="1200" b="1" u="none" strike="noStrike" dirty="0">
                          <a:solidFill>
                            <a:schemeClr val="bg1"/>
                          </a:solidFill>
                          <a:effectLst/>
                          <a:latin typeface="Arial"/>
                          <a:cs typeface="Segoe UI"/>
                        </a:rPr>
                        <a:t>Exit criteria</a:t>
                      </a:r>
                      <a:endParaRPr lang="en-CA" sz="1200" b="1" i="0" u="none" strike="noStrike" dirty="0">
                        <a:solidFill>
                          <a:schemeClr val="bg1"/>
                        </a:solidFill>
                        <a:effectLst/>
                        <a:latin typeface="Arial"/>
                        <a:cs typeface="Segoe UI"/>
                      </a:endParaRPr>
                    </a:p>
                  </a:txBody>
                  <a:tcPr marL="4680" marR="4680" marT="4680" marB="0" anchor="ctr">
                    <a:solidFill>
                      <a:schemeClr val="tx2"/>
                    </a:solidFill>
                  </a:tcPr>
                </a:tc>
                <a:extLst>
                  <a:ext uri="{0D108BD9-81ED-4DB2-BD59-A6C34878D82A}">
                    <a16:rowId xmlns:a16="http://schemas.microsoft.com/office/drawing/2014/main" val="2728683777"/>
                  </a:ext>
                </a:extLst>
              </a:tr>
              <a:tr h="3076440">
                <a:tc>
                  <a:txBody>
                    <a:bodyPr/>
                    <a:lstStyle/>
                    <a:p>
                      <a:pPr algn="ctr" fontAlgn="ctr"/>
                      <a:r>
                        <a:rPr lang="en-CA" sz="1200" b="1" u="none" strike="noStrike" dirty="0">
                          <a:solidFill>
                            <a:schemeClr val="bg1"/>
                          </a:solidFill>
                          <a:effectLst/>
                          <a:latin typeface="Arial"/>
                          <a:cs typeface="Segoe UI"/>
                        </a:rPr>
                        <a:t>Gating Criteria</a:t>
                      </a:r>
                      <a:endParaRPr lang="en-CA" sz="1200" b="1" i="0" u="none" strike="noStrike" dirty="0">
                        <a:solidFill>
                          <a:schemeClr val="bg1"/>
                        </a:solidFill>
                        <a:effectLst/>
                        <a:latin typeface="Arial"/>
                        <a:cs typeface="Segoe UI"/>
                      </a:endParaRPr>
                    </a:p>
                  </a:txBody>
                  <a:tcPr marL="4680" marR="4680" marT="4680" marB="0" anchor="ctr">
                    <a:solidFill>
                      <a:schemeClr val="tx2"/>
                    </a:solidFill>
                  </a:tcPr>
                </a:tc>
                <a:tc>
                  <a:txBody>
                    <a:bodyPr/>
                    <a:lstStyle/>
                    <a:p>
                      <a:pPr algn="ctr" fontAlgn="ctr"/>
                      <a:r>
                        <a:rPr lang="en-CA" sz="1200" b="1" u="none" strike="noStrike" dirty="0">
                          <a:solidFill>
                            <a:schemeClr val="tx2"/>
                          </a:solidFill>
                          <a:effectLst/>
                          <a:latin typeface="Arial"/>
                          <a:cs typeface="Segoe UI"/>
                        </a:rPr>
                        <a:t>UAT</a:t>
                      </a:r>
                      <a:endParaRPr lang="en-CA" sz="1200" b="1" i="0" u="none" strike="noStrike" dirty="0">
                        <a:solidFill>
                          <a:schemeClr val="tx2"/>
                        </a:solidFill>
                        <a:effectLst/>
                        <a:latin typeface="Arial"/>
                        <a:cs typeface="Segoe UI"/>
                      </a:endParaRPr>
                    </a:p>
                  </a:txBody>
                  <a:tcPr marL="4680" marR="4680" marT="4680" marB="0" anchor="ctr">
                    <a:solidFill>
                      <a:schemeClr val="accent4"/>
                    </a:solidFill>
                  </a:tcPr>
                </a:tc>
                <a:tc>
                  <a:txBody>
                    <a:bodyPr/>
                    <a:lstStyle/>
                    <a:p>
                      <a:pPr marL="171450" indent="-171450" algn="l" fontAlgn="t">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UAT Testers are trained on how the system functions</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UAT Testers have installed all necessary software in their machines</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UAT testers understand the agreed scope of the UAT</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SFT and SIT teams delivered all SFT and SIT Test Scenarios and Conditions with Passes and Fails as well as Defect resolutions and retest results, along with a defect report of SIT Defects</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Development and Environment support is lined up and confirmed to be available during UAT execution</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Environment for test execution including any inbound and outbound interfaces has been setup, configured and populated with all hardware, software, reference/master data, network and data components required to execute UAT Test Plan</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Test data requirements identified, and data is uploaded to the test environment</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UAT Testers have access to proper environment for UAT </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UAT testers have installed all necessary software on their machines</a:t>
                      </a:r>
                      <a:endParaRPr lang="en-CA" sz="1200" noProof="0" dirty="0">
                        <a:latin typeface="Arial"/>
                      </a:endParaRPr>
                    </a:p>
                  </a:txBody>
                  <a:tcPr marL="4680" marR="4680" marT="4680" marB="0">
                    <a:solidFill>
                      <a:srgbClr val="EAEFF7">
                        <a:alpha val="60000"/>
                      </a:srgbClr>
                    </a:solidFill>
                  </a:tcPr>
                </a:tc>
                <a:tc>
                  <a:txBody>
                    <a:bodyPr/>
                    <a:lstStyle/>
                    <a:p>
                      <a:pPr marL="171450" indent="-171450" algn="l" fontAlgn="t">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100% Test Cases have been executed with actual results documented (pass/fail logs).</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Any deviations from the original UAT Test Plan have been documented </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Defects:</a:t>
                      </a:r>
                    </a:p>
                    <a:p>
                      <a:pPr marL="628650" lvl="1" indent="-171450" algn="l">
                        <a:buClr>
                          <a:srgbClr val="000000"/>
                        </a:buClr>
                        <a:buFont typeface="Wingdings,Sans-Serif" panose="020B0604020202020204" pitchFamily="34" charset="0"/>
                        <a:buChar char="ü"/>
                      </a:pPr>
                      <a:r>
                        <a:rPr lang="en-US" sz="1200" b="0" i="0" u="none" strike="noStrike" noProof="0" dirty="0">
                          <a:solidFill>
                            <a:srgbClr val="000000"/>
                          </a:solidFill>
                          <a:effectLst/>
                          <a:latin typeface="Arial"/>
                        </a:rPr>
                        <a:t>All defects reported during Test execution have been documented and resolved with acceptable dispositions (including root cause analysis).</a:t>
                      </a:r>
                    </a:p>
                    <a:p>
                      <a:pPr marL="628650" lvl="1" indent="-171450" algn="l">
                        <a:buClr>
                          <a:srgbClr val="000000"/>
                        </a:buClr>
                        <a:buFont typeface="Wingdings,Sans-Serif" panose="020B0604020202020204" pitchFamily="34" charset="0"/>
                        <a:buChar char="ü"/>
                      </a:pPr>
                      <a:r>
                        <a:rPr lang="en-US" sz="1200" b="0" i="0" u="none" strike="noStrike" noProof="0" dirty="0">
                          <a:solidFill>
                            <a:srgbClr val="000000"/>
                          </a:solidFill>
                          <a:effectLst/>
                          <a:latin typeface="Arial"/>
                        </a:rPr>
                        <a:t>No severity 1 or 2 defects outstanding</a:t>
                      </a:r>
                    </a:p>
                    <a:p>
                      <a:pPr marL="628650" lvl="1" indent="-171450" algn="l">
                        <a:buClr>
                          <a:srgbClr val="000000"/>
                        </a:buClr>
                        <a:buFont typeface="Wingdings,Sans-Serif" panose="020B0604020202020204" pitchFamily="34" charset="0"/>
                        <a:buChar char="ü"/>
                      </a:pPr>
                      <a:r>
                        <a:rPr lang="en-US" sz="1200" b="0" i="0" u="none" strike="noStrike" noProof="0" dirty="0">
                          <a:solidFill>
                            <a:srgbClr val="000000"/>
                          </a:solidFill>
                          <a:effectLst/>
                          <a:latin typeface="Arial"/>
                        </a:rPr>
                        <a:t>An approved plan to address Priority 3 and Priority 4 defects</a:t>
                      </a:r>
                    </a:p>
                    <a:p>
                      <a:pPr marL="171450" lvl="0" indent="-171450" algn="l">
                        <a:buClr>
                          <a:srgbClr val="000000"/>
                        </a:buClr>
                        <a:buFont typeface="Arial,Sans-Serif" panose="020B0604020202020204" pitchFamily="34" charset="0"/>
                        <a:buChar char="•"/>
                      </a:pPr>
                      <a:r>
                        <a:rPr lang="en-US" sz="1200" b="0" i="0" u="none" strike="noStrike" noProof="0" dirty="0">
                          <a:solidFill>
                            <a:srgbClr val="000000"/>
                          </a:solidFill>
                          <a:effectLst/>
                          <a:latin typeface="Arial"/>
                        </a:rPr>
                        <a:t>Status reports documenting results of all testing performed have been produced and distributed </a:t>
                      </a:r>
                      <a:endParaRPr lang="en-US" sz="1200" dirty="0">
                        <a:latin typeface="Arial"/>
                      </a:endParaRPr>
                    </a:p>
                    <a:p>
                      <a:pPr algn="l" fontAlgn="t"/>
                      <a:endParaRPr lang="en-CA" sz="1200" b="0" i="0" u="none" strike="noStrike" dirty="0">
                        <a:solidFill>
                          <a:srgbClr val="000000"/>
                        </a:solidFill>
                        <a:effectLst/>
                        <a:latin typeface="Arial"/>
                        <a:cs typeface="Segoe UI"/>
                      </a:endParaRPr>
                    </a:p>
                  </a:txBody>
                  <a:tcPr marL="4680" marR="4680" marT="4680" marB="0"/>
                </a:tc>
                <a:extLst>
                  <a:ext uri="{0D108BD9-81ED-4DB2-BD59-A6C34878D82A}">
                    <a16:rowId xmlns:a16="http://schemas.microsoft.com/office/drawing/2014/main" val="398987348"/>
                  </a:ext>
                </a:extLst>
              </a:tr>
            </a:tbl>
          </a:graphicData>
        </a:graphic>
      </p:graphicFrame>
      <p:sp>
        <p:nvSpPr>
          <p:cNvPr id="3" name="TextBox 2">
            <a:extLst>
              <a:ext uri="{FF2B5EF4-FFF2-40B4-BE49-F238E27FC236}">
                <a16:creationId xmlns:a16="http://schemas.microsoft.com/office/drawing/2014/main" id="{33B50F74-BD51-1F43-6031-8C5B299B84E2}"/>
              </a:ext>
            </a:extLst>
          </p:cNvPr>
          <p:cNvSpPr txBox="1"/>
          <p:nvPr/>
        </p:nvSpPr>
        <p:spPr>
          <a:xfrm>
            <a:off x="1164441" y="601444"/>
            <a:ext cx="5508757" cy="486287"/>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Segoe UI"/>
              </a:rPr>
              <a:t>Entry &amp; Exit Criteria</a:t>
            </a:r>
          </a:p>
        </p:txBody>
      </p:sp>
      <p:grpSp>
        <p:nvGrpSpPr>
          <p:cNvPr id="12" name="Group 11">
            <a:extLst>
              <a:ext uri="{FF2B5EF4-FFF2-40B4-BE49-F238E27FC236}">
                <a16:creationId xmlns:a16="http://schemas.microsoft.com/office/drawing/2014/main" id="{C306BFF4-91B7-E4D2-D7BF-67DE701FB961}"/>
              </a:ext>
            </a:extLst>
          </p:cNvPr>
          <p:cNvGrpSpPr/>
          <p:nvPr/>
        </p:nvGrpSpPr>
        <p:grpSpPr>
          <a:xfrm>
            <a:off x="1" y="4240"/>
            <a:ext cx="909836" cy="930066"/>
            <a:chOff x="1" y="-5685"/>
            <a:chExt cx="909836" cy="930066"/>
          </a:xfrm>
        </p:grpSpPr>
        <p:sp>
          <p:nvSpPr>
            <p:cNvPr id="8" name="Rectangle 7">
              <a:extLst>
                <a:ext uri="{FF2B5EF4-FFF2-40B4-BE49-F238E27FC236}">
                  <a16:creationId xmlns:a16="http://schemas.microsoft.com/office/drawing/2014/main" id="{1F704B48-CC5E-1565-70E9-9F466147CE10}"/>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9" name="Rectangle 8">
              <a:extLst>
                <a:ext uri="{FF2B5EF4-FFF2-40B4-BE49-F238E27FC236}">
                  <a16:creationId xmlns:a16="http://schemas.microsoft.com/office/drawing/2014/main" id="{09603D18-DFEF-7FD9-3529-C4E6C17E6A5D}"/>
                </a:ext>
              </a:extLst>
            </p:cNvPr>
            <p:cNvSpPr/>
            <p:nvPr/>
          </p:nvSpPr>
          <p:spPr>
            <a:xfrm rot="5400000">
              <a:off x="289785" y="4219"/>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0" name="Rectangle 9">
              <a:extLst>
                <a:ext uri="{FF2B5EF4-FFF2-40B4-BE49-F238E27FC236}">
                  <a16:creationId xmlns:a16="http://schemas.microsoft.com/office/drawing/2014/main" id="{08BFC6C6-492D-4148-26C6-AC25B10B12FF}"/>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1" name="Rectangle 10">
              <a:extLst>
                <a:ext uri="{FF2B5EF4-FFF2-40B4-BE49-F238E27FC236}">
                  <a16:creationId xmlns:a16="http://schemas.microsoft.com/office/drawing/2014/main" id="{109352E7-7468-14E6-B79B-85337FCA428C}"/>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21" name="Group 20">
            <a:extLst>
              <a:ext uri="{FF2B5EF4-FFF2-40B4-BE49-F238E27FC236}">
                <a16:creationId xmlns:a16="http://schemas.microsoft.com/office/drawing/2014/main" id="{45FEF22D-260B-A1B3-61C6-877E73AB9531}"/>
              </a:ext>
            </a:extLst>
          </p:cNvPr>
          <p:cNvGrpSpPr/>
          <p:nvPr/>
        </p:nvGrpSpPr>
        <p:grpSpPr>
          <a:xfrm>
            <a:off x="10342891" y="4962097"/>
            <a:ext cx="1845935" cy="1895903"/>
            <a:chOff x="0" y="0"/>
            <a:chExt cx="3161556" cy="3048050"/>
          </a:xfrm>
        </p:grpSpPr>
        <p:grpSp>
          <p:nvGrpSpPr>
            <p:cNvPr id="15" name="Group 14">
              <a:extLst>
                <a:ext uri="{FF2B5EF4-FFF2-40B4-BE49-F238E27FC236}">
                  <a16:creationId xmlns:a16="http://schemas.microsoft.com/office/drawing/2014/main" id="{A7B482B4-7CAF-21D1-847A-18C1BD23AC03}"/>
                </a:ext>
              </a:extLst>
            </p:cNvPr>
            <p:cNvGrpSpPr/>
            <p:nvPr/>
          </p:nvGrpSpPr>
          <p:grpSpPr>
            <a:xfrm>
              <a:off x="0" y="0"/>
              <a:ext cx="2107704" cy="2241545"/>
              <a:chOff x="0" y="0"/>
              <a:chExt cx="2107704" cy="2241545"/>
            </a:xfrm>
          </p:grpSpPr>
          <p:sp>
            <p:nvSpPr>
              <p:cNvPr id="19" name="Rectangle 18">
                <a:extLst>
                  <a:ext uri="{FF2B5EF4-FFF2-40B4-BE49-F238E27FC236}">
                    <a16:creationId xmlns:a16="http://schemas.microsoft.com/office/drawing/2014/main" id="{FA4DFEE4-4055-7933-ECE7-4DBC4B3E0A7B}"/>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19">
                <a:extLst>
                  <a:ext uri="{FF2B5EF4-FFF2-40B4-BE49-F238E27FC236}">
                    <a16:creationId xmlns:a16="http://schemas.microsoft.com/office/drawing/2014/main" id="{9CC3EB32-D459-751D-FC09-F867C9612782}"/>
                  </a:ext>
                </a:extLst>
              </p:cNvPr>
              <p:cNvSpPr/>
              <p:nvPr/>
            </p:nvSpPr>
            <p:spPr>
              <a:xfrm rot="5400000">
                <a:off x="1053852" y="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6" name="Group 15">
              <a:extLst>
                <a:ext uri="{FF2B5EF4-FFF2-40B4-BE49-F238E27FC236}">
                  <a16:creationId xmlns:a16="http://schemas.microsoft.com/office/drawing/2014/main" id="{36E6B93F-D16F-2674-222E-53374B3BAA38}"/>
                </a:ext>
              </a:extLst>
            </p:cNvPr>
            <p:cNvGrpSpPr/>
            <p:nvPr/>
          </p:nvGrpSpPr>
          <p:grpSpPr>
            <a:xfrm flipH="1" flipV="1">
              <a:off x="1072246" y="1059210"/>
              <a:ext cx="2089310" cy="1988840"/>
              <a:chOff x="1580778" y="1268760"/>
              <a:chExt cx="2089310" cy="1988840"/>
            </a:xfrm>
          </p:grpSpPr>
          <p:sp>
            <p:nvSpPr>
              <p:cNvPr id="17" name="Rectangle 16">
                <a:extLst>
                  <a:ext uri="{FF2B5EF4-FFF2-40B4-BE49-F238E27FC236}">
                    <a16:creationId xmlns:a16="http://schemas.microsoft.com/office/drawing/2014/main" id="{B16B54CD-AF68-4667-D4CB-49D6CAF8B914}"/>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48C77155-807F-5374-5BB7-CAD80AB285DD}"/>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3" name="Picture 22" descr="BEll company logo">
            <a:extLst>
              <a:ext uri="{FF2B5EF4-FFF2-40B4-BE49-F238E27FC236}">
                <a16:creationId xmlns:a16="http://schemas.microsoft.com/office/drawing/2014/main" id="{C5F42740-471B-A040-04A1-7A5B4962FF23}"/>
              </a:ext>
            </a:extLst>
          </p:cNvPr>
          <p:cNvPicPr>
            <a:picLocks noChangeAspect="1"/>
          </p:cNvPicPr>
          <p:nvPr/>
        </p:nvPicPr>
        <p:blipFill>
          <a:blip r:embed="rId2"/>
          <a:stretch>
            <a:fillRect/>
          </a:stretch>
        </p:blipFill>
        <p:spPr>
          <a:xfrm>
            <a:off x="11009239" y="635555"/>
            <a:ext cx="514513" cy="400050"/>
          </a:xfrm>
          <a:prstGeom prst="rect">
            <a:avLst/>
          </a:prstGeom>
        </p:spPr>
      </p:pic>
    </p:spTree>
    <p:extLst>
      <p:ext uri="{BB962C8B-B14F-4D97-AF65-F5344CB8AC3E}">
        <p14:creationId xmlns:p14="http://schemas.microsoft.com/office/powerpoint/2010/main" val="124399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ADADD7-A1F3-0058-6F2C-73DFEE311E0C}"/>
              </a:ext>
            </a:extLst>
          </p:cNvPr>
          <p:cNvPicPr>
            <a:picLocks noChangeAspect="1"/>
          </p:cNvPicPr>
          <p:nvPr/>
        </p:nvPicPr>
        <p:blipFill>
          <a:blip r:embed="rId2"/>
          <a:stretch>
            <a:fillRect/>
          </a:stretch>
        </p:blipFill>
        <p:spPr>
          <a:xfrm>
            <a:off x="619655" y="1191194"/>
            <a:ext cx="5513256" cy="3518427"/>
          </a:xfrm>
          <a:prstGeom prst="rect">
            <a:avLst/>
          </a:prstGeom>
        </p:spPr>
      </p:pic>
      <p:pic>
        <p:nvPicPr>
          <p:cNvPr id="12" name="Picture 11">
            <a:extLst>
              <a:ext uri="{FF2B5EF4-FFF2-40B4-BE49-F238E27FC236}">
                <a16:creationId xmlns:a16="http://schemas.microsoft.com/office/drawing/2014/main" id="{70BAE71E-5BD7-82B5-31F6-33441D9678A3}"/>
              </a:ext>
            </a:extLst>
          </p:cNvPr>
          <p:cNvPicPr>
            <a:picLocks noChangeAspect="1"/>
          </p:cNvPicPr>
          <p:nvPr/>
        </p:nvPicPr>
        <p:blipFill>
          <a:blip r:embed="rId3"/>
          <a:stretch>
            <a:fillRect/>
          </a:stretch>
        </p:blipFill>
        <p:spPr>
          <a:xfrm>
            <a:off x="6412665" y="1496839"/>
            <a:ext cx="5033705" cy="4317897"/>
          </a:xfrm>
          <a:prstGeom prst="rect">
            <a:avLst/>
          </a:prstGeom>
        </p:spPr>
      </p:pic>
      <p:grpSp>
        <p:nvGrpSpPr>
          <p:cNvPr id="18" name="Group 17">
            <a:extLst>
              <a:ext uri="{FF2B5EF4-FFF2-40B4-BE49-F238E27FC236}">
                <a16:creationId xmlns:a16="http://schemas.microsoft.com/office/drawing/2014/main" id="{B39FD330-CFA6-6311-296B-D902A4F15EED}"/>
              </a:ext>
            </a:extLst>
          </p:cNvPr>
          <p:cNvGrpSpPr/>
          <p:nvPr/>
        </p:nvGrpSpPr>
        <p:grpSpPr>
          <a:xfrm>
            <a:off x="1" y="9925"/>
            <a:ext cx="909836" cy="924381"/>
            <a:chOff x="1" y="0"/>
            <a:chExt cx="909836" cy="924381"/>
          </a:xfrm>
        </p:grpSpPr>
        <p:sp>
          <p:nvSpPr>
            <p:cNvPr id="11" name="Rectangle 10">
              <a:extLst>
                <a:ext uri="{FF2B5EF4-FFF2-40B4-BE49-F238E27FC236}">
                  <a16:creationId xmlns:a16="http://schemas.microsoft.com/office/drawing/2014/main" id="{C6463760-CA39-47CC-0ABD-00FD02BA8CD9}"/>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4" name="Rectangle 13">
              <a:extLst>
                <a:ext uri="{FF2B5EF4-FFF2-40B4-BE49-F238E27FC236}">
                  <a16:creationId xmlns:a16="http://schemas.microsoft.com/office/drawing/2014/main" id="{F75932D6-9EEB-6F21-4D52-325327C91A27}"/>
                </a:ext>
              </a:extLst>
            </p:cNvPr>
            <p:cNvSpPr/>
            <p:nvPr/>
          </p:nvSpPr>
          <p:spPr>
            <a:xfrm rot="5400000">
              <a:off x="289785" y="14304"/>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5" name="Rectangle 14">
              <a:extLst>
                <a:ext uri="{FF2B5EF4-FFF2-40B4-BE49-F238E27FC236}">
                  <a16:creationId xmlns:a16="http://schemas.microsoft.com/office/drawing/2014/main" id="{E7A5B745-B862-049E-D0EB-49963787554A}"/>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7" name="Rectangle 16">
              <a:extLst>
                <a:ext uri="{FF2B5EF4-FFF2-40B4-BE49-F238E27FC236}">
                  <a16:creationId xmlns:a16="http://schemas.microsoft.com/office/drawing/2014/main" id="{A3149076-4F6A-4A4F-EE5F-691274F4EE59}"/>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27" name="Group 26">
            <a:extLst>
              <a:ext uri="{FF2B5EF4-FFF2-40B4-BE49-F238E27FC236}">
                <a16:creationId xmlns:a16="http://schemas.microsoft.com/office/drawing/2014/main" id="{E5A2768F-D632-1B38-197A-63B1C83A5FB1}"/>
              </a:ext>
            </a:extLst>
          </p:cNvPr>
          <p:cNvGrpSpPr/>
          <p:nvPr/>
        </p:nvGrpSpPr>
        <p:grpSpPr>
          <a:xfrm>
            <a:off x="10342891" y="4962097"/>
            <a:ext cx="1845935" cy="1895903"/>
            <a:chOff x="0" y="0"/>
            <a:chExt cx="3161556" cy="3048050"/>
          </a:xfrm>
        </p:grpSpPr>
        <p:grpSp>
          <p:nvGrpSpPr>
            <p:cNvPr id="21" name="Group 20">
              <a:extLst>
                <a:ext uri="{FF2B5EF4-FFF2-40B4-BE49-F238E27FC236}">
                  <a16:creationId xmlns:a16="http://schemas.microsoft.com/office/drawing/2014/main" id="{24D3C66B-30BA-E770-0BEA-A1D2CD035840}"/>
                </a:ext>
              </a:extLst>
            </p:cNvPr>
            <p:cNvGrpSpPr/>
            <p:nvPr/>
          </p:nvGrpSpPr>
          <p:grpSpPr>
            <a:xfrm>
              <a:off x="0" y="0"/>
              <a:ext cx="2090423" cy="2241545"/>
              <a:chOff x="0" y="0"/>
              <a:chExt cx="2090423" cy="2241545"/>
            </a:xfrm>
          </p:grpSpPr>
          <p:sp>
            <p:nvSpPr>
              <p:cNvPr id="25" name="Rectangle 24">
                <a:extLst>
                  <a:ext uri="{FF2B5EF4-FFF2-40B4-BE49-F238E27FC236}">
                    <a16:creationId xmlns:a16="http://schemas.microsoft.com/office/drawing/2014/main" id="{965726CA-6B15-C054-1E03-4D3ADE314C07}"/>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25">
                <a:extLst>
                  <a:ext uri="{FF2B5EF4-FFF2-40B4-BE49-F238E27FC236}">
                    <a16:creationId xmlns:a16="http://schemas.microsoft.com/office/drawing/2014/main" id="{54D52632-731E-32E7-5644-006484C77343}"/>
                  </a:ext>
                </a:extLst>
              </p:cNvPr>
              <p:cNvSpPr/>
              <p:nvPr/>
            </p:nvSpPr>
            <p:spPr>
              <a:xfrm rot="5400000">
                <a:off x="1036570" y="0"/>
                <a:ext cx="1053853" cy="10538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2" name="Group 21">
              <a:extLst>
                <a:ext uri="{FF2B5EF4-FFF2-40B4-BE49-F238E27FC236}">
                  <a16:creationId xmlns:a16="http://schemas.microsoft.com/office/drawing/2014/main" id="{DDA9C786-894B-382F-F12B-00A8CD759807}"/>
                </a:ext>
              </a:extLst>
            </p:cNvPr>
            <p:cNvGrpSpPr/>
            <p:nvPr/>
          </p:nvGrpSpPr>
          <p:grpSpPr>
            <a:xfrm flipH="1" flipV="1">
              <a:off x="1072246" y="1059210"/>
              <a:ext cx="2089310" cy="1988840"/>
              <a:chOff x="1580778" y="1268760"/>
              <a:chExt cx="2089310" cy="1988840"/>
            </a:xfrm>
          </p:grpSpPr>
          <p:sp>
            <p:nvSpPr>
              <p:cNvPr id="23" name="Rectangle 22">
                <a:extLst>
                  <a:ext uri="{FF2B5EF4-FFF2-40B4-BE49-F238E27FC236}">
                    <a16:creationId xmlns:a16="http://schemas.microsoft.com/office/drawing/2014/main" id="{AFF70F59-DD20-69B7-A0A4-9E7C801740DD}"/>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Rectangle 23">
                <a:extLst>
                  <a:ext uri="{FF2B5EF4-FFF2-40B4-BE49-F238E27FC236}">
                    <a16:creationId xmlns:a16="http://schemas.microsoft.com/office/drawing/2014/main" id="{6C527ADA-67D9-91BB-0B62-E40382C24387}"/>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9" name="Picture 28" descr="BEll company logo">
            <a:extLst>
              <a:ext uri="{FF2B5EF4-FFF2-40B4-BE49-F238E27FC236}">
                <a16:creationId xmlns:a16="http://schemas.microsoft.com/office/drawing/2014/main" id="{11869B44-5C52-5221-931C-AC93DA0E6698}"/>
              </a:ext>
            </a:extLst>
          </p:cNvPr>
          <p:cNvPicPr>
            <a:picLocks noChangeAspect="1"/>
          </p:cNvPicPr>
          <p:nvPr/>
        </p:nvPicPr>
        <p:blipFill>
          <a:blip r:embed="rId4"/>
          <a:stretch>
            <a:fillRect/>
          </a:stretch>
        </p:blipFill>
        <p:spPr>
          <a:xfrm>
            <a:off x="11009239" y="635555"/>
            <a:ext cx="514513" cy="400050"/>
          </a:xfrm>
          <a:prstGeom prst="rect">
            <a:avLst/>
          </a:prstGeom>
        </p:spPr>
      </p:pic>
      <p:sp>
        <p:nvSpPr>
          <p:cNvPr id="31" name="TextBox 30">
            <a:extLst>
              <a:ext uri="{FF2B5EF4-FFF2-40B4-BE49-F238E27FC236}">
                <a16:creationId xmlns:a16="http://schemas.microsoft.com/office/drawing/2014/main" id="{EB0B1165-E644-D348-D8BD-F3B1F049CDEA}"/>
              </a:ext>
            </a:extLst>
          </p:cNvPr>
          <p:cNvSpPr txBox="1"/>
          <p:nvPr/>
        </p:nvSpPr>
        <p:spPr>
          <a:xfrm>
            <a:off x="1164441" y="601444"/>
            <a:ext cx="5508757" cy="486287"/>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Segoe UI"/>
              </a:rPr>
              <a:t>Sample Daily Dashboard</a:t>
            </a:r>
          </a:p>
        </p:txBody>
      </p:sp>
    </p:spTree>
    <p:extLst>
      <p:ext uri="{BB962C8B-B14F-4D97-AF65-F5344CB8AC3E}">
        <p14:creationId xmlns:p14="http://schemas.microsoft.com/office/powerpoint/2010/main" val="1704877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1+#ppt_w/2"/>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9B70CA-2875-E22A-7B10-B56E08D09A59}"/>
              </a:ext>
            </a:extLst>
          </p:cNvPr>
          <p:cNvSpPr>
            <a:spLocks noGrp="1"/>
          </p:cNvSpPr>
          <p:nvPr>
            <p:ph type="title" idx="4294967295"/>
          </p:nvPr>
        </p:nvSpPr>
        <p:spPr>
          <a:xfrm>
            <a:off x="1081907" y="463208"/>
            <a:ext cx="9381505" cy="711200"/>
          </a:xfrm>
        </p:spPr>
        <p:txBody>
          <a:bodyPr/>
          <a:lstStyle/>
          <a:p>
            <a:r>
              <a:rPr lang="en-CA" sz="3000" dirty="0">
                <a:latin typeface="Arial"/>
                <a:cs typeface="Arial"/>
              </a:rPr>
              <a:t>Test Management – Cadence, Tools &amp; Dashboards</a:t>
            </a:r>
            <a:endParaRPr lang="en-PH" sz="3000" dirty="0">
              <a:latin typeface="Segoe UI"/>
              <a:cs typeface="Segoe UI"/>
            </a:endParaRPr>
          </a:p>
        </p:txBody>
      </p:sp>
      <p:sp>
        <p:nvSpPr>
          <p:cNvPr id="3" name="TextBox 2">
            <a:extLst>
              <a:ext uri="{FF2B5EF4-FFF2-40B4-BE49-F238E27FC236}">
                <a16:creationId xmlns:a16="http://schemas.microsoft.com/office/drawing/2014/main" id="{73FF1DCC-3595-DEB9-E9D1-1C885CE6A208}"/>
              </a:ext>
            </a:extLst>
          </p:cNvPr>
          <p:cNvSpPr txBox="1"/>
          <p:nvPr/>
        </p:nvSpPr>
        <p:spPr>
          <a:xfrm>
            <a:off x="1092706" y="1036646"/>
            <a:ext cx="9064201" cy="5524589"/>
          </a:xfrm>
          <a:prstGeom prst="rect">
            <a:avLst/>
          </a:prstGeom>
          <a:noFill/>
        </p:spPr>
        <p:txBody>
          <a:bodyPr wrap="square" lIns="91440" tIns="45720" rIns="91440" bIns="45720" anchor="t">
            <a:spAutoFit/>
          </a:bodyPr>
          <a:lstStyle/>
          <a:p>
            <a:pPr marL="171450" indent="-171450">
              <a:buClr>
                <a:schemeClr val="accent4">
                  <a:lumMod val="75000"/>
                </a:schemeClr>
              </a:buClr>
              <a:buFont typeface="Arial" panose="020B0604020202020204" pitchFamily="34" charset="0"/>
              <a:buChar char="•"/>
            </a:pPr>
            <a:r>
              <a:rPr lang="en-CA" sz="1100" dirty="0">
                <a:latin typeface="Arial"/>
                <a:cs typeface="Arial"/>
              </a:rPr>
              <a:t>The following test management tools and processes will be used to plan, monitor, execute and report testing activities</a:t>
            </a:r>
          </a:p>
          <a:p>
            <a:pPr marL="780415" lvl="1" indent="-171450">
              <a:buClr>
                <a:schemeClr val="accent4">
                  <a:lumMod val="75000"/>
                </a:schemeClr>
              </a:buClr>
              <a:buFont typeface="Arial" panose="020B0604020202020204" pitchFamily="34" charset="0"/>
              <a:buChar char="•"/>
            </a:pPr>
            <a:endParaRPr lang="en-CA" sz="1100" dirty="0">
              <a:latin typeface="Arial"/>
              <a:cs typeface="Arial"/>
            </a:endParaRPr>
          </a:p>
          <a:p>
            <a:pPr marL="171450" indent="-171450">
              <a:buClr>
                <a:schemeClr val="accent4">
                  <a:lumMod val="75000"/>
                </a:schemeClr>
              </a:buClr>
              <a:buFont typeface="Arial" panose="020B0604020202020204" pitchFamily="34" charset="0"/>
              <a:buChar char="•"/>
            </a:pPr>
            <a:r>
              <a:rPr lang="en-CA" sz="1100" b="1" dirty="0">
                <a:latin typeface="Arial"/>
                <a:cs typeface="Arial"/>
              </a:rPr>
              <a:t>QA Scrum Agile Board:</a:t>
            </a:r>
          </a:p>
          <a:p>
            <a:pPr marL="742315" lvl="1" indent="-285115">
              <a:buClr>
                <a:schemeClr val="accent4">
                  <a:lumMod val="75000"/>
                </a:schemeClr>
              </a:buClr>
              <a:buFont typeface="Arial" panose="020B0604020202020204" pitchFamily="34" charset="0"/>
              <a:buChar char="•"/>
            </a:pPr>
            <a:r>
              <a:rPr lang="en-CA" sz="1100" dirty="0">
                <a:latin typeface="Arial"/>
                <a:cs typeface="Arial"/>
              </a:rPr>
              <a:t>QA JIRA board will be created to host all User Stories/Test Cases, track and update the status and effort </a:t>
            </a:r>
          </a:p>
          <a:p>
            <a:pPr marL="1199515" lvl="2" indent="-285115">
              <a:buClr>
                <a:schemeClr val="accent4">
                  <a:lumMod val="75000"/>
                </a:schemeClr>
              </a:buClr>
              <a:buFont typeface="Arial" panose="020B0604020202020204" pitchFamily="34" charset="0"/>
              <a:buChar char="•"/>
            </a:pPr>
            <a:r>
              <a:rPr lang="en-CA" sz="1100" dirty="0">
                <a:latin typeface="Arial"/>
                <a:cs typeface="Arial"/>
              </a:rPr>
              <a:t>QA Board Link: </a:t>
            </a:r>
            <a:r>
              <a:rPr lang="en-CA" sz="1100" u="sng" dirty="0">
                <a:solidFill>
                  <a:srgbClr val="0070C0"/>
                </a:solidFill>
                <a:highlight>
                  <a:srgbClr val="FFFF00"/>
                </a:highlight>
                <a:latin typeface="Arial"/>
                <a:cs typeface="Arial"/>
              </a:rPr>
              <a:t>insert your link to your Jira Board or tool	</a:t>
            </a:r>
          </a:p>
          <a:p>
            <a:pPr marL="171450" indent="-171450">
              <a:buClr>
                <a:schemeClr val="accent4">
                  <a:lumMod val="75000"/>
                </a:schemeClr>
              </a:buClr>
              <a:buFont typeface="Arial" panose="020B0604020202020204" pitchFamily="34" charset="0"/>
              <a:buChar char="•"/>
            </a:pPr>
            <a:r>
              <a:rPr lang="en-CA" sz="1100" b="1" dirty="0">
                <a:latin typeface="Arial"/>
                <a:cs typeface="Arial"/>
              </a:rPr>
              <a:t>Test Plan: </a:t>
            </a:r>
          </a:p>
          <a:p>
            <a:pPr marL="628015" lvl="1" indent="-171450">
              <a:buClr>
                <a:schemeClr val="accent4">
                  <a:lumMod val="75000"/>
                </a:schemeClr>
              </a:buClr>
              <a:buFont typeface="Arial" panose="020B0604020202020204" pitchFamily="34" charset="0"/>
              <a:buChar char="•"/>
            </a:pPr>
            <a:r>
              <a:rPr lang="en-CA" sz="1100" dirty="0">
                <a:latin typeface="Arial"/>
                <a:cs typeface="Arial"/>
              </a:rPr>
              <a:t>The Test Plan is located here:  </a:t>
            </a:r>
            <a:r>
              <a:rPr lang="en-CA" sz="1100" u="sng" dirty="0">
                <a:solidFill>
                  <a:srgbClr val="0070C0"/>
                </a:solidFill>
                <a:highlight>
                  <a:srgbClr val="FFFF00"/>
                </a:highlight>
                <a:latin typeface="Arial"/>
                <a:cs typeface="Arial"/>
              </a:rPr>
              <a:t>Insert link to the related test plan here </a:t>
            </a:r>
            <a:r>
              <a:rPr lang="en-CA" sz="1100" dirty="0">
                <a:latin typeface="Arial"/>
                <a:cs typeface="Arial"/>
              </a:rPr>
              <a:t>(including the subpage IE: Accessibility testing)</a:t>
            </a:r>
          </a:p>
          <a:p>
            <a:pPr marL="628015" lvl="1" indent="-171450">
              <a:buClr>
                <a:schemeClr val="accent4">
                  <a:lumMod val="75000"/>
                </a:schemeClr>
              </a:buClr>
              <a:buFont typeface="Arial" panose="020B0604020202020204" pitchFamily="34" charset="0"/>
              <a:buChar char="•"/>
            </a:pPr>
            <a:r>
              <a:rPr lang="en-CA" sz="1100" b="1" dirty="0">
                <a:latin typeface="Arial"/>
                <a:cs typeface="Arial"/>
              </a:rPr>
              <a:t>Automation Test Strategy if in Scope: </a:t>
            </a:r>
            <a:r>
              <a:rPr lang="en-CA" sz="1100" u="sng" dirty="0">
                <a:solidFill>
                  <a:srgbClr val="0070C0"/>
                </a:solidFill>
                <a:highlight>
                  <a:srgbClr val="FFFF00"/>
                </a:highlight>
                <a:latin typeface="Arial"/>
                <a:cs typeface="Arial"/>
              </a:rPr>
              <a:t>Insert link to the related automation strategy here </a:t>
            </a:r>
            <a:endParaRPr lang="en-CA" sz="1100" b="1" dirty="0">
              <a:latin typeface="Arial"/>
              <a:cs typeface="Arial"/>
            </a:endParaRPr>
          </a:p>
          <a:p>
            <a:pPr marL="171450" indent="-171450">
              <a:buClr>
                <a:schemeClr val="accent4">
                  <a:lumMod val="75000"/>
                </a:schemeClr>
              </a:buClr>
              <a:buFont typeface="Arial" panose="020B0604020202020204" pitchFamily="34" charset="0"/>
              <a:buChar char="•"/>
            </a:pPr>
            <a:r>
              <a:rPr lang="en-CA" sz="1100" b="1" dirty="0">
                <a:latin typeface="Arial"/>
                <a:cs typeface="Arial"/>
              </a:rPr>
              <a:t>Test Case Management:</a:t>
            </a:r>
          </a:p>
          <a:p>
            <a:pPr marL="742315" lvl="1" indent="-285115">
              <a:buClr>
                <a:schemeClr val="accent4">
                  <a:lumMod val="75000"/>
                </a:schemeClr>
              </a:buClr>
              <a:buFont typeface="Arial" panose="020B0604020202020204" pitchFamily="34" charset="0"/>
              <a:buChar char="•"/>
            </a:pPr>
            <a:r>
              <a:rPr lang="en-CA" sz="1100" dirty="0">
                <a:latin typeface="Arial"/>
                <a:cs typeface="Arial"/>
              </a:rPr>
              <a:t>Jira Xray will be used for test cases creation, execution and reporting</a:t>
            </a:r>
          </a:p>
          <a:p>
            <a:pPr marL="1199515" lvl="2" indent="-285115">
              <a:buClr>
                <a:schemeClr val="accent4">
                  <a:lumMod val="75000"/>
                </a:schemeClr>
              </a:buClr>
              <a:buFont typeface="Arial" panose="020B0604020202020204" pitchFamily="34" charset="0"/>
              <a:buChar char="•"/>
            </a:pPr>
            <a:r>
              <a:rPr lang="en-CA" sz="1100" dirty="0">
                <a:latin typeface="Arial"/>
                <a:ea typeface="Open Sans"/>
                <a:cs typeface="Open Sans"/>
              </a:rPr>
              <a:t>SIT and E2E test cases will be linked to features/user story in Jira and Confluence </a:t>
            </a:r>
            <a:endParaRPr lang="en-CA" sz="1100" dirty="0">
              <a:solidFill>
                <a:srgbClr val="FF0000"/>
              </a:solidFill>
              <a:latin typeface="Arial"/>
              <a:ea typeface="Open Sans"/>
              <a:cs typeface="Open Sans"/>
            </a:endParaRPr>
          </a:p>
          <a:p>
            <a:pPr marL="1656715" lvl="3" indent="-285115">
              <a:buClr>
                <a:schemeClr val="accent4">
                  <a:lumMod val="75000"/>
                </a:schemeClr>
              </a:buClr>
              <a:buFont typeface="Arial" panose="020B0604020202020204" pitchFamily="34" charset="0"/>
              <a:buChar char="•"/>
            </a:pPr>
            <a:r>
              <a:rPr lang="en-CA" sz="1100" dirty="0">
                <a:highlight>
                  <a:srgbClr val="FFFF00"/>
                </a:highlight>
                <a:latin typeface="Arial"/>
                <a:ea typeface="Open Sans"/>
                <a:cs typeface="Open Sans"/>
              </a:rPr>
              <a:t>JIRA/Xray:  </a:t>
            </a:r>
            <a:r>
              <a:rPr lang="en-CA" sz="1100" u="sng" dirty="0">
                <a:solidFill>
                  <a:schemeClr val="accent5">
                    <a:lumMod val="75000"/>
                  </a:schemeClr>
                </a:solidFill>
                <a:highlight>
                  <a:srgbClr val="FFFF00"/>
                </a:highlight>
                <a:latin typeface="Arial"/>
                <a:cs typeface="Arial"/>
              </a:rPr>
              <a:t>Link</a:t>
            </a:r>
            <a:endParaRPr lang="en-CA" sz="1100" dirty="0">
              <a:solidFill>
                <a:schemeClr val="accent5">
                  <a:lumMod val="75000"/>
                </a:schemeClr>
              </a:solidFill>
              <a:highlight>
                <a:srgbClr val="FFFF00"/>
              </a:highlight>
              <a:latin typeface="Arial"/>
              <a:ea typeface="Open Sans" panose="020B0604020202020204" charset="0"/>
              <a:cs typeface="Arial"/>
            </a:endParaRPr>
          </a:p>
          <a:p>
            <a:pPr marL="1656715" lvl="3" indent="-285115">
              <a:buClr>
                <a:schemeClr val="accent4">
                  <a:lumMod val="75000"/>
                </a:schemeClr>
              </a:buClr>
              <a:buFont typeface="Arial" panose="020B0604020202020204" pitchFamily="34" charset="0"/>
              <a:buChar char="•"/>
            </a:pPr>
            <a:r>
              <a:rPr lang="en-CA" sz="1100" dirty="0">
                <a:highlight>
                  <a:srgbClr val="FFFF00"/>
                </a:highlight>
                <a:latin typeface="Arial"/>
                <a:cs typeface="Arial"/>
              </a:rPr>
              <a:t>Confluence</a:t>
            </a:r>
            <a:r>
              <a:rPr lang="en-CA" sz="1100" dirty="0">
                <a:latin typeface="Arial"/>
                <a:cs typeface="Arial"/>
              </a:rPr>
              <a:t>: </a:t>
            </a:r>
            <a:r>
              <a:rPr lang="en-CA" sz="1100" u="sng" dirty="0">
                <a:solidFill>
                  <a:schemeClr val="accent5">
                    <a:lumMod val="75000"/>
                  </a:schemeClr>
                </a:solidFill>
                <a:latin typeface="Arial"/>
                <a:cs typeface="Arial"/>
              </a:rPr>
              <a:t>Link</a:t>
            </a:r>
          </a:p>
          <a:p>
            <a:pPr marL="1199515" lvl="2" indent="-285115">
              <a:buClr>
                <a:schemeClr val="accent4">
                  <a:lumMod val="75000"/>
                </a:schemeClr>
              </a:buClr>
              <a:buFont typeface="Arial" panose="020B0604020202020204" pitchFamily="34" charset="0"/>
              <a:buChar char="•"/>
            </a:pPr>
            <a:r>
              <a:rPr lang="en-CA" sz="1100" dirty="0">
                <a:latin typeface="Arial"/>
                <a:cs typeface="Arial"/>
              </a:rPr>
              <a:t>UAT test cases will be linked to Features</a:t>
            </a:r>
          </a:p>
          <a:p>
            <a:pPr marL="1656715" lvl="3" indent="-285115">
              <a:buClr>
                <a:schemeClr val="accent4">
                  <a:lumMod val="75000"/>
                </a:schemeClr>
              </a:buClr>
              <a:buFont typeface="Arial" panose="020B0604020202020204" pitchFamily="34" charset="0"/>
              <a:buChar char="•"/>
            </a:pPr>
            <a:r>
              <a:rPr lang="en-CA" sz="1100" u="sng" dirty="0">
                <a:solidFill>
                  <a:schemeClr val="accent5">
                    <a:lumMod val="75000"/>
                  </a:schemeClr>
                </a:solidFill>
                <a:latin typeface="Arial"/>
                <a:cs typeface="Arial"/>
              </a:rPr>
              <a:t>Link</a:t>
            </a:r>
          </a:p>
          <a:p>
            <a:pPr marL="1199515" lvl="2" indent="-285115">
              <a:buClr>
                <a:schemeClr val="accent4">
                  <a:lumMod val="75000"/>
                </a:schemeClr>
              </a:buClr>
              <a:buFont typeface="Arial" panose="020B0604020202020204" pitchFamily="34" charset="0"/>
              <a:buChar char="•"/>
            </a:pPr>
            <a:r>
              <a:rPr lang="en-CA" sz="1100" dirty="0">
                <a:latin typeface="Arial"/>
                <a:cs typeface="Arial"/>
              </a:rPr>
              <a:t>All necessary screenshots and test results will be saved during the test execution</a:t>
            </a:r>
          </a:p>
          <a:p>
            <a:pPr marL="171450" indent="-171450">
              <a:buClr>
                <a:schemeClr val="accent4">
                  <a:lumMod val="75000"/>
                </a:schemeClr>
              </a:buClr>
              <a:buFont typeface="Arial" panose="020B0604020202020204" pitchFamily="34" charset="0"/>
              <a:buChar char="•"/>
            </a:pPr>
            <a:r>
              <a:rPr lang="en-CA" sz="1100" b="1" dirty="0">
                <a:latin typeface="Arial"/>
                <a:cs typeface="Arial"/>
              </a:rPr>
              <a:t>Defect Management:</a:t>
            </a:r>
            <a:endParaRPr lang="en-CA" sz="1100" dirty="0">
              <a:latin typeface="Arial"/>
              <a:cs typeface="Arial"/>
            </a:endParaRPr>
          </a:p>
          <a:p>
            <a:pPr marL="742315" lvl="1" indent="-285115">
              <a:buClr>
                <a:schemeClr val="accent4">
                  <a:lumMod val="75000"/>
                </a:schemeClr>
              </a:buClr>
              <a:buFont typeface="Arial" panose="020B0604020202020204" pitchFamily="34" charset="0"/>
              <a:buChar char="•"/>
            </a:pPr>
            <a:r>
              <a:rPr lang="en-CA" sz="1100" dirty="0">
                <a:latin typeface="Arial"/>
                <a:cs typeface="Arial"/>
              </a:rPr>
              <a:t>Defects will be tracked and managed in JIRA. The Defect lifecycle is explained in subsequent slides</a:t>
            </a:r>
          </a:p>
          <a:p>
            <a:pPr marL="171450" indent="-171450">
              <a:buClr>
                <a:schemeClr val="accent4">
                  <a:lumMod val="75000"/>
                </a:schemeClr>
              </a:buClr>
              <a:buFont typeface="Arial" panose="020B0604020202020204" pitchFamily="34" charset="0"/>
              <a:buChar char="•"/>
            </a:pPr>
            <a:r>
              <a:rPr lang="en-CA" sz="1100" b="1" dirty="0">
                <a:latin typeface="Arial"/>
                <a:cs typeface="Arial"/>
              </a:rPr>
              <a:t>Reporting: </a:t>
            </a:r>
            <a:endParaRPr lang="en-CA" sz="1100" dirty="0">
              <a:latin typeface="Arial"/>
              <a:cs typeface="Arial"/>
            </a:endParaRPr>
          </a:p>
          <a:p>
            <a:pPr marL="285115" indent="-285115">
              <a:buClr>
                <a:schemeClr val="accent4">
                  <a:lumMod val="75000"/>
                </a:schemeClr>
              </a:buClr>
              <a:buFont typeface="Arial" panose="020B0604020202020204" pitchFamily="34" charset="0"/>
              <a:buChar char="•"/>
            </a:pPr>
            <a:r>
              <a:rPr lang="en-CA" sz="1100" dirty="0">
                <a:latin typeface="Arial"/>
                <a:cs typeface="Arial"/>
              </a:rPr>
              <a:t>The testing status will be reported in Miipe dashboard and </a:t>
            </a:r>
            <a:r>
              <a:rPr lang="en-US" sz="1100" dirty="0">
                <a:latin typeface="Arial"/>
                <a:cs typeface="Arial"/>
              </a:rPr>
              <a:t>will be communicated to the </a:t>
            </a:r>
            <a:r>
              <a:rPr lang="en-CA" sz="1100" dirty="0"/>
              <a:t>Play to Win SS Ph1 - Dashboard &amp; Warranty</a:t>
            </a:r>
            <a:r>
              <a:rPr lang="en-US" sz="1600" b="1" dirty="0"/>
              <a:t> </a:t>
            </a:r>
            <a:r>
              <a:rPr lang="en-US" sz="1100" dirty="0">
                <a:latin typeface="Arial"/>
                <a:cs typeface="Arial"/>
              </a:rPr>
              <a:t>team in a consolidated email </a:t>
            </a:r>
            <a:r>
              <a:rPr lang="en-CA" sz="1100" dirty="0">
                <a:latin typeface="Arial"/>
                <a:cs typeface="Arial"/>
              </a:rPr>
              <a:t>for all phases in progress. (Sample later in deck)</a:t>
            </a:r>
          </a:p>
          <a:p>
            <a:pPr marL="285115" indent="-285115">
              <a:buClr>
                <a:schemeClr val="accent4">
                  <a:lumMod val="75000"/>
                </a:schemeClr>
              </a:buClr>
              <a:buFont typeface="Arial" panose="020B0604020202020204" pitchFamily="34" charset="0"/>
              <a:buChar char="•"/>
            </a:pPr>
            <a:r>
              <a:rPr lang="en-US" sz="1100" dirty="0">
                <a:latin typeface="Arial"/>
                <a:cs typeface="Arial"/>
              </a:rPr>
              <a:t>The dashboard will </a:t>
            </a:r>
            <a:r>
              <a:rPr lang="en-CA" sz="1100" dirty="0">
                <a:latin typeface="Arial"/>
                <a:cs typeface="Arial"/>
              </a:rPr>
              <a:t>measure the following key dimensions:</a:t>
            </a:r>
          </a:p>
          <a:p>
            <a:pPr marL="171450" indent="-171450">
              <a:buClr>
                <a:schemeClr val="accent4">
                  <a:lumMod val="75000"/>
                </a:schemeClr>
              </a:buClr>
              <a:buFont typeface="Arial" panose="020B0604020202020204" pitchFamily="34" charset="0"/>
              <a:buChar char="•"/>
            </a:pPr>
            <a:endParaRPr lang="en-CA" sz="1100" dirty="0">
              <a:latin typeface="Arial"/>
              <a:cs typeface="Arial"/>
            </a:endParaRPr>
          </a:p>
          <a:p>
            <a:pPr marL="742315" lvl="1" indent="-285115">
              <a:buClr>
                <a:schemeClr val="accent4">
                  <a:lumMod val="75000"/>
                </a:schemeClr>
              </a:buClr>
              <a:buFont typeface="Arial" panose="020B0604020202020204" pitchFamily="34" charset="0"/>
              <a:buChar char="•"/>
            </a:pPr>
            <a:r>
              <a:rPr lang="en-CA" sz="1100" dirty="0">
                <a:latin typeface="Arial"/>
                <a:cs typeface="Arial"/>
              </a:rPr>
              <a:t>Overall Status: Overall Status of testing (Green, Yellow, Red), Planned execution vs Actual execution, Risks and issues.</a:t>
            </a:r>
          </a:p>
          <a:p>
            <a:pPr marL="742315" lvl="1" indent="-285115">
              <a:buClr>
                <a:schemeClr val="accent4">
                  <a:lumMod val="75000"/>
                </a:schemeClr>
              </a:buClr>
              <a:buFont typeface="Arial" panose="020B0604020202020204" pitchFamily="34" charset="0"/>
              <a:buChar char="•"/>
            </a:pPr>
            <a:r>
              <a:rPr lang="en-CA" sz="1100" dirty="0">
                <a:latin typeface="Arial"/>
                <a:cs typeface="Arial"/>
              </a:rPr>
              <a:t>Test Case Completion: Number/percentage of tests planned, executed, passed, failed or blocked to track the progress of the test execution</a:t>
            </a:r>
            <a:r>
              <a:rPr lang="en-US" sz="1100" dirty="0">
                <a:latin typeface="Arial"/>
                <a:cs typeface="Arial"/>
              </a:rPr>
              <a:t> within each iteration </a:t>
            </a:r>
            <a:endParaRPr lang="en-CA" sz="1100" dirty="0">
              <a:latin typeface="Arial"/>
              <a:cs typeface="Arial"/>
            </a:endParaRPr>
          </a:p>
          <a:p>
            <a:pPr marL="742315" lvl="1" indent="-285115">
              <a:buClr>
                <a:schemeClr val="accent4">
                  <a:lumMod val="75000"/>
                </a:schemeClr>
              </a:buClr>
              <a:buFont typeface="Arial" panose="020B0604020202020204" pitchFamily="34" charset="0"/>
              <a:buChar char="•"/>
            </a:pPr>
            <a:r>
              <a:rPr lang="en-CA" sz="1100" dirty="0">
                <a:latin typeface="Arial"/>
                <a:cs typeface="Arial"/>
              </a:rPr>
              <a:t>Test Schedule: List of test activities accomplished on the report date and plan for the upcoming day.</a:t>
            </a:r>
          </a:p>
          <a:p>
            <a:pPr marL="742315" lvl="1" indent="-285115">
              <a:buClr>
                <a:schemeClr val="accent4">
                  <a:lumMod val="75000"/>
                </a:schemeClr>
              </a:buClr>
              <a:buFont typeface="Arial" panose="020B0604020202020204" pitchFamily="34" charset="0"/>
              <a:buChar char="•"/>
            </a:pPr>
            <a:r>
              <a:rPr lang="en-CA" sz="1100" dirty="0">
                <a:latin typeface="Arial"/>
                <a:cs typeface="Arial"/>
              </a:rPr>
              <a:t>Defects List: List of Severity 1 and Severity 2 open defects</a:t>
            </a:r>
          </a:p>
          <a:p>
            <a:pPr marL="285115" indent="-285115">
              <a:buClr>
                <a:schemeClr val="accent4">
                  <a:lumMod val="75000"/>
                </a:schemeClr>
              </a:buClr>
              <a:buFont typeface="Arial" panose="020B0604020202020204" pitchFamily="34" charset="0"/>
              <a:buChar char="•"/>
            </a:pPr>
            <a:r>
              <a:rPr lang="en-CA" sz="1100" b="1" dirty="0">
                <a:latin typeface="Arial"/>
                <a:cs typeface="Arial"/>
              </a:rPr>
              <a:t>Ad hoc reporting: </a:t>
            </a:r>
            <a:endParaRPr lang="en-US" sz="1100" b="1" dirty="0">
              <a:latin typeface="Arial"/>
              <a:cs typeface="Arial"/>
            </a:endParaRPr>
          </a:p>
          <a:p>
            <a:pPr marL="742315" lvl="1" indent="-285115">
              <a:buClr>
                <a:schemeClr val="accent4">
                  <a:lumMod val="75000"/>
                </a:schemeClr>
              </a:buClr>
              <a:buFont typeface="Arial" panose="020B0604020202020204" pitchFamily="34" charset="0"/>
              <a:buChar char="•"/>
            </a:pPr>
            <a:r>
              <a:rPr lang="en-US" sz="1100" dirty="0">
                <a:latin typeface="Arial"/>
                <a:cs typeface="Arial"/>
              </a:rPr>
              <a:t>The Test Primes may use JIRA and X-Ray to provide an instant, detailed representation of the testing current status, including the status of defects</a:t>
            </a:r>
            <a:endParaRPr lang="en-CA" sz="1100" dirty="0">
              <a:latin typeface="Arial"/>
              <a:cs typeface="Arial"/>
            </a:endParaRPr>
          </a:p>
        </p:txBody>
      </p:sp>
      <p:grpSp>
        <p:nvGrpSpPr>
          <p:cNvPr id="17" name="Group 16">
            <a:extLst>
              <a:ext uri="{FF2B5EF4-FFF2-40B4-BE49-F238E27FC236}">
                <a16:creationId xmlns:a16="http://schemas.microsoft.com/office/drawing/2014/main" id="{748D5747-9D72-51C6-247B-2EE46DA2CC1A}"/>
              </a:ext>
            </a:extLst>
          </p:cNvPr>
          <p:cNvGrpSpPr/>
          <p:nvPr/>
        </p:nvGrpSpPr>
        <p:grpSpPr>
          <a:xfrm>
            <a:off x="1" y="9925"/>
            <a:ext cx="909836" cy="924381"/>
            <a:chOff x="1" y="0"/>
            <a:chExt cx="909836" cy="924381"/>
          </a:xfrm>
        </p:grpSpPr>
        <p:sp>
          <p:nvSpPr>
            <p:cNvPr id="6" name="Rectangle 5">
              <a:extLst>
                <a:ext uri="{FF2B5EF4-FFF2-40B4-BE49-F238E27FC236}">
                  <a16:creationId xmlns:a16="http://schemas.microsoft.com/office/drawing/2014/main" id="{38AE663E-DC9F-B0E8-AAED-9FCC5394A4FA}"/>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7" name="Rectangle 6">
              <a:extLst>
                <a:ext uri="{FF2B5EF4-FFF2-40B4-BE49-F238E27FC236}">
                  <a16:creationId xmlns:a16="http://schemas.microsoft.com/office/drawing/2014/main" id="{ADED2BC1-A286-FB55-2F9B-8C2CAE9DB2AE}"/>
                </a:ext>
              </a:extLst>
            </p:cNvPr>
            <p:cNvSpPr/>
            <p:nvPr/>
          </p:nvSpPr>
          <p:spPr>
            <a:xfrm rot="5400000">
              <a:off x="289785" y="14304"/>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8" name="Rectangle 7">
              <a:extLst>
                <a:ext uri="{FF2B5EF4-FFF2-40B4-BE49-F238E27FC236}">
                  <a16:creationId xmlns:a16="http://schemas.microsoft.com/office/drawing/2014/main" id="{9C760F90-E825-1305-A5CF-05030EF34C52}"/>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6" name="Rectangle 15">
              <a:extLst>
                <a:ext uri="{FF2B5EF4-FFF2-40B4-BE49-F238E27FC236}">
                  <a16:creationId xmlns:a16="http://schemas.microsoft.com/office/drawing/2014/main" id="{F232AAFE-FF47-ED24-F11F-BDA6773EF02A}"/>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25" name="Group 24">
            <a:extLst>
              <a:ext uri="{FF2B5EF4-FFF2-40B4-BE49-F238E27FC236}">
                <a16:creationId xmlns:a16="http://schemas.microsoft.com/office/drawing/2014/main" id="{DFB94B3A-1D74-3EBB-861C-DC0E686C1C95}"/>
              </a:ext>
            </a:extLst>
          </p:cNvPr>
          <p:cNvGrpSpPr/>
          <p:nvPr/>
        </p:nvGrpSpPr>
        <p:grpSpPr>
          <a:xfrm>
            <a:off x="10342891" y="4962097"/>
            <a:ext cx="1845934" cy="1895903"/>
            <a:chOff x="0" y="0"/>
            <a:chExt cx="3161556" cy="3048050"/>
          </a:xfrm>
        </p:grpSpPr>
        <p:grpSp>
          <p:nvGrpSpPr>
            <p:cNvPr id="19" name="Group 18">
              <a:extLst>
                <a:ext uri="{FF2B5EF4-FFF2-40B4-BE49-F238E27FC236}">
                  <a16:creationId xmlns:a16="http://schemas.microsoft.com/office/drawing/2014/main" id="{B1CAF615-3E47-D424-9F25-9A10CCF8E8C5}"/>
                </a:ext>
              </a:extLst>
            </p:cNvPr>
            <p:cNvGrpSpPr/>
            <p:nvPr/>
          </p:nvGrpSpPr>
          <p:grpSpPr>
            <a:xfrm>
              <a:off x="0" y="0"/>
              <a:ext cx="2090423" cy="2241545"/>
              <a:chOff x="0" y="0"/>
              <a:chExt cx="2090423" cy="2241545"/>
            </a:xfrm>
          </p:grpSpPr>
          <p:sp>
            <p:nvSpPr>
              <p:cNvPr id="23" name="Rectangle 22">
                <a:extLst>
                  <a:ext uri="{FF2B5EF4-FFF2-40B4-BE49-F238E27FC236}">
                    <a16:creationId xmlns:a16="http://schemas.microsoft.com/office/drawing/2014/main" id="{8F0AEA8D-FAA2-773A-D61D-F671CAA15930}"/>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Rectangle 23">
                <a:extLst>
                  <a:ext uri="{FF2B5EF4-FFF2-40B4-BE49-F238E27FC236}">
                    <a16:creationId xmlns:a16="http://schemas.microsoft.com/office/drawing/2014/main" id="{D3000897-988B-0F61-B829-CB7E1CB5F682}"/>
                  </a:ext>
                </a:extLst>
              </p:cNvPr>
              <p:cNvSpPr/>
              <p:nvPr/>
            </p:nvSpPr>
            <p:spPr>
              <a:xfrm rot="5400000">
                <a:off x="1036570" y="0"/>
                <a:ext cx="1053853" cy="10538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0" name="Group 19">
              <a:extLst>
                <a:ext uri="{FF2B5EF4-FFF2-40B4-BE49-F238E27FC236}">
                  <a16:creationId xmlns:a16="http://schemas.microsoft.com/office/drawing/2014/main" id="{E4DD17C0-B6B2-8D5A-CAF3-852639FE3BFA}"/>
                </a:ext>
              </a:extLst>
            </p:cNvPr>
            <p:cNvGrpSpPr/>
            <p:nvPr/>
          </p:nvGrpSpPr>
          <p:grpSpPr>
            <a:xfrm flipH="1" flipV="1">
              <a:off x="1072246" y="1059210"/>
              <a:ext cx="2089310" cy="1988840"/>
              <a:chOff x="1580778" y="1268760"/>
              <a:chExt cx="2089310" cy="1988840"/>
            </a:xfrm>
          </p:grpSpPr>
          <p:sp>
            <p:nvSpPr>
              <p:cNvPr id="21" name="Rectangle 20">
                <a:extLst>
                  <a:ext uri="{FF2B5EF4-FFF2-40B4-BE49-F238E27FC236}">
                    <a16:creationId xmlns:a16="http://schemas.microsoft.com/office/drawing/2014/main" id="{4C73353D-5273-5116-4C4D-DAD437DC39B0}"/>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Rectangle 21">
                <a:extLst>
                  <a:ext uri="{FF2B5EF4-FFF2-40B4-BE49-F238E27FC236}">
                    <a16:creationId xmlns:a16="http://schemas.microsoft.com/office/drawing/2014/main" id="{D00EC3D3-BF7D-90A9-1231-B37E3BA0AA71}"/>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7" name="Picture 26" descr="BEll company logo">
            <a:extLst>
              <a:ext uri="{FF2B5EF4-FFF2-40B4-BE49-F238E27FC236}">
                <a16:creationId xmlns:a16="http://schemas.microsoft.com/office/drawing/2014/main" id="{B1C04EC4-D2C2-B039-2BEF-3FFE68BDB4C5}"/>
              </a:ext>
            </a:extLst>
          </p:cNvPr>
          <p:cNvPicPr>
            <a:picLocks noChangeAspect="1"/>
          </p:cNvPicPr>
          <p:nvPr/>
        </p:nvPicPr>
        <p:blipFill>
          <a:blip r:embed="rId2"/>
          <a:stretch>
            <a:fillRect/>
          </a:stretch>
        </p:blipFill>
        <p:spPr>
          <a:xfrm>
            <a:off x="11009239" y="635555"/>
            <a:ext cx="514513" cy="400050"/>
          </a:xfrm>
          <a:prstGeom prst="rect">
            <a:avLst/>
          </a:prstGeom>
        </p:spPr>
      </p:pic>
    </p:spTree>
    <p:extLst>
      <p:ext uri="{BB962C8B-B14F-4D97-AF65-F5344CB8AC3E}">
        <p14:creationId xmlns:p14="http://schemas.microsoft.com/office/powerpoint/2010/main" val="326939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 presetClass="entr" presetSubtype="6" decel="8000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cBhvr additive="base">
                                        <p:cTn id="10" dur="500" fill="hold"/>
                                        <p:tgtEl>
                                          <p:spTgt spid="25"/>
                                        </p:tgtEl>
                                        <p:attrNameLst>
                                          <p:attrName>ppt_x</p:attrName>
                                        </p:attrNameLst>
                                      </p:cBhvr>
                                      <p:tavLst>
                                        <p:tav tm="0">
                                          <p:val>
                                            <p:strVal val="1+#ppt_w/2"/>
                                          </p:val>
                                        </p:tav>
                                        <p:tav tm="100000">
                                          <p:val>
                                            <p:strVal val="#ppt_x"/>
                                          </p:val>
                                        </p:tav>
                                      </p:tavLst>
                                    </p:anim>
                                    <p:anim calcmode="lin" valueType="num">
                                      <p:cBhvr additive="base">
                                        <p:cTn id="11"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B6798EE-89E5-B485-3E4C-C0CC778C5156}"/>
              </a:ext>
            </a:extLst>
          </p:cNvPr>
          <p:cNvSpPr>
            <a:spLocks noGrp="1"/>
          </p:cNvSpPr>
          <p:nvPr>
            <p:ph type="ctrTitle"/>
          </p:nvPr>
        </p:nvSpPr>
        <p:spPr>
          <a:xfrm>
            <a:off x="3715620" y="1633820"/>
            <a:ext cx="5256583" cy="1577329"/>
          </a:xfrm>
        </p:spPr>
        <p:txBody>
          <a:bodyPr>
            <a:normAutofit/>
          </a:bodyPr>
          <a:lstStyle/>
          <a:p>
            <a:pPr algn="ctr"/>
            <a:r>
              <a:rPr lang="en-US" dirty="0">
                <a:solidFill>
                  <a:schemeClr val="accent2">
                    <a:lumMod val="50000"/>
                  </a:schemeClr>
                </a:solidFill>
              </a:rPr>
              <a:t> </a:t>
            </a:r>
            <a:r>
              <a:rPr lang="en-US" sz="5400" dirty="0">
                <a:solidFill>
                  <a:schemeClr val="accent2">
                    <a:lumMod val="50000"/>
                  </a:schemeClr>
                </a:solidFill>
                <a:latin typeface="Arial"/>
                <a:cs typeface="Arial"/>
              </a:rPr>
              <a:t>Test Strategy</a:t>
            </a:r>
            <a:endParaRPr lang="en-PH" sz="5400" dirty="0">
              <a:solidFill>
                <a:schemeClr val="accent2">
                  <a:lumMod val="50000"/>
                </a:schemeClr>
              </a:solidFill>
              <a:latin typeface="Arial"/>
              <a:cs typeface="Arial"/>
            </a:endParaRPr>
          </a:p>
        </p:txBody>
      </p:sp>
      <p:sp>
        <p:nvSpPr>
          <p:cNvPr id="14" name="Subtitle 13">
            <a:extLst>
              <a:ext uri="{FF2B5EF4-FFF2-40B4-BE49-F238E27FC236}">
                <a16:creationId xmlns:a16="http://schemas.microsoft.com/office/drawing/2014/main" id="{3038F7C1-C8A5-240B-FE6A-9381D8F85E6C}"/>
              </a:ext>
            </a:extLst>
          </p:cNvPr>
          <p:cNvSpPr>
            <a:spLocks noGrp="1"/>
          </p:cNvSpPr>
          <p:nvPr>
            <p:ph type="subTitle" idx="1"/>
          </p:nvPr>
        </p:nvSpPr>
        <p:spPr>
          <a:xfrm>
            <a:off x="3715966" y="3210184"/>
            <a:ext cx="5256212" cy="1083520"/>
          </a:xfrm>
        </p:spPr>
        <p:txBody>
          <a:bodyPr vert="horz" lIns="0" tIns="60949" rIns="0" bIns="60949" rtlCol="0" anchor="t">
            <a:normAutofit fontScale="77500" lnSpcReduction="20000"/>
          </a:bodyPr>
          <a:lstStyle/>
          <a:p>
            <a:pPr algn="ctr"/>
            <a:r>
              <a:rPr lang="en-US" sz="2800" dirty="0">
                <a:solidFill>
                  <a:schemeClr val="accent2">
                    <a:lumMod val="50000"/>
                  </a:schemeClr>
                </a:solidFill>
                <a:latin typeface="Arial"/>
                <a:cs typeface="Arial"/>
              </a:rPr>
              <a:t>Questions??</a:t>
            </a:r>
          </a:p>
          <a:p>
            <a:pPr algn="ctr"/>
            <a:r>
              <a:rPr lang="en-US" sz="2800" dirty="0">
                <a:solidFill>
                  <a:schemeClr val="accent2">
                    <a:lumMod val="50000"/>
                  </a:schemeClr>
                </a:solidFill>
                <a:latin typeface="Arial"/>
                <a:cs typeface="Arial"/>
              </a:rPr>
              <a:t>&amp; </a:t>
            </a:r>
          </a:p>
          <a:p>
            <a:pPr algn="ctr"/>
            <a:r>
              <a:rPr lang="en-US" sz="2800" dirty="0">
                <a:solidFill>
                  <a:schemeClr val="accent2">
                    <a:lumMod val="50000"/>
                  </a:schemeClr>
                </a:solidFill>
                <a:latin typeface="Arial"/>
                <a:cs typeface="Arial"/>
              </a:rPr>
              <a:t>Appendix!!</a:t>
            </a:r>
            <a:endParaRPr lang="en-PH" sz="2800" dirty="0">
              <a:solidFill>
                <a:schemeClr val="accent2">
                  <a:lumMod val="50000"/>
                </a:schemeClr>
              </a:solidFill>
              <a:latin typeface="Arial"/>
              <a:cs typeface="Arial"/>
            </a:endParaRPr>
          </a:p>
        </p:txBody>
      </p:sp>
      <p:grpSp>
        <p:nvGrpSpPr>
          <p:cNvPr id="35" name="Group 34">
            <a:extLst>
              <a:ext uri="{FF2B5EF4-FFF2-40B4-BE49-F238E27FC236}">
                <a16:creationId xmlns:a16="http://schemas.microsoft.com/office/drawing/2014/main" id="{2F56953C-59D2-C4FB-73E0-A78C9214A75B}"/>
              </a:ext>
            </a:extLst>
          </p:cNvPr>
          <p:cNvGrpSpPr/>
          <p:nvPr/>
        </p:nvGrpSpPr>
        <p:grpSpPr>
          <a:xfrm>
            <a:off x="0" y="0"/>
            <a:ext cx="2286971" cy="2348879"/>
            <a:chOff x="0" y="0"/>
            <a:chExt cx="3161556" cy="3048050"/>
          </a:xfrm>
        </p:grpSpPr>
        <p:grpSp>
          <p:nvGrpSpPr>
            <p:cNvPr id="34" name="Group 33">
              <a:extLst>
                <a:ext uri="{FF2B5EF4-FFF2-40B4-BE49-F238E27FC236}">
                  <a16:creationId xmlns:a16="http://schemas.microsoft.com/office/drawing/2014/main" id="{18C875C2-9904-5429-B767-91847C491A29}"/>
                </a:ext>
              </a:extLst>
            </p:cNvPr>
            <p:cNvGrpSpPr/>
            <p:nvPr/>
          </p:nvGrpSpPr>
          <p:grpSpPr>
            <a:xfrm>
              <a:off x="0" y="0"/>
              <a:ext cx="2093982" cy="1988840"/>
              <a:chOff x="0" y="0"/>
              <a:chExt cx="2093982" cy="1988840"/>
            </a:xfrm>
          </p:grpSpPr>
          <p:sp>
            <p:nvSpPr>
              <p:cNvPr id="4" name="Rectangle 3">
                <a:extLst>
                  <a:ext uri="{FF2B5EF4-FFF2-40B4-BE49-F238E27FC236}">
                    <a16:creationId xmlns:a16="http://schemas.microsoft.com/office/drawing/2014/main" id="{E091BCCB-F132-C1EC-068B-D0654651AA32}"/>
                  </a:ext>
                </a:extLst>
              </p:cNvPr>
              <p:cNvSpPr/>
              <p:nvPr/>
            </p:nvSpPr>
            <p:spPr>
              <a:xfrm>
                <a:off x="0" y="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8300284B-E851-32D5-B5A5-AA1E6B6550F3}"/>
                  </a:ext>
                </a:extLst>
              </p:cNvPr>
              <p:cNvSpPr/>
              <p:nvPr/>
            </p:nvSpPr>
            <p:spPr>
              <a:xfrm rot="5400000">
                <a:off x="1040130" y="-1"/>
                <a:ext cx="1053852" cy="10538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9" name="Group 8">
              <a:extLst>
                <a:ext uri="{FF2B5EF4-FFF2-40B4-BE49-F238E27FC236}">
                  <a16:creationId xmlns:a16="http://schemas.microsoft.com/office/drawing/2014/main" id="{E3056729-A0A3-4211-ED94-E370761508B5}"/>
                </a:ext>
              </a:extLst>
            </p:cNvPr>
            <p:cNvGrpSpPr/>
            <p:nvPr/>
          </p:nvGrpSpPr>
          <p:grpSpPr>
            <a:xfrm flipH="1" flipV="1">
              <a:off x="1053852" y="1059210"/>
              <a:ext cx="2107704" cy="1988840"/>
              <a:chOff x="1580778" y="1268760"/>
              <a:chExt cx="2107704" cy="1988840"/>
            </a:xfrm>
          </p:grpSpPr>
          <p:sp>
            <p:nvSpPr>
              <p:cNvPr id="7" name="Rectangle 6">
                <a:extLst>
                  <a:ext uri="{FF2B5EF4-FFF2-40B4-BE49-F238E27FC236}">
                    <a16:creationId xmlns:a16="http://schemas.microsoft.com/office/drawing/2014/main" id="{46AD773B-3801-E7B1-4593-B1FA78EE2165}"/>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7">
                <a:extLst>
                  <a:ext uri="{FF2B5EF4-FFF2-40B4-BE49-F238E27FC236}">
                    <a16:creationId xmlns:a16="http://schemas.microsoft.com/office/drawing/2014/main" id="{69E00BEF-3FB6-7AC6-F08F-725E159C7CC6}"/>
                  </a:ext>
                </a:extLst>
              </p:cNvPr>
              <p:cNvSpPr/>
              <p:nvPr/>
            </p:nvSpPr>
            <p:spPr>
              <a:xfrm rot="5400000">
                <a:off x="2634630" y="1268760"/>
                <a:ext cx="1053852" cy="10538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46" name="Group 45">
            <a:extLst>
              <a:ext uri="{FF2B5EF4-FFF2-40B4-BE49-F238E27FC236}">
                <a16:creationId xmlns:a16="http://schemas.microsoft.com/office/drawing/2014/main" id="{54A88193-1E39-FC2B-45A7-08408AF63881}"/>
              </a:ext>
            </a:extLst>
          </p:cNvPr>
          <p:cNvGrpSpPr/>
          <p:nvPr/>
        </p:nvGrpSpPr>
        <p:grpSpPr>
          <a:xfrm>
            <a:off x="9867403" y="4476442"/>
            <a:ext cx="2321422" cy="2384262"/>
            <a:chOff x="0" y="0"/>
            <a:chExt cx="3161556" cy="3048050"/>
          </a:xfrm>
        </p:grpSpPr>
        <p:grpSp>
          <p:nvGrpSpPr>
            <p:cNvPr id="47" name="Group 46">
              <a:extLst>
                <a:ext uri="{FF2B5EF4-FFF2-40B4-BE49-F238E27FC236}">
                  <a16:creationId xmlns:a16="http://schemas.microsoft.com/office/drawing/2014/main" id="{A9D9AD15-4B50-CCCC-C9E2-E3B7BDEA0B3E}"/>
                </a:ext>
              </a:extLst>
            </p:cNvPr>
            <p:cNvGrpSpPr/>
            <p:nvPr/>
          </p:nvGrpSpPr>
          <p:grpSpPr>
            <a:xfrm>
              <a:off x="0" y="0"/>
              <a:ext cx="2094185" cy="1988840"/>
              <a:chOff x="0" y="0"/>
              <a:chExt cx="2094185" cy="1988840"/>
            </a:xfrm>
          </p:grpSpPr>
          <p:sp>
            <p:nvSpPr>
              <p:cNvPr id="51" name="Rectangle 50">
                <a:extLst>
                  <a:ext uri="{FF2B5EF4-FFF2-40B4-BE49-F238E27FC236}">
                    <a16:creationId xmlns:a16="http://schemas.microsoft.com/office/drawing/2014/main" id="{FB7F1DF6-D34E-E7D0-6FBF-1AA39BBD11C9}"/>
                  </a:ext>
                </a:extLst>
              </p:cNvPr>
              <p:cNvSpPr/>
              <p:nvPr/>
            </p:nvSpPr>
            <p:spPr>
              <a:xfrm>
                <a:off x="0" y="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2" name="Rectangle 51">
                <a:extLst>
                  <a:ext uri="{FF2B5EF4-FFF2-40B4-BE49-F238E27FC236}">
                    <a16:creationId xmlns:a16="http://schemas.microsoft.com/office/drawing/2014/main" id="{D4CE5DEA-1197-4679-1AFA-D4ED1C0693F8}"/>
                  </a:ext>
                </a:extLst>
              </p:cNvPr>
              <p:cNvSpPr/>
              <p:nvPr/>
            </p:nvSpPr>
            <p:spPr>
              <a:xfrm rot="5400000">
                <a:off x="1040333" y="0"/>
                <a:ext cx="1053852" cy="105385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48" name="Group 47">
              <a:extLst>
                <a:ext uri="{FF2B5EF4-FFF2-40B4-BE49-F238E27FC236}">
                  <a16:creationId xmlns:a16="http://schemas.microsoft.com/office/drawing/2014/main" id="{FF625148-830F-2B21-4061-2B9BD7D86638}"/>
                </a:ext>
              </a:extLst>
            </p:cNvPr>
            <p:cNvGrpSpPr/>
            <p:nvPr/>
          </p:nvGrpSpPr>
          <p:grpSpPr>
            <a:xfrm flipH="1" flipV="1">
              <a:off x="1067371" y="1059210"/>
              <a:ext cx="2094185" cy="1988840"/>
              <a:chOff x="1580778" y="1268760"/>
              <a:chExt cx="2094185" cy="1988840"/>
            </a:xfrm>
          </p:grpSpPr>
          <p:sp>
            <p:nvSpPr>
              <p:cNvPr id="49" name="Rectangle 48">
                <a:extLst>
                  <a:ext uri="{FF2B5EF4-FFF2-40B4-BE49-F238E27FC236}">
                    <a16:creationId xmlns:a16="http://schemas.microsoft.com/office/drawing/2014/main" id="{DF874B29-42A3-56C3-7616-6BEA402B37DB}"/>
                  </a:ext>
                </a:extLst>
              </p:cNvPr>
              <p:cNvSpPr/>
              <p:nvPr/>
            </p:nvSpPr>
            <p:spPr>
              <a:xfrm>
                <a:off x="1580778" y="1268760"/>
                <a:ext cx="1053852" cy="198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0" name="Rectangle 49">
                <a:extLst>
                  <a:ext uri="{FF2B5EF4-FFF2-40B4-BE49-F238E27FC236}">
                    <a16:creationId xmlns:a16="http://schemas.microsoft.com/office/drawing/2014/main" id="{60AF880D-67C7-CC8B-8FC7-C8C61F1056C1}"/>
                  </a:ext>
                </a:extLst>
              </p:cNvPr>
              <p:cNvSpPr/>
              <p:nvPr/>
            </p:nvSpPr>
            <p:spPr>
              <a:xfrm rot="5400000">
                <a:off x="2621111" y="1281448"/>
                <a:ext cx="1053852" cy="10538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sp>
        <p:nvSpPr>
          <p:cNvPr id="53" name="Rectangle 52">
            <a:extLst>
              <a:ext uri="{FF2B5EF4-FFF2-40B4-BE49-F238E27FC236}">
                <a16:creationId xmlns:a16="http://schemas.microsoft.com/office/drawing/2014/main" id="{F2A5A902-0811-68B2-ACE8-181F7BED469A}"/>
              </a:ext>
            </a:extLst>
          </p:cNvPr>
          <p:cNvSpPr/>
          <p:nvPr/>
        </p:nvSpPr>
        <p:spPr>
          <a:xfrm>
            <a:off x="7433989" y="5283584"/>
            <a:ext cx="433661" cy="4336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4" name="Rectangle 53">
            <a:extLst>
              <a:ext uri="{FF2B5EF4-FFF2-40B4-BE49-F238E27FC236}">
                <a16:creationId xmlns:a16="http://schemas.microsoft.com/office/drawing/2014/main" id="{21E23C5F-E490-1131-AB0E-1E1029B5D7F9}"/>
              </a:ext>
            </a:extLst>
          </p:cNvPr>
          <p:cNvSpPr/>
          <p:nvPr/>
        </p:nvSpPr>
        <p:spPr>
          <a:xfrm>
            <a:off x="7000327" y="4849923"/>
            <a:ext cx="433661" cy="43366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5" name="Rectangle 54">
            <a:extLst>
              <a:ext uri="{FF2B5EF4-FFF2-40B4-BE49-F238E27FC236}">
                <a16:creationId xmlns:a16="http://schemas.microsoft.com/office/drawing/2014/main" id="{DC189EE3-A634-B9FA-D1F2-FAD7D30FAEA1}"/>
              </a:ext>
            </a:extLst>
          </p:cNvPr>
          <p:cNvSpPr/>
          <p:nvPr/>
        </p:nvSpPr>
        <p:spPr>
          <a:xfrm>
            <a:off x="7869857" y="5717245"/>
            <a:ext cx="433661" cy="43366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6" name="Rectangle 55">
            <a:extLst>
              <a:ext uri="{FF2B5EF4-FFF2-40B4-BE49-F238E27FC236}">
                <a16:creationId xmlns:a16="http://schemas.microsoft.com/office/drawing/2014/main" id="{1462A445-F75A-F612-817B-6D6A1F5A06C1}"/>
              </a:ext>
            </a:extLst>
          </p:cNvPr>
          <p:cNvSpPr/>
          <p:nvPr/>
        </p:nvSpPr>
        <p:spPr>
          <a:xfrm>
            <a:off x="7433989" y="6150906"/>
            <a:ext cx="433661" cy="4336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7" name="Rectangle 56">
            <a:extLst>
              <a:ext uri="{FF2B5EF4-FFF2-40B4-BE49-F238E27FC236}">
                <a16:creationId xmlns:a16="http://schemas.microsoft.com/office/drawing/2014/main" id="{EB20B6FC-B2EB-E31F-0C13-857A897B3976}"/>
              </a:ext>
            </a:extLst>
          </p:cNvPr>
          <p:cNvSpPr/>
          <p:nvPr/>
        </p:nvSpPr>
        <p:spPr>
          <a:xfrm>
            <a:off x="7000327" y="6575589"/>
            <a:ext cx="433661" cy="2824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8" name="Rectangle 57">
            <a:extLst>
              <a:ext uri="{FF2B5EF4-FFF2-40B4-BE49-F238E27FC236}">
                <a16:creationId xmlns:a16="http://schemas.microsoft.com/office/drawing/2014/main" id="{9598005E-BEDE-9A32-A43E-C319BF79E6E7}"/>
              </a:ext>
            </a:extLst>
          </p:cNvPr>
          <p:cNvSpPr/>
          <p:nvPr/>
        </p:nvSpPr>
        <p:spPr>
          <a:xfrm>
            <a:off x="8303518" y="6150906"/>
            <a:ext cx="433661" cy="4336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75" name="Group 74">
            <a:extLst>
              <a:ext uri="{FF2B5EF4-FFF2-40B4-BE49-F238E27FC236}">
                <a16:creationId xmlns:a16="http://schemas.microsoft.com/office/drawing/2014/main" id="{09826777-46DE-7B3E-F0BA-E2EB771083C3}"/>
              </a:ext>
            </a:extLst>
          </p:cNvPr>
          <p:cNvGrpSpPr/>
          <p:nvPr/>
        </p:nvGrpSpPr>
        <p:grpSpPr>
          <a:xfrm>
            <a:off x="0" y="4555213"/>
            <a:ext cx="1556740" cy="2301248"/>
            <a:chOff x="0" y="4555213"/>
            <a:chExt cx="1556740" cy="2301248"/>
          </a:xfrm>
        </p:grpSpPr>
        <p:grpSp>
          <p:nvGrpSpPr>
            <p:cNvPr id="61" name="Group 60">
              <a:extLst>
                <a:ext uri="{FF2B5EF4-FFF2-40B4-BE49-F238E27FC236}">
                  <a16:creationId xmlns:a16="http://schemas.microsoft.com/office/drawing/2014/main" id="{006DACB5-CCFE-975A-D4F4-646486762448}"/>
                </a:ext>
              </a:extLst>
            </p:cNvPr>
            <p:cNvGrpSpPr/>
            <p:nvPr/>
          </p:nvGrpSpPr>
          <p:grpSpPr>
            <a:xfrm flipH="1">
              <a:off x="0" y="5281590"/>
              <a:ext cx="1556740" cy="1574871"/>
              <a:chOff x="5442484" y="5300663"/>
              <a:chExt cx="1556740" cy="1574871"/>
            </a:xfrm>
          </p:grpSpPr>
          <p:sp>
            <p:nvSpPr>
              <p:cNvPr id="59" name="Rectangle 58">
                <a:extLst>
                  <a:ext uri="{FF2B5EF4-FFF2-40B4-BE49-F238E27FC236}">
                    <a16:creationId xmlns:a16="http://schemas.microsoft.com/office/drawing/2014/main" id="{A5D9B693-A464-B90E-B07E-916CD2F5CBDF}"/>
                  </a:ext>
                </a:extLst>
              </p:cNvPr>
              <p:cNvSpPr/>
              <p:nvPr/>
            </p:nvSpPr>
            <p:spPr>
              <a:xfrm flipH="1" flipV="1">
                <a:off x="6215891" y="5300663"/>
                <a:ext cx="783333" cy="157487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0" name="Rectangle 59">
                <a:extLst>
                  <a:ext uri="{FF2B5EF4-FFF2-40B4-BE49-F238E27FC236}">
                    <a16:creationId xmlns:a16="http://schemas.microsoft.com/office/drawing/2014/main" id="{3C6E132F-D806-36B7-4533-063132E07119}"/>
                  </a:ext>
                </a:extLst>
              </p:cNvPr>
              <p:cNvSpPr/>
              <p:nvPr/>
            </p:nvSpPr>
            <p:spPr>
              <a:xfrm rot="5400000" flipH="1" flipV="1">
                <a:off x="5416902" y="6066619"/>
                <a:ext cx="834497" cy="7833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sp>
          <p:nvSpPr>
            <p:cNvPr id="62" name="Rectangle 61">
              <a:extLst>
                <a:ext uri="{FF2B5EF4-FFF2-40B4-BE49-F238E27FC236}">
                  <a16:creationId xmlns:a16="http://schemas.microsoft.com/office/drawing/2014/main" id="{D1BE6E7E-FA04-47C4-B5C6-28544C5F125E}"/>
                </a:ext>
              </a:extLst>
            </p:cNvPr>
            <p:cNvSpPr/>
            <p:nvPr/>
          </p:nvSpPr>
          <p:spPr>
            <a:xfrm>
              <a:off x="781858" y="4555213"/>
              <a:ext cx="742789" cy="74278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sp>
        <p:nvSpPr>
          <p:cNvPr id="74" name="Rectangle 73">
            <a:extLst>
              <a:ext uri="{FF2B5EF4-FFF2-40B4-BE49-F238E27FC236}">
                <a16:creationId xmlns:a16="http://schemas.microsoft.com/office/drawing/2014/main" id="{1D13D807-EB61-77B2-721A-BE33CBF82B43}"/>
              </a:ext>
            </a:extLst>
          </p:cNvPr>
          <p:cNvSpPr/>
          <p:nvPr/>
        </p:nvSpPr>
        <p:spPr>
          <a:xfrm>
            <a:off x="7867649" y="6575589"/>
            <a:ext cx="433661" cy="2824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5" name="Group 14">
            <a:extLst>
              <a:ext uri="{FF2B5EF4-FFF2-40B4-BE49-F238E27FC236}">
                <a16:creationId xmlns:a16="http://schemas.microsoft.com/office/drawing/2014/main" id="{8ECBD57F-D57E-3F56-2D2A-E5BD84B1FD65}"/>
              </a:ext>
            </a:extLst>
          </p:cNvPr>
          <p:cNvGrpSpPr/>
          <p:nvPr/>
        </p:nvGrpSpPr>
        <p:grpSpPr>
          <a:xfrm rot="16200000" flipH="1" flipV="1">
            <a:off x="10670109" y="-13919"/>
            <a:ext cx="1514722" cy="1542559"/>
            <a:chOff x="1580778" y="1255881"/>
            <a:chExt cx="2093984" cy="2001719"/>
          </a:xfrm>
          <a:solidFill>
            <a:schemeClr val="accent4"/>
          </a:solidFill>
        </p:grpSpPr>
        <p:sp>
          <p:nvSpPr>
            <p:cNvPr id="16" name="Rectangle 15">
              <a:extLst>
                <a:ext uri="{FF2B5EF4-FFF2-40B4-BE49-F238E27FC236}">
                  <a16:creationId xmlns:a16="http://schemas.microsoft.com/office/drawing/2014/main" id="{6D0EED18-CF6D-850E-74A9-9B5CAD8FECBB}"/>
                </a:ext>
              </a:extLst>
            </p:cNvPr>
            <p:cNvSpPr/>
            <p:nvPr/>
          </p:nvSpPr>
          <p:spPr>
            <a:xfrm>
              <a:off x="1580778" y="1268760"/>
              <a:ext cx="1053852" cy="19888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7" name="Rectangle 16">
              <a:extLst>
                <a:ext uri="{FF2B5EF4-FFF2-40B4-BE49-F238E27FC236}">
                  <a16:creationId xmlns:a16="http://schemas.microsoft.com/office/drawing/2014/main" id="{9639724F-BCAA-1FB5-5385-0674F5B1CE8F}"/>
                </a:ext>
              </a:extLst>
            </p:cNvPr>
            <p:cNvSpPr/>
            <p:nvPr/>
          </p:nvSpPr>
          <p:spPr>
            <a:xfrm rot="5400000">
              <a:off x="2620910" y="1255880"/>
              <a:ext cx="1053852" cy="10538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spTree>
    <p:extLst>
      <p:ext uri="{BB962C8B-B14F-4D97-AF65-F5344CB8AC3E}">
        <p14:creationId xmlns:p14="http://schemas.microsoft.com/office/powerpoint/2010/main" val="320347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8000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0-#ppt_w/2"/>
                                          </p:val>
                                        </p:tav>
                                        <p:tav tm="100000">
                                          <p:val>
                                            <p:strVal val="#ppt_x"/>
                                          </p:val>
                                        </p:tav>
                                      </p:tavLst>
                                    </p:anim>
                                    <p:anim calcmode="lin" valueType="num">
                                      <p:cBhvr additive="base">
                                        <p:cTn id="8" dur="500" fill="hold"/>
                                        <p:tgtEl>
                                          <p:spTgt spid="35"/>
                                        </p:tgtEl>
                                        <p:attrNameLst>
                                          <p:attrName>ppt_y</p:attrName>
                                        </p:attrNameLst>
                                      </p:cBhvr>
                                      <p:tavLst>
                                        <p:tav tm="0">
                                          <p:val>
                                            <p:strVal val="0-#ppt_h/2"/>
                                          </p:val>
                                        </p:tav>
                                        <p:tav tm="100000">
                                          <p:val>
                                            <p:strVal val="#ppt_y"/>
                                          </p:val>
                                        </p:tav>
                                      </p:tavLst>
                                    </p:anim>
                                  </p:childTnLst>
                                </p:cTn>
                              </p:par>
                              <p:par>
                                <p:cTn id="9" presetID="2" presetClass="entr" presetSubtype="6" decel="80000"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1+#ppt_w/2"/>
                                          </p:val>
                                        </p:tav>
                                        <p:tav tm="100000">
                                          <p:val>
                                            <p:strVal val="#ppt_x"/>
                                          </p:val>
                                        </p:tav>
                                      </p:tavLst>
                                    </p:anim>
                                    <p:anim calcmode="lin" valueType="num">
                                      <p:cBhvr additive="base">
                                        <p:cTn id="12" dur="500" fill="hold"/>
                                        <p:tgtEl>
                                          <p:spTgt spid="46"/>
                                        </p:tgtEl>
                                        <p:attrNameLst>
                                          <p:attrName>ppt_y</p:attrName>
                                        </p:attrNameLst>
                                      </p:cBhvr>
                                      <p:tavLst>
                                        <p:tav tm="0">
                                          <p:val>
                                            <p:strVal val="1+#ppt_h/2"/>
                                          </p:val>
                                        </p:tav>
                                        <p:tav tm="100000">
                                          <p:val>
                                            <p:strVal val="#ppt_y"/>
                                          </p:val>
                                        </p:tav>
                                      </p:tavLst>
                                    </p:anim>
                                  </p:childTnLst>
                                </p:cTn>
                              </p:par>
                              <p:par>
                                <p:cTn id="13" presetID="2" presetClass="entr" presetSubtype="12" decel="8000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anim calcmode="lin" valueType="num">
                                      <p:cBhvr additive="base">
                                        <p:cTn id="15" dur="500" fill="hold"/>
                                        <p:tgtEl>
                                          <p:spTgt spid="75"/>
                                        </p:tgtEl>
                                        <p:attrNameLst>
                                          <p:attrName>ppt_x</p:attrName>
                                        </p:attrNameLst>
                                      </p:cBhvr>
                                      <p:tavLst>
                                        <p:tav tm="0">
                                          <p:val>
                                            <p:strVal val="0-#ppt_w/2"/>
                                          </p:val>
                                        </p:tav>
                                        <p:tav tm="100000">
                                          <p:val>
                                            <p:strVal val="#ppt_x"/>
                                          </p:val>
                                        </p:tav>
                                      </p:tavLst>
                                    </p:anim>
                                    <p:anim calcmode="lin" valueType="num">
                                      <p:cBhvr additive="base">
                                        <p:cTn id="16" dur="500" fill="hold"/>
                                        <p:tgtEl>
                                          <p:spTgt spid="75"/>
                                        </p:tgtEl>
                                        <p:attrNameLst>
                                          <p:attrName>ppt_y</p:attrName>
                                        </p:attrNameLst>
                                      </p:cBhvr>
                                      <p:tavLst>
                                        <p:tav tm="0">
                                          <p:val>
                                            <p:strVal val="1+#ppt_h/2"/>
                                          </p:val>
                                        </p:tav>
                                        <p:tav tm="100000">
                                          <p:val>
                                            <p:strVal val="#ppt_y"/>
                                          </p:val>
                                        </p:tav>
                                      </p:tavLst>
                                    </p:anim>
                                  </p:childTnLst>
                                </p:cTn>
                              </p:par>
                              <p:par>
                                <p:cTn id="17" presetID="22" presetClass="entr" presetSubtype="4" fill="hold" grpId="0" nodeType="withEffect">
                                  <p:stCondLst>
                                    <p:cond delay="25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par>
                                <p:cTn id="20" presetID="22" presetClass="entr" presetSubtype="1" fill="hold" grpId="0" nodeType="withEffect">
                                  <p:stCondLst>
                                    <p:cond delay="25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wipe(up)">
                                      <p:cBhvr>
                                        <p:cTn id="22" dur="500"/>
                                        <p:tgtEl>
                                          <p:spTgt spid="14">
                                            <p:txEl>
                                              <p:pRg st="0" end="0"/>
                                            </p:txEl>
                                          </p:spTgt>
                                        </p:tgtEl>
                                      </p:cBhvr>
                                    </p:animEffect>
                                  </p:childTnLst>
                                </p:cTn>
                              </p:par>
                              <p:par>
                                <p:cTn id="23" presetID="22" presetClass="entr" presetSubtype="1" fill="hold" grpId="0" nodeType="withEffect">
                                  <p:stCondLst>
                                    <p:cond delay="250"/>
                                  </p:stCondLst>
                                  <p:childTnLst>
                                    <p:set>
                                      <p:cBhvr>
                                        <p:cTn id="24" dur="1" fill="hold">
                                          <p:stCondLst>
                                            <p:cond delay="0"/>
                                          </p:stCondLst>
                                        </p:cTn>
                                        <p:tgtEl>
                                          <p:spTgt spid="14">
                                            <p:txEl>
                                              <p:pRg st="1" end="1"/>
                                            </p:txEl>
                                          </p:spTgt>
                                        </p:tgtEl>
                                        <p:attrNameLst>
                                          <p:attrName>style.visibility</p:attrName>
                                        </p:attrNameLst>
                                      </p:cBhvr>
                                      <p:to>
                                        <p:strVal val="visible"/>
                                      </p:to>
                                    </p:set>
                                    <p:animEffect transition="in" filter="wipe(up)">
                                      <p:cBhvr>
                                        <p:cTn id="25" dur="500"/>
                                        <p:tgtEl>
                                          <p:spTgt spid="14">
                                            <p:txEl>
                                              <p:pRg st="1" end="1"/>
                                            </p:txEl>
                                          </p:spTgt>
                                        </p:tgtEl>
                                      </p:cBhvr>
                                    </p:animEffect>
                                  </p:childTnLst>
                                </p:cTn>
                              </p:par>
                              <p:par>
                                <p:cTn id="26" presetID="22" presetClass="entr" presetSubtype="1" fill="hold" grpId="0" nodeType="withEffect">
                                  <p:stCondLst>
                                    <p:cond delay="250"/>
                                  </p:stCondLst>
                                  <p:childTnLst>
                                    <p:set>
                                      <p:cBhvr>
                                        <p:cTn id="27" dur="1" fill="hold">
                                          <p:stCondLst>
                                            <p:cond delay="0"/>
                                          </p:stCondLst>
                                        </p:cTn>
                                        <p:tgtEl>
                                          <p:spTgt spid="14">
                                            <p:txEl>
                                              <p:pRg st="2" end="2"/>
                                            </p:txEl>
                                          </p:spTgt>
                                        </p:tgtEl>
                                        <p:attrNameLst>
                                          <p:attrName>style.visibility</p:attrName>
                                        </p:attrNameLst>
                                      </p:cBhvr>
                                      <p:to>
                                        <p:strVal val="visible"/>
                                      </p:to>
                                    </p:set>
                                    <p:animEffect transition="in" filter="wipe(up)">
                                      <p:cBhvr>
                                        <p:cTn id="28" dur="500"/>
                                        <p:tgtEl>
                                          <p:spTgt spid="14">
                                            <p:txEl>
                                              <p:pRg st="2" end="2"/>
                                            </p:txEl>
                                          </p:spTgt>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500"/>
                                        <p:tgtEl>
                                          <p:spTgt spid="54"/>
                                        </p:tgtEl>
                                      </p:cBhvr>
                                    </p:animEffect>
                                  </p:childTnLst>
                                </p:cTn>
                              </p:par>
                              <p:par>
                                <p:cTn id="32" presetID="10" presetClass="entr" presetSubtype="0" fill="hold" grpId="0" nodeType="withEffect">
                                  <p:stCondLst>
                                    <p:cond delay="55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500"/>
                                        <p:tgtEl>
                                          <p:spTgt spid="53"/>
                                        </p:tgtEl>
                                      </p:cBhvr>
                                    </p:animEffect>
                                  </p:childTnLst>
                                </p:cTn>
                              </p:par>
                              <p:par>
                                <p:cTn id="35" presetID="10" presetClass="entr" presetSubtype="0" fill="hold" grpId="0" nodeType="withEffect">
                                  <p:stCondLst>
                                    <p:cond delay="45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700"/>
                                  </p:stCondLst>
                                  <p:childTnLst>
                                    <p:set>
                                      <p:cBhvr>
                                        <p:cTn id="39" dur="1" fill="hold">
                                          <p:stCondLst>
                                            <p:cond delay="0"/>
                                          </p:stCondLst>
                                        </p:cTn>
                                        <p:tgtEl>
                                          <p:spTgt spid="56"/>
                                        </p:tgtEl>
                                        <p:attrNameLst>
                                          <p:attrName>style.visibility</p:attrName>
                                        </p:attrNameLst>
                                      </p:cBhvr>
                                      <p:to>
                                        <p:strVal val="visible"/>
                                      </p:to>
                                    </p:set>
                                    <p:animEffect transition="in" filter="fade">
                                      <p:cBhvr>
                                        <p:cTn id="40" dur="500"/>
                                        <p:tgtEl>
                                          <p:spTgt spid="56"/>
                                        </p:tgtEl>
                                      </p:cBhvr>
                                    </p:animEffect>
                                  </p:childTnLst>
                                </p:cTn>
                              </p:par>
                              <p:par>
                                <p:cTn id="41" presetID="10" presetClass="entr" presetSubtype="0" fill="hold" grpId="0" nodeType="withEffect">
                                  <p:stCondLst>
                                    <p:cond delay="850"/>
                                  </p:stCondLst>
                                  <p:childTnLst>
                                    <p:set>
                                      <p:cBhvr>
                                        <p:cTn id="42" dur="1" fill="hold">
                                          <p:stCondLst>
                                            <p:cond delay="0"/>
                                          </p:stCondLst>
                                        </p:cTn>
                                        <p:tgtEl>
                                          <p:spTgt spid="57"/>
                                        </p:tgtEl>
                                        <p:attrNameLst>
                                          <p:attrName>style.visibility</p:attrName>
                                        </p:attrNameLst>
                                      </p:cBhvr>
                                      <p:to>
                                        <p:strVal val="visible"/>
                                      </p:to>
                                    </p:set>
                                    <p:animEffect transition="in" filter="fade">
                                      <p:cBhvr>
                                        <p:cTn id="43" dur="500"/>
                                        <p:tgtEl>
                                          <p:spTgt spid="57"/>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74"/>
                                        </p:tgtEl>
                                        <p:attrNameLst>
                                          <p:attrName>style.visibility</p:attrName>
                                        </p:attrNameLst>
                                      </p:cBhvr>
                                      <p:to>
                                        <p:strVal val="visible"/>
                                      </p:to>
                                    </p:set>
                                    <p:animEffect transition="in" filter="fade">
                                      <p:cBhvr>
                                        <p:cTn id="46" dur="500"/>
                                        <p:tgtEl>
                                          <p:spTgt spid="74"/>
                                        </p:tgtEl>
                                      </p:cBhvr>
                                    </p:animEffect>
                                  </p:childTnLst>
                                </p:cTn>
                              </p:par>
                              <p:par>
                                <p:cTn id="47" presetID="10" presetClass="entr" presetSubtype="0" fill="hold" grpId="0" nodeType="withEffect">
                                  <p:stCondLst>
                                    <p:cond delay="850"/>
                                  </p:stCondLst>
                                  <p:childTnLst>
                                    <p:set>
                                      <p:cBhvr>
                                        <p:cTn id="48" dur="1" fill="hold">
                                          <p:stCondLst>
                                            <p:cond delay="0"/>
                                          </p:stCondLst>
                                        </p:cTn>
                                        <p:tgtEl>
                                          <p:spTgt spid="58"/>
                                        </p:tgtEl>
                                        <p:attrNameLst>
                                          <p:attrName>style.visibility</p:attrName>
                                        </p:attrNameLst>
                                      </p:cBhvr>
                                      <p:to>
                                        <p:strVal val="visible"/>
                                      </p:to>
                                    </p:set>
                                    <p:animEffect transition="in" filter="fade">
                                      <p:cBhvr>
                                        <p:cTn id="49"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bldP spid="53" grpId="0" animBg="1"/>
      <p:bldP spid="54" grpId="0" animBg="1"/>
      <p:bldP spid="55" grpId="0" animBg="1"/>
      <p:bldP spid="56" grpId="0" animBg="1"/>
      <p:bldP spid="57" grpId="0" animBg="1"/>
      <p:bldP spid="58" grpId="0" animBg="1"/>
      <p:bldP spid="7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B6219D12-B991-A159-F05F-94D7BF0A5420}"/>
              </a:ext>
            </a:extLst>
          </p:cNvPr>
          <p:cNvGrpSpPr/>
          <p:nvPr/>
        </p:nvGrpSpPr>
        <p:grpSpPr>
          <a:xfrm>
            <a:off x="747949" y="1285423"/>
            <a:ext cx="3297589" cy="4370720"/>
            <a:chOff x="1254162" y="1503767"/>
            <a:chExt cx="3297589" cy="4370720"/>
          </a:xfrm>
        </p:grpSpPr>
        <p:sp>
          <p:nvSpPr>
            <p:cNvPr id="15" name="Rectangle: Rounded Corners 14">
              <a:extLst>
                <a:ext uri="{FF2B5EF4-FFF2-40B4-BE49-F238E27FC236}">
                  <a16:creationId xmlns:a16="http://schemas.microsoft.com/office/drawing/2014/main" id="{42E0488B-72B7-6046-DAF9-ADDCF3474FFB}"/>
                </a:ext>
              </a:extLst>
            </p:cNvPr>
            <p:cNvSpPr/>
            <p:nvPr/>
          </p:nvSpPr>
          <p:spPr>
            <a:xfrm>
              <a:off x="1254162" y="1503767"/>
              <a:ext cx="470206" cy="3753451"/>
            </a:xfrm>
            <a:prstGeom prst="roundRect">
              <a:avLst>
                <a:gd name="adj" fmla="val 50000"/>
              </a:avLst>
            </a:prstGeom>
            <a:solidFill>
              <a:schemeClr val="tx1">
                <a:lumMod val="65000"/>
                <a:lumOff val="35000"/>
                <a:alpha val="36000"/>
              </a:schemeClr>
            </a:solidFill>
            <a:effectLst>
              <a:softEdge rad="215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Rectangle 13">
              <a:extLst>
                <a:ext uri="{FF2B5EF4-FFF2-40B4-BE49-F238E27FC236}">
                  <a16:creationId xmlns:a16="http://schemas.microsoft.com/office/drawing/2014/main" id="{30137ED7-EDB0-5AA6-034F-609ADA593FF4}"/>
                </a:ext>
              </a:extLst>
            </p:cNvPr>
            <p:cNvSpPr/>
            <p:nvPr/>
          </p:nvSpPr>
          <p:spPr>
            <a:xfrm>
              <a:off x="1527419" y="1608236"/>
              <a:ext cx="3024332" cy="42662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67" name="Group 66">
            <a:extLst>
              <a:ext uri="{FF2B5EF4-FFF2-40B4-BE49-F238E27FC236}">
                <a16:creationId xmlns:a16="http://schemas.microsoft.com/office/drawing/2014/main" id="{43FDFB18-7A95-45FA-EC07-A681736243B6}"/>
              </a:ext>
            </a:extLst>
          </p:cNvPr>
          <p:cNvGrpSpPr/>
          <p:nvPr/>
        </p:nvGrpSpPr>
        <p:grpSpPr>
          <a:xfrm>
            <a:off x="5963979" y="1260833"/>
            <a:ext cx="3297589" cy="4370720"/>
            <a:chOff x="7396099" y="1503767"/>
            <a:chExt cx="3297589" cy="4370720"/>
          </a:xfrm>
        </p:grpSpPr>
        <p:sp>
          <p:nvSpPr>
            <p:cNvPr id="18" name="Rectangle: Rounded Corners 17">
              <a:extLst>
                <a:ext uri="{FF2B5EF4-FFF2-40B4-BE49-F238E27FC236}">
                  <a16:creationId xmlns:a16="http://schemas.microsoft.com/office/drawing/2014/main" id="{F3EC7EA2-5500-ED99-42AD-5295DE8D7279}"/>
                </a:ext>
              </a:extLst>
            </p:cNvPr>
            <p:cNvSpPr/>
            <p:nvPr/>
          </p:nvSpPr>
          <p:spPr>
            <a:xfrm>
              <a:off x="7396099" y="1503767"/>
              <a:ext cx="470206" cy="4370720"/>
            </a:xfrm>
            <a:prstGeom prst="roundRect">
              <a:avLst>
                <a:gd name="adj" fmla="val 50000"/>
              </a:avLst>
            </a:prstGeom>
            <a:solidFill>
              <a:schemeClr val="tx1">
                <a:lumMod val="65000"/>
                <a:lumOff val="35000"/>
                <a:alpha val="36000"/>
              </a:schemeClr>
            </a:solidFill>
            <a:effectLst>
              <a:softEdge rad="215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Rectangle 18">
              <a:extLst>
                <a:ext uri="{FF2B5EF4-FFF2-40B4-BE49-F238E27FC236}">
                  <a16:creationId xmlns:a16="http://schemas.microsoft.com/office/drawing/2014/main" id="{DCAE7706-ACA9-83E5-BD05-9AC3561EB3CA}"/>
                </a:ext>
              </a:extLst>
            </p:cNvPr>
            <p:cNvSpPr/>
            <p:nvPr/>
          </p:nvSpPr>
          <p:spPr>
            <a:xfrm>
              <a:off x="7669356" y="1608236"/>
              <a:ext cx="3024332" cy="42662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sp>
        <p:nvSpPr>
          <p:cNvPr id="6" name="TextBox 5">
            <a:extLst>
              <a:ext uri="{FF2B5EF4-FFF2-40B4-BE49-F238E27FC236}">
                <a16:creationId xmlns:a16="http://schemas.microsoft.com/office/drawing/2014/main" id="{56E44D1A-2B26-B318-7BF9-F20FDE60F5E8}"/>
              </a:ext>
            </a:extLst>
          </p:cNvPr>
          <p:cNvSpPr txBox="1"/>
          <p:nvPr/>
        </p:nvSpPr>
        <p:spPr>
          <a:xfrm>
            <a:off x="1300734" y="1598081"/>
            <a:ext cx="4420518" cy="4616648"/>
          </a:xfrm>
          <a:prstGeom prst="rect">
            <a:avLst/>
          </a:prstGeom>
          <a:noFill/>
        </p:spPr>
        <p:txBody>
          <a:bodyPr wrap="square" lIns="91440" tIns="45720" rIns="91440" bIns="45720" anchor="t">
            <a:spAutoFit/>
          </a:bodyPr>
          <a:lstStyle/>
          <a:p>
            <a:r>
              <a:rPr lang="en-US" sz="1400" b="1" dirty="0">
                <a:solidFill>
                  <a:srgbClr val="1A2F45"/>
                </a:solidFill>
                <a:latin typeface="Arial"/>
                <a:cs typeface="Arial"/>
              </a:rPr>
              <a:t>Test Case Scenario Tracking:</a:t>
            </a:r>
          </a:p>
          <a:p>
            <a:r>
              <a:rPr lang="en-US" sz="1400" dirty="0">
                <a:solidFill>
                  <a:srgbClr val="1A2F45"/>
                </a:solidFill>
                <a:latin typeface="Arial"/>
                <a:cs typeface="Arial"/>
              </a:rPr>
              <a:t>In this program, our approach to testing will be enriched by leveraging the System Perspective Flows (SPF) methodology. This strategic choice will empower us to meticulously develop and craft test case scenarios, ensuring the thorough examination of all system flows during the testing phase.</a:t>
            </a:r>
          </a:p>
          <a:p>
            <a:endParaRPr lang="en-US" sz="1400" dirty="0">
              <a:solidFill>
                <a:srgbClr val="1A2F45"/>
              </a:solidFill>
              <a:latin typeface="Arial"/>
              <a:cs typeface="Arial"/>
            </a:endParaRPr>
          </a:p>
          <a:p>
            <a:r>
              <a:rPr lang="en-US" sz="1400" b="1" dirty="0">
                <a:solidFill>
                  <a:srgbClr val="1A2F45"/>
                </a:solidFill>
                <a:latin typeface="Arial"/>
                <a:cs typeface="Arial"/>
              </a:rPr>
              <a:t>SPF CMO (Current Mode of Operations):</a:t>
            </a:r>
          </a:p>
          <a:p>
            <a:r>
              <a:rPr lang="en-US" sz="1400" dirty="0">
                <a:solidFill>
                  <a:srgbClr val="1A2F45"/>
                </a:solidFill>
                <a:latin typeface="Arial"/>
                <a:cs typeface="Arial"/>
              </a:rPr>
              <a:t>We will employ SPF CMO as a pivotal component of our Regression testing efforts. This will facilitate the assessment of the system's stability and reliability in its current operational mode.</a:t>
            </a:r>
          </a:p>
          <a:p>
            <a:endParaRPr lang="en-US" sz="1400" dirty="0">
              <a:solidFill>
                <a:srgbClr val="1A2F45"/>
              </a:solidFill>
              <a:latin typeface="Arial"/>
              <a:cs typeface="Arial"/>
            </a:endParaRPr>
          </a:p>
          <a:p>
            <a:r>
              <a:rPr lang="en-US" sz="1400" b="1" dirty="0">
                <a:solidFill>
                  <a:srgbClr val="1A2F45"/>
                </a:solidFill>
                <a:latin typeface="Arial"/>
                <a:cs typeface="Arial"/>
              </a:rPr>
              <a:t>SPF FMO (Future Mode of Operations):</a:t>
            </a:r>
          </a:p>
          <a:p>
            <a:r>
              <a:rPr lang="en-US" sz="1400" dirty="0">
                <a:solidFill>
                  <a:srgbClr val="1A2F45"/>
                </a:solidFill>
                <a:latin typeface="Arial"/>
                <a:cs typeface="Arial"/>
              </a:rPr>
              <a:t>For SFT, SIT (System Integration Testing), E2E (End-to-End), and other crucial testing phases, we will utilize SPF FMO to project the system's behavior in its future operational mode. This forward-looking perspective is essential for robust and forward-compatible testing.</a:t>
            </a:r>
            <a:endParaRPr lang="en-CA" sz="1400" dirty="0">
              <a:solidFill>
                <a:srgbClr val="1A2F45"/>
              </a:solidFill>
              <a:latin typeface="Arial"/>
              <a:cs typeface="Arial"/>
            </a:endParaRPr>
          </a:p>
        </p:txBody>
      </p:sp>
      <p:sp>
        <p:nvSpPr>
          <p:cNvPr id="21" name="TextBox 20">
            <a:extLst>
              <a:ext uri="{FF2B5EF4-FFF2-40B4-BE49-F238E27FC236}">
                <a16:creationId xmlns:a16="http://schemas.microsoft.com/office/drawing/2014/main" id="{EDBFD5F9-784D-D063-1077-6112BB1C776A}"/>
              </a:ext>
            </a:extLst>
          </p:cNvPr>
          <p:cNvSpPr txBox="1"/>
          <p:nvPr/>
        </p:nvSpPr>
        <p:spPr>
          <a:xfrm>
            <a:off x="6538428" y="1538532"/>
            <a:ext cx="3861571" cy="4401205"/>
          </a:xfrm>
          <a:prstGeom prst="rect">
            <a:avLst/>
          </a:prstGeom>
          <a:noFill/>
        </p:spPr>
        <p:txBody>
          <a:bodyPr wrap="square" lIns="91440" tIns="45720" rIns="91440" bIns="45720" anchor="t">
            <a:spAutoFit/>
          </a:bodyPr>
          <a:lstStyle/>
          <a:p>
            <a:r>
              <a:rPr lang="en-US" sz="1400" b="1" dirty="0">
                <a:solidFill>
                  <a:srgbClr val="1A2F45"/>
                </a:solidFill>
                <a:latin typeface="Arial"/>
                <a:cs typeface="Arial"/>
              </a:rPr>
              <a:t>Defect Impact Tracking:</a:t>
            </a:r>
          </a:p>
          <a:p>
            <a:r>
              <a:rPr lang="en-US" sz="1400" dirty="0">
                <a:solidFill>
                  <a:srgbClr val="1A2F45"/>
                </a:solidFill>
                <a:latin typeface="Arial"/>
                <a:cs typeface="Arial"/>
              </a:rPr>
              <a:t>From a defect perspective, it's imperative to trace the specific SPF(s) impacted by any identified defects. To streamline this process:</a:t>
            </a:r>
            <a:endParaRPr lang="en-US" sz="1400">
              <a:solidFill>
                <a:srgbClr val="1A2F45"/>
              </a:solidFill>
              <a:latin typeface="Arial"/>
              <a:cs typeface="Segoe UI"/>
            </a:endParaRPr>
          </a:p>
          <a:p>
            <a:endParaRPr lang="en-US" sz="1400" dirty="0">
              <a:solidFill>
                <a:srgbClr val="1A2F45"/>
              </a:solidFill>
              <a:latin typeface="Arial"/>
              <a:cs typeface="Arial"/>
            </a:endParaRPr>
          </a:p>
          <a:p>
            <a:r>
              <a:rPr lang="en-US" sz="1400" b="1" dirty="0">
                <a:solidFill>
                  <a:srgbClr val="1A2F45"/>
                </a:solidFill>
                <a:latin typeface="Arial"/>
                <a:cs typeface="Arial"/>
              </a:rPr>
              <a:t>New Jira Field for SPF:</a:t>
            </a:r>
            <a:endParaRPr lang="en-US" sz="1400" b="1">
              <a:solidFill>
                <a:srgbClr val="1A2F45"/>
              </a:solidFill>
              <a:latin typeface="Arial"/>
              <a:cs typeface="Segoe UI"/>
            </a:endParaRPr>
          </a:p>
          <a:p>
            <a:r>
              <a:rPr lang="en-US" sz="1400" dirty="0">
                <a:solidFill>
                  <a:srgbClr val="1A2F45"/>
                </a:solidFill>
                <a:latin typeface="Arial"/>
                <a:cs typeface="Arial"/>
              </a:rPr>
              <a:t>We propose adding a dedicated Jira field for SPF, allowing us to capture the SPF ID(s) influenced by a defect. This approach offers a structured and efficient way to monitor defect impact across different system perspectives.</a:t>
            </a:r>
            <a:endParaRPr lang="en-US" sz="1400">
              <a:solidFill>
                <a:srgbClr val="1A2F45"/>
              </a:solidFill>
              <a:latin typeface="Arial"/>
              <a:cs typeface="Segoe UI"/>
            </a:endParaRPr>
          </a:p>
          <a:p>
            <a:endParaRPr lang="en-US" sz="1400" dirty="0">
              <a:solidFill>
                <a:srgbClr val="1A2F45"/>
              </a:solidFill>
              <a:latin typeface="Arial"/>
              <a:cs typeface="Arial"/>
            </a:endParaRPr>
          </a:p>
          <a:p>
            <a:r>
              <a:rPr lang="en-US" sz="1400" b="1" dirty="0">
                <a:solidFill>
                  <a:srgbClr val="1A2F45"/>
                </a:solidFill>
                <a:latin typeface="Arial"/>
                <a:cs typeface="Arial"/>
              </a:rPr>
              <a:t>Alternative Capture Methods:</a:t>
            </a:r>
            <a:endParaRPr lang="en-US" sz="1400" b="1">
              <a:solidFill>
                <a:srgbClr val="1A2F45"/>
              </a:solidFill>
              <a:latin typeface="Arial"/>
              <a:cs typeface="Segoe UI"/>
            </a:endParaRPr>
          </a:p>
          <a:p>
            <a:r>
              <a:rPr lang="en-US" sz="1400" dirty="0">
                <a:solidFill>
                  <a:srgbClr val="1A2F45"/>
                </a:solidFill>
                <a:latin typeface="Arial"/>
                <a:cs typeface="Arial"/>
              </a:rPr>
              <a:t>If adding a new Jira field for SPF proves challenging, we will explore alternative means, such as utilizing the Label field or other existing Jira functionalities. Our goal remains to effectively capture, and track SPF IDs associated with defects to ensure comprehensive defect management.</a:t>
            </a:r>
            <a:endParaRPr lang="en-CA" sz="1400" dirty="0">
              <a:solidFill>
                <a:srgbClr val="1A2F45"/>
              </a:solidFill>
              <a:latin typeface="Segoe UI"/>
              <a:cs typeface="Segoe UI"/>
            </a:endParaRPr>
          </a:p>
        </p:txBody>
      </p:sp>
      <p:grpSp>
        <p:nvGrpSpPr>
          <p:cNvPr id="17" name="Group 16">
            <a:extLst>
              <a:ext uri="{FF2B5EF4-FFF2-40B4-BE49-F238E27FC236}">
                <a16:creationId xmlns:a16="http://schemas.microsoft.com/office/drawing/2014/main" id="{26786D3E-FBA8-F8DF-D83B-56F87BDD47AA}"/>
              </a:ext>
            </a:extLst>
          </p:cNvPr>
          <p:cNvGrpSpPr/>
          <p:nvPr/>
        </p:nvGrpSpPr>
        <p:grpSpPr>
          <a:xfrm>
            <a:off x="1" y="9925"/>
            <a:ext cx="909836" cy="924381"/>
            <a:chOff x="1" y="0"/>
            <a:chExt cx="909836" cy="924381"/>
          </a:xfrm>
        </p:grpSpPr>
        <p:sp>
          <p:nvSpPr>
            <p:cNvPr id="3" name="Rectangle 2">
              <a:extLst>
                <a:ext uri="{FF2B5EF4-FFF2-40B4-BE49-F238E27FC236}">
                  <a16:creationId xmlns:a16="http://schemas.microsoft.com/office/drawing/2014/main" id="{8951216C-4B54-F6E2-8240-1169A760EF78}"/>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4" name="Rectangle 3">
              <a:extLst>
                <a:ext uri="{FF2B5EF4-FFF2-40B4-BE49-F238E27FC236}">
                  <a16:creationId xmlns:a16="http://schemas.microsoft.com/office/drawing/2014/main" id="{3956B76E-7173-8B2C-9A0B-C323B0661495}"/>
                </a:ext>
              </a:extLst>
            </p:cNvPr>
            <p:cNvSpPr/>
            <p:nvPr/>
          </p:nvSpPr>
          <p:spPr>
            <a:xfrm rot="5400000">
              <a:off x="289785" y="14304"/>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5" name="Rectangle 4">
              <a:extLst>
                <a:ext uri="{FF2B5EF4-FFF2-40B4-BE49-F238E27FC236}">
                  <a16:creationId xmlns:a16="http://schemas.microsoft.com/office/drawing/2014/main" id="{7022A9B7-F084-D671-F5CE-5B58DABAC851}"/>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16" name="Rectangle 15">
              <a:extLst>
                <a:ext uri="{FF2B5EF4-FFF2-40B4-BE49-F238E27FC236}">
                  <a16:creationId xmlns:a16="http://schemas.microsoft.com/office/drawing/2014/main" id="{317BA13D-A3AD-01D8-92BC-F43CD675D2EA}"/>
                </a:ext>
              </a:extLst>
            </p:cNvPr>
            <p:cNvSpPr/>
            <p:nvPr/>
          </p:nvSpPr>
          <p:spPr>
            <a:xfrm rot="5400000" flipH="1" flipV="1">
              <a:off x="316817" y="61055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31" name="Group 30">
            <a:extLst>
              <a:ext uri="{FF2B5EF4-FFF2-40B4-BE49-F238E27FC236}">
                <a16:creationId xmlns:a16="http://schemas.microsoft.com/office/drawing/2014/main" id="{C7B802DE-6F8E-9515-098B-E074CCD6659F}"/>
              </a:ext>
            </a:extLst>
          </p:cNvPr>
          <p:cNvGrpSpPr/>
          <p:nvPr/>
        </p:nvGrpSpPr>
        <p:grpSpPr>
          <a:xfrm>
            <a:off x="10342891" y="4962097"/>
            <a:ext cx="1845934" cy="1895903"/>
            <a:chOff x="0" y="0"/>
            <a:chExt cx="3161556" cy="3048050"/>
          </a:xfrm>
        </p:grpSpPr>
        <p:grpSp>
          <p:nvGrpSpPr>
            <p:cNvPr id="22" name="Group 21">
              <a:extLst>
                <a:ext uri="{FF2B5EF4-FFF2-40B4-BE49-F238E27FC236}">
                  <a16:creationId xmlns:a16="http://schemas.microsoft.com/office/drawing/2014/main" id="{D5D9B9B9-E949-1BA6-799B-E6504EC5D010}"/>
                </a:ext>
              </a:extLst>
            </p:cNvPr>
            <p:cNvGrpSpPr/>
            <p:nvPr/>
          </p:nvGrpSpPr>
          <p:grpSpPr>
            <a:xfrm>
              <a:off x="0" y="0"/>
              <a:ext cx="2090423" cy="2241545"/>
              <a:chOff x="0" y="0"/>
              <a:chExt cx="2090423" cy="2241545"/>
            </a:xfrm>
          </p:grpSpPr>
          <p:sp>
            <p:nvSpPr>
              <p:cNvPr id="29" name="Rectangle 28">
                <a:extLst>
                  <a:ext uri="{FF2B5EF4-FFF2-40B4-BE49-F238E27FC236}">
                    <a16:creationId xmlns:a16="http://schemas.microsoft.com/office/drawing/2014/main" id="{CF95F074-43D7-5753-F576-D0922D33227B}"/>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Rectangle 29">
                <a:extLst>
                  <a:ext uri="{FF2B5EF4-FFF2-40B4-BE49-F238E27FC236}">
                    <a16:creationId xmlns:a16="http://schemas.microsoft.com/office/drawing/2014/main" id="{087D5ED9-89E2-3D55-D9B2-87336E595762}"/>
                  </a:ext>
                </a:extLst>
              </p:cNvPr>
              <p:cNvSpPr/>
              <p:nvPr/>
            </p:nvSpPr>
            <p:spPr>
              <a:xfrm rot="5400000">
                <a:off x="1036570" y="0"/>
                <a:ext cx="1053853" cy="10538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26" name="Group 25">
              <a:extLst>
                <a:ext uri="{FF2B5EF4-FFF2-40B4-BE49-F238E27FC236}">
                  <a16:creationId xmlns:a16="http://schemas.microsoft.com/office/drawing/2014/main" id="{C1B9C3E3-E1AE-070A-BCE1-BB7E536002E2}"/>
                </a:ext>
              </a:extLst>
            </p:cNvPr>
            <p:cNvGrpSpPr/>
            <p:nvPr/>
          </p:nvGrpSpPr>
          <p:grpSpPr>
            <a:xfrm flipH="1" flipV="1">
              <a:off x="1072246" y="1059210"/>
              <a:ext cx="2089310" cy="1988840"/>
              <a:chOff x="1580778" y="1268760"/>
              <a:chExt cx="2089310" cy="1988840"/>
            </a:xfrm>
          </p:grpSpPr>
          <p:sp>
            <p:nvSpPr>
              <p:cNvPr id="27" name="Rectangle 26">
                <a:extLst>
                  <a:ext uri="{FF2B5EF4-FFF2-40B4-BE49-F238E27FC236}">
                    <a16:creationId xmlns:a16="http://schemas.microsoft.com/office/drawing/2014/main" id="{415E56AE-B79A-B5C4-FB63-C7FFB71BEEE7}"/>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27">
                <a:extLst>
                  <a:ext uri="{FF2B5EF4-FFF2-40B4-BE49-F238E27FC236}">
                    <a16:creationId xmlns:a16="http://schemas.microsoft.com/office/drawing/2014/main" id="{0584FDF1-6716-8799-CE27-BCAF02FC8A79}"/>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34" name="Picture 33" descr="BEll company logo">
            <a:extLst>
              <a:ext uri="{FF2B5EF4-FFF2-40B4-BE49-F238E27FC236}">
                <a16:creationId xmlns:a16="http://schemas.microsoft.com/office/drawing/2014/main" id="{F844159E-8036-E540-F9A3-9388F32C47EF}"/>
              </a:ext>
            </a:extLst>
          </p:cNvPr>
          <p:cNvPicPr>
            <a:picLocks noChangeAspect="1"/>
          </p:cNvPicPr>
          <p:nvPr/>
        </p:nvPicPr>
        <p:blipFill>
          <a:blip r:embed="rId2"/>
          <a:stretch>
            <a:fillRect/>
          </a:stretch>
        </p:blipFill>
        <p:spPr>
          <a:xfrm>
            <a:off x="11009239" y="635555"/>
            <a:ext cx="514513" cy="400050"/>
          </a:xfrm>
          <a:prstGeom prst="rect">
            <a:avLst/>
          </a:prstGeom>
        </p:spPr>
      </p:pic>
      <p:sp>
        <p:nvSpPr>
          <p:cNvPr id="36" name="TextBox 35">
            <a:extLst>
              <a:ext uri="{FF2B5EF4-FFF2-40B4-BE49-F238E27FC236}">
                <a16:creationId xmlns:a16="http://schemas.microsoft.com/office/drawing/2014/main" id="{CBF8A6CD-882E-2EBF-84FA-4CFA4FA6B3F5}"/>
              </a:ext>
            </a:extLst>
          </p:cNvPr>
          <p:cNvSpPr txBox="1"/>
          <p:nvPr/>
        </p:nvSpPr>
        <p:spPr>
          <a:xfrm>
            <a:off x="1144589" y="492272"/>
            <a:ext cx="9369873" cy="880241"/>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Arial"/>
              </a:rPr>
              <a:t>Test Coverage with System Perspective flows (SPF)</a:t>
            </a:r>
            <a:endParaRPr lang="en-US" dirty="0">
              <a:solidFill>
                <a:schemeClr val="tx2"/>
              </a:solidFill>
            </a:endParaRPr>
          </a:p>
        </p:txBody>
      </p:sp>
    </p:spTree>
    <p:extLst>
      <p:ext uri="{BB962C8B-B14F-4D97-AF65-F5344CB8AC3E}">
        <p14:creationId xmlns:p14="http://schemas.microsoft.com/office/powerpoint/2010/main" val="638450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80000" fill="hold" nodeType="withEffect">
                                  <p:stCondLst>
                                    <p:cond delay="20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fill="hold"/>
                                        <p:tgtEl>
                                          <p:spTgt spid="65"/>
                                        </p:tgtEl>
                                        <p:attrNameLst>
                                          <p:attrName>ppt_x</p:attrName>
                                        </p:attrNameLst>
                                      </p:cBhvr>
                                      <p:tavLst>
                                        <p:tav tm="0">
                                          <p:val>
                                            <p:strVal val="#ppt_x"/>
                                          </p:val>
                                        </p:tav>
                                        <p:tav tm="100000">
                                          <p:val>
                                            <p:strVal val="#ppt_x"/>
                                          </p:val>
                                        </p:tav>
                                      </p:tavLst>
                                    </p:anim>
                                    <p:anim calcmode="lin" valueType="num">
                                      <p:cBhvr additive="base">
                                        <p:cTn id="8" dur="500" fill="hold"/>
                                        <p:tgtEl>
                                          <p:spTgt spid="65"/>
                                        </p:tgtEl>
                                        <p:attrNameLst>
                                          <p:attrName>ppt_y</p:attrName>
                                        </p:attrNameLst>
                                      </p:cBhvr>
                                      <p:tavLst>
                                        <p:tav tm="0">
                                          <p:val>
                                            <p:strVal val="1+#ppt_h/2"/>
                                          </p:val>
                                        </p:tav>
                                        <p:tav tm="100000">
                                          <p:val>
                                            <p:strVal val="#ppt_y"/>
                                          </p:val>
                                        </p:tav>
                                      </p:tavLst>
                                    </p:anim>
                                  </p:childTnLst>
                                </p:cTn>
                              </p:par>
                              <p:par>
                                <p:cTn id="9" presetID="2" presetClass="entr" presetSubtype="4" decel="80000" fill="hold" nodeType="withEffect">
                                  <p:stCondLst>
                                    <p:cond delay="600"/>
                                  </p:stCondLst>
                                  <p:childTnLst>
                                    <p:set>
                                      <p:cBhvr>
                                        <p:cTn id="10" dur="1" fill="hold">
                                          <p:stCondLst>
                                            <p:cond delay="0"/>
                                          </p:stCondLst>
                                        </p:cTn>
                                        <p:tgtEl>
                                          <p:spTgt spid="67"/>
                                        </p:tgtEl>
                                        <p:attrNameLst>
                                          <p:attrName>style.visibility</p:attrName>
                                        </p:attrNameLst>
                                      </p:cBhvr>
                                      <p:to>
                                        <p:strVal val="visible"/>
                                      </p:to>
                                    </p:set>
                                    <p:anim calcmode="lin" valueType="num">
                                      <p:cBhvr additive="base">
                                        <p:cTn id="11" dur="500" fill="hold"/>
                                        <p:tgtEl>
                                          <p:spTgt spid="67"/>
                                        </p:tgtEl>
                                        <p:attrNameLst>
                                          <p:attrName>ppt_x</p:attrName>
                                        </p:attrNameLst>
                                      </p:cBhvr>
                                      <p:tavLst>
                                        <p:tav tm="0">
                                          <p:val>
                                            <p:strVal val="#ppt_x"/>
                                          </p:val>
                                        </p:tav>
                                        <p:tav tm="100000">
                                          <p:val>
                                            <p:strVal val="#ppt_x"/>
                                          </p:val>
                                        </p:tav>
                                      </p:tavLst>
                                    </p:anim>
                                    <p:anim calcmode="lin" valueType="num">
                                      <p:cBhvr additive="base">
                                        <p:cTn id="12" dur="500" fill="hold"/>
                                        <p:tgtEl>
                                          <p:spTgt spid="67"/>
                                        </p:tgtEl>
                                        <p:attrNameLst>
                                          <p:attrName>ppt_y</p:attrName>
                                        </p:attrNameLst>
                                      </p:cBhvr>
                                      <p:tavLst>
                                        <p:tav tm="0">
                                          <p:val>
                                            <p:strVal val="1+#ppt_h/2"/>
                                          </p:val>
                                        </p:tav>
                                        <p:tav tm="100000">
                                          <p:val>
                                            <p:strVal val="#ppt_y"/>
                                          </p:val>
                                        </p:tav>
                                      </p:tavLst>
                                    </p:anim>
                                  </p:childTnLst>
                                </p:cTn>
                              </p:par>
                              <p:par>
                                <p:cTn id="13" presetID="2" presetClass="entr" presetSubtype="6" decel="8000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1+#ppt_w/2"/>
                                          </p:val>
                                        </p:tav>
                                        <p:tav tm="100000">
                                          <p:val>
                                            <p:strVal val="#ppt_x"/>
                                          </p:val>
                                        </p:tav>
                                      </p:tavLst>
                                    </p:anim>
                                    <p:anim calcmode="lin" valueType="num">
                                      <p:cBhvr additive="base">
                                        <p:cTn id="1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BEll company logo">
            <a:extLst>
              <a:ext uri="{FF2B5EF4-FFF2-40B4-BE49-F238E27FC236}">
                <a16:creationId xmlns:a16="http://schemas.microsoft.com/office/drawing/2014/main" id="{74D4F508-7304-0E17-E22A-F31130F6260E}"/>
              </a:ext>
            </a:extLst>
          </p:cNvPr>
          <p:cNvPicPr>
            <a:picLocks noChangeAspect="1"/>
          </p:cNvPicPr>
          <p:nvPr/>
        </p:nvPicPr>
        <p:blipFill>
          <a:blip r:embed="rId2"/>
          <a:stretch>
            <a:fillRect/>
          </a:stretch>
        </p:blipFill>
        <p:spPr>
          <a:xfrm>
            <a:off x="11009239" y="635555"/>
            <a:ext cx="514513" cy="400050"/>
          </a:xfrm>
          <a:prstGeom prst="rect">
            <a:avLst/>
          </a:prstGeom>
        </p:spPr>
      </p:pic>
      <p:sp>
        <p:nvSpPr>
          <p:cNvPr id="18" name="TextBox 17">
            <a:extLst>
              <a:ext uri="{FF2B5EF4-FFF2-40B4-BE49-F238E27FC236}">
                <a16:creationId xmlns:a16="http://schemas.microsoft.com/office/drawing/2014/main" id="{34968FFA-45FA-0BEE-0A8F-02466FC36347}"/>
              </a:ext>
            </a:extLst>
          </p:cNvPr>
          <p:cNvSpPr txBox="1"/>
          <p:nvPr/>
        </p:nvSpPr>
        <p:spPr>
          <a:xfrm>
            <a:off x="115995" y="120187"/>
            <a:ext cx="3339389" cy="486287"/>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Segoe UI"/>
              </a:rPr>
              <a:t>QA Test Phases</a:t>
            </a:r>
          </a:p>
        </p:txBody>
      </p:sp>
      <p:sp>
        <p:nvSpPr>
          <p:cNvPr id="37" name="Rectangle 36">
            <a:extLst>
              <a:ext uri="{FF2B5EF4-FFF2-40B4-BE49-F238E27FC236}">
                <a16:creationId xmlns:a16="http://schemas.microsoft.com/office/drawing/2014/main" id="{608F7B8D-992F-13A4-2516-EF648E8AFAC7}"/>
              </a:ext>
            </a:extLst>
          </p:cNvPr>
          <p:cNvSpPr/>
          <p:nvPr/>
        </p:nvSpPr>
        <p:spPr>
          <a:xfrm>
            <a:off x="6135193" y="628561"/>
            <a:ext cx="1907602" cy="6120680"/>
          </a:xfrm>
          <a:prstGeom prst="rect">
            <a:avLst/>
          </a:prstGeom>
          <a:solidFill>
            <a:srgbClr val="FFC000"/>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7A223A6C-E873-2059-4359-06BF01AA9F5C}"/>
              </a:ext>
            </a:extLst>
          </p:cNvPr>
          <p:cNvSpPr/>
          <p:nvPr/>
        </p:nvSpPr>
        <p:spPr>
          <a:xfrm>
            <a:off x="119336" y="628561"/>
            <a:ext cx="1907602" cy="6120680"/>
          </a:xfrm>
          <a:prstGeom prst="rect">
            <a:avLst/>
          </a:prstGeom>
          <a:solidFill>
            <a:srgbClr val="5B9BD5">
              <a:lumMod val="75000"/>
            </a:srgbClr>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249582F9-6FE1-0202-0BFC-4FD2E99FAC46}"/>
              </a:ext>
            </a:extLst>
          </p:cNvPr>
          <p:cNvSpPr/>
          <p:nvPr/>
        </p:nvSpPr>
        <p:spPr>
          <a:xfrm>
            <a:off x="2106263" y="638686"/>
            <a:ext cx="1907602" cy="6120680"/>
          </a:xfrm>
          <a:prstGeom prst="rect">
            <a:avLst/>
          </a:prstGeom>
          <a:solidFill>
            <a:srgbClr val="00B0F0"/>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EB6DDF30-2F5F-EC14-F47C-3A927BD24C85}"/>
              </a:ext>
            </a:extLst>
          </p:cNvPr>
          <p:cNvSpPr/>
          <p:nvPr/>
        </p:nvSpPr>
        <p:spPr>
          <a:xfrm>
            <a:off x="4098650" y="628561"/>
            <a:ext cx="1907603" cy="6120680"/>
          </a:xfrm>
          <a:prstGeom prst="rect">
            <a:avLst/>
          </a:prstGeom>
          <a:solidFill>
            <a:srgbClr val="A5A5A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1" name="Freeform: Shape 40">
            <a:extLst>
              <a:ext uri="{FF2B5EF4-FFF2-40B4-BE49-F238E27FC236}">
                <a16:creationId xmlns:a16="http://schemas.microsoft.com/office/drawing/2014/main" id="{0E5FB2D8-D11B-9B26-4B5E-D3163538CD20}"/>
              </a:ext>
            </a:extLst>
          </p:cNvPr>
          <p:cNvSpPr/>
          <p:nvPr/>
        </p:nvSpPr>
        <p:spPr>
          <a:xfrm>
            <a:off x="119336" y="626512"/>
            <a:ext cx="1907602" cy="406715"/>
          </a:xfrm>
          <a:custGeom>
            <a:avLst/>
            <a:gdLst>
              <a:gd name="connsiteX0" fmla="*/ 0 w 2714536"/>
              <a:gd name="connsiteY0" fmla="*/ 0 h 522111"/>
              <a:gd name="connsiteX1" fmla="*/ 2714536 w 2714536"/>
              <a:gd name="connsiteY1" fmla="*/ 0 h 522111"/>
              <a:gd name="connsiteX2" fmla="*/ 2714536 w 2714536"/>
              <a:gd name="connsiteY2" fmla="*/ 522111 h 522111"/>
              <a:gd name="connsiteX3" fmla="*/ 0 w 2714536"/>
              <a:gd name="connsiteY3" fmla="*/ 522111 h 522111"/>
              <a:gd name="connsiteX4" fmla="*/ 0 w 2714536"/>
              <a:gd name="connsiteY4" fmla="*/ 0 h 52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4536" h="522111">
                <a:moveTo>
                  <a:pt x="0" y="0"/>
                </a:moveTo>
                <a:lnTo>
                  <a:pt x="2714536" y="0"/>
                </a:lnTo>
                <a:lnTo>
                  <a:pt x="2714536" y="522111"/>
                </a:lnTo>
                <a:lnTo>
                  <a:pt x="0" y="522111"/>
                </a:lnTo>
                <a:lnTo>
                  <a:pt x="0" y="0"/>
                </a:lnTo>
                <a:close/>
              </a:path>
            </a:pathLst>
          </a:custGeom>
          <a:solidFill>
            <a:srgbClr val="44546A"/>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0E1A40CB-0180-9A9F-11C9-97CAB6D447DA}"/>
              </a:ext>
            </a:extLst>
          </p:cNvPr>
          <p:cNvSpPr/>
          <p:nvPr/>
        </p:nvSpPr>
        <p:spPr>
          <a:xfrm>
            <a:off x="2096511" y="610536"/>
            <a:ext cx="1922905" cy="409136"/>
          </a:xfrm>
          <a:custGeom>
            <a:avLst/>
            <a:gdLst>
              <a:gd name="connsiteX0" fmla="*/ 0 w 2707641"/>
              <a:gd name="connsiteY0" fmla="*/ 0 h 522111"/>
              <a:gd name="connsiteX1" fmla="*/ 2707641 w 2707641"/>
              <a:gd name="connsiteY1" fmla="*/ 0 h 522111"/>
              <a:gd name="connsiteX2" fmla="*/ 2707641 w 2707641"/>
              <a:gd name="connsiteY2" fmla="*/ 522111 h 522111"/>
              <a:gd name="connsiteX3" fmla="*/ 0 w 2707641"/>
              <a:gd name="connsiteY3" fmla="*/ 522111 h 522111"/>
              <a:gd name="connsiteX4" fmla="*/ 0 w 2707641"/>
              <a:gd name="connsiteY4" fmla="*/ 0 h 52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7641" h="522111">
                <a:moveTo>
                  <a:pt x="0" y="0"/>
                </a:moveTo>
                <a:lnTo>
                  <a:pt x="2707641" y="0"/>
                </a:lnTo>
                <a:lnTo>
                  <a:pt x="2707641" y="522111"/>
                </a:lnTo>
                <a:lnTo>
                  <a:pt x="0" y="522111"/>
                </a:lnTo>
                <a:lnTo>
                  <a:pt x="0" y="0"/>
                </a:lnTo>
                <a:close/>
              </a:path>
            </a:pathLst>
          </a:custGeom>
          <a:solidFill>
            <a:srgbClr val="5B9BD5"/>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9761072B-8CD9-B4D5-DD65-B40CF4F2FC16}"/>
              </a:ext>
            </a:extLst>
          </p:cNvPr>
          <p:cNvSpPr/>
          <p:nvPr/>
        </p:nvSpPr>
        <p:spPr>
          <a:xfrm>
            <a:off x="4098651" y="616588"/>
            <a:ext cx="1907602" cy="403014"/>
          </a:xfrm>
          <a:custGeom>
            <a:avLst/>
            <a:gdLst>
              <a:gd name="connsiteX0" fmla="*/ 0 w 2707641"/>
              <a:gd name="connsiteY0" fmla="*/ 0 h 522111"/>
              <a:gd name="connsiteX1" fmla="*/ 2707641 w 2707641"/>
              <a:gd name="connsiteY1" fmla="*/ 0 h 522111"/>
              <a:gd name="connsiteX2" fmla="*/ 2707641 w 2707641"/>
              <a:gd name="connsiteY2" fmla="*/ 522111 h 522111"/>
              <a:gd name="connsiteX3" fmla="*/ 0 w 2707641"/>
              <a:gd name="connsiteY3" fmla="*/ 522111 h 522111"/>
              <a:gd name="connsiteX4" fmla="*/ 0 w 2707641"/>
              <a:gd name="connsiteY4" fmla="*/ 0 h 52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7641" h="522111">
                <a:moveTo>
                  <a:pt x="0" y="0"/>
                </a:moveTo>
                <a:lnTo>
                  <a:pt x="2707641" y="0"/>
                </a:lnTo>
                <a:lnTo>
                  <a:pt x="2707641" y="522111"/>
                </a:lnTo>
                <a:lnTo>
                  <a:pt x="0" y="522111"/>
                </a:lnTo>
                <a:lnTo>
                  <a:pt x="0" y="0"/>
                </a:lnTo>
                <a:close/>
              </a:path>
            </a:pathLst>
          </a:custGeom>
          <a:solidFill>
            <a:srgbClr val="A5A5A5">
              <a:lumMod val="75000"/>
            </a:srgbClr>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4075EC7D-FBF8-206A-1B42-C5B61641FB84}"/>
              </a:ext>
            </a:extLst>
          </p:cNvPr>
          <p:cNvSpPr/>
          <p:nvPr/>
        </p:nvSpPr>
        <p:spPr>
          <a:xfrm>
            <a:off x="6115343" y="616588"/>
            <a:ext cx="1937379" cy="393089"/>
          </a:xfrm>
          <a:custGeom>
            <a:avLst/>
            <a:gdLst>
              <a:gd name="connsiteX0" fmla="*/ 0 w 2715985"/>
              <a:gd name="connsiteY0" fmla="*/ 0 h 522111"/>
              <a:gd name="connsiteX1" fmla="*/ 2715985 w 2715985"/>
              <a:gd name="connsiteY1" fmla="*/ 0 h 522111"/>
              <a:gd name="connsiteX2" fmla="*/ 2715985 w 2715985"/>
              <a:gd name="connsiteY2" fmla="*/ 522111 h 522111"/>
              <a:gd name="connsiteX3" fmla="*/ 0 w 2715985"/>
              <a:gd name="connsiteY3" fmla="*/ 522111 h 522111"/>
              <a:gd name="connsiteX4" fmla="*/ 0 w 2715985"/>
              <a:gd name="connsiteY4" fmla="*/ 0 h 52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5985" h="522111">
                <a:moveTo>
                  <a:pt x="0" y="0"/>
                </a:moveTo>
                <a:lnTo>
                  <a:pt x="2715985" y="0"/>
                </a:lnTo>
                <a:lnTo>
                  <a:pt x="2715985" y="522111"/>
                </a:lnTo>
                <a:lnTo>
                  <a:pt x="0" y="522111"/>
                </a:lnTo>
                <a:lnTo>
                  <a:pt x="0" y="0"/>
                </a:lnTo>
                <a:close/>
              </a:path>
            </a:pathLst>
          </a:custGeom>
          <a:solidFill>
            <a:srgbClr val="FFC000">
              <a:lumMod val="75000"/>
            </a:srgbClr>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6" name="TextBox 55">
            <a:extLst>
              <a:ext uri="{FF2B5EF4-FFF2-40B4-BE49-F238E27FC236}">
                <a16:creationId xmlns:a16="http://schemas.microsoft.com/office/drawing/2014/main" id="{DD5D9746-E718-B5C1-E86E-29CD721BD701}"/>
              </a:ext>
            </a:extLst>
          </p:cNvPr>
          <p:cNvSpPr txBox="1"/>
          <p:nvPr/>
        </p:nvSpPr>
        <p:spPr>
          <a:xfrm>
            <a:off x="339311" y="712823"/>
            <a:ext cx="1404820" cy="276999"/>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white"/>
                </a:solidFill>
                <a:effectLst/>
                <a:uLnTx/>
                <a:uFillTx/>
                <a:latin typeface="Arial"/>
                <a:ea typeface="Segoe UI Black"/>
                <a:cs typeface="Arial"/>
              </a:rPr>
              <a:t>SFT</a:t>
            </a:r>
          </a:p>
        </p:txBody>
      </p:sp>
      <p:sp>
        <p:nvSpPr>
          <p:cNvPr id="57" name="TextBox 56">
            <a:extLst>
              <a:ext uri="{FF2B5EF4-FFF2-40B4-BE49-F238E27FC236}">
                <a16:creationId xmlns:a16="http://schemas.microsoft.com/office/drawing/2014/main" id="{32B40B5B-E463-901E-1A25-D9ABED9E4457}"/>
              </a:ext>
            </a:extLst>
          </p:cNvPr>
          <p:cNvSpPr txBox="1"/>
          <p:nvPr/>
        </p:nvSpPr>
        <p:spPr>
          <a:xfrm>
            <a:off x="2224630" y="673500"/>
            <a:ext cx="1687747" cy="276999"/>
          </a:xfrm>
          <a:prstGeom prst="rect">
            <a:avLst/>
          </a:prstGeom>
          <a:solidFill>
            <a:srgbClr val="5B9BD5"/>
          </a:solid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prstClr val="white"/>
                </a:solidFill>
                <a:effectLst/>
                <a:uLnTx/>
                <a:uFillTx/>
                <a:latin typeface="Arial"/>
                <a:ea typeface="Segoe UI Black"/>
                <a:cs typeface="Arial"/>
              </a:rPr>
              <a:t>SIT</a:t>
            </a:r>
          </a:p>
        </p:txBody>
      </p:sp>
      <p:sp>
        <p:nvSpPr>
          <p:cNvPr id="58" name="TextBox 57">
            <a:extLst>
              <a:ext uri="{FF2B5EF4-FFF2-40B4-BE49-F238E27FC236}">
                <a16:creationId xmlns:a16="http://schemas.microsoft.com/office/drawing/2014/main" id="{A58A2EDE-A631-71C6-54B7-DDB82FED93CC}"/>
              </a:ext>
            </a:extLst>
          </p:cNvPr>
          <p:cNvSpPr txBox="1"/>
          <p:nvPr/>
        </p:nvSpPr>
        <p:spPr>
          <a:xfrm>
            <a:off x="4196636" y="712823"/>
            <a:ext cx="1685908" cy="276999"/>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white"/>
                </a:solidFill>
                <a:effectLst/>
                <a:uLnTx/>
                <a:uFillTx/>
                <a:latin typeface="Arial"/>
                <a:ea typeface="Segoe UI Black"/>
                <a:cs typeface="Arial"/>
              </a:rPr>
              <a:t>E2E</a:t>
            </a:r>
          </a:p>
        </p:txBody>
      </p:sp>
      <p:sp>
        <p:nvSpPr>
          <p:cNvPr id="66" name="TextBox 65">
            <a:extLst>
              <a:ext uri="{FF2B5EF4-FFF2-40B4-BE49-F238E27FC236}">
                <a16:creationId xmlns:a16="http://schemas.microsoft.com/office/drawing/2014/main" id="{F0F1F1AF-7E54-5724-0D3D-4EC84E8339EC}"/>
              </a:ext>
            </a:extLst>
          </p:cNvPr>
          <p:cNvSpPr txBox="1"/>
          <p:nvPr/>
        </p:nvSpPr>
        <p:spPr>
          <a:xfrm>
            <a:off x="6246465" y="724302"/>
            <a:ext cx="1681033" cy="276999"/>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white"/>
                </a:solidFill>
                <a:effectLst/>
                <a:uLnTx/>
                <a:uFillTx/>
                <a:latin typeface="Arial"/>
                <a:ea typeface="Segoe UI Black"/>
                <a:cs typeface="Arial"/>
              </a:rPr>
              <a:t>UAT</a:t>
            </a:r>
          </a:p>
        </p:txBody>
      </p:sp>
      <p:sp>
        <p:nvSpPr>
          <p:cNvPr id="85" name="Rectangle 84">
            <a:extLst>
              <a:ext uri="{FF2B5EF4-FFF2-40B4-BE49-F238E27FC236}">
                <a16:creationId xmlns:a16="http://schemas.microsoft.com/office/drawing/2014/main" id="{15AFA0EF-0011-9CBB-4383-4C11BB7DDB12}"/>
              </a:ext>
            </a:extLst>
          </p:cNvPr>
          <p:cNvSpPr/>
          <p:nvPr/>
        </p:nvSpPr>
        <p:spPr>
          <a:xfrm>
            <a:off x="149572" y="2037847"/>
            <a:ext cx="1839973" cy="4763543"/>
          </a:xfrm>
          <a:prstGeom prst="rect">
            <a:avLst/>
          </a:prstGeom>
        </p:spPr>
        <p:txBody>
          <a:bodyPr wrap="square" lIns="0" tIns="0" rIns="0" bIns="0" anchor="t">
            <a:noAutofit/>
          </a:bodyPr>
          <a:lstStyle/>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Scope: </a:t>
            </a:r>
            <a:r>
              <a:rPr kumimoji="0" lang="en-CA" sz="900" b="0" i="0" u="none" strike="noStrike" kern="1200" cap="none" spc="0" normalizeH="0" baseline="0" noProof="0" dirty="0">
                <a:ln>
                  <a:noFill/>
                </a:ln>
                <a:solidFill>
                  <a:prstClr val="white"/>
                </a:solidFill>
                <a:effectLst/>
                <a:uLnTx/>
                <a:uFillTx/>
                <a:latin typeface="Arial"/>
                <a:cs typeface="Calibri"/>
              </a:rPr>
              <a:t>The high level SFT scope is defined in PRE-PI </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1" i="0" u="sng"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Purpose</a:t>
            </a:r>
            <a:r>
              <a:rPr kumimoji="0" lang="en-CA" sz="900" b="1" i="0" u="none"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The purpose of SFT is to ensure each function of the application is meeting functional requirements/specifications, by providing appropriate input and verifying the output, validating UI, APIs, Database and error conditions.</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Pre-requisite</a:t>
            </a:r>
            <a:r>
              <a:rPr kumimoji="0" lang="en-CA" sz="900" b="1" i="0" u="none"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Unit Test is complete</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Environment</a:t>
            </a:r>
            <a:r>
              <a:rPr kumimoji="0" lang="en-CA" sz="900" b="1" i="0" u="none"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QA environment</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Led by:</a:t>
            </a:r>
            <a:r>
              <a:rPr kumimoji="0" lang="en-CA" sz="900" b="0" i="0" u="sng"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Miipe</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1"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Executed by</a:t>
            </a:r>
            <a:r>
              <a:rPr kumimoji="0" lang="en-CA" sz="900" b="1" i="0" u="none" strike="noStrike" kern="1200" cap="none" spc="0" normalizeH="0" baseline="0" noProof="0" dirty="0">
                <a:ln>
                  <a:noFill/>
                </a:ln>
                <a:solidFill>
                  <a:prstClr val="white"/>
                </a:solidFill>
                <a:effectLst/>
                <a:uLnTx/>
                <a:uFillTx/>
                <a:latin typeface="Arial"/>
                <a:cs typeface="Calibri"/>
              </a:rPr>
              <a:t>:</a:t>
            </a:r>
            <a:r>
              <a:rPr kumimoji="0" lang="en-CA" sz="900" b="0" i="0" u="none" strike="noStrike" kern="1200" cap="none" spc="0" normalizeH="0" baseline="0" noProof="0" dirty="0">
                <a:ln>
                  <a:noFill/>
                </a:ln>
                <a:solidFill>
                  <a:prstClr val="white"/>
                </a:solidFill>
                <a:effectLst/>
                <a:uLnTx/>
                <a:uFillTx/>
                <a:latin typeface="Arial"/>
                <a:cs typeface="Calibri"/>
              </a:rPr>
              <a:t> Miipe Quality Engineers</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Source documentation</a:t>
            </a:r>
            <a:r>
              <a:rPr kumimoji="0" lang="en-CA" sz="900" b="1" i="0" u="none" strike="noStrike" kern="1200" cap="none" spc="0" normalizeH="0" baseline="0" noProof="0" dirty="0">
                <a:ln>
                  <a:noFill/>
                </a:ln>
                <a:solidFill>
                  <a:prstClr val="white"/>
                </a:solidFill>
                <a:effectLst/>
                <a:uLnTx/>
                <a:uFillTx/>
                <a:latin typeface="Arial"/>
                <a:cs typeface="Calibri"/>
              </a:rPr>
              <a:t>:</a:t>
            </a:r>
            <a:r>
              <a:rPr kumimoji="0" lang="en-CA" sz="900" b="0" i="0" u="none" strike="noStrike" kern="1200" cap="none" spc="0" normalizeH="0" baseline="0" noProof="0" dirty="0">
                <a:ln>
                  <a:noFill/>
                </a:ln>
                <a:solidFill>
                  <a:prstClr val="white"/>
                </a:solidFill>
                <a:effectLst/>
                <a:uLnTx/>
                <a:uFillTx/>
                <a:latin typeface="Arial"/>
                <a:cs typeface="Calibri"/>
              </a:rPr>
              <a:t> Requirements, BRD, CS,SIA,DEV stories</a:t>
            </a:r>
            <a:endParaRPr lang="en-IN" sz="900" b="1" i="0" u="none" strike="noStrike" kern="1200" cap="none" spc="0" normalizeH="0" baseline="0" noProof="0" dirty="0">
              <a:ln>
                <a:noFill/>
              </a:ln>
              <a:solidFill>
                <a:prstClr val="white"/>
              </a:solidFill>
              <a:effectLst/>
              <a:uLnTx/>
              <a:uFillTx/>
              <a:latin typeface="Arial"/>
              <a:cs typeface="Calibri"/>
            </a:endParaRPr>
          </a:p>
        </p:txBody>
      </p:sp>
      <p:sp>
        <p:nvSpPr>
          <p:cNvPr id="86" name="Rectangle 85">
            <a:extLst>
              <a:ext uri="{FF2B5EF4-FFF2-40B4-BE49-F238E27FC236}">
                <a16:creationId xmlns:a16="http://schemas.microsoft.com/office/drawing/2014/main" id="{37CCF58F-46CA-AB88-C019-13F29A814F3E}"/>
              </a:ext>
            </a:extLst>
          </p:cNvPr>
          <p:cNvSpPr/>
          <p:nvPr/>
        </p:nvSpPr>
        <p:spPr>
          <a:xfrm>
            <a:off x="2133107" y="1962720"/>
            <a:ext cx="1839973" cy="4780813"/>
          </a:xfrm>
          <a:prstGeom prst="rect">
            <a:avLst/>
          </a:prstGeom>
        </p:spPr>
        <p:txBody>
          <a:bodyPr wrap="square" lIns="0" tIns="0" rIns="0" bIns="0" anchor="t">
            <a:noAutofit/>
          </a:bodyPr>
          <a:lstStyle/>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Scope: </a:t>
            </a:r>
            <a:r>
              <a:rPr kumimoji="0" lang="en-CA" sz="900" b="0" i="0" u="none" strike="noStrike" kern="1200" cap="none" spc="0" normalizeH="0" baseline="0" noProof="0" dirty="0">
                <a:ln>
                  <a:noFill/>
                </a:ln>
                <a:solidFill>
                  <a:prstClr val="white"/>
                </a:solidFill>
                <a:effectLst/>
                <a:uLnTx/>
                <a:uFillTx/>
                <a:latin typeface="Arial"/>
                <a:cs typeface="Calibri"/>
              </a:rPr>
              <a:t>The requirement of conducting SIT and the high level SIT scope are determined by the project team in PRE-PI </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1" i="0" u="sng"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Purpose</a:t>
            </a:r>
            <a:r>
              <a:rPr kumimoji="0" lang="en-CA" sz="900" b="0" i="0" u="none" strike="noStrike" kern="1200" cap="none" spc="0" normalizeH="0" baseline="0" noProof="0" dirty="0">
                <a:ln>
                  <a:noFill/>
                </a:ln>
                <a:solidFill>
                  <a:prstClr val="white"/>
                </a:solidFill>
                <a:effectLst/>
                <a:uLnTx/>
                <a:uFillTx/>
                <a:latin typeface="Arial"/>
                <a:cs typeface="Calibri"/>
              </a:rPr>
              <a:t> : SIT is performed to ensure the applications and all interfaces to external systems perform correctly and can communicate together as per design. The scope of SIT is related to the new and impacted integrations. The systems under SIT can be comprised of hardware, database, software, a combination of hardware and software, or a system that requires human interaction.</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Pre-requisite</a:t>
            </a:r>
            <a:r>
              <a:rPr kumimoji="0" lang="en-CA" sz="900" b="0" i="0" u="none" strike="noStrike" kern="1200" cap="none" spc="0" normalizeH="0" baseline="0" noProof="0" dirty="0">
                <a:ln>
                  <a:noFill/>
                </a:ln>
                <a:solidFill>
                  <a:prstClr val="white"/>
                </a:solidFill>
                <a:effectLst/>
                <a:uLnTx/>
                <a:uFillTx/>
                <a:latin typeface="Arial"/>
                <a:cs typeface="Calibri"/>
              </a:rPr>
              <a:t>: SFT testing is complete</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Environment</a:t>
            </a:r>
            <a:r>
              <a:rPr kumimoji="0" lang="en-CA" sz="900" b="0" i="0" u="none" strike="noStrike" kern="1200" cap="none" spc="0" normalizeH="0" baseline="0" noProof="0" dirty="0">
                <a:ln>
                  <a:noFill/>
                </a:ln>
                <a:solidFill>
                  <a:prstClr val="white"/>
                </a:solidFill>
                <a:effectLst/>
                <a:uLnTx/>
                <a:uFillTx/>
                <a:latin typeface="Arial"/>
                <a:cs typeface="Calibri"/>
              </a:rPr>
              <a:t>: QA environment</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Led by:</a:t>
            </a:r>
            <a:r>
              <a:rPr kumimoji="0" lang="en-CA" sz="900" b="0" i="0" u="sng"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Miipe</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1"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Executed by</a:t>
            </a:r>
            <a:r>
              <a:rPr kumimoji="0" lang="en-CA" sz="900" b="1" i="0" u="none" strike="noStrike" kern="1200" cap="none" spc="0" normalizeH="0" baseline="0" noProof="0" dirty="0">
                <a:ln>
                  <a:noFill/>
                </a:ln>
                <a:solidFill>
                  <a:prstClr val="white"/>
                </a:solidFill>
                <a:effectLst/>
                <a:uLnTx/>
                <a:uFillTx/>
                <a:latin typeface="Arial"/>
                <a:cs typeface="Calibri"/>
              </a:rPr>
              <a:t>:</a:t>
            </a:r>
            <a:r>
              <a:rPr kumimoji="0" lang="en-CA" sz="900" b="0" i="0" u="none" strike="noStrike" kern="1200" cap="none" spc="0" normalizeH="0" baseline="0" noProof="0" dirty="0">
                <a:ln>
                  <a:noFill/>
                </a:ln>
                <a:solidFill>
                  <a:prstClr val="white"/>
                </a:solidFill>
                <a:effectLst/>
                <a:uLnTx/>
                <a:uFillTx/>
                <a:latin typeface="Arial"/>
                <a:cs typeface="Calibri"/>
              </a:rPr>
              <a:t> Miipe Quality Engineers</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Source documentation</a:t>
            </a:r>
            <a:r>
              <a:rPr kumimoji="0" lang="en-CA" sz="900" b="0" i="0" u="none" strike="noStrike" kern="1200" cap="none" spc="0" normalizeH="0" baseline="0" noProof="0" dirty="0">
                <a:ln>
                  <a:noFill/>
                </a:ln>
                <a:solidFill>
                  <a:prstClr val="white"/>
                </a:solidFill>
                <a:effectLst/>
                <a:uLnTx/>
                <a:uFillTx/>
                <a:latin typeface="Arial"/>
                <a:cs typeface="Calibri"/>
              </a:rPr>
              <a:t>: Requirements, BRD, CS,SIA,DEV stories</a:t>
            </a:r>
            <a:endParaRPr lang="en-CA" sz="900" b="0" i="0" u="none" strike="noStrike" kern="1200" cap="none" spc="0" normalizeH="0" baseline="0" noProof="0" dirty="0">
              <a:ln>
                <a:noFill/>
              </a:ln>
              <a:solidFill>
                <a:prstClr val="white"/>
              </a:solidFill>
              <a:effectLst/>
              <a:uLnTx/>
              <a:uFillTx/>
              <a:latin typeface="Arial"/>
              <a:cs typeface="Calibri"/>
            </a:endParaRPr>
          </a:p>
        </p:txBody>
      </p:sp>
      <p:sp>
        <p:nvSpPr>
          <p:cNvPr id="87" name="Rectangle 86">
            <a:extLst>
              <a:ext uri="{FF2B5EF4-FFF2-40B4-BE49-F238E27FC236}">
                <a16:creationId xmlns:a16="http://schemas.microsoft.com/office/drawing/2014/main" id="{69787056-FE8A-D40D-8B34-FDF9CA3DF3F1}"/>
              </a:ext>
            </a:extLst>
          </p:cNvPr>
          <p:cNvSpPr/>
          <p:nvPr/>
        </p:nvSpPr>
        <p:spPr>
          <a:xfrm>
            <a:off x="4141133" y="2037847"/>
            <a:ext cx="1838909" cy="4763545"/>
          </a:xfrm>
          <a:prstGeom prst="rect">
            <a:avLst/>
          </a:prstGeom>
        </p:spPr>
        <p:txBody>
          <a:bodyPr wrap="square" lIns="0" tIns="0" rIns="0" bIns="0" anchor="t">
            <a:noAutofit/>
          </a:bodyPr>
          <a:lstStyle/>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Scope: </a:t>
            </a:r>
            <a:r>
              <a:rPr kumimoji="0" lang="en-CA" sz="900" b="0" i="0" u="none" strike="noStrike" kern="1200" cap="none" spc="0" normalizeH="0" baseline="0" noProof="0" dirty="0">
                <a:ln>
                  <a:noFill/>
                </a:ln>
                <a:solidFill>
                  <a:prstClr val="white"/>
                </a:solidFill>
                <a:effectLst/>
                <a:uLnTx/>
                <a:uFillTx/>
                <a:latin typeface="Arial"/>
                <a:cs typeface="Calibri"/>
              </a:rPr>
              <a:t>The requirement of conducting E2E and the high level E2E scope are determined by the project team in PRE-PI </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CA" sz="900" b="1" i="0" u="sng"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CA" sz="900" b="1" i="0" u="sng" strike="noStrike" kern="1200" cap="none" spc="0" normalizeH="0" baseline="0" noProof="0" dirty="0">
                <a:ln>
                  <a:noFill/>
                </a:ln>
                <a:solidFill>
                  <a:prstClr val="white"/>
                </a:solidFill>
                <a:effectLst/>
                <a:uLnTx/>
                <a:uFillTx/>
                <a:latin typeface="Arial"/>
                <a:cs typeface="Calibri"/>
              </a:rPr>
              <a:t>Purpose</a:t>
            </a:r>
            <a:r>
              <a:rPr kumimoji="0" lang="en-CA" sz="900" b="0" i="0" u="none" strike="noStrike" kern="1200" cap="none" spc="0" normalizeH="0" baseline="0" noProof="0" dirty="0">
                <a:ln>
                  <a:noFill/>
                </a:ln>
                <a:solidFill>
                  <a:prstClr val="white"/>
                </a:solidFill>
                <a:effectLst/>
                <a:uLnTx/>
                <a:uFillTx/>
                <a:latin typeface="Arial"/>
                <a:cs typeface="Calibri"/>
              </a:rPr>
              <a:t> : E2E is performed to validate the functionality, performance and reliability of the system from start to finish. It involves testing a complete workflow, simulating real-world scenarios and interactions.</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Pre-requisite</a:t>
            </a:r>
            <a:r>
              <a:rPr kumimoji="0" lang="en-CA" sz="900" b="0" i="0" u="none" strike="noStrike" kern="1200" cap="none" spc="0" normalizeH="0" baseline="0" noProof="0" dirty="0">
                <a:ln>
                  <a:noFill/>
                </a:ln>
                <a:solidFill>
                  <a:prstClr val="white"/>
                </a:solidFill>
                <a:effectLst/>
                <a:uLnTx/>
                <a:uFillTx/>
                <a:latin typeface="Arial"/>
                <a:cs typeface="Calibri"/>
              </a:rPr>
              <a:t>: SFT and SIT testing is complete</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Environment</a:t>
            </a:r>
            <a:r>
              <a:rPr kumimoji="0" lang="en-CA" sz="900" b="0" i="0" u="none" strike="noStrike" kern="1200" cap="none" spc="0" normalizeH="0" baseline="0" noProof="0" dirty="0">
                <a:ln>
                  <a:noFill/>
                </a:ln>
                <a:solidFill>
                  <a:prstClr val="white"/>
                </a:solidFill>
                <a:effectLst/>
                <a:uLnTx/>
                <a:uFillTx/>
                <a:latin typeface="Arial"/>
                <a:cs typeface="Calibri"/>
              </a:rPr>
              <a:t>: QA environment</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Led by:</a:t>
            </a:r>
            <a:r>
              <a:rPr kumimoji="0" lang="en-CA" sz="900" b="0" i="0" u="sng"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Miipe</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1"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Executed by</a:t>
            </a:r>
            <a:r>
              <a:rPr kumimoji="0" lang="en-CA" sz="900" b="1" i="0" u="none" strike="noStrike" kern="1200" cap="none" spc="0" normalizeH="0" baseline="0" noProof="0" dirty="0">
                <a:ln>
                  <a:noFill/>
                </a:ln>
                <a:solidFill>
                  <a:prstClr val="white"/>
                </a:solidFill>
                <a:effectLst/>
                <a:uLnTx/>
                <a:uFillTx/>
                <a:latin typeface="Arial"/>
                <a:cs typeface="Calibri"/>
              </a:rPr>
              <a:t>:</a:t>
            </a:r>
            <a:r>
              <a:rPr kumimoji="0" lang="en-CA" sz="900" b="0" i="0" u="none" strike="noStrike" kern="1200" cap="none" spc="0" normalizeH="0" baseline="0" noProof="0" dirty="0">
                <a:ln>
                  <a:noFill/>
                </a:ln>
                <a:solidFill>
                  <a:prstClr val="white"/>
                </a:solidFill>
                <a:effectLst/>
                <a:uLnTx/>
                <a:uFillTx/>
                <a:latin typeface="Arial"/>
                <a:cs typeface="Calibri"/>
              </a:rPr>
              <a:t> Miipe Quality Engineers</a:t>
            </a:r>
            <a:endParaRPr lang="en-CA" sz="900" b="0" i="0" u="none" strike="noStrike" kern="1200" cap="none" spc="0" normalizeH="0" baseline="0" noProof="0" dirty="0">
              <a:ln>
                <a:noFill/>
              </a:ln>
              <a:solidFill>
                <a:prstClr val="white"/>
              </a:solidFill>
              <a:effectLst/>
              <a:uLnTx/>
              <a:uFillTx/>
              <a:latin typeface="Arial"/>
              <a:cs typeface="Calibri"/>
            </a:endParaRPr>
          </a:p>
          <a:p>
            <a:pPr marL="742315" marR="0" lvl="1"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Source documentation</a:t>
            </a:r>
            <a:r>
              <a:rPr kumimoji="0" lang="en-CA" sz="900" b="0" i="0" u="none" strike="noStrike" kern="1200" cap="none" spc="0" normalizeH="0" baseline="0" noProof="0" dirty="0">
                <a:ln>
                  <a:noFill/>
                </a:ln>
                <a:solidFill>
                  <a:prstClr val="white"/>
                </a:solidFill>
                <a:effectLst/>
                <a:uLnTx/>
                <a:uFillTx/>
                <a:latin typeface="Arial"/>
                <a:cs typeface="Calibri"/>
              </a:rPr>
              <a:t>: Requirements, BRD, CS,SIA, Use Cases, Visio diagrams, DEV stories</a:t>
            </a:r>
            <a:endParaRPr lang="en-CA" sz="900" b="0" i="0" u="none" strike="noStrike" kern="1200" cap="none" spc="0" normalizeH="0" baseline="0" noProof="0" dirty="0">
              <a:ln>
                <a:noFill/>
              </a:ln>
              <a:solidFill>
                <a:prstClr val="white"/>
              </a:solidFill>
              <a:effectLst/>
              <a:uLnTx/>
              <a:uFillTx/>
              <a:latin typeface="Arial"/>
              <a:cs typeface="Calibri"/>
            </a:endParaRPr>
          </a:p>
        </p:txBody>
      </p:sp>
      <p:sp>
        <p:nvSpPr>
          <p:cNvPr id="92" name="Rectangle 91">
            <a:extLst>
              <a:ext uri="{FF2B5EF4-FFF2-40B4-BE49-F238E27FC236}">
                <a16:creationId xmlns:a16="http://schemas.microsoft.com/office/drawing/2014/main" id="{6504943E-824D-870A-15D0-620A6ED19E59}"/>
              </a:ext>
            </a:extLst>
          </p:cNvPr>
          <p:cNvSpPr/>
          <p:nvPr/>
        </p:nvSpPr>
        <p:spPr>
          <a:xfrm>
            <a:off x="6166492" y="2037846"/>
            <a:ext cx="1876303" cy="4763542"/>
          </a:xfrm>
          <a:prstGeom prst="rect">
            <a:avLst/>
          </a:prstGeom>
        </p:spPr>
        <p:txBody>
          <a:bodyPr wrap="square" lIns="0" tIns="0" rIns="0" bIns="0" anchor="t">
            <a:noAutofit/>
          </a:bodyPr>
          <a:lstStyle/>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Scope: </a:t>
            </a:r>
            <a:r>
              <a:rPr kumimoji="0" lang="en-CA" sz="900" b="0" i="0" u="none" strike="noStrike" kern="1200" cap="none" spc="0" normalizeH="0" baseline="0" noProof="0" dirty="0">
                <a:ln>
                  <a:noFill/>
                </a:ln>
                <a:solidFill>
                  <a:prstClr val="white"/>
                </a:solidFill>
                <a:effectLst/>
                <a:uLnTx/>
                <a:uFillTx/>
                <a:latin typeface="Arial"/>
                <a:cs typeface="Calibri"/>
              </a:rPr>
              <a:t>The requirement of conducting UAT and the high level UAT scope are determined by the Business team in PRE-PI </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1" i="0" u="sng"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Purpose</a:t>
            </a:r>
            <a:r>
              <a:rPr kumimoji="0" lang="en-CA" sz="900" b="1" i="0" u="none"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The testing phase that allows the end-users (or their representatives) to validate that the functionality meets their requirements/stories through hands-on testing.</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Pre-requisite</a:t>
            </a:r>
            <a:r>
              <a:rPr kumimoji="0" lang="en-CA" sz="900" b="1" i="0" u="none"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SFT and E2E testing is complete</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Environment: </a:t>
            </a:r>
            <a:r>
              <a:rPr kumimoji="0" lang="en-CA" sz="900" b="0" i="0" u="none" strike="noStrike" kern="1200" cap="none" spc="0" normalizeH="0" baseline="0" noProof="0" dirty="0">
                <a:ln>
                  <a:noFill/>
                </a:ln>
                <a:solidFill>
                  <a:prstClr val="white"/>
                </a:solidFill>
                <a:effectLst/>
                <a:uLnTx/>
                <a:uFillTx/>
                <a:latin typeface="Arial"/>
                <a:cs typeface="Calibri"/>
              </a:rPr>
              <a:t>QA or UAT environment</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Led by:</a:t>
            </a:r>
            <a:r>
              <a:rPr kumimoji="0" lang="en-CA" sz="900" b="0" i="0" u="sng"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Miipe</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1"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Executed by</a:t>
            </a:r>
            <a:r>
              <a:rPr kumimoji="0" lang="en-CA" sz="900" b="1" i="0" u="none" strike="noStrike" kern="1200" cap="none" spc="0" normalizeH="0" baseline="0" noProof="0" dirty="0">
                <a:ln>
                  <a:noFill/>
                </a:ln>
                <a:solidFill>
                  <a:prstClr val="white"/>
                </a:solidFill>
                <a:effectLst/>
                <a:uLnTx/>
                <a:uFillTx/>
                <a:latin typeface="Arial"/>
                <a:cs typeface="Calibri"/>
              </a:rPr>
              <a:t>:</a:t>
            </a:r>
            <a:r>
              <a:rPr kumimoji="0" lang="en-CA" sz="900" b="0" i="0" u="none" strike="noStrike" kern="1200" cap="none" spc="0" normalizeH="0" baseline="0" noProof="0" dirty="0">
                <a:ln>
                  <a:noFill/>
                </a:ln>
                <a:solidFill>
                  <a:prstClr val="white"/>
                </a:solidFill>
                <a:effectLst/>
                <a:uLnTx/>
                <a:uFillTx/>
                <a:latin typeface="Arial"/>
                <a:cs typeface="Calibri"/>
              </a:rPr>
              <a:t> Business end-users or their representatives (i.e. Business BAs)</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Source documentation</a:t>
            </a:r>
            <a:r>
              <a:rPr kumimoji="0" lang="en-CA" sz="900" b="1" i="0" u="none" strike="noStrike" kern="1200" cap="none" spc="0" normalizeH="0" baseline="0" noProof="0" dirty="0">
                <a:ln>
                  <a:noFill/>
                </a:ln>
                <a:solidFill>
                  <a:prstClr val="white"/>
                </a:solidFill>
                <a:effectLst/>
                <a:uLnTx/>
                <a:uFillTx/>
                <a:latin typeface="Arial"/>
                <a:cs typeface="Calibri"/>
              </a:rPr>
              <a:t>:</a:t>
            </a:r>
            <a:r>
              <a:rPr kumimoji="0" lang="en-CA" sz="900" b="0" i="0" u="none" strike="noStrike" kern="1200" cap="none" spc="0" normalizeH="0" baseline="0" noProof="0" dirty="0">
                <a:ln>
                  <a:noFill/>
                </a:ln>
                <a:solidFill>
                  <a:prstClr val="white"/>
                </a:solidFill>
                <a:effectLst/>
                <a:uLnTx/>
                <a:uFillTx/>
                <a:latin typeface="Arial"/>
                <a:cs typeface="Calibri"/>
              </a:rPr>
              <a:t> Requirements, BRD, CS,SIA, Use Cases, Visio diagrams, DEV stories</a:t>
            </a:r>
            <a:endParaRPr lang="en-CA" sz="900" b="0" i="0" u="none" strike="noStrike" kern="1200" cap="none" spc="0" normalizeH="0" baseline="0" noProof="0" dirty="0">
              <a:ln>
                <a:noFill/>
              </a:ln>
              <a:solidFill>
                <a:prstClr val="white"/>
              </a:solidFill>
              <a:effectLst/>
              <a:uLnTx/>
              <a:uFillTx/>
              <a:latin typeface="Arial"/>
              <a:ea typeface="Calibri" panose="020F0502020204030204" pitchFamily="34" charset="0"/>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Oval 92">
            <a:extLst>
              <a:ext uri="{FF2B5EF4-FFF2-40B4-BE49-F238E27FC236}">
                <a16:creationId xmlns:a16="http://schemas.microsoft.com/office/drawing/2014/main" id="{4FC33288-C671-1E47-BEAF-630F27A2B926}"/>
              </a:ext>
            </a:extLst>
          </p:cNvPr>
          <p:cNvSpPr/>
          <p:nvPr/>
        </p:nvSpPr>
        <p:spPr>
          <a:xfrm>
            <a:off x="675263" y="1171131"/>
            <a:ext cx="772866" cy="750913"/>
          </a:xfrm>
          <a:prstGeom prst="ellipse">
            <a:avLst/>
          </a:prstGeom>
          <a:solidFill>
            <a:srgbClr val="44546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4" name="Oval 93">
            <a:extLst>
              <a:ext uri="{FF2B5EF4-FFF2-40B4-BE49-F238E27FC236}">
                <a16:creationId xmlns:a16="http://schemas.microsoft.com/office/drawing/2014/main" id="{915B1AE5-569F-4BA9-57C5-5557FFBA8708}"/>
              </a:ext>
            </a:extLst>
          </p:cNvPr>
          <p:cNvSpPr/>
          <p:nvPr/>
        </p:nvSpPr>
        <p:spPr>
          <a:xfrm>
            <a:off x="2682572" y="1157539"/>
            <a:ext cx="750914" cy="750913"/>
          </a:xfrm>
          <a:prstGeom prst="ellipse">
            <a:avLst/>
          </a:prstGeom>
          <a:solidFill>
            <a:srgbClr val="00206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9" name="Oval 98">
            <a:extLst>
              <a:ext uri="{FF2B5EF4-FFF2-40B4-BE49-F238E27FC236}">
                <a16:creationId xmlns:a16="http://schemas.microsoft.com/office/drawing/2014/main" id="{299DD48B-64A9-A84D-C960-A51F576DDF46}"/>
              </a:ext>
            </a:extLst>
          </p:cNvPr>
          <p:cNvSpPr/>
          <p:nvPr/>
        </p:nvSpPr>
        <p:spPr>
          <a:xfrm>
            <a:off x="4655840" y="1179004"/>
            <a:ext cx="750914" cy="750913"/>
          </a:xfrm>
          <a:prstGeom prst="ellipse">
            <a:avLst/>
          </a:prstGeom>
          <a:solidFill>
            <a:srgbClr val="A5A5A5">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0" name="Oval 99">
            <a:extLst>
              <a:ext uri="{FF2B5EF4-FFF2-40B4-BE49-F238E27FC236}">
                <a16:creationId xmlns:a16="http://schemas.microsoft.com/office/drawing/2014/main" id="{6E9EB46E-B650-3019-8211-DA6CBCB830FA}"/>
              </a:ext>
            </a:extLst>
          </p:cNvPr>
          <p:cNvSpPr/>
          <p:nvPr/>
        </p:nvSpPr>
        <p:spPr>
          <a:xfrm>
            <a:off x="6672064" y="1179004"/>
            <a:ext cx="750914" cy="750913"/>
          </a:xfrm>
          <a:prstGeom prst="ellipse">
            <a:avLst/>
          </a:prstGeom>
          <a:solidFill>
            <a:srgbClr val="FFC000">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01" name="Graphic 100" descr="Clapper board with solid fill">
            <a:extLst>
              <a:ext uri="{FF2B5EF4-FFF2-40B4-BE49-F238E27FC236}">
                <a16:creationId xmlns:a16="http://schemas.microsoft.com/office/drawing/2014/main" id="{6B2CB538-7F8E-1B3C-1FCB-727139B78C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06871" y="1223697"/>
            <a:ext cx="491148" cy="491148"/>
          </a:xfrm>
          <a:prstGeom prst="rect">
            <a:avLst/>
          </a:prstGeom>
        </p:spPr>
      </p:pic>
      <p:pic>
        <p:nvPicPr>
          <p:cNvPr id="102" name="Graphic 101" descr="Puzzle with solid fill">
            <a:extLst>
              <a:ext uri="{FF2B5EF4-FFF2-40B4-BE49-F238E27FC236}">
                <a16:creationId xmlns:a16="http://schemas.microsoft.com/office/drawing/2014/main" id="{FCAE4000-568F-A3BC-BEF4-077665B474D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8420" y="1286934"/>
            <a:ext cx="535052" cy="535052"/>
          </a:xfrm>
          <a:prstGeom prst="rect">
            <a:avLst/>
          </a:prstGeom>
        </p:spPr>
      </p:pic>
      <p:pic>
        <p:nvPicPr>
          <p:cNvPr id="111" name="Graphic 110" descr="Continuous Improvement with solid fill">
            <a:extLst>
              <a:ext uri="{FF2B5EF4-FFF2-40B4-BE49-F238E27FC236}">
                <a16:creationId xmlns:a16="http://schemas.microsoft.com/office/drawing/2014/main" id="{0A1D7196-C8E1-78DC-4E24-74874E2974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29872" y="1245162"/>
            <a:ext cx="646048" cy="646048"/>
          </a:xfrm>
          <a:prstGeom prst="rect">
            <a:avLst/>
          </a:prstGeom>
        </p:spPr>
      </p:pic>
      <p:sp>
        <p:nvSpPr>
          <p:cNvPr id="113" name="Rectangle 112">
            <a:extLst>
              <a:ext uri="{FF2B5EF4-FFF2-40B4-BE49-F238E27FC236}">
                <a16:creationId xmlns:a16="http://schemas.microsoft.com/office/drawing/2014/main" id="{FFF0C0B1-4D78-0A89-7C98-23F4DE2C137B}"/>
              </a:ext>
            </a:extLst>
          </p:cNvPr>
          <p:cNvSpPr/>
          <p:nvPr/>
        </p:nvSpPr>
        <p:spPr>
          <a:xfrm>
            <a:off x="8167710" y="620688"/>
            <a:ext cx="1907602" cy="6120680"/>
          </a:xfrm>
          <a:prstGeom prst="rect">
            <a:avLst/>
          </a:prstGeom>
          <a:solidFill>
            <a:srgbClr val="5B9BD5">
              <a:lumMod val="60000"/>
              <a:lumOff val="40000"/>
            </a:srgbClr>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4" name="Freeform: Shape 113">
            <a:extLst>
              <a:ext uri="{FF2B5EF4-FFF2-40B4-BE49-F238E27FC236}">
                <a16:creationId xmlns:a16="http://schemas.microsoft.com/office/drawing/2014/main" id="{5B97269E-440A-F838-6FAB-6360CE262817}"/>
              </a:ext>
            </a:extLst>
          </p:cNvPr>
          <p:cNvSpPr/>
          <p:nvPr/>
        </p:nvSpPr>
        <p:spPr>
          <a:xfrm>
            <a:off x="8167710" y="618639"/>
            <a:ext cx="1907603" cy="393090"/>
          </a:xfrm>
          <a:custGeom>
            <a:avLst/>
            <a:gdLst>
              <a:gd name="connsiteX0" fmla="*/ 0 w 2715985"/>
              <a:gd name="connsiteY0" fmla="*/ 0 h 522111"/>
              <a:gd name="connsiteX1" fmla="*/ 2715985 w 2715985"/>
              <a:gd name="connsiteY1" fmla="*/ 0 h 522111"/>
              <a:gd name="connsiteX2" fmla="*/ 2715985 w 2715985"/>
              <a:gd name="connsiteY2" fmla="*/ 522111 h 522111"/>
              <a:gd name="connsiteX3" fmla="*/ 0 w 2715985"/>
              <a:gd name="connsiteY3" fmla="*/ 522111 h 522111"/>
              <a:gd name="connsiteX4" fmla="*/ 0 w 2715985"/>
              <a:gd name="connsiteY4" fmla="*/ 0 h 52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5985" h="522111">
                <a:moveTo>
                  <a:pt x="0" y="0"/>
                </a:moveTo>
                <a:lnTo>
                  <a:pt x="2715985" y="0"/>
                </a:lnTo>
                <a:lnTo>
                  <a:pt x="2715985" y="522111"/>
                </a:lnTo>
                <a:lnTo>
                  <a:pt x="0" y="522111"/>
                </a:lnTo>
                <a:lnTo>
                  <a:pt x="0" y="0"/>
                </a:lnTo>
                <a:close/>
              </a:path>
            </a:pathLst>
          </a:custGeom>
          <a:solidFill>
            <a:srgbClr val="44546A">
              <a:lumMod val="60000"/>
              <a:lumOff val="40000"/>
            </a:srgbClr>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5" name="TextBox 114">
            <a:extLst>
              <a:ext uri="{FF2B5EF4-FFF2-40B4-BE49-F238E27FC236}">
                <a16:creationId xmlns:a16="http://schemas.microsoft.com/office/drawing/2014/main" id="{C8A9656C-2A40-E2FB-6208-4FF0EFABD80C}"/>
              </a:ext>
            </a:extLst>
          </p:cNvPr>
          <p:cNvSpPr txBox="1"/>
          <p:nvPr/>
        </p:nvSpPr>
        <p:spPr>
          <a:xfrm>
            <a:off x="8394280" y="704951"/>
            <a:ext cx="1681033" cy="276999"/>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white"/>
                </a:solidFill>
                <a:effectLst/>
                <a:uLnTx/>
                <a:uFillTx/>
                <a:latin typeface="Arial"/>
                <a:ea typeface="Segoe UI Black"/>
                <a:cs typeface="Arial"/>
              </a:rPr>
              <a:t>DVT</a:t>
            </a:r>
            <a:endParaRPr kumimoji="0" lang="en-IN" sz="2400" b="1" i="0" u="none" strike="noStrike" kern="1200" cap="none" spc="0" normalizeH="0" baseline="0" noProof="0" dirty="0">
              <a:ln>
                <a:noFill/>
              </a:ln>
              <a:solidFill>
                <a:prstClr val="white"/>
              </a:solidFill>
              <a:effectLst/>
              <a:uLnTx/>
              <a:uFillTx/>
              <a:latin typeface="Arial"/>
              <a:ea typeface="Segoe UI Black"/>
              <a:cs typeface="Arial"/>
            </a:endParaRPr>
          </a:p>
        </p:txBody>
      </p:sp>
      <p:sp>
        <p:nvSpPr>
          <p:cNvPr id="116" name="Rectangle 115">
            <a:extLst>
              <a:ext uri="{FF2B5EF4-FFF2-40B4-BE49-F238E27FC236}">
                <a16:creationId xmlns:a16="http://schemas.microsoft.com/office/drawing/2014/main" id="{7EC59EB6-B0B1-8CAE-9219-4463EF564870}"/>
              </a:ext>
            </a:extLst>
          </p:cNvPr>
          <p:cNvSpPr/>
          <p:nvPr/>
        </p:nvSpPr>
        <p:spPr>
          <a:xfrm>
            <a:off x="8167709" y="2030554"/>
            <a:ext cx="1907602" cy="4710814"/>
          </a:xfrm>
          <a:prstGeom prst="rect">
            <a:avLst/>
          </a:prstGeom>
        </p:spPr>
        <p:txBody>
          <a:bodyPr wrap="square" lIns="0" tIns="0" rIns="0" bIns="0" anchor="t">
            <a:noAutofit/>
          </a:bodyPr>
          <a:lstStyle/>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Scope: </a:t>
            </a:r>
            <a:r>
              <a:rPr kumimoji="0" lang="en-CA" sz="900" b="0" i="0" u="none" strike="noStrike" kern="1200" cap="none" spc="0" normalizeH="0" baseline="0" noProof="0" dirty="0">
                <a:ln>
                  <a:noFill/>
                </a:ln>
                <a:solidFill>
                  <a:prstClr val="white"/>
                </a:solidFill>
                <a:effectLst/>
                <a:uLnTx/>
                <a:uFillTx/>
                <a:latin typeface="Arial"/>
                <a:cs typeface="Calibri"/>
              </a:rPr>
              <a:t>The requirement of conducting DVT and the high level DVT scope are determined by the project team in PRE-PI </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1" i="0" u="sng"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Purpose</a:t>
            </a:r>
            <a:r>
              <a:rPr kumimoji="0" lang="en-CA" sz="900" b="0" i="0" u="none" strike="noStrike" kern="1200" cap="none" spc="0" normalizeH="0" baseline="0" noProof="0" dirty="0">
                <a:ln>
                  <a:noFill/>
                </a:ln>
                <a:solidFill>
                  <a:prstClr val="white"/>
                </a:solidFill>
                <a:effectLst/>
                <a:uLnTx/>
                <a:uFillTx/>
                <a:latin typeface="Arial"/>
                <a:cs typeface="Calibri"/>
              </a:rPr>
              <a:t> : The testing phase that ensures that the software and any configurations have been successfully deployed into production, by executing a subset of E2E test cases.</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Pre-requisite</a:t>
            </a:r>
            <a:r>
              <a:rPr kumimoji="0" lang="en-CA" sz="900" b="0" i="0" u="none" strike="noStrike" kern="1200" cap="none" spc="0" normalizeH="0" baseline="0" noProof="0" dirty="0">
                <a:ln>
                  <a:noFill/>
                </a:ln>
                <a:solidFill>
                  <a:prstClr val="white"/>
                </a:solidFill>
                <a:effectLst/>
                <a:uLnTx/>
                <a:uFillTx/>
                <a:latin typeface="Arial"/>
                <a:cs typeface="Calibri"/>
              </a:rPr>
              <a:t>: UAT testing is complete, and all code and configurations have been deployed to Production</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Environment</a:t>
            </a:r>
            <a:r>
              <a:rPr kumimoji="0" lang="en-CA" sz="900" b="0" i="0" u="none" strike="noStrike" kern="1200" cap="none" spc="0" normalizeH="0" baseline="0" noProof="0" dirty="0">
                <a:ln>
                  <a:noFill/>
                </a:ln>
                <a:solidFill>
                  <a:prstClr val="white"/>
                </a:solidFill>
                <a:effectLst/>
                <a:uLnTx/>
                <a:uFillTx/>
                <a:latin typeface="Arial"/>
                <a:cs typeface="Calibri"/>
              </a:rPr>
              <a:t>: Production environment</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Led by:</a:t>
            </a:r>
            <a:r>
              <a:rPr kumimoji="0" lang="en-CA" sz="900" b="0" i="0" u="sng"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Miipe</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1"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Executed by</a:t>
            </a:r>
            <a:r>
              <a:rPr kumimoji="0" lang="en-CA" sz="900" b="1" i="0" u="none" strike="noStrike" kern="1200" cap="none" spc="0" normalizeH="0" baseline="0" noProof="0" dirty="0">
                <a:ln>
                  <a:noFill/>
                </a:ln>
                <a:solidFill>
                  <a:prstClr val="white"/>
                </a:solidFill>
                <a:effectLst/>
                <a:uLnTx/>
                <a:uFillTx/>
                <a:latin typeface="Arial"/>
                <a:cs typeface="Calibri"/>
              </a:rPr>
              <a:t>:</a:t>
            </a:r>
            <a:r>
              <a:rPr kumimoji="0" lang="en-CA" sz="900" b="0" i="0" u="none" strike="noStrike" kern="1200" cap="none" spc="0" normalizeH="0" baseline="0" noProof="0" dirty="0">
                <a:ln>
                  <a:noFill/>
                </a:ln>
                <a:solidFill>
                  <a:prstClr val="white"/>
                </a:solidFill>
                <a:effectLst/>
                <a:uLnTx/>
                <a:uFillTx/>
                <a:latin typeface="Arial"/>
                <a:cs typeface="Calibri"/>
              </a:rPr>
              <a:t> Miipe Quality Engineers</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Source documentation</a:t>
            </a:r>
            <a:r>
              <a:rPr kumimoji="0" lang="en-CA" sz="900" b="0" i="0" u="none" strike="noStrike" kern="1200" cap="none" spc="0" normalizeH="0" baseline="0" noProof="0" dirty="0">
                <a:ln>
                  <a:noFill/>
                </a:ln>
                <a:solidFill>
                  <a:prstClr val="white"/>
                </a:solidFill>
                <a:effectLst/>
                <a:uLnTx/>
                <a:uFillTx/>
                <a:latin typeface="Arial"/>
                <a:cs typeface="Calibri"/>
              </a:rPr>
              <a:t>: Requirements, BRD, CS,SIA, Use Cases, Visio diagrams, DEV stories, E2E test cases</a:t>
            </a:r>
            <a:endParaRPr lang="en-CA" sz="900" b="0" i="0" u="none" strike="noStrike" kern="1200" cap="none" spc="0" normalizeH="0" baseline="0" noProof="0" dirty="0">
              <a:ln>
                <a:noFill/>
              </a:ln>
              <a:solidFill>
                <a:prstClr val="white"/>
              </a:solidFill>
              <a:effectLst/>
              <a:uLnTx/>
              <a:uFillTx/>
              <a:latin typeface="Arial"/>
              <a:cs typeface="Calibri"/>
            </a:endParaRPr>
          </a:p>
        </p:txBody>
      </p:sp>
      <p:sp>
        <p:nvSpPr>
          <p:cNvPr id="117" name="Oval 116">
            <a:extLst>
              <a:ext uri="{FF2B5EF4-FFF2-40B4-BE49-F238E27FC236}">
                <a16:creationId xmlns:a16="http://schemas.microsoft.com/office/drawing/2014/main" id="{3B589524-75D3-DA8F-DDFF-E184C1E23B1B}"/>
              </a:ext>
            </a:extLst>
          </p:cNvPr>
          <p:cNvSpPr/>
          <p:nvPr/>
        </p:nvSpPr>
        <p:spPr>
          <a:xfrm>
            <a:off x="8704581" y="1171131"/>
            <a:ext cx="750914" cy="750913"/>
          </a:xfrm>
          <a:prstGeom prst="ellipse">
            <a:avLst/>
          </a:prstGeom>
          <a:solidFill>
            <a:srgbClr val="44546A">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8" name="Rectangle 117">
            <a:extLst>
              <a:ext uri="{FF2B5EF4-FFF2-40B4-BE49-F238E27FC236}">
                <a16:creationId xmlns:a16="http://schemas.microsoft.com/office/drawing/2014/main" id="{9ACB091F-AF53-AEFA-8342-7BEAD37143D6}"/>
              </a:ext>
            </a:extLst>
          </p:cNvPr>
          <p:cNvSpPr/>
          <p:nvPr/>
        </p:nvSpPr>
        <p:spPr>
          <a:xfrm>
            <a:off x="10181483" y="620688"/>
            <a:ext cx="1907602" cy="6120680"/>
          </a:xfrm>
          <a:prstGeom prst="rect">
            <a:avLst/>
          </a:prstGeom>
          <a:solidFill>
            <a:sysClr val="window" lastClr="FFFFFF">
              <a:lumMod val="65000"/>
            </a:sysClr>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9" name="Freeform: Shape 118">
            <a:extLst>
              <a:ext uri="{FF2B5EF4-FFF2-40B4-BE49-F238E27FC236}">
                <a16:creationId xmlns:a16="http://schemas.microsoft.com/office/drawing/2014/main" id="{13636AB9-996A-4B36-F51C-60C4F0411F87}"/>
              </a:ext>
            </a:extLst>
          </p:cNvPr>
          <p:cNvSpPr/>
          <p:nvPr/>
        </p:nvSpPr>
        <p:spPr>
          <a:xfrm>
            <a:off x="10170744" y="629371"/>
            <a:ext cx="1915856" cy="382358"/>
          </a:xfrm>
          <a:custGeom>
            <a:avLst/>
            <a:gdLst>
              <a:gd name="connsiteX0" fmla="*/ 0 w 2715985"/>
              <a:gd name="connsiteY0" fmla="*/ 0 h 522111"/>
              <a:gd name="connsiteX1" fmla="*/ 2715985 w 2715985"/>
              <a:gd name="connsiteY1" fmla="*/ 0 h 522111"/>
              <a:gd name="connsiteX2" fmla="*/ 2715985 w 2715985"/>
              <a:gd name="connsiteY2" fmla="*/ 522111 h 522111"/>
              <a:gd name="connsiteX3" fmla="*/ 0 w 2715985"/>
              <a:gd name="connsiteY3" fmla="*/ 522111 h 522111"/>
              <a:gd name="connsiteX4" fmla="*/ 0 w 2715985"/>
              <a:gd name="connsiteY4" fmla="*/ 0 h 522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5985" h="522111">
                <a:moveTo>
                  <a:pt x="0" y="0"/>
                </a:moveTo>
                <a:lnTo>
                  <a:pt x="2715985" y="0"/>
                </a:lnTo>
                <a:lnTo>
                  <a:pt x="2715985" y="522111"/>
                </a:lnTo>
                <a:lnTo>
                  <a:pt x="0" y="522111"/>
                </a:lnTo>
                <a:lnTo>
                  <a:pt x="0" y="0"/>
                </a:lnTo>
                <a:close/>
              </a:path>
            </a:pathLst>
          </a:custGeom>
          <a:solidFill>
            <a:sysClr val="window" lastClr="FFFFFF">
              <a:lumMod val="50000"/>
            </a:sysClr>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0" name="TextBox 119">
            <a:extLst>
              <a:ext uri="{FF2B5EF4-FFF2-40B4-BE49-F238E27FC236}">
                <a16:creationId xmlns:a16="http://schemas.microsoft.com/office/drawing/2014/main" id="{E95FCC2F-FD0C-8C9B-A561-712E147BF03A}"/>
              </a:ext>
            </a:extLst>
          </p:cNvPr>
          <p:cNvSpPr txBox="1"/>
          <p:nvPr/>
        </p:nvSpPr>
        <p:spPr>
          <a:xfrm>
            <a:off x="10294767" y="704950"/>
            <a:ext cx="1681033" cy="276999"/>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white"/>
                </a:solidFill>
                <a:effectLst/>
                <a:uLnTx/>
                <a:uFillTx/>
                <a:latin typeface="Arial"/>
                <a:ea typeface="Segoe UI Black"/>
                <a:cs typeface="Arial"/>
              </a:rPr>
              <a:t>ORT</a:t>
            </a:r>
          </a:p>
        </p:txBody>
      </p:sp>
      <p:sp>
        <p:nvSpPr>
          <p:cNvPr id="121" name="Rectangle 120">
            <a:extLst>
              <a:ext uri="{FF2B5EF4-FFF2-40B4-BE49-F238E27FC236}">
                <a16:creationId xmlns:a16="http://schemas.microsoft.com/office/drawing/2014/main" id="{6977CEB6-8CA4-CA70-A601-21F855FC82F0}"/>
              </a:ext>
            </a:extLst>
          </p:cNvPr>
          <p:cNvSpPr/>
          <p:nvPr/>
        </p:nvSpPr>
        <p:spPr>
          <a:xfrm>
            <a:off x="10236009" y="1970310"/>
            <a:ext cx="1876303" cy="4762903"/>
          </a:xfrm>
          <a:prstGeom prst="rect">
            <a:avLst/>
          </a:prstGeom>
        </p:spPr>
        <p:txBody>
          <a:bodyPr wrap="square" lIns="0" tIns="0" rIns="0" bIns="0" anchor="t">
            <a:noAutofit/>
          </a:bodyPr>
          <a:lstStyle/>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Scope: </a:t>
            </a:r>
            <a:r>
              <a:rPr kumimoji="0" lang="en-CA" sz="900" b="0" i="0" u="none" strike="noStrike" kern="1200" cap="none" spc="0" normalizeH="0" baseline="0" noProof="0" dirty="0">
                <a:ln>
                  <a:noFill/>
                </a:ln>
                <a:solidFill>
                  <a:prstClr val="white"/>
                </a:solidFill>
                <a:effectLst/>
                <a:uLnTx/>
                <a:uFillTx/>
                <a:latin typeface="Arial"/>
                <a:cs typeface="Calibri"/>
              </a:rPr>
              <a:t>The requirement of conducting ORT and the </a:t>
            </a:r>
            <a:r>
              <a:rPr lang="en-CA" sz="900" dirty="0">
                <a:solidFill>
                  <a:prstClr val="white"/>
                </a:solidFill>
                <a:latin typeface="Arial"/>
                <a:cs typeface="Calibri"/>
              </a:rPr>
              <a:t>high-level</a:t>
            </a:r>
            <a:r>
              <a:rPr kumimoji="0" lang="en-CA" sz="900" b="0" i="0" u="none" strike="noStrike" kern="1200" cap="none" spc="0" normalizeH="0" baseline="0" noProof="0" dirty="0">
                <a:ln>
                  <a:noFill/>
                </a:ln>
                <a:solidFill>
                  <a:prstClr val="white"/>
                </a:solidFill>
                <a:effectLst/>
                <a:uLnTx/>
                <a:uFillTx/>
                <a:latin typeface="Arial"/>
                <a:cs typeface="Calibri"/>
              </a:rPr>
              <a:t> ORT scope are determined by the Business team m in PRE-PI </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1" i="0" u="sng"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Purpose</a:t>
            </a:r>
            <a:r>
              <a:rPr kumimoji="0" lang="en-CA" sz="900" b="1" i="0" u="none"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 the testing phase which ensures that all processes, operations and procedural steps from a complete end-to-end perspective are working in a production environment, by executing end-to-end tasks or steps from start to finish.</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Pre-requisite</a:t>
            </a:r>
            <a:r>
              <a:rPr kumimoji="0" lang="en-CA" sz="900" b="1" i="0" u="none"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DVT testing is complete</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Environment</a:t>
            </a:r>
            <a:r>
              <a:rPr kumimoji="0" lang="en-CA" sz="900" b="1" i="0" u="none" strike="noStrike" kern="1200" cap="none" spc="0" normalizeH="0" baseline="0" noProof="0" dirty="0">
                <a:ln>
                  <a:noFill/>
                </a:ln>
                <a:solidFill>
                  <a:prstClr val="white"/>
                </a:solidFill>
                <a:effectLst/>
                <a:uLnTx/>
                <a:uFillTx/>
                <a:latin typeface="Arial"/>
                <a:cs typeface="Calibri"/>
              </a:rPr>
              <a:t>: </a:t>
            </a:r>
            <a:r>
              <a:rPr kumimoji="0" lang="en-CA" sz="900" b="0" i="0" u="none" strike="noStrike" kern="1200" cap="none" spc="0" normalizeH="0" baseline="0" noProof="0" dirty="0">
                <a:ln>
                  <a:noFill/>
                </a:ln>
                <a:solidFill>
                  <a:prstClr val="white"/>
                </a:solidFill>
                <a:effectLst/>
                <a:uLnTx/>
                <a:uFillTx/>
                <a:latin typeface="Arial"/>
                <a:cs typeface="Calibri"/>
              </a:rPr>
              <a:t>Production environment</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Led by</a:t>
            </a:r>
            <a:r>
              <a:rPr kumimoji="0" lang="en-CA" sz="900" b="1" i="0" u="none" strike="noStrike" kern="1200" cap="none" spc="0" normalizeH="0" baseline="0" noProof="0" dirty="0">
                <a:ln>
                  <a:noFill/>
                </a:ln>
                <a:solidFill>
                  <a:prstClr val="white"/>
                </a:solidFill>
                <a:effectLst/>
                <a:uLnTx/>
                <a:uFillTx/>
                <a:latin typeface="Arial"/>
                <a:cs typeface="Calibri"/>
              </a:rPr>
              <a:t>:</a:t>
            </a:r>
            <a:r>
              <a:rPr kumimoji="0" lang="en-CA" sz="900" b="0" i="0" u="none" strike="noStrike" kern="1200" cap="none" spc="0" normalizeH="0" baseline="0" noProof="0" dirty="0">
                <a:ln>
                  <a:noFill/>
                </a:ln>
                <a:solidFill>
                  <a:prstClr val="white"/>
                </a:solidFill>
                <a:effectLst/>
                <a:uLnTx/>
                <a:uFillTx/>
                <a:latin typeface="Arial"/>
                <a:cs typeface="Calibri"/>
              </a:rPr>
              <a:t> Miipe</a:t>
            </a:r>
            <a:endParaRPr lang="en-CA" sz="900" b="0" i="0" u="none" strike="noStrike" kern="1200" cap="none" spc="0" normalizeH="0" baseline="0" noProof="0" dirty="0">
              <a:ln>
                <a:noFill/>
              </a:ln>
              <a:solidFill>
                <a:prstClr val="white"/>
              </a:solidFill>
              <a:effectLst/>
              <a:uLnTx/>
              <a:uFillTx/>
              <a:latin typeface="Arial"/>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00" b="1"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Executed by</a:t>
            </a:r>
            <a:r>
              <a:rPr kumimoji="0" lang="en-CA" sz="900" b="1" i="0" u="none" strike="noStrike" kern="1200" cap="none" spc="0" normalizeH="0" baseline="0" noProof="0" dirty="0">
                <a:ln>
                  <a:noFill/>
                </a:ln>
                <a:solidFill>
                  <a:prstClr val="white"/>
                </a:solidFill>
                <a:effectLst/>
                <a:uLnTx/>
                <a:uFillTx/>
                <a:latin typeface="Arial"/>
                <a:cs typeface="Calibri"/>
              </a:rPr>
              <a:t>:</a:t>
            </a:r>
            <a:r>
              <a:rPr kumimoji="0" lang="en-CA" sz="900" b="0" i="0" u="none" strike="noStrike" kern="1200" cap="none" spc="0" normalizeH="0" baseline="0" noProof="0" dirty="0">
                <a:ln>
                  <a:noFill/>
                </a:ln>
                <a:solidFill>
                  <a:prstClr val="white"/>
                </a:solidFill>
                <a:effectLst/>
                <a:uLnTx/>
                <a:uFillTx/>
                <a:latin typeface="Arial"/>
                <a:cs typeface="Calibri"/>
              </a:rPr>
              <a:t> Business end-users or their representatives (i.e. Business BAs)</a:t>
            </a:r>
            <a:endParaRPr lang="en-CA" sz="900" b="0" i="0" u="none" strike="noStrike" kern="1200" cap="none" spc="0" normalizeH="0" baseline="0" noProof="0" dirty="0">
              <a:ln>
                <a:noFill/>
              </a:ln>
              <a:solidFill>
                <a:prstClr val="white"/>
              </a:solidFill>
              <a:effectLst/>
              <a:uLnTx/>
              <a:uFillTx/>
              <a:latin typeface="Arial"/>
              <a:cs typeface="Calibri"/>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0" i="1" u="sng" strike="noStrike" kern="1200" cap="none" spc="0" normalizeH="0" baseline="0" noProof="0" dirty="0">
                <a:ln>
                  <a:noFill/>
                </a:ln>
                <a:solidFill>
                  <a:prstClr val="white"/>
                </a:solidFill>
                <a:effectLst/>
                <a:uLnTx/>
                <a:uFillTx/>
                <a:latin typeface="Arial"/>
                <a:cs typeface="Calibri"/>
              </a:rPr>
              <a:t>NOTE</a:t>
            </a:r>
            <a:r>
              <a:rPr kumimoji="0" lang="en-CA" sz="900" b="0" i="0" u="none" strike="noStrike" kern="1200" cap="none" spc="0" normalizeH="0" baseline="0" noProof="0" dirty="0">
                <a:ln>
                  <a:noFill/>
                </a:ln>
                <a:solidFill>
                  <a:prstClr val="white"/>
                </a:solidFill>
                <a:effectLst/>
                <a:uLnTx/>
                <a:uFillTx/>
                <a:latin typeface="Arial"/>
                <a:cs typeface="Calibri"/>
              </a:rPr>
              <a:t>: a live customer is often used</a:t>
            </a:r>
            <a:endParaRPr lang="en-CA" sz="900" b="0" i="0" u="none" strike="noStrike" kern="1200" cap="none" spc="0" normalizeH="0" baseline="0" noProof="0" dirty="0">
              <a:ln>
                <a:noFill/>
              </a:ln>
              <a:solidFill>
                <a:prstClr val="white"/>
              </a:solidFill>
              <a:effectLst/>
              <a:uLnTx/>
              <a:uFillTx/>
              <a:latin typeface="Arial"/>
              <a:cs typeface="Calibri"/>
            </a:endParaRPr>
          </a:p>
          <a:p>
            <a:pPr marL="742315" marR="0" lvl="1"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900" b="0" i="0" u="none" strike="noStrike" kern="1200" cap="none" spc="0" normalizeH="0" baseline="0" noProof="0" dirty="0">
              <a:ln>
                <a:noFill/>
              </a:ln>
              <a:solidFill>
                <a:prstClr val="white"/>
              </a:solidFill>
              <a:effectLst/>
              <a:uLnTx/>
              <a:uFillTx/>
              <a:latin typeface="Arial"/>
              <a:cs typeface="Calibri" panose="020F0502020204030204" pitchFamily="34" charset="0"/>
            </a:endParaRPr>
          </a:p>
          <a:p>
            <a:pPr marL="285115" marR="0" lvl="0" indent="-28511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900" b="1" i="0" u="sng" strike="noStrike" kern="1200" cap="none" spc="0" normalizeH="0" baseline="0" noProof="0" dirty="0">
                <a:ln>
                  <a:noFill/>
                </a:ln>
                <a:solidFill>
                  <a:prstClr val="white"/>
                </a:solidFill>
                <a:effectLst/>
                <a:uLnTx/>
                <a:uFillTx/>
                <a:latin typeface="Arial"/>
                <a:cs typeface="Calibri"/>
              </a:rPr>
              <a:t>Source documentation</a:t>
            </a:r>
            <a:r>
              <a:rPr kumimoji="0" lang="en-CA" sz="900" b="1" i="0" u="none" strike="noStrike" kern="1200" cap="none" spc="0" normalizeH="0" baseline="0" noProof="0" dirty="0">
                <a:ln>
                  <a:noFill/>
                </a:ln>
                <a:solidFill>
                  <a:prstClr val="white"/>
                </a:solidFill>
                <a:effectLst/>
                <a:uLnTx/>
                <a:uFillTx/>
                <a:latin typeface="Arial"/>
                <a:cs typeface="Calibri"/>
              </a:rPr>
              <a:t>:</a:t>
            </a:r>
            <a:r>
              <a:rPr kumimoji="0" lang="en-CA" sz="900" b="0" i="0" u="none" strike="noStrike" kern="1200" cap="none" spc="0" normalizeH="0" baseline="0" noProof="0" dirty="0">
                <a:ln>
                  <a:noFill/>
                </a:ln>
                <a:solidFill>
                  <a:prstClr val="white"/>
                </a:solidFill>
                <a:effectLst/>
                <a:uLnTx/>
                <a:uFillTx/>
                <a:latin typeface="Arial"/>
                <a:cs typeface="Calibri"/>
              </a:rPr>
              <a:t> Business Proce</a:t>
            </a:r>
            <a:r>
              <a:rPr kumimoji="0" lang="en-CA" sz="1000" b="0" i="0" u="none" strike="noStrike" kern="1200" cap="none" spc="0" normalizeH="0" baseline="0" noProof="0" dirty="0">
                <a:ln>
                  <a:noFill/>
                </a:ln>
                <a:solidFill>
                  <a:prstClr val="white"/>
                </a:solidFill>
                <a:effectLst/>
                <a:uLnTx/>
                <a:uFillTx/>
                <a:latin typeface="Calibri"/>
                <a:ea typeface="Calibri"/>
                <a:cs typeface="Calibri"/>
              </a:rPr>
              <a:t>ss Documentation</a:t>
            </a:r>
            <a:endParaRPr lang="en-CA" sz="1000" b="1" i="0" u="none" strike="noStrike" kern="1200" cap="none" spc="0" normalizeH="0" baseline="0" noProof="0" dirty="0">
              <a:ln>
                <a:noFill/>
              </a:ln>
              <a:solidFill>
                <a:prstClr val="white"/>
              </a:solidFill>
              <a:effectLst/>
              <a:uLnTx/>
              <a:uFillTx/>
              <a:latin typeface="Calibri"/>
              <a:ea typeface="Calibri"/>
              <a:cs typeface="Calibri"/>
            </a:endParaRPr>
          </a:p>
        </p:txBody>
      </p:sp>
      <p:sp>
        <p:nvSpPr>
          <p:cNvPr id="122" name="Oval 121">
            <a:extLst>
              <a:ext uri="{FF2B5EF4-FFF2-40B4-BE49-F238E27FC236}">
                <a16:creationId xmlns:a16="http://schemas.microsoft.com/office/drawing/2014/main" id="{AA3475C9-DA2C-370A-F26A-9C00A6162C0F}"/>
              </a:ext>
            </a:extLst>
          </p:cNvPr>
          <p:cNvSpPr/>
          <p:nvPr/>
        </p:nvSpPr>
        <p:spPr>
          <a:xfrm>
            <a:off x="10718354" y="1171131"/>
            <a:ext cx="750914" cy="750913"/>
          </a:xfrm>
          <a:prstGeom prst="ellipse">
            <a:avLst/>
          </a:prstGeom>
          <a:solidFill>
            <a:sysClr val="window" lastClr="FFFFFF">
              <a:lumMod val="50000"/>
            </a:sys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123" name="Graphic 76">
            <a:extLst>
              <a:ext uri="{FF2B5EF4-FFF2-40B4-BE49-F238E27FC236}">
                <a16:creationId xmlns:a16="http://schemas.microsoft.com/office/drawing/2014/main" id="{8A901311-F961-2B4E-DF77-DFA7D8BB7BEE}"/>
              </a:ext>
            </a:extLst>
          </p:cNvPr>
          <p:cNvGrpSpPr/>
          <p:nvPr/>
        </p:nvGrpSpPr>
        <p:grpSpPr>
          <a:xfrm>
            <a:off x="8905966" y="1417287"/>
            <a:ext cx="337669" cy="301798"/>
            <a:chOff x="-1558737" y="2082116"/>
            <a:chExt cx="488633" cy="436725"/>
          </a:xfrm>
          <a:solidFill>
            <a:sysClr val="window" lastClr="FFFFFF"/>
          </a:solidFill>
        </p:grpSpPr>
        <p:sp>
          <p:nvSpPr>
            <p:cNvPr id="124" name="Freeform: Shape 123">
              <a:extLst>
                <a:ext uri="{FF2B5EF4-FFF2-40B4-BE49-F238E27FC236}">
                  <a16:creationId xmlns:a16="http://schemas.microsoft.com/office/drawing/2014/main" id="{D0675FD6-30A3-B39B-BD3F-A6419011326E}"/>
                </a:ext>
              </a:extLst>
            </p:cNvPr>
            <p:cNvSpPr/>
            <p:nvPr/>
          </p:nvSpPr>
          <p:spPr>
            <a:xfrm>
              <a:off x="-1503562" y="2280608"/>
              <a:ext cx="433458" cy="184513"/>
            </a:xfrm>
            <a:custGeom>
              <a:avLst/>
              <a:gdLst>
                <a:gd name="connsiteX0" fmla="*/ 0 w 433458"/>
                <a:gd name="connsiteY0" fmla="*/ 99439 h 184513"/>
                <a:gd name="connsiteX1" fmla="*/ 112318 w 433458"/>
                <a:gd name="connsiteY1" fmla="*/ 38571 h 184513"/>
                <a:gd name="connsiteX2" fmla="*/ 177355 w 433458"/>
                <a:gd name="connsiteY2" fmla="*/ 59972 h 184513"/>
                <a:gd name="connsiteX3" fmla="*/ 205211 w 433458"/>
                <a:gd name="connsiteY3" fmla="*/ 67708 h 184513"/>
                <a:gd name="connsiteX4" fmla="*/ 269940 w 433458"/>
                <a:gd name="connsiteY4" fmla="*/ 67662 h 184513"/>
                <a:gd name="connsiteX5" fmla="*/ 279714 w 433458"/>
                <a:gd name="connsiteY5" fmla="*/ 68387 h 184513"/>
                <a:gd name="connsiteX6" fmla="*/ 293240 w 433458"/>
                <a:gd name="connsiteY6" fmla="*/ 84693 h 184513"/>
                <a:gd name="connsiteX7" fmla="*/ 278401 w 433458"/>
                <a:gd name="connsiteY7" fmla="*/ 99223 h 184513"/>
                <a:gd name="connsiteX8" fmla="*/ 254128 w 433458"/>
                <a:gd name="connsiteY8" fmla="*/ 99331 h 184513"/>
                <a:gd name="connsiteX9" fmla="*/ 191129 w 433458"/>
                <a:gd name="connsiteY9" fmla="*/ 99501 h 184513"/>
                <a:gd name="connsiteX10" fmla="*/ 182991 w 433458"/>
                <a:gd name="connsiteY10" fmla="*/ 103377 h 184513"/>
                <a:gd name="connsiteX11" fmla="*/ 190156 w 433458"/>
                <a:gd name="connsiteY11" fmla="*/ 113614 h 184513"/>
                <a:gd name="connsiteX12" fmla="*/ 244493 w 433458"/>
                <a:gd name="connsiteY12" fmla="*/ 113660 h 184513"/>
                <a:gd name="connsiteX13" fmla="*/ 271654 w 433458"/>
                <a:gd name="connsiteY13" fmla="*/ 113630 h 184513"/>
                <a:gd name="connsiteX14" fmla="*/ 307261 w 433458"/>
                <a:gd name="connsiteY14" fmla="*/ 84570 h 184513"/>
                <a:gd name="connsiteX15" fmla="*/ 310905 w 433458"/>
                <a:gd name="connsiteY15" fmla="*/ 77776 h 184513"/>
                <a:gd name="connsiteX16" fmla="*/ 383369 w 433458"/>
                <a:gd name="connsiteY16" fmla="*/ 8893 h 184513"/>
                <a:gd name="connsiteX17" fmla="*/ 424859 w 433458"/>
                <a:gd name="connsiteY17" fmla="*/ 8492 h 184513"/>
                <a:gd name="connsiteX18" fmla="*/ 424952 w 433458"/>
                <a:gd name="connsiteY18" fmla="*/ 49518 h 184513"/>
                <a:gd name="connsiteX19" fmla="*/ 326238 w 433458"/>
                <a:gd name="connsiteY19" fmla="*/ 155011 h 184513"/>
                <a:gd name="connsiteX20" fmla="*/ 258343 w 433458"/>
                <a:gd name="connsiteY20" fmla="*/ 184427 h 184513"/>
                <a:gd name="connsiteX21" fmla="*/ 105184 w 433458"/>
                <a:gd name="connsiteY21" fmla="*/ 184396 h 184513"/>
                <a:gd name="connsiteX22" fmla="*/ 98992 w 433458"/>
                <a:gd name="connsiteY22" fmla="*/ 182373 h 184513"/>
                <a:gd name="connsiteX23" fmla="*/ 5049 w 433458"/>
                <a:gd name="connsiteY23" fmla="*/ 103778 h 184513"/>
                <a:gd name="connsiteX24" fmla="*/ 0 w 433458"/>
                <a:gd name="connsiteY24" fmla="*/ 99439 h 184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3458" h="184513">
                  <a:moveTo>
                    <a:pt x="0" y="99439"/>
                  </a:moveTo>
                  <a:cubicBezTo>
                    <a:pt x="28674" y="61933"/>
                    <a:pt x="63354" y="36826"/>
                    <a:pt x="112318" y="38571"/>
                  </a:cubicBezTo>
                  <a:cubicBezTo>
                    <a:pt x="135896" y="39405"/>
                    <a:pt x="157436" y="47712"/>
                    <a:pt x="177355" y="59972"/>
                  </a:cubicBezTo>
                  <a:cubicBezTo>
                    <a:pt x="186049" y="65330"/>
                    <a:pt x="195066" y="67816"/>
                    <a:pt x="205211" y="67708"/>
                  </a:cubicBezTo>
                  <a:cubicBezTo>
                    <a:pt x="226782" y="67476"/>
                    <a:pt x="248369" y="67600"/>
                    <a:pt x="269940" y="67662"/>
                  </a:cubicBezTo>
                  <a:cubicBezTo>
                    <a:pt x="273198" y="67677"/>
                    <a:pt x="276487" y="67909"/>
                    <a:pt x="279714" y="68387"/>
                  </a:cubicBezTo>
                  <a:cubicBezTo>
                    <a:pt x="288793" y="69715"/>
                    <a:pt x="293611" y="75629"/>
                    <a:pt x="293240" y="84693"/>
                  </a:cubicBezTo>
                  <a:cubicBezTo>
                    <a:pt x="292900" y="93124"/>
                    <a:pt x="287326" y="98852"/>
                    <a:pt x="278401" y="99223"/>
                  </a:cubicBezTo>
                  <a:cubicBezTo>
                    <a:pt x="270326" y="99563"/>
                    <a:pt x="262219" y="99316"/>
                    <a:pt x="254128" y="99331"/>
                  </a:cubicBezTo>
                  <a:cubicBezTo>
                    <a:pt x="233128" y="99331"/>
                    <a:pt x="212129" y="99192"/>
                    <a:pt x="191129" y="99501"/>
                  </a:cubicBezTo>
                  <a:cubicBezTo>
                    <a:pt x="188334" y="99547"/>
                    <a:pt x="184536" y="101200"/>
                    <a:pt x="182991" y="103377"/>
                  </a:cubicBezTo>
                  <a:cubicBezTo>
                    <a:pt x="179718" y="107963"/>
                    <a:pt x="183779" y="113568"/>
                    <a:pt x="190156" y="113614"/>
                  </a:cubicBezTo>
                  <a:cubicBezTo>
                    <a:pt x="208268" y="113722"/>
                    <a:pt x="226381" y="113660"/>
                    <a:pt x="244493" y="113660"/>
                  </a:cubicBezTo>
                  <a:cubicBezTo>
                    <a:pt x="253541" y="113660"/>
                    <a:pt x="262605" y="113738"/>
                    <a:pt x="271654" y="113630"/>
                  </a:cubicBezTo>
                  <a:cubicBezTo>
                    <a:pt x="288994" y="113413"/>
                    <a:pt x="303539" y="101354"/>
                    <a:pt x="307261" y="84570"/>
                  </a:cubicBezTo>
                  <a:cubicBezTo>
                    <a:pt x="307801" y="82130"/>
                    <a:pt x="309129" y="79474"/>
                    <a:pt x="310905" y="77776"/>
                  </a:cubicBezTo>
                  <a:cubicBezTo>
                    <a:pt x="334977" y="54722"/>
                    <a:pt x="359158" y="31808"/>
                    <a:pt x="383369" y="8893"/>
                  </a:cubicBezTo>
                  <a:cubicBezTo>
                    <a:pt x="395768" y="-2842"/>
                    <a:pt x="413340" y="-2950"/>
                    <a:pt x="424859" y="8492"/>
                  </a:cubicBezTo>
                  <a:cubicBezTo>
                    <a:pt x="436224" y="19794"/>
                    <a:pt x="436394" y="37227"/>
                    <a:pt x="424952" y="49518"/>
                  </a:cubicBezTo>
                  <a:cubicBezTo>
                    <a:pt x="392124" y="84755"/>
                    <a:pt x="359220" y="119914"/>
                    <a:pt x="326238" y="155011"/>
                  </a:cubicBezTo>
                  <a:cubicBezTo>
                    <a:pt x="307878" y="174529"/>
                    <a:pt x="285103" y="184349"/>
                    <a:pt x="258343" y="184427"/>
                  </a:cubicBezTo>
                  <a:cubicBezTo>
                    <a:pt x="207296" y="184581"/>
                    <a:pt x="156232" y="184504"/>
                    <a:pt x="105184" y="184396"/>
                  </a:cubicBezTo>
                  <a:cubicBezTo>
                    <a:pt x="103100" y="184396"/>
                    <a:pt x="100552" y="183670"/>
                    <a:pt x="98992" y="182373"/>
                  </a:cubicBezTo>
                  <a:cubicBezTo>
                    <a:pt x="67616" y="156262"/>
                    <a:pt x="36333" y="130012"/>
                    <a:pt x="5049" y="103778"/>
                  </a:cubicBezTo>
                  <a:cubicBezTo>
                    <a:pt x="3567" y="102558"/>
                    <a:pt x="2146" y="101292"/>
                    <a:pt x="0" y="99439"/>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25" name="Freeform: Shape 124">
              <a:extLst>
                <a:ext uri="{FF2B5EF4-FFF2-40B4-BE49-F238E27FC236}">
                  <a16:creationId xmlns:a16="http://schemas.microsoft.com/office/drawing/2014/main" id="{209E7D2B-BE44-27F6-6F86-1800EDE29983}"/>
                </a:ext>
              </a:extLst>
            </p:cNvPr>
            <p:cNvSpPr/>
            <p:nvPr/>
          </p:nvSpPr>
          <p:spPr>
            <a:xfrm>
              <a:off x="-1403414" y="2082116"/>
              <a:ext cx="264266" cy="221921"/>
            </a:xfrm>
            <a:custGeom>
              <a:avLst/>
              <a:gdLst>
                <a:gd name="connsiteX0" fmla="*/ 221890 w 264266"/>
                <a:gd name="connsiteY0" fmla="*/ 123586 h 221921"/>
                <a:gd name="connsiteX1" fmla="*/ 221890 w 264266"/>
                <a:gd name="connsiteY1" fmla="*/ 168427 h 221921"/>
                <a:gd name="connsiteX2" fmla="*/ 210679 w 264266"/>
                <a:gd name="connsiteY2" fmla="*/ 179807 h 221921"/>
                <a:gd name="connsiteX3" fmla="*/ 172540 w 264266"/>
                <a:gd name="connsiteY3" fmla="*/ 179822 h 221921"/>
                <a:gd name="connsiteX4" fmla="*/ 165854 w 264266"/>
                <a:gd name="connsiteY4" fmla="*/ 179822 h 221921"/>
                <a:gd name="connsiteX5" fmla="*/ 156126 w 264266"/>
                <a:gd name="connsiteY5" fmla="*/ 212078 h 221921"/>
                <a:gd name="connsiteX6" fmla="*/ 131097 w 264266"/>
                <a:gd name="connsiteY6" fmla="*/ 221914 h 221921"/>
                <a:gd name="connsiteX7" fmla="*/ 98130 w 264266"/>
                <a:gd name="connsiteY7" fmla="*/ 179822 h 221921"/>
                <a:gd name="connsiteX8" fmla="*/ 92015 w 264266"/>
                <a:gd name="connsiteY8" fmla="*/ 179822 h 221921"/>
                <a:gd name="connsiteX9" fmla="*/ 53305 w 264266"/>
                <a:gd name="connsiteY9" fmla="*/ 179807 h 221921"/>
                <a:gd name="connsiteX10" fmla="*/ 42187 w 264266"/>
                <a:gd name="connsiteY10" fmla="*/ 168905 h 221921"/>
                <a:gd name="connsiteX11" fmla="*/ 42172 w 264266"/>
                <a:gd name="connsiteY11" fmla="*/ 130195 h 221921"/>
                <a:gd name="connsiteX12" fmla="*/ 42172 w 264266"/>
                <a:gd name="connsiteY12" fmla="*/ 124034 h 221921"/>
                <a:gd name="connsiteX13" fmla="*/ 110 w 264266"/>
                <a:gd name="connsiteY13" fmla="*/ 86605 h 221921"/>
                <a:gd name="connsiteX14" fmla="*/ 41863 w 264266"/>
                <a:gd name="connsiteY14" fmla="*/ 56109 h 221921"/>
                <a:gd name="connsiteX15" fmla="*/ 42172 w 264266"/>
                <a:gd name="connsiteY15" fmla="*/ 49932 h 221921"/>
                <a:gd name="connsiteX16" fmla="*/ 42203 w 264266"/>
                <a:gd name="connsiteY16" fmla="*/ 10650 h 221921"/>
                <a:gd name="connsiteX17" fmla="*/ 52950 w 264266"/>
                <a:gd name="connsiteY17" fmla="*/ 42 h 221921"/>
                <a:gd name="connsiteX18" fmla="*/ 106097 w 264266"/>
                <a:gd name="connsiteY18" fmla="*/ 42 h 221921"/>
                <a:gd name="connsiteX19" fmla="*/ 114667 w 264266"/>
                <a:gd name="connsiteY19" fmla="*/ 12874 h 221921"/>
                <a:gd name="connsiteX20" fmla="*/ 120272 w 264266"/>
                <a:gd name="connsiteY20" fmla="*/ 36777 h 221921"/>
                <a:gd name="connsiteX21" fmla="*/ 143912 w 264266"/>
                <a:gd name="connsiteY21" fmla="*/ 36761 h 221921"/>
                <a:gd name="connsiteX22" fmla="*/ 149363 w 264266"/>
                <a:gd name="connsiteY22" fmla="*/ 12920 h 221921"/>
                <a:gd name="connsiteX23" fmla="*/ 157501 w 264266"/>
                <a:gd name="connsiteY23" fmla="*/ 58 h 221921"/>
                <a:gd name="connsiteX24" fmla="*/ 212394 w 264266"/>
                <a:gd name="connsiteY24" fmla="*/ 58 h 221921"/>
                <a:gd name="connsiteX25" fmla="*/ 221859 w 264266"/>
                <a:gd name="connsiteY25" fmla="*/ 9600 h 221921"/>
                <a:gd name="connsiteX26" fmla="*/ 221874 w 264266"/>
                <a:gd name="connsiteY26" fmla="*/ 56155 h 221921"/>
                <a:gd name="connsiteX27" fmla="*/ 254007 w 264266"/>
                <a:gd name="connsiteY27" fmla="*/ 65497 h 221921"/>
                <a:gd name="connsiteX28" fmla="*/ 264260 w 264266"/>
                <a:gd name="connsiteY28" fmla="*/ 90419 h 221921"/>
                <a:gd name="connsiteX29" fmla="*/ 221890 w 264266"/>
                <a:gd name="connsiteY29" fmla="*/ 123586 h 22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64266" h="221921">
                  <a:moveTo>
                    <a:pt x="221890" y="123586"/>
                  </a:moveTo>
                  <a:cubicBezTo>
                    <a:pt x="221890" y="138826"/>
                    <a:pt x="221905" y="153634"/>
                    <a:pt x="221890" y="168427"/>
                  </a:cubicBezTo>
                  <a:cubicBezTo>
                    <a:pt x="221874" y="177398"/>
                    <a:pt x="219573" y="179776"/>
                    <a:pt x="210679" y="179807"/>
                  </a:cubicBezTo>
                  <a:cubicBezTo>
                    <a:pt x="197971" y="179853"/>
                    <a:pt x="185264" y="179822"/>
                    <a:pt x="172540" y="179822"/>
                  </a:cubicBezTo>
                  <a:cubicBezTo>
                    <a:pt x="170471" y="179822"/>
                    <a:pt x="168402" y="179822"/>
                    <a:pt x="165854" y="179822"/>
                  </a:cubicBezTo>
                  <a:cubicBezTo>
                    <a:pt x="167676" y="192530"/>
                    <a:pt x="164974" y="203339"/>
                    <a:pt x="156126" y="212078"/>
                  </a:cubicBezTo>
                  <a:cubicBezTo>
                    <a:pt x="149224" y="218903"/>
                    <a:pt x="140855" y="222100"/>
                    <a:pt x="131097" y="221914"/>
                  </a:cubicBezTo>
                  <a:cubicBezTo>
                    <a:pt x="110081" y="221482"/>
                    <a:pt x="96957" y="205192"/>
                    <a:pt x="98130" y="179822"/>
                  </a:cubicBezTo>
                  <a:cubicBezTo>
                    <a:pt x="96061" y="179822"/>
                    <a:pt x="94038" y="179822"/>
                    <a:pt x="92015" y="179822"/>
                  </a:cubicBezTo>
                  <a:cubicBezTo>
                    <a:pt x="79107" y="179822"/>
                    <a:pt x="66213" y="179853"/>
                    <a:pt x="53305" y="179807"/>
                  </a:cubicBezTo>
                  <a:cubicBezTo>
                    <a:pt x="44596" y="179776"/>
                    <a:pt x="42233" y="177475"/>
                    <a:pt x="42187" y="168905"/>
                  </a:cubicBezTo>
                  <a:cubicBezTo>
                    <a:pt x="42125" y="155997"/>
                    <a:pt x="42172" y="143103"/>
                    <a:pt x="42172" y="130195"/>
                  </a:cubicBezTo>
                  <a:cubicBezTo>
                    <a:pt x="42172" y="128141"/>
                    <a:pt x="42172" y="126072"/>
                    <a:pt x="42172" y="124034"/>
                  </a:cubicBezTo>
                  <a:cubicBezTo>
                    <a:pt x="13868" y="123941"/>
                    <a:pt x="-1465" y="110199"/>
                    <a:pt x="110" y="86605"/>
                  </a:cubicBezTo>
                  <a:cubicBezTo>
                    <a:pt x="1284" y="69002"/>
                    <a:pt x="18146" y="52171"/>
                    <a:pt x="41863" y="56109"/>
                  </a:cubicBezTo>
                  <a:cubicBezTo>
                    <a:pt x="41971" y="53993"/>
                    <a:pt x="42156" y="51971"/>
                    <a:pt x="42172" y="49932"/>
                  </a:cubicBezTo>
                  <a:cubicBezTo>
                    <a:pt x="42203" y="36838"/>
                    <a:pt x="42141" y="23744"/>
                    <a:pt x="42203" y="10650"/>
                  </a:cubicBezTo>
                  <a:cubicBezTo>
                    <a:pt x="42249" y="2420"/>
                    <a:pt x="44689" y="58"/>
                    <a:pt x="52950" y="42"/>
                  </a:cubicBezTo>
                  <a:cubicBezTo>
                    <a:pt x="70660" y="12"/>
                    <a:pt x="88387" y="-4"/>
                    <a:pt x="106097" y="42"/>
                  </a:cubicBezTo>
                  <a:cubicBezTo>
                    <a:pt x="115347" y="73"/>
                    <a:pt x="118250" y="4474"/>
                    <a:pt x="114667" y="12874"/>
                  </a:cubicBezTo>
                  <a:cubicBezTo>
                    <a:pt x="110838" y="21861"/>
                    <a:pt x="113046" y="31249"/>
                    <a:pt x="120272" y="36777"/>
                  </a:cubicBezTo>
                  <a:cubicBezTo>
                    <a:pt x="127128" y="42011"/>
                    <a:pt x="137088" y="42011"/>
                    <a:pt x="143912" y="36761"/>
                  </a:cubicBezTo>
                  <a:cubicBezTo>
                    <a:pt x="151124" y="31218"/>
                    <a:pt x="153239" y="22015"/>
                    <a:pt x="149363" y="12920"/>
                  </a:cubicBezTo>
                  <a:cubicBezTo>
                    <a:pt x="145889" y="4752"/>
                    <a:pt x="148761" y="89"/>
                    <a:pt x="157501" y="58"/>
                  </a:cubicBezTo>
                  <a:cubicBezTo>
                    <a:pt x="175798" y="-19"/>
                    <a:pt x="194096" y="-19"/>
                    <a:pt x="212394" y="58"/>
                  </a:cubicBezTo>
                  <a:cubicBezTo>
                    <a:pt x="219064" y="89"/>
                    <a:pt x="221843" y="2914"/>
                    <a:pt x="221859" y="9600"/>
                  </a:cubicBezTo>
                  <a:cubicBezTo>
                    <a:pt x="221921" y="24980"/>
                    <a:pt x="221874" y="40359"/>
                    <a:pt x="221874" y="56155"/>
                  </a:cubicBezTo>
                  <a:cubicBezTo>
                    <a:pt x="234412" y="54055"/>
                    <a:pt x="245144" y="56865"/>
                    <a:pt x="254007" y="65497"/>
                  </a:cubicBezTo>
                  <a:cubicBezTo>
                    <a:pt x="260986" y="72291"/>
                    <a:pt x="264445" y="80799"/>
                    <a:pt x="264260" y="90419"/>
                  </a:cubicBezTo>
                  <a:cubicBezTo>
                    <a:pt x="263905" y="109627"/>
                    <a:pt x="247275" y="127523"/>
                    <a:pt x="221890" y="123586"/>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26" name="Freeform: Shape 125">
              <a:extLst>
                <a:ext uri="{FF2B5EF4-FFF2-40B4-BE49-F238E27FC236}">
                  <a16:creationId xmlns:a16="http://schemas.microsoft.com/office/drawing/2014/main" id="{AA5106B4-5E77-0C16-78FB-FFE675812130}"/>
                </a:ext>
              </a:extLst>
            </p:cNvPr>
            <p:cNvSpPr/>
            <p:nvPr/>
          </p:nvSpPr>
          <p:spPr>
            <a:xfrm>
              <a:off x="-1558737" y="2383367"/>
              <a:ext cx="147323" cy="135475"/>
            </a:xfrm>
            <a:custGeom>
              <a:avLst/>
              <a:gdLst>
                <a:gd name="connsiteX0" fmla="*/ 32306 w 147323"/>
                <a:gd name="connsiteY0" fmla="*/ 0 h 135475"/>
                <a:gd name="connsiteX1" fmla="*/ 42513 w 147323"/>
                <a:gd name="connsiteY1" fmla="*/ 5404 h 135475"/>
                <a:gd name="connsiteX2" fmla="*/ 141459 w 147323"/>
                <a:gd name="connsiteY2" fmla="*/ 87952 h 135475"/>
                <a:gd name="connsiteX3" fmla="*/ 143235 w 147323"/>
                <a:gd name="connsiteY3" fmla="*/ 108751 h 135475"/>
                <a:gd name="connsiteX4" fmla="*/ 126188 w 147323"/>
                <a:gd name="connsiteY4" fmla="*/ 129149 h 135475"/>
                <a:gd name="connsiteX5" fmla="*/ 105065 w 147323"/>
                <a:gd name="connsiteY5" fmla="*/ 131233 h 135475"/>
                <a:gd name="connsiteX6" fmla="*/ 5655 w 147323"/>
                <a:gd name="connsiteY6" fmla="*/ 48315 h 135475"/>
                <a:gd name="connsiteX7" fmla="*/ 3524 w 147323"/>
                <a:gd name="connsiteY7" fmla="*/ 28365 h 135475"/>
                <a:gd name="connsiteX8" fmla="*/ 22162 w 147323"/>
                <a:gd name="connsiteY8" fmla="*/ 6300 h 135475"/>
                <a:gd name="connsiteX9" fmla="*/ 32306 w 147323"/>
                <a:gd name="connsiteY9" fmla="*/ 0 h 135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323" h="135475">
                  <a:moveTo>
                    <a:pt x="32306" y="0"/>
                  </a:moveTo>
                  <a:cubicBezTo>
                    <a:pt x="36275" y="2069"/>
                    <a:pt x="39842" y="3196"/>
                    <a:pt x="42513" y="5404"/>
                  </a:cubicBezTo>
                  <a:cubicBezTo>
                    <a:pt x="75572" y="32812"/>
                    <a:pt x="108554" y="60359"/>
                    <a:pt x="141459" y="87952"/>
                  </a:cubicBezTo>
                  <a:cubicBezTo>
                    <a:pt x="148670" y="93989"/>
                    <a:pt x="149195" y="101417"/>
                    <a:pt x="143235" y="108751"/>
                  </a:cubicBezTo>
                  <a:cubicBezTo>
                    <a:pt x="137645" y="115622"/>
                    <a:pt x="131947" y="122416"/>
                    <a:pt x="126188" y="129149"/>
                  </a:cubicBezTo>
                  <a:cubicBezTo>
                    <a:pt x="119687" y="136761"/>
                    <a:pt x="112692" y="137564"/>
                    <a:pt x="105065" y="131233"/>
                  </a:cubicBezTo>
                  <a:cubicBezTo>
                    <a:pt x="71866" y="103671"/>
                    <a:pt x="38745" y="76016"/>
                    <a:pt x="5655" y="48315"/>
                  </a:cubicBezTo>
                  <a:cubicBezTo>
                    <a:pt x="-1031" y="42725"/>
                    <a:pt x="-1849" y="35128"/>
                    <a:pt x="3524" y="28365"/>
                  </a:cubicBezTo>
                  <a:cubicBezTo>
                    <a:pt x="9516" y="20830"/>
                    <a:pt x="15599" y="13326"/>
                    <a:pt x="22162" y="6300"/>
                  </a:cubicBezTo>
                  <a:cubicBezTo>
                    <a:pt x="24709" y="3582"/>
                    <a:pt x="28678" y="2177"/>
                    <a:pt x="32306" y="0"/>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127" name="Graphic 76">
            <a:extLst>
              <a:ext uri="{FF2B5EF4-FFF2-40B4-BE49-F238E27FC236}">
                <a16:creationId xmlns:a16="http://schemas.microsoft.com/office/drawing/2014/main" id="{0FA92F11-8143-AD17-4D25-A6F9A500AD19}"/>
              </a:ext>
            </a:extLst>
          </p:cNvPr>
          <p:cNvGrpSpPr/>
          <p:nvPr/>
        </p:nvGrpSpPr>
        <p:grpSpPr>
          <a:xfrm>
            <a:off x="6867737" y="1371044"/>
            <a:ext cx="359569" cy="408558"/>
            <a:chOff x="-2223530" y="2057706"/>
            <a:chExt cx="520323" cy="591215"/>
          </a:xfrm>
          <a:solidFill>
            <a:sysClr val="window" lastClr="FFFFFF"/>
          </a:solidFill>
        </p:grpSpPr>
        <p:sp>
          <p:nvSpPr>
            <p:cNvPr id="128" name="Freeform: Shape 127">
              <a:extLst>
                <a:ext uri="{FF2B5EF4-FFF2-40B4-BE49-F238E27FC236}">
                  <a16:creationId xmlns:a16="http://schemas.microsoft.com/office/drawing/2014/main" id="{98AE2F06-E479-023F-45EF-2129AE019CD6}"/>
                </a:ext>
              </a:extLst>
            </p:cNvPr>
            <p:cNvSpPr/>
            <p:nvPr/>
          </p:nvSpPr>
          <p:spPr>
            <a:xfrm>
              <a:off x="-2223530" y="2057706"/>
              <a:ext cx="520323" cy="591215"/>
            </a:xfrm>
            <a:custGeom>
              <a:avLst/>
              <a:gdLst>
                <a:gd name="connsiteX0" fmla="*/ 264783 w 520323"/>
                <a:gd name="connsiteY0" fmla="*/ 591215 h 591215"/>
                <a:gd name="connsiteX1" fmla="*/ 255534 w 520323"/>
                <a:gd name="connsiteY1" fmla="*/ 591215 h 591215"/>
                <a:gd name="connsiteX2" fmla="*/ 233685 w 520323"/>
                <a:gd name="connsiteY2" fmla="*/ 584190 h 591215"/>
                <a:gd name="connsiteX3" fmla="*/ 94206 w 520323"/>
                <a:gd name="connsiteY3" fmla="*/ 513053 h 591215"/>
                <a:gd name="connsiteX4" fmla="*/ 0 w 520323"/>
                <a:gd name="connsiteY4" fmla="*/ 317477 h 591215"/>
                <a:gd name="connsiteX5" fmla="*/ 31 w 520323"/>
                <a:gd name="connsiteY5" fmla="*/ 93829 h 591215"/>
                <a:gd name="connsiteX6" fmla="*/ 14530 w 520323"/>
                <a:gd name="connsiteY6" fmla="*/ 74482 h 591215"/>
                <a:gd name="connsiteX7" fmla="*/ 251334 w 520323"/>
                <a:gd name="connsiteY7" fmla="*/ 1400 h 591215"/>
                <a:gd name="connsiteX8" fmla="*/ 268103 w 520323"/>
                <a:gd name="connsiteY8" fmla="*/ 998 h 591215"/>
                <a:gd name="connsiteX9" fmla="*/ 505307 w 520323"/>
                <a:gd name="connsiteY9" fmla="*/ 74327 h 591215"/>
                <a:gd name="connsiteX10" fmla="*/ 520301 w 520323"/>
                <a:gd name="connsiteY10" fmla="*/ 95049 h 591215"/>
                <a:gd name="connsiteX11" fmla="*/ 520208 w 520323"/>
                <a:gd name="connsiteY11" fmla="*/ 317554 h 591215"/>
                <a:gd name="connsiteX12" fmla="*/ 518031 w 520323"/>
                <a:gd name="connsiteY12" fmla="*/ 352667 h 591215"/>
                <a:gd name="connsiteX13" fmla="*/ 444748 w 520323"/>
                <a:gd name="connsiteY13" fmla="*/ 496732 h 591215"/>
                <a:gd name="connsiteX14" fmla="*/ 313314 w 520323"/>
                <a:gd name="connsiteY14" fmla="*/ 575002 h 591215"/>
                <a:gd name="connsiteX15" fmla="*/ 264783 w 520323"/>
                <a:gd name="connsiteY15" fmla="*/ 591215 h 591215"/>
                <a:gd name="connsiteX16" fmla="*/ 259595 w 520323"/>
                <a:gd name="connsiteY16" fmla="*/ 421225 h 591215"/>
                <a:gd name="connsiteX17" fmla="*/ 384466 w 520323"/>
                <a:gd name="connsiteY17" fmla="*/ 421225 h 591215"/>
                <a:gd name="connsiteX18" fmla="*/ 413125 w 520323"/>
                <a:gd name="connsiteY18" fmla="*/ 413752 h 591215"/>
                <a:gd name="connsiteX19" fmla="*/ 431561 w 520323"/>
                <a:gd name="connsiteY19" fmla="*/ 343696 h 591215"/>
                <a:gd name="connsiteX20" fmla="*/ 355530 w 520323"/>
                <a:gd name="connsiteY20" fmla="*/ 205746 h 591215"/>
                <a:gd name="connsiteX21" fmla="*/ 306180 w 520323"/>
                <a:gd name="connsiteY21" fmla="*/ 116342 h 591215"/>
                <a:gd name="connsiteX22" fmla="*/ 250994 w 520323"/>
                <a:gd name="connsiteY22" fmla="*/ 89444 h 591215"/>
                <a:gd name="connsiteX23" fmla="*/ 213827 w 520323"/>
                <a:gd name="connsiteY23" fmla="*/ 116821 h 591215"/>
                <a:gd name="connsiteX24" fmla="*/ 161158 w 520323"/>
                <a:gd name="connsiteY24" fmla="*/ 212324 h 591215"/>
                <a:gd name="connsiteX25" fmla="*/ 89466 w 520323"/>
                <a:gd name="connsiteY25" fmla="*/ 342152 h 591215"/>
                <a:gd name="connsiteX26" fmla="*/ 82594 w 520323"/>
                <a:gd name="connsiteY26" fmla="*/ 377095 h 591215"/>
                <a:gd name="connsiteX27" fmla="*/ 135881 w 520323"/>
                <a:gd name="connsiteY27" fmla="*/ 421210 h 591215"/>
                <a:gd name="connsiteX28" fmla="*/ 259595 w 520323"/>
                <a:gd name="connsiteY28" fmla="*/ 421225 h 591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0323" h="591215">
                  <a:moveTo>
                    <a:pt x="264783" y="591215"/>
                  </a:moveTo>
                  <a:cubicBezTo>
                    <a:pt x="261695" y="591215"/>
                    <a:pt x="258622" y="591215"/>
                    <a:pt x="255534" y="591215"/>
                  </a:cubicBezTo>
                  <a:cubicBezTo>
                    <a:pt x="248246" y="588868"/>
                    <a:pt x="240973" y="586506"/>
                    <a:pt x="233685" y="584190"/>
                  </a:cubicBezTo>
                  <a:cubicBezTo>
                    <a:pt x="183270" y="568162"/>
                    <a:pt x="135650" y="546591"/>
                    <a:pt x="94206" y="513053"/>
                  </a:cubicBezTo>
                  <a:cubicBezTo>
                    <a:pt x="32040" y="462746"/>
                    <a:pt x="-123" y="397894"/>
                    <a:pt x="0" y="317477"/>
                  </a:cubicBezTo>
                  <a:cubicBezTo>
                    <a:pt x="108" y="242928"/>
                    <a:pt x="16" y="168379"/>
                    <a:pt x="31" y="93829"/>
                  </a:cubicBezTo>
                  <a:cubicBezTo>
                    <a:pt x="31" y="83067"/>
                    <a:pt x="4123" y="77694"/>
                    <a:pt x="14530" y="74482"/>
                  </a:cubicBezTo>
                  <a:cubicBezTo>
                    <a:pt x="93449" y="50070"/>
                    <a:pt x="172337" y="25549"/>
                    <a:pt x="251334" y="1400"/>
                  </a:cubicBezTo>
                  <a:cubicBezTo>
                    <a:pt x="256522" y="-191"/>
                    <a:pt x="262992" y="-561"/>
                    <a:pt x="268103" y="998"/>
                  </a:cubicBezTo>
                  <a:cubicBezTo>
                    <a:pt x="347253" y="25194"/>
                    <a:pt x="426265" y="49792"/>
                    <a:pt x="505307" y="74327"/>
                  </a:cubicBezTo>
                  <a:cubicBezTo>
                    <a:pt x="516857" y="77910"/>
                    <a:pt x="520301" y="82805"/>
                    <a:pt x="520301" y="95049"/>
                  </a:cubicBezTo>
                  <a:cubicBezTo>
                    <a:pt x="520301" y="169212"/>
                    <a:pt x="520393" y="243376"/>
                    <a:pt x="520208" y="317554"/>
                  </a:cubicBezTo>
                  <a:cubicBezTo>
                    <a:pt x="520177" y="329259"/>
                    <a:pt x="519421" y="341040"/>
                    <a:pt x="518031" y="352667"/>
                  </a:cubicBezTo>
                  <a:cubicBezTo>
                    <a:pt x="511237" y="409598"/>
                    <a:pt x="485914" y="457280"/>
                    <a:pt x="444748" y="496732"/>
                  </a:cubicBezTo>
                  <a:cubicBezTo>
                    <a:pt x="406995" y="532910"/>
                    <a:pt x="361984" y="557106"/>
                    <a:pt x="313314" y="575002"/>
                  </a:cubicBezTo>
                  <a:cubicBezTo>
                    <a:pt x="297302" y="580854"/>
                    <a:pt x="280965" y="585826"/>
                    <a:pt x="264783" y="591215"/>
                  </a:cubicBezTo>
                  <a:close/>
                  <a:moveTo>
                    <a:pt x="259595" y="421225"/>
                  </a:moveTo>
                  <a:cubicBezTo>
                    <a:pt x="301224" y="421225"/>
                    <a:pt x="342837" y="421225"/>
                    <a:pt x="384466" y="421225"/>
                  </a:cubicBezTo>
                  <a:cubicBezTo>
                    <a:pt x="394673" y="421225"/>
                    <a:pt x="404339" y="419094"/>
                    <a:pt x="413125" y="413752"/>
                  </a:cubicBezTo>
                  <a:cubicBezTo>
                    <a:pt x="437290" y="399067"/>
                    <a:pt x="445396" y="368988"/>
                    <a:pt x="431561" y="343696"/>
                  </a:cubicBezTo>
                  <a:cubicBezTo>
                    <a:pt x="406377" y="297635"/>
                    <a:pt x="380884" y="251729"/>
                    <a:pt x="355530" y="205746"/>
                  </a:cubicBezTo>
                  <a:cubicBezTo>
                    <a:pt x="339085" y="175945"/>
                    <a:pt x="322733" y="146082"/>
                    <a:pt x="306180" y="116342"/>
                  </a:cubicBezTo>
                  <a:cubicBezTo>
                    <a:pt x="294522" y="95389"/>
                    <a:pt x="274619" y="85615"/>
                    <a:pt x="250994" y="89444"/>
                  </a:cubicBezTo>
                  <a:cubicBezTo>
                    <a:pt x="234071" y="92193"/>
                    <a:pt x="222011" y="101921"/>
                    <a:pt x="213827" y="116821"/>
                  </a:cubicBezTo>
                  <a:cubicBezTo>
                    <a:pt x="196317" y="148676"/>
                    <a:pt x="178715" y="180500"/>
                    <a:pt x="161158" y="212324"/>
                  </a:cubicBezTo>
                  <a:cubicBezTo>
                    <a:pt x="137271" y="255605"/>
                    <a:pt x="113430" y="298917"/>
                    <a:pt x="89466" y="342152"/>
                  </a:cubicBezTo>
                  <a:cubicBezTo>
                    <a:pt x="83382" y="353130"/>
                    <a:pt x="80309" y="364680"/>
                    <a:pt x="82594" y="377095"/>
                  </a:cubicBezTo>
                  <a:cubicBezTo>
                    <a:pt x="87566" y="404178"/>
                    <a:pt x="108226" y="421179"/>
                    <a:pt x="135881" y="421210"/>
                  </a:cubicBezTo>
                  <a:cubicBezTo>
                    <a:pt x="177109" y="421272"/>
                    <a:pt x="218352" y="421225"/>
                    <a:pt x="259595" y="421225"/>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29" name="Freeform: Shape 128">
              <a:extLst>
                <a:ext uri="{FF2B5EF4-FFF2-40B4-BE49-F238E27FC236}">
                  <a16:creationId xmlns:a16="http://schemas.microsoft.com/office/drawing/2014/main" id="{C72B47DA-902C-4A2A-CFC3-B2F5A81DBF4A}"/>
                </a:ext>
              </a:extLst>
            </p:cNvPr>
            <p:cNvSpPr/>
            <p:nvPr/>
          </p:nvSpPr>
          <p:spPr>
            <a:xfrm>
              <a:off x="-2106855" y="2180796"/>
              <a:ext cx="287031" cy="263477"/>
            </a:xfrm>
            <a:custGeom>
              <a:avLst/>
              <a:gdLst>
                <a:gd name="connsiteX0" fmla="*/ 143553 w 287032"/>
                <a:gd name="connsiteY0" fmla="*/ 263470 h 263477"/>
                <a:gd name="connsiteX1" fmla="*/ 19855 w 287032"/>
                <a:gd name="connsiteY1" fmla="*/ 263470 h 263477"/>
                <a:gd name="connsiteX2" fmla="*/ 3395 w 287032"/>
                <a:gd name="connsiteY2" fmla="*/ 235228 h 263477"/>
                <a:gd name="connsiteX3" fmla="*/ 126815 w 287032"/>
                <a:gd name="connsiteY3" fmla="*/ 11411 h 263477"/>
                <a:gd name="connsiteX4" fmla="*/ 143414 w 287032"/>
                <a:gd name="connsiteY4" fmla="*/ 0 h 263477"/>
                <a:gd name="connsiteX5" fmla="*/ 160105 w 287032"/>
                <a:gd name="connsiteY5" fmla="*/ 11257 h 263477"/>
                <a:gd name="connsiteX6" fmla="*/ 283834 w 287032"/>
                <a:gd name="connsiteY6" fmla="*/ 235599 h 263477"/>
                <a:gd name="connsiteX7" fmla="*/ 267266 w 287032"/>
                <a:gd name="connsiteY7" fmla="*/ 263470 h 263477"/>
                <a:gd name="connsiteX8" fmla="*/ 143553 w 287032"/>
                <a:gd name="connsiteY8" fmla="*/ 263470 h 263477"/>
                <a:gd name="connsiteX9" fmla="*/ 160846 w 287032"/>
                <a:gd name="connsiteY9" fmla="*/ 116410 h 263477"/>
                <a:gd name="connsiteX10" fmla="*/ 160831 w 287032"/>
                <a:gd name="connsiteY10" fmla="*/ 80633 h 263477"/>
                <a:gd name="connsiteX11" fmla="*/ 143259 w 287032"/>
                <a:gd name="connsiteY11" fmla="*/ 61193 h 263477"/>
                <a:gd name="connsiteX12" fmla="*/ 126120 w 287032"/>
                <a:gd name="connsiteY12" fmla="*/ 80479 h 263477"/>
                <a:gd name="connsiteX13" fmla="*/ 126120 w 287032"/>
                <a:gd name="connsiteY13" fmla="*/ 151461 h 263477"/>
                <a:gd name="connsiteX14" fmla="*/ 143676 w 287032"/>
                <a:gd name="connsiteY14" fmla="*/ 170948 h 263477"/>
                <a:gd name="connsiteX15" fmla="*/ 160816 w 287032"/>
                <a:gd name="connsiteY15" fmla="*/ 151615 h 263477"/>
                <a:gd name="connsiteX16" fmla="*/ 160846 w 287032"/>
                <a:gd name="connsiteY16" fmla="*/ 116410 h 263477"/>
                <a:gd name="connsiteX17" fmla="*/ 143599 w 287032"/>
                <a:gd name="connsiteY17" fmla="*/ 194125 h 263477"/>
                <a:gd name="connsiteX18" fmla="*/ 126151 w 287032"/>
                <a:gd name="connsiteY18" fmla="*/ 211295 h 263477"/>
                <a:gd name="connsiteX19" fmla="*/ 143367 w 287032"/>
                <a:gd name="connsiteY19" fmla="*/ 228743 h 263477"/>
                <a:gd name="connsiteX20" fmla="*/ 160816 w 287032"/>
                <a:gd name="connsiteY20" fmla="*/ 211527 h 263477"/>
                <a:gd name="connsiteX21" fmla="*/ 143599 w 287032"/>
                <a:gd name="connsiteY21" fmla="*/ 194125 h 26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32" h="263477">
                  <a:moveTo>
                    <a:pt x="143553" y="263470"/>
                  </a:moveTo>
                  <a:cubicBezTo>
                    <a:pt x="102325" y="263470"/>
                    <a:pt x="61082" y="263486"/>
                    <a:pt x="19855" y="263470"/>
                  </a:cubicBezTo>
                  <a:cubicBezTo>
                    <a:pt x="2700" y="263470"/>
                    <a:pt x="-4959" y="250376"/>
                    <a:pt x="3395" y="235228"/>
                  </a:cubicBezTo>
                  <a:cubicBezTo>
                    <a:pt x="44529" y="160617"/>
                    <a:pt x="85726" y="86037"/>
                    <a:pt x="126815" y="11411"/>
                  </a:cubicBezTo>
                  <a:cubicBezTo>
                    <a:pt x="130520" y="4679"/>
                    <a:pt x="135307" y="31"/>
                    <a:pt x="143414" y="0"/>
                  </a:cubicBezTo>
                  <a:cubicBezTo>
                    <a:pt x="151505" y="-31"/>
                    <a:pt x="156384" y="4509"/>
                    <a:pt x="160105" y="11257"/>
                  </a:cubicBezTo>
                  <a:cubicBezTo>
                    <a:pt x="201302" y="86068"/>
                    <a:pt x="242607" y="160803"/>
                    <a:pt x="283834" y="235599"/>
                  </a:cubicBezTo>
                  <a:cubicBezTo>
                    <a:pt x="291925" y="250283"/>
                    <a:pt x="284035" y="263470"/>
                    <a:pt x="267266" y="263470"/>
                  </a:cubicBezTo>
                  <a:cubicBezTo>
                    <a:pt x="226008" y="263470"/>
                    <a:pt x="184780" y="263470"/>
                    <a:pt x="143553" y="263470"/>
                  </a:cubicBezTo>
                  <a:close/>
                  <a:moveTo>
                    <a:pt x="160846" y="116410"/>
                  </a:moveTo>
                  <a:cubicBezTo>
                    <a:pt x="160846" y="104489"/>
                    <a:pt x="160893" y="92554"/>
                    <a:pt x="160831" y="80633"/>
                  </a:cubicBezTo>
                  <a:cubicBezTo>
                    <a:pt x="160769" y="69145"/>
                    <a:pt x="153404" y="61038"/>
                    <a:pt x="143259" y="61193"/>
                  </a:cubicBezTo>
                  <a:cubicBezTo>
                    <a:pt x="133315" y="61332"/>
                    <a:pt x="126151" y="69299"/>
                    <a:pt x="126120" y="80479"/>
                  </a:cubicBezTo>
                  <a:cubicBezTo>
                    <a:pt x="126058" y="104134"/>
                    <a:pt x="126073" y="127805"/>
                    <a:pt x="126120" y="151461"/>
                  </a:cubicBezTo>
                  <a:cubicBezTo>
                    <a:pt x="126151" y="162856"/>
                    <a:pt x="133670" y="171133"/>
                    <a:pt x="143676" y="170948"/>
                  </a:cubicBezTo>
                  <a:cubicBezTo>
                    <a:pt x="153558" y="170778"/>
                    <a:pt x="160754" y="162733"/>
                    <a:pt x="160816" y="151615"/>
                  </a:cubicBezTo>
                  <a:cubicBezTo>
                    <a:pt x="160908" y="139880"/>
                    <a:pt x="160846" y="128145"/>
                    <a:pt x="160846" y="116410"/>
                  </a:cubicBezTo>
                  <a:close/>
                  <a:moveTo>
                    <a:pt x="143599" y="194125"/>
                  </a:moveTo>
                  <a:cubicBezTo>
                    <a:pt x="134427" y="194047"/>
                    <a:pt x="126243" y="202108"/>
                    <a:pt x="126151" y="211295"/>
                  </a:cubicBezTo>
                  <a:cubicBezTo>
                    <a:pt x="126073" y="220451"/>
                    <a:pt x="134164" y="228666"/>
                    <a:pt x="143367" y="228743"/>
                  </a:cubicBezTo>
                  <a:cubicBezTo>
                    <a:pt x="152508" y="228836"/>
                    <a:pt x="160723" y="220714"/>
                    <a:pt x="160816" y="211527"/>
                  </a:cubicBezTo>
                  <a:cubicBezTo>
                    <a:pt x="160893" y="202370"/>
                    <a:pt x="152817" y="194202"/>
                    <a:pt x="143599" y="194125"/>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130" name="Graphic 76">
            <a:extLst>
              <a:ext uri="{FF2B5EF4-FFF2-40B4-BE49-F238E27FC236}">
                <a16:creationId xmlns:a16="http://schemas.microsoft.com/office/drawing/2014/main" id="{1445C729-F2E1-FAE3-AEA9-08771B212476}"/>
              </a:ext>
            </a:extLst>
          </p:cNvPr>
          <p:cNvGrpSpPr/>
          <p:nvPr/>
        </p:nvGrpSpPr>
        <p:grpSpPr>
          <a:xfrm>
            <a:off x="10923186" y="1310111"/>
            <a:ext cx="372218" cy="408935"/>
            <a:chOff x="-2247294" y="1419755"/>
            <a:chExt cx="538628" cy="591761"/>
          </a:xfrm>
          <a:solidFill>
            <a:sysClr val="window" lastClr="FFFFFF"/>
          </a:solidFill>
        </p:grpSpPr>
        <p:sp>
          <p:nvSpPr>
            <p:cNvPr id="131" name="Freeform: Shape 130">
              <a:extLst>
                <a:ext uri="{FF2B5EF4-FFF2-40B4-BE49-F238E27FC236}">
                  <a16:creationId xmlns:a16="http://schemas.microsoft.com/office/drawing/2014/main" id="{1FE220DB-6765-63F2-4096-922777A78F2B}"/>
                </a:ext>
              </a:extLst>
            </p:cNvPr>
            <p:cNvSpPr/>
            <p:nvPr/>
          </p:nvSpPr>
          <p:spPr>
            <a:xfrm>
              <a:off x="-2216072" y="1883881"/>
              <a:ext cx="476200" cy="127635"/>
            </a:xfrm>
            <a:custGeom>
              <a:avLst/>
              <a:gdLst>
                <a:gd name="connsiteX0" fmla="*/ 0 w 476200"/>
                <a:gd name="connsiteY0" fmla="*/ 127635 h 127635"/>
                <a:gd name="connsiteX1" fmla="*/ 216 w 476200"/>
                <a:gd name="connsiteY1" fmla="*/ 57765 h 127635"/>
                <a:gd name="connsiteX2" fmla="*/ 23918 w 476200"/>
                <a:gd name="connsiteY2" fmla="*/ 19255 h 127635"/>
                <a:gd name="connsiteX3" fmla="*/ 57904 w 476200"/>
                <a:gd name="connsiteY3" fmla="*/ 2177 h 127635"/>
                <a:gd name="connsiteX4" fmla="*/ 66798 w 476200"/>
                <a:gd name="connsiteY4" fmla="*/ 3443 h 127635"/>
                <a:gd name="connsiteX5" fmla="*/ 114372 w 476200"/>
                <a:gd name="connsiteY5" fmla="*/ 50631 h 127635"/>
                <a:gd name="connsiteX6" fmla="*/ 119869 w 476200"/>
                <a:gd name="connsiteY6" fmla="*/ 55757 h 127635"/>
                <a:gd name="connsiteX7" fmla="*/ 146103 w 476200"/>
                <a:gd name="connsiteY7" fmla="*/ 28674 h 127635"/>
                <a:gd name="connsiteX8" fmla="*/ 171117 w 476200"/>
                <a:gd name="connsiteY8" fmla="*/ 3860 h 127635"/>
                <a:gd name="connsiteX9" fmla="*/ 180475 w 476200"/>
                <a:gd name="connsiteY9" fmla="*/ 2532 h 127635"/>
                <a:gd name="connsiteX10" fmla="*/ 216097 w 476200"/>
                <a:gd name="connsiteY10" fmla="*/ 20197 h 127635"/>
                <a:gd name="connsiteX11" fmla="*/ 237668 w 476200"/>
                <a:gd name="connsiteY11" fmla="*/ 47759 h 127635"/>
                <a:gd name="connsiteX12" fmla="*/ 239289 w 476200"/>
                <a:gd name="connsiteY12" fmla="*/ 41830 h 127635"/>
                <a:gd name="connsiteX13" fmla="*/ 253155 w 476200"/>
                <a:gd name="connsiteY13" fmla="*/ 21309 h 127635"/>
                <a:gd name="connsiteX14" fmla="*/ 292777 w 476200"/>
                <a:gd name="connsiteY14" fmla="*/ 0 h 127635"/>
                <a:gd name="connsiteX15" fmla="*/ 358185 w 476200"/>
                <a:gd name="connsiteY15" fmla="*/ 51372 h 127635"/>
                <a:gd name="connsiteX16" fmla="*/ 421277 w 476200"/>
                <a:gd name="connsiteY16" fmla="*/ 371 h 127635"/>
                <a:gd name="connsiteX17" fmla="*/ 461717 w 476200"/>
                <a:gd name="connsiteY17" fmla="*/ 21957 h 127635"/>
                <a:gd name="connsiteX18" fmla="*/ 475861 w 476200"/>
                <a:gd name="connsiteY18" fmla="*/ 51403 h 127635"/>
                <a:gd name="connsiteX19" fmla="*/ 475877 w 476200"/>
                <a:gd name="connsiteY19" fmla="*/ 120733 h 127635"/>
                <a:gd name="connsiteX20" fmla="*/ 476201 w 476200"/>
                <a:gd name="connsiteY20" fmla="*/ 127635 h 127635"/>
                <a:gd name="connsiteX21" fmla="*/ 0 w 476200"/>
                <a:gd name="connsiteY21" fmla="*/ 127635 h 127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76200" h="127635">
                  <a:moveTo>
                    <a:pt x="0" y="127635"/>
                  </a:moveTo>
                  <a:cubicBezTo>
                    <a:pt x="108" y="104350"/>
                    <a:pt x="602" y="81050"/>
                    <a:pt x="216" y="57765"/>
                  </a:cubicBezTo>
                  <a:cubicBezTo>
                    <a:pt x="-93" y="39560"/>
                    <a:pt x="7273" y="26898"/>
                    <a:pt x="23918" y="19255"/>
                  </a:cubicBezTo>
                  <a:cubicBezTo>
                    <a:pt x="35437" y="13974"/>
                    <a:pt x="46709" y="8137"/>
                    <a:pt x="57904" y="2177"/>
                  </a:cubicBezTo>
                  <a:cubicBezTo>
                    <a:pt x="61579" y="216"/>
                    <a:pt x="63771" y="386"/>
                    <a:pt x="66798" y="3443"/>
                  </a:cubicBezTo>
                  <a:cubicBezTo>
                    <a:pt x="82501" y="19317"/>
                    <a:pt x="98483" y="34943"/>
                    <a:pt x="114372" y="50631"/>
                  </a:cubicBezTo>
                  <a:cubicBezTo>
                    <a:pt x="115854" y="52098"/>
                    <a:pt x="117413" y="53472"/>
                    <a:pt x="119869" y="55757"/>
                  </a:cubicBezTo>
                  <a:cubicBezTo>
                    <a:pt x="128747" y="46586"/>
                    <a:pt x="137332" y="37537"/>
                    <a:pt x="146103" y="28674"/>
                  </a:cubicBezTo>
                  <a:cubicBezTo>
                    <a:pt x="154364" y="20336"/>
                    <a:pt x="163011" y="12353"/>
                    <a:pt x="171117" y="3860"/>
                  </a:cubicBezTo>
                  <a:cubicBezTo>
                    <a:pt x="174252" y="571"/>
                    <a:pt x="176630" y="525"/>
                    <a:pt x="180475" y="2532"/>
                  </a:cubicBezTo>
                  <a:cubicBezTo>
                    <a:pt x="192210" y="8678"/>
                    <a:pt x="204115" y="14545"/>
                    <a:pt x="216097" y="20197"/>
                  </a:cubicBezTo>
                  <a:cubicBezTo>
                    <a:pt x="227492" y="25570"/>
                    <a:pt x="234750" y="34063"/>
                    <a:pt x="237668" y="47759"/>
                  </a:cubicBezTo>
                  <a:cubicBezTo>
                    <a:pt x="238440" y="44964"/>
                    <a:pt x="238919" y="43405"/>
                    <a:pt x="239289" y="41830"/>
                  </a:cubicBezTo>
                  <a:cubicBezTo>
                    <a:pt x="241328" y="33229"/>
                    <a:pt x="245620" y="25740"/>
                    <a:pt x="253155" y="21309"/>
                  </a:cubicBezTo>
                  <a:cubicBezTo>
                    <a:pt x="266033" y="13727"/>
                    <a:pt x="279467" y="7087"/>
                    <a:pt x="292777" y="0"/>
                  </a:cubicBezTo>
                  <a:cubicBezTo>
                    <a:pt x="303138" y="32364"/>
                    <a:pt x="323813" y="51048"/>
                    <a:pt x="358185" y="51372"/>
                  </a:cubicBezTo>
                  <a:cubicBezTo>
                    <a:pt x="387292" y="51650"/>
                    <a:pt x="406794" y="35576"/>
                    <a:pt x="421277" y="371"/>
                  </a:cubicBezTo>
                  <a:cubicBezTo>
                    <a:pt x="434850" y="7504"/>
                    <a:pt x="448808" y="13881"/>
                    <a:pt x="461717" y="21957"/>
                  </a:cubicBezTo>
                  <a:cubicBezTo>
                    <a:pt x="472001" y="28381"/>
                    <a:pt x="475861" y="39328"/>
                    <a:pt x="475861" y="51403"/>
                  </a:cubicBezTo>
                  <a:cubicBezTo>
                    <a:pt x="475877" y="74518"/>
                    <a:pt x="475861" y="97618"/>
                    <a:pt x="475877" y="120733"/>
                  </a:cubicBezTo>
                  <a:cubicBezTo>
                    <a:pt x="475877" y="123034"/>
                    <a:pt x="476093" y="125335"/>
                    <a:pt x="476201" y="127635"/>
                  </a:cubicBezTo>
                  <a:cubicBezTo>
                    <a:pt x="317467" y="127635"/>
                    <a:pt x="158734" y="127635"/>
                    <a:pt x="0" y="127635"/>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32" name="Freeform: Shape 131">
              <a:extLst>
                <a:ext uri="{FF2B5EF4-FFF2-40B4-BE49-F238E27FC236}">
                  <a16:creationId xmlns:a16="http://schemas.microsoft.com/office/drawing/2014/main" id="{BF806CD9-FFE6-3ED9-4B27-E204742166D3}"/>
                </a:ext>
              </a:extLst>
            </p:cNvPr>
            <p:cNvSpPr/>
            <p:nvPr/>
          </p:nvSpPr>
          <p:spPr>
            <a:xfrm>
              <a:off x="-2125897" y="1419755"/>
              <a:ext cx="295834" cy="295849"/>
            </a:xfrm>
            <a:custGeom>
              <a:avLst/>
              <a:gdLst>
                <a:gd name="connsiteX0" fmla="*/ 147817 w 295834"/>
                <a:gd name="connsiteY0" fmla="*/ 295850 h 295849"/>
                <a:gd name="connsiteX1" fmla="*/ 0 w 295834"/>
                <a:gd name="connsiteY1" fmla="*/ 147801 h 295849"/>
                <a:gd name="connsiteX2" fmla="*/ 148033 w 295834"/>
                <a:gd name="connsiteY2" fmla="*/ 0 h 295849"/>
                <a:gd name="connsiteX3" fmla="*/ 295834 w 295834"/>
                <a:gd name="connsiteY3" fmla="*/ 148604 h 295849"/>
                <a:gd name="connsiteX4" fmla="*/ 147817 w 295834"/>
                <a:gd name="connsiteY4" fmla="*/ 295850 h 295849"/>
                <a:gd name="connsiteX5" fmla="*/ 163011 w 295834"/>
                <a:gd name="connsiteY5" fmla="*/ 188504 h 295849"/>
                <a:gd name="connsiteX6" fmla="*/ 162903 w 295834"/>
                <a:gd name="connsiteY6" fmla="*/ 166717 h 295849"/>
                <a:gd name="connsiteX7" fmla="*/ 169002 w 295834"/>
                <a:gd name="connsiteY7" fmla="*/ 157035 h 295849"/>
                <a:gd name="connsiteX8" fmla="*/ 197243 w 295834"/>
                <a:gd name="connsiteY8" fmla="*/ 83212 h 295849"/>
                <a:gd name="connsiteX9" fmla="*/ 123003 w 295834"/>
                <a:gd name="connsiteY9" fmla="*/ 57734 h 295849"/>
                <a:gd name="connsiteX10" fmla="*/ 94067 w 295834"/>
                <a:gd name="connsiteY10" fmla="*/ 106728 h 295849"/>
                <a:gd name="connsiteX11" fmla="*/ 126740 w 295834"/>
                <a:gd name="connsiteY11" fmla="*/ 106728 h 295849"/>
                <a:gd name="connsiteX12" fmla="*/ 132206 w 295834"/>
                <a:gd name="connsiteY12" fmla="*/ 94082 h 295849"/>
                <a:gd name="connsiteX13" fmla="*/ 155908 w 295834"/>
                <a:gd name="connsiteY13" fmla="*/ 87828 h 295849"/>
                <a:gd name="connsiteX14" fmla="*/ 167396 w 295834"/>
                <a:gd name="connsiteY14" fmla="*/ 111314 h 295849"/>
                <a:gd name="connsiteX15" fmla="*/ 148990 w 295834"/>
                <a:gd name="connsiteY15" fmla="*/ 126987 h 295849"/>
                <a:gd name="connsiteX16" fmla="*/ 128701 w 295834"/>
                <a:gd name="connsiteY16" fmla="*/ 127033 h 295849"/>
                <a:gd name="connsiteX17" fmla="*/ 128701 w 295834"/>
                <a:gd name="connsiteY17" fmla="*/ 188488 h 295849"/>
                <a:gd name="connsiteX18" fmla="*/ 163011 w 295834"/>
                <a:gd name="connsiteY18" fmla="*/ 188504 h 295849"/>
                <a:gd name="connsiteX19" fmla="*/ 145825 w 295834"/>
                <a:gd name="connsiteY19" fmla="*/ 245265 h 295849"/>
                <a:gd name="connsiteX20" fmla="*/ 163026 w 295834"/>
                <a:gd name="connsiteY20" fmla="*/ 228110 h 295849"/>
                <a:gd name="connsiteX21" fmla="*/ 145624 w 295834"/>
                <a:gd name="connsiteY21" fmla="*/ 211171 h 295849"/>
                <a:gd name="connsiteX22" fmla="*/ 128577 w 295834"/>
                <a:gd name="connsiteY22" fmla="*/ 228033 h 295849"/>
                <a:gd name="connsiteX23" fmla="*/ 145825 w 295834"/>
                <a:gd name="connsiteY23" fmla="*/ 245265 h 295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5834" h="295849">
                  <a:moveTo>
                    <a:pt x="147817" y="295850"/>
                  </a:moveTo>
                  <a:cubicBezTo>
                    <a:pt x="66088" y="295834"/>
                    <a:pt x="-15" y="229608"/>
                    <a:pt x="0" y="147801"/>
                  </a:cubicBezTo>
                  <a:cubicBezTo>
                    <a:pt x="31" y="66057"/>
                    <a:pt x="66211" y="-15"/>
                    <a:pt x="148033" y="0"/>
                  </a:cubicBezTo>
                  <a:cubicBezTo>
                    <a:pt x="230025" y="15"/>
                    <a:pt x="295973" y="66335"/>
                    <a:pt x="295834" y="148604"/>
                  </a:cubicBezTo>
                  <a:cubicBezTo>
                    <a:pt x="295711" y="229901"/>
                    <a:pt x="229376" y="295881"/>
                    <a:pt x="147817" y="295850"/>
                  </a:cubicBezTo>
                  <a:close/>
                  <a:moveTo>
                    <a:pt x="163011" y="188504"/>
                  </a:moveTo>
                  <a:cubicBezTo>
                    <a:pt x="163011" y="180907"/>
                    <a:pt x="163304" y="173789"/>
                    <a:pt x="162903" y="166717"/>
                  </a:cubicBezTo>
                  <a:cubicBezTo>
                    <a:pt x="162625" y="161714"/>
                    <a:pt x="163922" y="159151"/>
                    <a:pt x="169002" y="157035"/>
                  </a:cubicBezTo>
                  <a:cubicBezTo>
                    <a:pt x="197707" y="145130"/>
                    <a:pt x="210368" y="111500"/>
                    <a:pt x="197243" y="83212"/>
                  </a:cubicBezTo>
                  <a:cubicBezTo>
                    <a:pt x="184227" y="55155"/>
                    <a:pt x="150689" y="43636"/>
                    <a:pt x="123003" y="57734"/>
                  </a:cubicBezTo>
                  <a:cubicBezTo>
                    <a:pt x="104721" y="67045"/>
                    <a:pt x="91874" y="88647"/>
                    <a:pt x="94067" y="106728"/>
                  </a:cubicBezTo>
                  <a:cubicBezTo>
                    <a:pt x="105277" y="106728"/>
                    <a:pt x="116518" y="106728"/>
                    <a:pt x="126740" y="106728"/>
                  </a:cubicBezTo>
                  <a:cubicBezTo>
                    <a:pt x="128732" y="101988"/>
                    <a:pt x="129797" y="97587"/>
                    <a:pt x="132206" y="94082"/>
                  </a:cubicBezTo>
                  <a:cubicBezTo>
                    <a:pt x="137425" y="86454"/>
                    <a:pt x="147493" y="84107"/>
                    <a:pt x="155908" y="87828"/>
                  </a:cubicBezTo>
                  <a:cubicBezTo>
                    <a:pt x="164771" y="91735"/>
                    <a:pt x="169342" y="101108"/>
                    <a:pt x="167396" y="111314"/>
                  </a:cubicBezTo>
                  <a:cubicBezTo>
                    <a:pt x="165775" y="119745"/>
                    <a:pt x="157884" y="126663"/>
                    <a:pt x="148990" y="126987"/>
                  </a:cubicBezTo>
                  <a:cubicBezTo>
                    <a:pt x="142320" y="127234"/>
                    <a:pt x="135634" y="127033"/>
                    <a:pt x="128701" y="127033"/>
                  </a:cubicBezTo>
                  <a:cubicBezTo>
                    <a:pt x="128701" y="147848"/>
                    <a:pt x="128701" y="167983"/>
                    <a:pt x="128701" y="188488"/>
                  </a:cubicBezTo>
                  <a:cubicBezTo>
                    <a:pt x="140081" y="188504"/>
                    <a:pt x="151152" y="188504"/>
                    <a:pt x="163011" y="188504"/>
                  </a:cubicBezTo>
                  <a:close/>
                  <a:moveTo>
                    <a:pt x="145825" y="245265"/>
                  </a:moveTo>
                  <a:cubicBezTo>
                    <a:pt x="155460" y="245280"/>
                    <a:pt x="163073" y="237683"/>
                    <a:pt x="163026" y="228110"/>
                  </a:cubicBezTo>
                  <a:cubicBezTo>
                    <a:pt x="162980" y="218537"/>
                    <a:pt x="155290" y="211063"/>
                    <a:pt x="145624" y="211171"/>
                  </a:cubicBezTo>
                  <a:cubicBezTo>
                    <a:pt x="136251" y="211264"/>
                    <a:pt x="128732" y="218706"/>
                    <a:pt x="128577" y="228033"/>
                  </a:cubicBezTo>
                  <a:cubicBezTo>
                    <a:pt x="128438" y="237483"/>
                    <a:pt x="136221" y="245265"/>
                    <a:pt x="145825" y="245265"/>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33" name="Freeform: Shape 132">
              <a:extLst>
                <a:ext uri="{FF2B5EF4-FFF2-40B4-BE49-F238E27FC236}">
                  <a16:creationId xmlns:a16="http://schemas.microsoft.com/office/drawing/2014/main" id="{E758E3DC-BFDD-8838-31BB-46FBF0BD0B5B}"/>
                </a:ext>
              </a:extLst>
            </p:cNvPr>
            <p:cNvSpPr/>
            <p:nvPr/>
          </p:nvSpPr>
          <p:spPr>
            <a:xfrm>
              <a:off x="-1903632" y="1744520"/>
              <a:ext cx="89786" cy="153087"/>
            </a:xfrm>
            <a:custGeom>
              <a:avLst/>
              <a:gdLst>
                <a:gd name="connsiteX0" fmla="*/ 89783 w 89786"/>
                <a:gd name="connsiteY0" fmla="*/ 49834 h 153087"/>
                <a:gd name="connsiteX1" fmla="*/ 86942 w 89786"/>
                <a:gd name="connsiteY1" fmla="*/ 72903 h 153087"/>
                <a:gd name="connsiteX2" fmla="*/ 67564 w 89786"/>
                <a:gd name="connsiteY2" fmla="*/ 101036 h 153087"/>
                <a:gd name="connsiteX3" fmla="*/ 65155 w 89786"/>
                <a:gd name="connsiteY3" fmla="*/ 107923 h 153087"/>
                <a:gd name="connsiteX4" fmla="*/ 69818 w 89786"/>
                <a:gd name="connsiteY4" fmla="*/ 127857 h 153087"/>
                <a:gd name="connsiteX5" fmla="*/ 54516 w 89786"/>
                <a:gd name="connsiteY5" fmla="*/ 150834 h 153087"/>
                <a:gd name="connsiteX6" fmla="*/ 27232 w 89786"/>
                <a:gd name="connsiteY6" fmla="*/ 146016 h 153087"/>
                <a:gd name="connsiteX7" fmla="*/ 20700 w 89786"/>
                <a:gd name="connsiteY7" fmla="*/ 119226 h 153087"/>
                <a:gd name="connsiteX8" fmla="*/ 15111 w 89786"/>
                <a:gd name="connsiteY8" fmla="*/ 94428 h 153087"/>
                <a:gd name="connsiteX9" fmla="*/ 1492 w 89786"/>
                <a:gd name="connsiteY9" fmla="*/ 68008 h 153087"/>
                <a:gd name="connsiteX10" fmla="*/ 951 w 89786"/>
                <a:gd name="connsiteY10" fmla="*/ 34872 h 153087"/>
                <a:gd name="connsiteX11" fmla="*/ 49359 w 89786"/>
                <a:gd name="connsiteY11" fmla="*/ 376 h 153087"/>
                <a:gd name="connsiteX12" fmla="*/ 89783 w 89786"/>
                <a:gd name="connsiteY12" fmla="*/ 49834 h 153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786" h="153087">
                  <a:moveTo>
                    <a:pt x="89783" y="49834"/>
                  </a:moveTo>
                  <a:cubicBezTo>
                    <a:pt x="89135" y="55377"/>
                    <a:pt x="88563" y="64241"/>
                    <a:pt x="86942" y="72903"/>
                  </a:cubicBezTo>
                  <a:cubicBezTo>
                    <a:pt x="84688" y="84993"/>
                    <a:pt x="78048" y="94551"/>
                    <a:pt x="67564" y="101036"/>
                  </a:cubicBezTo>
                  <a:cubicBezTo>
                    <a:pt x="64444" y="102967"/>
                    <a:pt x="64089" y="104542"/>
                    <a:pt x="65155" y="107923"/>
                  </a:cubicBezTo>
                  <a:cubicBezTo>
                    <a:pt x="67208" y="114439"/>
                    <a:pt x="69571" y="121156"/>
                    <a:pt x="69818" y="127857"/>
                  </a:cubicBezTo>
                  <a:cubicBezTo>
                    <a:pt x="70219" y="138635"/>
                    <a:pt x="64444" y="146696"/>
                    <a:pt x="54516" y="150834"/>
                  </a:cubicBezTo>
                  <a:cubicBezTo>
                    <a:pt x="44665" y="154941"/>
                    <a:pt x="35153" y="153490"/>
                    <a:pt x="27232" y="146016"/>
                  </a:cubicBezTo>
                  <a:cubicBezTo>
                    <a:pt x="19372" y="138604"/>
                    <a:pt x="16423" y="129046"/>
                    <a:pt x="20700" y="119226"/>
                  </a:cubicBezTo>
                  <a:cubicBezTo>
                    <a:pt x="25193" y="108911"/>
                    <a:pt x="25533" y="101731"/>
                    <a:pt x="15111" y="94428"/>
                  </a:cubicBezTo>
                  <a:cubicBezTo>
                    <a:pt x="6680" y="88529"/>
                    <a:pt x="2171" y="78647"/>
                    <a:pt x="1492" y="68008"/>
                  </a:cubicBezTo>
                  <a:cubicBezTo>
                    <a:pt x="781" y="56968"/>
                    <a:pt x="-1149" y="45480"/>
                    <a:pt x="951" y="34872"/>
                  </a:cubicBezTo>
                  <a:cubicBezTo>
                    <a:pt x="5383" y="12405"/>
                    <a:pt x="27865" y="-2604"/>
                    <a:pt x="49359" y="376"/>
                  </a:cubicBezTo>
                  <a:cubicBezTo>
                    <a:pt x="73586" y="3743"/>
                    <a:pt x="90061" y="22534"/>
                    <a:pt x="89783" y="49834"/>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34" name="Freeform: Shape 133">
              <a:extLst>
                <a:ext uri="{FF2B5EF4-FFF2-40B4-BE49-F238E27FC236}">
                  <a16:creationId xmlns:a16="http://schemas.microsoft.com/office/drawing/2014/main" id="{0796B3E0-A6E8-F9F5-42A2-EACDDE83234E}"/>
                </a:ext>
              </a:extLst>
            </p:cNvPr>
            <p:cNvSpPr/>
            <p:nvPr/>
          </p:nvSpPr>
          <p:spPr>
            <a:xfrm>
              <a:off x="-2141435" y="1744519"/>
              <a:ext cx="89689" cy="141940"/>
            </a:xfrm>
            <a:custGeom>
              <a:avLst/>
              <a:gdLst>
                <a:gd name="connsiteX0" fmla="*/ 63205 w 89689"/>
                <a:gd name="connsiteY0" fmla="*/ 102535 h 141940"/>
                <a:gd name="connsiteX1" fmla="*/ 63221 w 89689"/>
                <a:gd name="connsiteY1" fmla="*/ 103893 h 141940"/>
                <a:gd name="connsiteX2" fmla="*/ 55948 w 89689"/>
                <a:gd name="connsiteY2" fmla="*/ 130529 h 141940"/>
                <a:gd name="connsiteX3" fmla="*/ 44954 w 89689"/>
                <a:gd name="connsiteY3" fmla="*/ 141940 h 141940"/>
                <a:gd name="connsiteX4" fmla="*/ 21808 w 89689"/>
                <a:gd name="connsiteY4" fmla="*/ 118840 h 141940"/>
                <a:gd name="connsiteX5" fmla="*/ 21391 w 89689"/>
                <a:gd name="connsiteY5" fmla="*/ 114656 h 141940"/>
                <a:gd name="connsiteX6" fmla="*/ 24495 w 89689"/>
                <a:gd name="connsiteY6" fmla="*/ 102087 h 141940"/>
                <a:gd name="connsiteX7" fmla="*/ 21376 w 89689"/>
                <a:gd name="connsiteY7" fmla="*/ 99802 h 141940"/>
                <a:gd name="connsiteX8" fmla="*/ 1704 w 89689"/>
                <a:gd name="connsiteY8" fmla="*/ 68178 h 141940"/>
                <a:gd name="connsiteX9" fmla="*/ 870 w 89689"/>
                <a:gd name="connsiteY9" fmla="*/ 34502 h 141940"/>
                <a:gd name="connsiteX10" fmla="*/ 49494 w 89689"/>
                <a:gd name="connsiteY10" fmla="*/ 408 h 141940"/>
                <a:gd name="connsiteX11" fmla="*/ 89594 w 89689"/>
                <a:gd name="connsiteY11" fmla="*/ 47765 h 141940"/>
                <a:gd name="connsiteX12" fmla="*/ 86907 w 89689"/>
                <a:gd name="connsiteY12" fmla="*/ 71807 h 141940"/>
                <a:gd name="connsiteX13" fmla="*/ 69366 w 89689"/>
                <a:gd name="connsiteY13" fmla="*/ 98582 h 141940"/>
                <a:gd name="connsiteX14" fmla="*/ 63205 w 89689"/>
                <a:gd name="connsiteY14" fmla="*/ 102535 h 141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689" h="141940">
                  <a:moveTo>
                    <a:pt x="63205" y="102535"/>
                  </a:moveTo>
                  <a:cubicBezTo>
                    <a:pt x="63205" y="103137"/>
                    <a:pt x="63066" y="103600"/>
                    <a:pt x="63221" y="103893"/>
                  </a:cubicBezTo>
                  <a:cubicBezTo>
                    <a:pt x="69243" y="115088"/>
                    <a:pt x="65830" y="123442"/>
                    <a:pt x="55948" y="130529"/>
                  </a:cubicBezTo>
                  <a:cubicBezTo>
                    <a:pt x="51964" y="133386"/>
                    <a:pt x="49000" y="137663"/>
                    <a:pt x="44954" y="141940"/>
                  </a:cubicBezTo>
                  <a:cubicBezTo>
                    <a:pt x="36863" y="133926"/>
                    <a:pt x="29235" y="126484"/>
                    <a:pt x="21808" y="118840"/>
                  </a:cubicBezTo>
                  <a:cubicBezTo>
                    <a:pt x="21036" y="118037"/>
                    <a:pt x="21113" y="115999"/>
                    <a:pt x="21391" y="114656"/>
                  </a:cubicBezTo>
                  <a:cubicBezTo>
                    <a:pt x="22240" y="110533"/>
                    <a:pt x="23383" y="106472"/>
                    <a:pt x="24495" y="102087"/>
                  </a:cubicBezTo>
                  <a:cubicBezTo>
                    <a:pt x="23475" y="101330"/>
                    <a:pt x="22456" y="100512"/>
                    <a:pt x="21376" y="99802"/>
                  </a:cubicBezTo>
                  <a:cubicBezTo>
                    <a:pt x="9934" y="92282"/>
                    <a:pt x="2815" y="81905"/>
                    <a:pt x="1704" y="68178"/>
                  </a:cubicBezTo>
                  <a:cubicBezTo>
                    <a:pt x="808" y="56968"/>
                    <a:pt x="-1122" y="45310"/>
                    <a:pt x="870" y="34502"/>
                  </a:cubicBezTo>
                  <a:cubicBezTo>
                    <a:pt x="4946" y="12390"/>
                    <a:pt x="27938" y="-2711"/>
                    <a:pt x="49494" y="408"/>
                  </a:cubicBezTo>
                  <a:cubicBezTo>
                    <a:pt x="74446" y="4021"/>
                    <a:pt x="91107" y="23554"/>
                    <a:pt x="89594" y="47765"/>
                  </a:cubicBezTo>
                  <a:cubicBezTo>
                    <a:pt x="89084" y="55810"/>
                    <a:pt x="88343" y="63886"/>
                    <a:pt x="86907" y="71807"/>
                  </a:cubicBezTo>
                  <a:cubicBezTo>
                    <a:pt x="84869" y="83064"/>
                    <a:pt x="78785" y="92004"/>
                    <a:pt x="69366" y="98582"/>
                  </a:cubicBezTo>
                  <a:cubicBezTo>
                    <a:pt x="67359" y="100002"/>
                    <a:pt x="65213" y="101253"/>
                    <a:pt x="63205" y="102535"/>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35" name="Freeform: Shape 134">
              <a:extLst>
                <a:ext uri="{FF2B5EF4-FFF2-40B4-BE49-F238E27FC236}">
                  <a16:creationId xmlns:a16="http://schemas.microsoft.com/office/drawing/2014/main" id="{E31B2815-3B24-78C0-D368-4F96FB14D667}"/>
                </a:ext>
              </a:extLst>
            </p:cNvPr>
            <p:cNvSpPr/>
            <p:nvPr/>
          </p:nvSpPr>
          <p:spPr>
            <a:xfrm>
              <a:off x="-2247294" y="1544534"/>
              <a:ext cx="68959" cy="34078"/>
            </a:xfrm>
            <a:custGeom>
              <a:avLst/>
              <a:gdLst>
                <a:gd name="connsiteX0" fmla="*/ 68960 w 68959"/>
                <a:gd name="connsiteY0" fmla="*/ 0 h 34078"/>
                <a:gd name="connsiteX1" fmla="*/ 68960 w 68959"/>
                <a:gd name="connsiteY1" fmla="*/ 34078 h 34078"/>
                <a:gd name="connsiteX2" fmla="*/ 0 w 68959"/>
                <a:gd name="connsiteY2" fmla="*/ 34078 h 34078"/>
                <a:gd name="connsiteX3" fmla="*/ 0 w 68959"/>
                <a:gd name="connsiteY3" fmla="*/ 0 h 34078"/>
                <a:gd name="connsiteX4" fmla="*/ 68960 w 68959"/>
                <a:gd name="connsiteY4" fmla="*/ 0 h 34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59" h="34078">
                  <a:moveTo>
                    <a:pt x="68960" y="0"/>
                  </a:moveTo>
                  <a:cubicBezTo>
                    <a:pt x="68960" y="11488"/>
                    <a:pt x="68960" y="22590"/>
                    <a:pt x="68960" y="34078"/>
                  </a:cubicBezTo>
                  <a:cubicBezTo>
                    <a:pt x="45922" y="34078"/>
                    <a:pt x="23162" y="34078"/>
                    <a:pt x="0" y="34078"/>
                  </a:cubicBezTo>
                  <a:cubicBezTo>
                    <a:pt x="0" y="22791"/>
                    <a:pt x="0" y="11720"/>
                    <a:pt x="0" y="0"/>
                  </a:cubicBezTo>
                  <a:cubicBezTo>
                    <a:pt x="22791" y="0"/>
                    <a:pt x="45644" y="0"/>
                    <a:pt x="68960" y="0"/>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36" name="Freeform: Shape 135">
              <a:extLst>
                <a:ext uri="{FF2B5EF4-FFF2-40B4-BE49-F238E27FC236}">
                  <a16:creationId xmlns:a16="http://schemas.microsoft.com/office/drawing/2014/main" id="{5839893C-62DF-56E0-82FF-83FAB8FD9622}"/>
                </a:ext>
              </a:extLst>
            </p:cNvPr>
            <p:cNvSpPr/>
            <p:nvPr/>
          </p:nvSpPr>
          <p:spPr>
            <a:xfrm>
              <a:off x="-1777486" y="1544302"/>
              <a:ext cx="68820" cy="34294"/>
            </a:xfrm>
            <a:custGeom>
              <a:avLst/>
              <a:gdLst>
                <a:gd name="connsiteX0" fmla="*/ 0 w 68820"/>
                <a:gd name="connsiteY0" fmla="*/ 0 h 34294"/>
                <a:gd name="connsiteX1" fmla="*/ 68821 w 68820"/>
                <a:gd name="connsiteY1" fmla="*/ 0 h 34294"/>
                <a:gd name="connsiteX2" fmla="*/ 68821 w 68820"/>
                <a:gd name="connsiteY2" fmla="*/ 34294 h 34294"/>
                <a:gd name="connsiteX3" fmla="*/ 0 w 68820"/>
                <a:gd name="connsiteY3" fmla="*/ 34294 h 34294"/>
                <a:gd name="connsiteX4" fmla="*/ 0 w 68820"/>
                <a:gd name="connsiteY4" fmla="*/ 0 h 34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20" h="34294">
                  <a:moveTo>
                    <a:pt x="0" y="0"/>
                  </a:moveTo>
                  <a:cubicBezTo>
                    <a:pt x="22837" y="0"/>
                    <a:pt x="45613" y="0"/>
                    <a:pt x="68821" y="0"/>
                  </a:cubicBezTo>
                  <a:cubicBezTo>
                    <a:pt x="68821" y="11411"/>
                    <a:pt x="68821" y="22652"/>
                    <a:pt x="68821" y="34294"/>
                  </a:cubicBezTo>
                  <a:cubicBezTo>
                    <a:pt x="45922" y="34294"/>
                    <a:pt x="23162" y="34294"/>
                    <a:pt x="0" y="34294"/>
                  </a:cubicBezTo>
                  <a:cubicBezTo>
                    <a:pt x="0" y="22899"/>
                    <a:pt x="0" y="11673"/>
                    <a:pt x="0" y="0"/>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37" name="Freeform: Shape 136">
              <a:extLst>
                <a:ext uri="{FF2B5EF4-FFF2-40B4-BE49-F238E27FC236}">
                  <a16:creationId xmlns:a16="http://schemas.microsoft.com/office/drawing/2014/main" id="{90F453EC-C6C6-AA80-3EE0-15A73102A141}"/>
                </a:ext>
              </a:extLst>
            </p:cNvPr>
            <p:cNvSpPr/>
            <p:nvPr/>
          </p:nvSpPr>
          <p:spPr>
            <a:xfrm>
              <a:off x="-2218944" y="1420944"/>
              <a:ext cx="70951" cy="71105"/>
            </a:xfrm>
            <a:custGeom>
              <a:avLst/>
              <a:gdLst>
                <a:gd name="connsiteX0" fmla="*/ 0 w 70951"/>
                <a:gd name="connsiteY0" fmla="*/ 22822 h 71105"/>
                <a:gd name="connsiteX1" fmla="*/ 22914 w 70951"/>
                <a:gd name="connsiteY1" fmla="*/ 0 h 71105"/>
                <a:gd name="connsiteX2" fmla="*/ 70951 w 70951"/>
                <a:gd name="connsiteY2" fmla="*/ 48099 h 71105"/>
                <a:gd name="connsiteX3" fmla="*/ 48037 w 70951"/>
                <a:gd name="connsiteY3" fmla="*/ 71106 h 71105"/>
                <a:gd name="connsiteX4" fmla="*/ 0 w 70951"/>
                <a:gd name="connsiteY4" fmla="*/ 22822 h 71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51" h="71105">
                  <a:moveTo>
                    <a:pt x="0" y="22822"/>
                  </a:moveTo>
                  <a:cubicBezTo>
                    <a:pt x="7597" y="15256"/>
                    <a:pt x="15472" y="7412"/>
                    <a:pt x="22914" y="0"/>
                  </a:cubicBezTo>
                  <a:cubicBezTo>
                    <a:pt x="38850" y="15951"/>
                    <a:pt x="55094" y="32210"/>
                    <a:pt x="70951" y="48099"/>
                  </a:cubicBezTo>
                  <a:cubicBezTo>
                    <a:pt x="63679" y="55402"/>
                    <a:pt x="55727" y="63385"/>
                    <a:pt x="48037" y="71106"/>
                  </a:cubicBezTo>
                  <a:cubicBezTo>
                    <a:pt x="32256" y="55248"/>
                    <a:pt x="16167" y="39081"/>
                    <a:pt x="0" y="22822"/>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38" name="Freeform: Shape 137">
              <a:extLst>
                <a:ext uri="{FF2B5EF4-FFF2-40B4-BE49-F238E27FC236}">
                  <a16:creationId xmlns:a16="http://schemas.microsoft.com/office/drawing/2014/main" id="{62D734E9-BAD9-980F-F02A-AE5EEA169983}"/>
                </a:ext>
              </a:extLst>
            </p:cNvPr>
            <p:cNvSpPr/>
            <p:nvPr/>
          </p:nvSpPr>
          <p:spPr>
            <a:xfrm>
              <a:off x="-1808676" y="1420450"/>
              <a:ext cx="72109" cy="72094"/>
            </a:xfrm>
            <a:custGeom>
              <a:avLst/>
              <a:gdLst>
                <a:gd name="connsiteX0" fmla="*/ 0 w 72109"/>
                <a:gd name="connsiteY0" fmla="*/ 47358 h 72094"/>
                <a:gd name="connsiteX1" fmla="*/ 45999 w 72109"/>
                <a:gd name="connsiteY1" fmla="*/ 1467 h 72094"/>
                <a:gd name="connsiteX2" fmla="*/ 47744 w 72109"/>
                <a:gd name="connsiteY2" fmla="*/ 0 h 72094"/>
                <a:gd name="connsiteX3" fmla="*/ 72110 w 72109"/>
                <a:gd name="connsiteY3" fmla="*/ 24289 h 72094"/>
                <a:gd name="connsiteX4" fmla="*/ 70210 w 72109"/>
                <a:gd name="connsiteY4" fmla="*/ 26481 h 72094"/>
                <a:gd name="connsiteX5" fmla="*/ 24613 w 72109"/>
                <a:gd name="connsiteY5" fmla="*/ 72094 h 72094"/>
                <a:gd name="connsiteX6" fmla="*/ 0 w 72109"/>
                <a:gd name="connsiteY6" fmla="*/ 47358 h 72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109" h="72094">
                  <a:moveTo>
                    <a:pt x="0" y="47358"/>
                  </a:moveTo>
                  <a:cubicBezTo>
                    <a:pt x="14993" y="32395"/>
                    <a:pt x="30481" y="16923"/>
                    <a:pt x="45999" y="1467"/>
                  </a:cubicBezTo>
                  <a:cubicBezTo>
                    <a:pt x="46663" y="803"/>
                    <a:pt x="47435" y="247"/>
                    <a:pt x="47744" y="0"/>
                  </a:cubicBezTo>
                  <a:cubicBezTo>
                    <a:pt x="55912" y="8137"/>
                    <a:pt x="63879" y="16090"/>
                    <a:pt x="72110" y="24289"/>
                  </a:cubicBezTo>
                  <a:cubicBezTo>
                    <a:pt x="71662" y="24814"/>
                    <a:pt x="70982" y="25694"/>
                    <a:pt x="70210" y="26481"/>
                  </a:cubicBezTo>
                  <a:cubicBezTo>
                    <a:pt x="54877" y="41830"/>
                    <a:pt x="39545" y="57163"/>
                    <a:pt x="24613" y="72094"/>
                  </a:cubicBezTo>
                  <a:cubicBezTo>
                    <a:pt x="16368" y="63818"/>
                    <a:pt x="8431" y="55850"/>
                    <a:pt x="0" y="47358"/>
                  </a:cubicBezTo>
                  <a:close/>
                </a:path>
              </a:pathLst>
            </a:custGeom>
            <a:grpFill/>
            <a:ln w="1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330800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2FE1B2FD-9E11-FF20-C26D-0BD2A715EC5D}"/>
              </a:ext>
            </a:extLst>
          </p:cNvPr>
          <p:cNvSpPr txBox="1"/>
          <p:nvPr/>
        </p:nvSpPr>
        <p:spPr>
          <a:xfrm>
            <a:off x="1053737" y="717451"/>
            <a:ext cx="7800245" cy="246221"/>
          </a:xfrm>
          <a:prstGeom prst="rect">
            <a:avLst/>
          </a:prstGeom>
          <a:noFill/>
        </p:spPr>
        <p:txBody>
          <a:bodyPr wrap="square" lIns="91440" tIns="45720" rIns="91440" bIns="45720" rtlCol="0" anchor="t">
            <a:spAutoFit/>
          </a:bodyPr>
          <a:lstStyle/>
          <a:p>
            <a:r>
              <a:rPr lang="en-US" sz="1000" dirty="0">
                <a:solidFill>
                  <a:srgbClr val="0070C0"/>
                </a:solidFill>
                <a:latin typeface="Arial"/>
                <a:cs typeface="Arial"/>
              </a:rPr>
              <a:t>The following table identifies the resources and their respective roles and responsibilities during the Test phases: </a:t>
            </a:r>
            <a:endParaRPr lang="en-CA" sz="1000" dirty="0">
              <a:solidFill>
                <a:srgbClr val="0070C0"/>
              </a:solidFill>
              <a:highlight>
                <a:srgbClr val="FFFF00"/>
              </a:highlight>
              <a:latin typeface="Arial"/>
              <a:cs typeface="Arial"/>
            </a:endParaRPr>
          </a:p>
        </p:txBody>
      </p:sp>
      <p:graphicFrame>
        <p:nvGraphicFramePr>
          <p:cNvPr id="2" name="Table 1">
            <a:extLst>
              <a:ext uri="{FF2B5EF4-FFF2-40B4-BE49-F238E27FC236}">
                <a16:creationId xmlns:a16="http://schemas.microsoft.com/office/drawing/2014/main" id="{E06C78E8-26CD-A8F5-D136-9724A6210A6D}"/>
              </a:ext>
            </a:extLst>
          </p:cNvPr>
          <p:cNvGraphicFramePr>
            <a:graphicFrameLocks noGrp="1"/>
          </p:cNvGraphicFramePr>
          <p:nvPr>
            <p:extLst>
              <p:ext uri="{D42A27DB-BD31-4B8C-83A1-F6EECF244321}">
                <p14:modId xmlns:p14="http://schemas.microsoft.com/office/powerpoint/2010/main" val="1159740146"/>
              </p:ext>
            </p:extLst>
          </p:nvPr>
        </p:nvGraphicFramePr>
        <p:xfrm>
          <a:off x="934297" y="1180562"/>
          <a:ext cx="9184244" cy="5029818"/>
        </p:xfrm>
        <a:graphic>
          <a:graphicData uri="http://schemas.openxmlformats.org/drawingml/2006/table">
            <a:tbl>
              <a:tblPr firstRow="1" bandRow="1">
                <a:tableStyleId>{69012ECD-51FC-41F1-AA8D-1B2483CD663E}</a:tableStyleId>
              </a:tblPr>
              <a:tblGrid>
                <a:gridCol w="1115632">
                  <a:extLst>
                    <a:ext uri="{9D8B030D-6E8A-4147-A177-3AD203B41FA5}">
                      <a16:colId xmlns:a16="http://schemas.microsoft.com/office/drawing/2014/main" val="885806954"/>
                    </a:ext>
                  </a:extLst>
                </a:gridCol>
                <a:gridCol w="1915731">
                  <a:extLst>
                    <a:ext uri="{9D8B030D-6E8A-4147-A177-3AD203B41FA5}">
                      <a16:colId xmlns:a16="http://schemas.microsoft.com/office/drawing/2014/main" val="3793441920"/>
                    </a:ext>
                  </a:extLst>
                </a:gridCol>
                <a:gridCol w="6152881">
                  <a:extLst>
                    <a:ext uri="{9D8B030D-6E8A-4147-A177-3AD203B41FA5}">
                      <a16:colId xmlns:a16="http://schemas.microsoft.com/office/drawing/2014/main" val="3835851387"/>
                    </a:ext>
                  </a:extLst>
                </a:gridCol>
              </a:tblGrid>
              <a:tr h="270456">
                <a:tc>
                  <a:txBody>
                    <a:bodyPr/>
                    <a:lstStyle/>
                    <a:p>
                      <a:r>
                        <a:rPr lang="en-CA" sz="1200" dirty="0">
                          <a:latin typeface="Arial"/>
                        </a:rPr>
                        <a:t>Resource</a:t>
                      </a:r>
                    </a:p>
                  </a:txBody>
                  <a:tcPr marL="91416" marR="91416" marT="45708" marB="45708"/>
                </a:tc>
                <a:tc>
                  <a:txBody>
                    <a:bodyPr/>
                    <a:lstStyle/>
                    <a:p>
                      <a:r>
                        <a:rPr lang="en-CA" sz="1200" dirty="0">
                          <a:latin typeface="Arial"/>
                        </a:rPr>
                        <a:t>Purpose</a:t>
                      </a:r>
                    </a:p>
                  </a:txBody>
                  <a:tcPr marL="91416" marR="91416" marT="45708" marB="45708"/>
                </a:tc>
                <a:tc>
                  <a:txBody>
                    <a:bodyPr/>
                    <a:lstStyle/>
                    <a:p>
                      <a:r>
                        <a:rPr lang="en-CA" sz="1200" dirty="0">
                          <a:latin typeface="Arial"/>
                        </a:rPr>
                        <a:t>Responsibility</a:t>
                      </a:r>
                    </a:p>
                  </a:txBody>
                  <a:tcPr marL="91416" marR="91416" marT="45708" marB="45708"/>
                </a:tc>
                <a:extLst>
                  <a:ext uri="{0D108BD9-81ED-4DB2-BD59-A6C34878D82A}">
                    <a16:rowId xmlns:a16="http://schemas.microsoft.com/office/drawing/2014/main" val="2685366809"/>
                  </a:ext>
                </a:extLst>
              </a:tr>
              <a:tr h="563450">
                <a:tc>
                  <a:txBody>
                    <a:bodyPr/>
                    <a:lstStyle/>
                    <a:p>
                      <a:pPr algn="ctr"/>
                      <a:r>
                        <a:rPr lang="en-CA" sz="950" b="0" dirty="0">
                          <a:latin typeface="Arial"/>
                        </a:rPr>
                        <a:t>PM Project Manager</a:t>
                      </a:r>
                    </a:p>
                  </a:txBody>
                  <a:tcPr marL="91416" marR="91416" marT="45708" marB="45708" anchor="ctr"/>
                </a:tc>
                <a:tc>
                  <a:txBody>
                    <a:bodyPr/>
                    <a:lstStyle/>
                    <a:p>
                      <a:r>
                        <a:rPr lang="en-US" sz="950" kern="1200" dirty="0">
                          <a:solidFill>
                            <a:schemeClr val="dk1"/>
                          </a:solidFill>
                          <a:effectLst/>
                          <a:latin typeface="Arial"/>
                        </a:rPr>
                        <a:t>Project level escalation, planning and sign-off </a:t>
                      </a:r>
                      <a:endParaRPr lang="en-CA" sz="950">
                        <a:latin typeface="Arial"/>
                      </a:endParaRPr>
                    </a:p>
                  </a:txBody>
                  <a:tcPr marL="91416" marR="91416" marT="45708" marB="45708" anchor="ctr"/>
                </a:tc>
                <a:tc>
                  <a:txBody>
                    <a:bodyPr/>
                    <a:lstStyle/>
                    <a:p>
                      <a:pPr lvl="0"/>
                      <a:r>
                        <a:rPr lang="en-US" sz="950" kern="1200" dirty="0">
                          <a:solidFill>
                            <a:schemeClr val="dk1"/>
                          </a:solidFill>
                          <a:effectLst/>
                          <a:latin typeface="Arial"/>
                        </a:rPr>
                        <a:t>Final approval of all test deliverables</a:t>
                      </a:r>
                      <a:endParaRPr lang="en-CA" sz="950" kern="1200" dirty="0">
                        <a:solidFill>
                          <a:schemeClr val="dk1"/>
                        </a:solidFill>
                        <a:effectLst/>
                        <a:latin typeface="Arial"/>
                      </a:endParaRPr>
                    </a:p>
                    <a:p>
                      <a:pPr lvl="0"/>
                      <a:r>
                        <a:rPr lang="en-US" sz="950" kern="1200" dirty="0">
                          <a:solidFill>
                            <a:schemeClr val="dk1"/>
                          </a:solidFill>
                          <a:effectLst/>
                          <a:latin typeface="Arial"/>
                        </a:rPr>
                        <a:t>Escalation mechanism for Overall</a:t>
                      </a:r>
                      <a:r>
                        <a:rPr lang="en-US" sz="950" kern="1200" baseline="0" dirty="0">
                          <a:solidFill>
                            <a:schemeClr val="dk1"/>
                          </a:solidFill>
                          <a:effectLst/>
                          <a:latin typeface="Arial"/>
                        </a:rPr>
                        <a:t> </a:t>
                      </a:r>
                      <a:r>
                        <a:rPr lang="en-CA" sz="1000" dirty="0"/>
                        <a:t>Play to Win SS Ph1 - Dashboard &amp; Warranty</a:t>
                      </a:r>
                      <a:endParaRPr lang="en-US" sz="950" kern="1200" baseline="0" dirty="0">
                        <a:solidFill>
                          <a:schemeClr val="dk1"/>
                        </a:solidFill>
                        <a:effectLst/>
                        <a:latin typeface="Arial"/>
                      </a:endParaRPr>
                    </a:p>
                    <a:p>
                      <a:pPr lvl="0"/>
                      <a:r>
                        <a:rPr lang="en-US" sz="950" kern="1200" dirty="0">
                          <a:solidFill>
                            <a:schemeClr val="dk1"/>
                          </a:solidFill>
                          <a:effectLst/>
                          <a:latin typeface="Arial"/>
                        </a:rPr>
                        <a:t>Planning prime for budget and schedule</a:t>
                      </a:r>
                      <a:endParaRPr lang="en-CA" sz="950" kern="1200" dirty="0">
                        <a:solidFill>
                          <a:schemeClr val="dk1"/>
                        </a:solidFill>
                        <a:effectLst/>
                        <a:latin typeface="Arial"/>
                        <a:ea typeface="+mn-ea"/>
                        <a:cs typeface="+mn-cs"/>
                      </a:endParaRPr>
                    </a:p>
                  </a:txBody>
                  <a:tcPr marL="91416" marR="91416" marT="45708" marB="45708" anchor="ctr"/>
                </a:tc>
                <a:extLst>
                  <a:ext uri="{0D108BD9-81ED-4DB2-BD59-A6C34878D82A}">
                    <a16:rowId xmlns:a16="http://schemas.microsoft.com/office/drawing/2014/main" val="3610237145"/>
                  </a:ext>
                </a:extLst>
              </a:tr>
              <a:tr h="878983">
                <a:tc>
                  <a:txBody>
                    <a:bodyPr/>
                    <a:lstStyle/>
                    <a:p>
                      <a:pPr algn="ctr"/>
                      <a:r>
                        <a:rPr lang="en-US" sz="950" b="0" kern="1200" dirty="0">
                          <a:solidFill>
                            <a:schemeClr val="dk1"/>
                          </a:solidFill>
                          <a:effectLst/>
                          <a:latin typeface="Arial"/>
                        </a:rPr>
                        <a:t>SIT</a:t>
                      </a:r>
                      <a:r>
                        <a:rPr lang="en-US" sz="950" b="0" kern="1200" baseline="0" dirty="0">
                          <a:solidFill>
                            <a:schemeClr val="dk1"/>
                          </a:solidFill>
                          <a:effectLst/>
                          <a:latin typeface="Arial"/>
                        </a:rPr>
                        <a:t> Lead</a:t>
                      </a:r>
                      <a:endParaRPr lang="en-CA" sz="950" b="0" dirty="0">
                        <a:latin typeface="Arial"/>
                      </a:endParaRPr>
                    </a:p>
                  </a:txBody>
                  <a:tcPr marL="91416" marR="91416" marT="45708" marB="45708" anchor="ctr"/>
                </a:tc>
                <a:tc>
                  <a:txBody>
                    <a:bodyPr/>
                    <a:lstStyle/>
                    <a:p>
                      <a:r>
                        <a:rPr lang="en-US" sz="950" kern="1200" dirty="0">
                          <a:solidFill>
                            <a:schemeClr val="dk1"/>
                          </a:solidFill>
                          <a:effectLst/>
                          <a:latin typeface="Arial"/>
                        </a:rPr>
                        <a:t>Primary contact for all SIT testing activities </a:t>
                      </a:r>
                      <a:endParaRPr lang="en-CA" sz="950">
                        <a:latin typeface="Arial"/>
                      </a:endParaRPr>
                    </a:p>
                  </a:txBody>
                  <a:tcPr marL="91416" marR="91416" marT="45708" marB="4570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50" kern="1200" dirty="0">
                          <a:solidFill>
                            <a:schemeClr val="dk1"/>
                          </a:solidFill>
                          <a:effectLst/>
                          <a:latin typeface="Arial"/>
                        </a:rPr>
                        <a:t>Discuss the SIT scope with the </a:t>
                      </a:r>
                      <a:r>
                        <a:rPr lang="en-CA" sz="1000" dirty="0"/>
                        <a:t>Play to Win SS Ph1 - Dashboard &amp; Warranty</a:t>
                      </a:r>
                      <a:r>
                        <a:rPr lang="en-US" sz="1200" b="1" dirty="0"/>
                        <a:t> </a:t>
                      </a:r>
                      <a:r>
                        <a:rPr lang="en-US" sz="1000" kern="1200" dirty="0">
                          <a:solidFill>
                            <a:schemeClr val="tx1"/>
                          </a:solidFill>
                          <a:latin typeface="+mn-lt"/>
                          <a:ea typeface="+mn-ea"/>
                          <a:cs typeface="+mn-cs"/>
                        </a:rPr>
                        <a:t>team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50" kern="1200" dirty="0">
                          <a:solidFill>
                            <a:schemeClr val="dk1"/>
                          </a:solidFill>
                          <a:effectLst/>
                          <a:latin typeface="Arial"/>
                        </a:rPr>
                        <a:t>Create the test cases in Xray, test data,</a:t>
                      </a:r>
                      <a:r>
                        <a:rPr lang="en-US" sz="950" kern="1200" baseline="0" dirty="0">
                          <a:solidFill>
                            <a:schemeClr val="dk1"/>
                          </a:solidFill>
                          <a:effectLst/>
                          <a:latin typeface="Arial"/>
                        </a:rPr>
                        <a:t> device reservation</a:t>
                      </a:r>
                      <a:endParaRPr lang="en-US" sz="950" kern="1200" dirty="0">
                        <a:solidFill>
                          <a:schemeClr val="dk1"/>
                        </a:solidFill>
                        <a:effectLst/>
                        <a:latin typeface="Arial"/>
                      </a:endParaRPr>
                    </a:p>
                    <a:p>
                      <a:pPr lvl="0"/>
                      <a:r>
                        <a:rPr lang="en-US" sz="950" kern="1200" dirty="0">
                          <a:solidFill>
                            <a:schemeClr val="dk1"/>
                          </a:solidFill>
                          <a:effectLst/>
                          <a:latin typeface="Arial"/>
                        </a:rPr>
                        <a:t>Coordinate SIT</a:t>
                      </a:r>
                      <a:r>
                        <a:rPr lang="en-US" sz="950" kern="1200" baseline="0" dirty="0">
                          <a:solidFill>
                            <a:schemeClr val="dk1"/>
                          </a:solidFill>
                          <a:effectLst/>
                          <a:latin typeface="Arial"/>
                        </a:rPr>
                        <a:t> testing, setup execution calls with SIA Prime and Development team</a:t>
                      </a:r>
                    </a:p>
                    <a:p>
                      <a:pPr lvl="0"/>
                      <a:r>
                        <a:rPr lang="en-US" sz="950" kern="1200" dirty="0">
                          <a:solidFill>
                            <a:schemeClr val="dk1"/>
                          </a:solidFill>
                          <a:effectLst/>
                          <a:latin typeface="Arial"/>
                        </a:rPr>
                        <a:t>Create and manage SIT defects in collaboration with the Development teams</a:t>
                      </a:r>
                      <a:endParaRPr lang="en-CA" sz="950" kern="1200" dirty="0">
                        <a:solidFill>
                          <a:schemeClr val="dk1"/>
                        </a:solidFill>
                        <a:effectLst/>
                        <a:latin typeface="Arial"/>
                      </a:endParaRPr>
                    </a:p>
                    <a:p>
                      <a:pPr lvl="0"/>
                      <a:r>
                        <a:rPr lang="en-US" sz="950" kern="1200" dirty="0">
                          <a:solidFill>
                            <a:schemeClr val="dk1"/>
                          </a:solidFill>
                          <a:effectLst/>
                          <a:latin typeface="Arial"/>
                        </a:rPr>
                        <a:t>Provide SIT status report</a:t>
                      </a:r>
                      <a:endParaRPr lang="en-CA" sz="950" dirty="0">
                        <a:latin typeface="Arial"/>
                      </a:endParaRPr>
                    </a:p>
                  </a:txBody>
                  <a:tcPr marL="91416" marR="91416" marT="45708" marB="45708" anchor="ctr"/>
                </a:tc>
                <a:extLst>
                  <a:ext uri="{0D108BD9-81ED-4DB2-BD59-A6C34878D82A}">
                    <a16:rowId xmlns:a16="http://schemas.microsoft.com/office/drawing/2014/main" val="3680960301"/>
                  </a:ext>
                </a:extLst>
              </a:tr>
              <a:tr h="1239591">
                <a:tc>
                  <a:txBody>
                    <a:bodyPr/>
                    <a:lstStyle/>
                    <a:p>
                      <a:pPr algn="ctr">
                        <a:spcAft>
                          <a:spcPts val="0"/>
                        </a:spcAft>
                      </a:pPr>
                      <a:r>
                        <a:rPr lang="en-US" sz="950" b="1" dirty="0">
                          <a:effectLst/>
                          <a:latin typeface="Arial"/>
                        </a:rPr>
                        <a:t> </a:t>
                      </a:r>
                      <a:r>
                        <a:rPr lang="en-US" sz="950" b="0" dirty="0">
                          <a:effectLst/>
                          <a:latin typeface="Arial"/>
                        </a:rPr>
                        <a:t>E2E Lead</a:t>
                      </a:r>
                      <a:endParaRPr lang="en-CA" sz="950" b="0" dirty="0">
                        <a:effectLst/>
                        <a:latin typeface="Arial"/>
                        <a:ea typeface="Times New Roman" panose="02020603050405020304" pitchFamily="18" charset="0"/>
                      </a:endParaRPr>
                    </a:p>
                  </a:txBody>
                  <a:tcPr marL="59040" marR="59040" marT="0" marB="0" anchor="ctr"/>
                </a:tc>
                <a:tc>
                  <a:txBody>
                    <a:bodyPr/>
                    <a:lstStyle/>
                    <a:p>
                      <a:pPr>
                        <a:spcAft>
                          <a:spcPts val="0"/>
                        </a:spcAft>
                      </a:pPr>
                      <a:r>
                        <a:rPr lang="en-US" sz="950" dirty="0">
                          <a:effectLst/>
                          <a:latin typeface="Arial"/>
                        </a:rPr>
                        <a:t>Primary contact for all E2E testing activities </a:t>
                      </a:r>
                      <a:endParaRPr lang="en-CA" sz="950" dirty="0">
                        <a:effectLst/>
                        <a:latin typeface="Arial"/>
                        <a:ea typeface="Times New Roman" panose="02020603050405020304" pitchFamily="18" charset="0"/>
                      </a:endParaRPr>
                    </a:p>
                  </a:txBody>
                  <a:tcPr marL="59040" marR="59040" marT="0" marB="0" anchor="ctr"/>
                </a:tc>
                <a:tc>
                  <a:txBody>
                    <a:bodyPr/>
                    <a:lstStyle/>
                    <a:p>
                      <a:pPr marL="0" lvl="0" indent="0">
                        <a:spcAft>
                          <a:spcPts val="0"/>
                        </a:spcAft>
                        <a:buFont typeface="Times New Roman" panose="02020603050405020304" pitchFamily="18" charset="0"/>
                        <a:buNone/>
                        <a:tabLst>
                          <a:tab pos="228600" algn="l"/>
                        </a:tabLst>
                      </a:pPr>
                      <a:r>
                        <a:rPr lang="en-US" sz="950" dirty="0">
                          <a:effectLst/>
                          <a:latin typeface="Arial"/>
                        </a:rPr>
                        <a:t>Responsible for test delivery overall, E2E and Regression Testing</a:t>
                      </a:r>
                      <a:endParaRPr lang="en-CA" sz="950" dirty="0">
                        <a:effectLst/>
                        <a:latin typeface="Arial"/>
                      </a:endParaRPr>
                    </a:p>
                    <a:p>
                      <a:pPr marL="0" lvl="0" indent="0">
                        <a:spcAft>
                          <a:spcPts val="0"/>
                        </a:spcAft>
                        <a:buFont typeface="Times New Roman" panose="02020603050405020304" pitchFamily="18" charset="0"/>
                        <a:buNone/>
                        <a:tabLst>
                          <a:tab pos="228600" algn="l"/>
                        </a:tabLst>
                      </a:pPr>
                      <a:r>
                        <a:rPr lang="en-US" sz="950" dirty="0">
                          <a:effectLst/>
                          <a:latin typeface="Arial"/>
                        </a:rPr>
                        <a:t>Develop and implement E2E Test Strategy/ Test Plan </a:t>
                      </a:r>
                    </a:p>
                    <a:p>
                      <a:pPr marL="0" marR="0" lvl="0" indent="0" algn="l" defTabSz="914400" rtl="0" eaLnBrk="1" fontAlgn="auto" latinLnBrk="0" hangingPunct="1">
                        <a:lnSpc>
                          <a:spcPct val="100000"/>
                        </a:lnSpc>
                        <a:spcBef>
                          <a:spcPts val="0"/>
                        </a:spcBef>
                        <a:spcAft>
                          <a:spcPts val="0"/>
                        </a:spcAft>
                        <a:buClrTx/>
                        <a:buSzTx/>
                        <a:buFont typeface="Times New Roman" panose="02020603050405020304" pitchFamily="18" charset="0"/>
                        <a:buNone/>
                        <a:tabLst>
                          <a:tab pos="228600" algn="l"/>
                        </a:tabLst>
                        <a:defRPr/>
                      </a:pPr>
                      <a:r>
                        <a:rPr lang="en-US" sz="950" kern="1200" dirty="0">
                          <a:solidFill>
                            <a:schemeClr val="dk1"/>
                          </a:solidFill>
                          <a:effectLst/>
                          <a:latin typeface="Arial"/>
                        </a:rPr>
                        <a:t>Create the test cases in Jira, test data,</a:t>
                      </a:r>
                      <a:r>
                        <a:rPr lang="en-US" sz="950" kern="1200" baseline="0" dirty="0">
                          <a:solidFill>
                            <a:schemeClr val="dk1"/>
                          </a:solidFill>
                          <a:effectLst/>
                          <a:latin typeface="Arial"/>
                        </a:rPr>
                        <a:t> device reservation</a:t>
                      </a:r>
                      <a:endParaRPr lang="en-US" sz="950" kern="1200" dirty="0">
                        <a:solidFill>
                          <a:schemeClr val="dk1"/>
                        </a:solidFill>
                        <a:effectLst/>
                        <a:latin typeface="Arial"/>
                      </a:endParaRPr>
                    </a:p>
                    <a:p>
                      <a:pPr marL="0" lvl="0" indent="0">
                        <a:spcAft>
                          <a:spcPts val="0"/>
                        </a:spcAft>
                        <a:buFont typeface="Times New Roman" panose="02020603050405020304" pitchFamily="18" charset="0"/>
                        <a:buNone/>
                        <a:tabLst>
                          <a:tab pos="228600" algn="l"/>
                        </a:tabLst>
                      </a:pPr>
                      <a:r>
                        <a:rPr lang="en-CA" sz="950" dirty="0">
                          <a:effectLst/>
                          <a:latin typeface="Arial"/>
                        </a:rPr>
                        <a:t>Coordinate</a:t>
                      </a:r>
                      <a:r>
                        <a:rPr lang="en-CA" sz="950" baseline="0" dirty="0">
                          <a:effectLst/>
                          <a:latin typeface="Arial"/>
                        </a:rPr>
                        <a:t> testing, setup E2E execution calls</a:t>
                      </a:r>
                    </a:p>
                    <a:p>
                      <a:pPr marL="0" lvl="0" indent="0">
                        <a:spcAft>
                          <a:spcPts val="0"/>
                        </a:spcAft>
                        <a:buFont typeface="Times New Roman" panose="02020603050405020304" pitchFamily="18" charset="0"/>
                        <a:buNone/>
                        <a:tabLst>
                          <a:tab pos="457200" algn="l"/>
                          <a:tab pos="228600" algn="l"/>
                        </a:tabLst>
                      </a:pPr>
                      <a:r>
                        <a:rPr lang="en-CA" sz="950" baseline="0" dirty="0">
                          <a:effectLst/>
                          <a:latin typeface="Arial"/>
                        </a:rPr>
                        <a:t>Work with E2E Scrum Team on day-to-day activities</a:t>
                      </a:r>
                      <a:endParaRPr lang="en-CA" sz="950" dirty="0">
                        <a:effectLst/>
                        <a:latin typeface="Arial"/>
                      </a:endParaRPr>
                    </a:p>
                    <a:p>
                      <a:pPr marL="0" lvl="0" indent="0">
                        <a:spcAft>
                          <a:spcPts val="0"/>
                        </a:spcAft>
                        <a:buFont typeface="Times New Roman" panose="02020603050405020304" pitchFamily="18" charset="0"/>
                        <a:buNone/>
                        <a:tabLst>
                          <a:tab pos="228600" algn="l"/>
                        </a:tabLst>
                      </a:pPr>
                      <a:r>
                        <a:rPr lang="en-US" sz="950" dirty="0">
                          <a:effectLst/>
                          <a:latin typeface="Arial"/>
                        </a:rPr>
                        <a:t>Manage test execution against planned timeline</a:t>
                      </a:r>
                      <a:endParaRPr lang="en-CA" sz="950" dirty="0">
                        <a:effectLst/>
                        <a:latin typeface="Arial"/>
                      </a:endParaRPr>
                    </a:p>
                    <a:p>
                      <a:pPr marL="0" lvl="0" indent="0">
                        <a:spcAft>
                          <a:spcPts val="0"/>
                        </a:spcAft>
                        <a:buFont typeface="Times New Roman" panose="02020603050405020304" pitchFamily="18" charset="0"/>
                        <a:buNone/>
                        <a:tabLst>
                          <a:tab pos="228600" algn="l"/>
                        </a:tabLst>
                      </a:pPr>
                      <a:r>
                        <a:rPr lang="en-US" sz="950" dirty="0">
                          <a:effectLst/>
                          <a:latin typeface="Arial"/>
                        </a:rPr>
                        <a:t>Provide E2E/Regression status report</a:t>
                      </a:r>
                      <a:endParaRPr lang="en-CA" sz="950" dirty="0">
                        <a:effectLst/>
                        <a:latin typeface="Arial"/>
                        <a:ea typeface="Times New Roman" panose="02020603050405020304" pitchFamily="18" charset="0"/>
                      </a:endParaRPr>
                    </a:p>
                  </a:txBody>
                  <a:tcPr marL="59040" marR="59040" marT="0" marB="0" anchor="ctr"/>
                </a:tc>
                <a:extLst>
                  <a:ext uri="{0D108BD9-81ED-4DB2-BD59-A6C34878D82A}">
                    <a16:rowId xmlns:a16="http://schemas.microsoft.com/office/drawing/2014/main" val="2047162862"/>
                  </a:ext>
                </a:extLst>
              </a:tr>
              <a:tr h="890252">
                <a:tc>
                  <a:txBody>
                    <a:bodyPr/>
                    <a:lstStyle/>
                    <a:p>
                      <a:pPr algn="ctr">
                        <a:spcAft>
                          <a:spcPts val="0"/>
                        </a:spcAft>
                      </a:pPr>
                      <a:r>
                        <a:rPr lang="en-CA" sz="950" dirty="0">
                          <a:effectLst/>
                          <a:latin typeface="Arial"/>
                        </a:rPr>
                        <a:t>UAT Lead</a:t>
                      </a:r>
                      <a:endParaRPr lang="en-CA" sz="950" dirty="0">
                        <a:effectLst/>
                        <a:latin typeface="Arial"/>
                        <a:ea typeface="Times New Roman" panose="02020603050405020304" pitchFamily="18" charset="0"/>
                      </a:endParaRPr>
                    </a:p>
                  </a:txBody>
                  <a:tcPr marL="59040" marR="59040" marT="0" marB="0" anchor="ctr"/>
                </a:tc>
                <a:tc>
                  <a:txBody>
                    <a:bodyPr/>
                    <a:lstStyle/>
                    <a:p>
                      <a:r>
                        <a:rPr lang="en-US" sz="950" kern="1200" dirty="0">
                          <a:solidFill>
                            <a:schemeClr val="dk1"/>
                          </a:solidFill>
                          <a:effectLst/>
                          <a:latin typeface="Arial"/>
                        </a:rPr>
                        <a:t>Primary contact for all UAT</a:t>
                      </a:r>
                      <a:r>
                        <a:rPr lang="en-US" sz="950" kern="1200" baseline="0" dirty="0">
                          <a:solidFill>
                            <a:schemeClr val="dk1"/>
                          </a:solidFill>
                          <a:effectLst/>
                          <a:latin typeface="Arial"/>
                        </a:rPr>
                        <a:t> </a:t>
                      </a:r>
                      <a:r>
                        <a:rPr lang="en-US" sz="950" kern="1200" dirty="0">
                          <a:solidFill>
                            <a:schemeClr val="dk1"/>
                          </a:solidFill>
                          <a:effectLst/>
                          <a:latin typeface="Arial"/>
                        </a:rPr>
                        <a:t>testing activities </a:t>
                      </a:r>
                      <a:endParaRPr lang="en-CA" sz="950" dirty="0">
                        <a:latin typeface="Arial"/>
                      </a:endParaRPr>
                    </a:p>
                  </a:txBody>
                  <a:tcPr marL="59040" marR="59040" marT="0" marB="0" anchor="ctr"/>
                </a:tc>
                <a:tc>
                  <a:txBody>
                    <a:bodyPr/>
                    <a:lstStyle/>
                    <a:p>
                      <a:pPr marL="0" marR="0" lvl="0" indent="0" algn="l" defTabSz="914400" rtl="0" eaLnBrk="1" fontAlgn="auto" latinLnBrk="0" hangingPunct="1">
                        <a:lnSpc>
                          <a:spcPct val="100000"/>
                        </a:lnSpc>
                        <a:spcBef>
                          <a:spcPts val="0"/>
                        </a:spcBef>
                        <a:spcAft>
                          <a:spcPts val="0"/>
                        </a:spcAft>
                        <a:buClrTx/>
                        <a:buSzTx/>
                        <a:buFont typeface="Times New Roman" panose="02020603050405020304" pitchFamily="18" charset="0"/>
                        <a:buNone/>
                        <a:tabLst>
                          <a:tab pos="457200" algn="l"/>
                          <a:tab pos="228600" algn="l"/>
                        </a:tabLst>
                        <a:defRPr/>
                      </a:pPr>
                      <a:r>
                        <a:rPr lang="en-US" sz="950" dirty="0">
                          <a:effectLst/>
                          <a:latin typeface="Arial"/>
                        </a:rPr>
                        <a:t>Develop and implement UAT Test Plan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50" kern="1200" dirty="0">
                          <a:solidFill>
                            <a:schemeClr val="dk1"/>
                          </a:solidFill>
                          <a:effectLst/>
                          <a:latin typeface="Arial"/>
                        </a:rPr>
                        <a:t>Create the test cases in Jira, test data,</a:t>
                      </a:r>
                      <a:r>
                        <a:rPr lang="en-US" sz="950" kern="1200" baseline="0" dirty="0">
                          <a:solidFill>
                            <a:schemeClr val="dk1"/>
                          </a:solidFill>
                          <a:effectLst/>
                          <a:latin typeface="Arial"/>
                        </a:rPr>
                        <a:t> device reservation</a:t>
                      </a:r>
                      <a:endParaRPr lang="en-US" sz="950" kern="1200" dirty="0">
                        <a:solidFill>
                          <a:schemeClr val="dk1"/>
                        </a:solidFill>
                        <a:effectLst/>
                        <a:latin typeface="Arial"/>
                      </a:endParaRPr>
                    </a:p>
                    <a:p>
                      <a:pPr marL="0" lvl="0" indent="0">
                        <a:spcAft>
                          <a:spcPts val="0"/>
                        </a:spcAft>
                        <a:buFont typeface="Times New Roman" panose="02020603050405020304" pitchFamily="18" charset="0"/>
                        <a:buNone/>
                        <a:tabLst>
                          <a:tab pos="457200" algn="l"/>
                          <a:tab pos="228600" algn="l"/>
                        </a:tabLst>
                      </a:pPr>
                      <a:r>
                        <a:rPr lang="en-CA" sz="950" dirty="0">
                          <a:effectLst/>
                          <a:latin typeface="Arial"/>
                        </a:rPr>
                        <a:t>Coordinate</a:t>
                      </a:r>
                      <a:r>
                        <a:rPr lang="en-CA" sz="950" baseline="0" dirty="0">
                          <a:effectLst/>
                          <a:latin typeface="Arial"/>
                        </a:rPr>
                        <a:t> UAT testing, setup UAT execution calls with UAT team</a:t>
                      </a:r>
                    </a:p>
                    <a:p>
                      <a:pPr marL="0" lvl="0" indent="0">
                        <a:spcAft>
                          <a:spcPts val="0"/>
                        </a:spcAft>
                        <a:buFont typeface="Times New Roman" panose="02020603050405020304" pitchFamily="18" charset="0"/>
                        <a:buNone/>
                        <a:tabLst>
                          <a:tab pos="457200" algn="l"/>
                          <a:tab pos="228600" algn="l"/>
                        </a:tabLst>
                      </a:pPr>
                      <a:r>
                        <a:rPr lang="en-CA" sz="950" baseline="0" dirty="0">
                          <a:effectLst/>
                          <a:latin typeface="Arial"/>
                        </a:rPr>
                        <a:t>Manage test execution </a:t>
                      </a:r>
                    </a:p>
                    <a:p>
                      <a:pPr marL="0" lvl="0" indent="0">
                        <a:spcAft>
                          <a:spcPts val="0"/>
                        </a:spcAft>
                        <a:buFont typeface="Times New Roman" panose="02020603050405020304" pitchFamily="18" charset="0"/>
                        <a:buNone/>
                        <a:tabLst>
                          <a:tab pos="457200" algn="l"/>
                          <a:tab pos="228600" algn="l"/>
                        </a:tabLst>
                      </a:pPr>
                      <a:r>
                        <a:rPr lang="en-CA" sz="950" baseline="0" dirty="0">
                          <a:effectLst/>
                          <a:latin typeface="Arial"/>
                        </a:rPr>
                        <a:t>Provide UAT report</a:t>
                      </a:r>
                      <a:endParaRPr lang="en-CA" sz="950" dirty="0">
                        <a:effectLst/>
                        <a:latin typeface="Arial"/>
                        <a:ea typeface="Times New Roman" panose="02020603050405020304" pitchFamily="18" charset="0"/>
                      </a:endParaRPr>
                    </a:p>
                  </a:txBody>
                  <a:tcPr marL="59040" marR="59040" marT="0" marB="0" anchor="ctr"/>
                </a:tc>
                <a:extLst>
                  <a:ext uri="{0D108BD9-81ED-4DB2-BD59-A6C34878D82A}">
                    <a16:rowId xmlns:a16="http://schemas.microsoft.com/office/drawing/2014/main" val="3262439077"/>
                  </a:ext>
                </a:extLst>
              </a:tr>
              <a:tr h="1183246">
                <a:tc>
                  <a:txBody>
                    <a:bodyPr/>
                    <a:lstStyle/>
                    <a:p>
                      <a:pPr algn="ctr">
                        <a:spcAft>
                          <a:spcPts val="0"/>
                        </a:spcAft>
                      </a:pPr>
                      <a:r>
                        <a:rPr lang="en-CA" sz="950" b="0" dirty="0">
                          <a:effectLst/>
                          <a:latin typeface="Arial"/>
                        </a:rPr>
                        <a:t>E2E</a:t>
                      </a:r>
                      <a:r>
                        <a:rPr lang="en-CA" sz="950" b="0" baseline="0" dirty="0">
                          <a:effectLst/>
                          <a:latin typeface="Arial"/>
                        </a:rPr>
                        <a:t> QA/ Testers</a:t>
                      </a:r>
                      <a:endParaRPr lang="en-CA" sz="950" b="0" dirty="0">
                        <a:effectLst/>
                        <a:latin typeface="Arial"/>
                      </a:endParaRPr>
                    </a:p>
                    <a:p>
                      <a:pPr algn="ctr">
                        <a:spcAft>
                          <a:spcPts val="0"/>
                        </a:spcAft>
                      </a:pPr>
                      <a:endParaRPr lang="en-CA" sz="950" dirty="0">
                        <a:effectLst/>
                        <a:latin typeface="Arial"/>
                      </a:endParaRPr>
                    </a:p>
                    <a:p>
                      <a:pPr algn="ctr">
                        <a:spcAft>
                          <a:spcPts val="0"/>
                        </a:spcAft>
                      </a:pPr>
                      <a:endParaRPr lang="en-CA" sz="950" dirty="0">
                        <a:effectLst/>
                        <a:latin typeface="Arial"/>
                      </a:endParaRPr>
                    </a:p>
                    <a:p>
                      <a:pPr algn="ctr">
                        <a:spcAft>
                          <a:spcPts val="0"/>
                        </a:spcAft>
                      </a:pPr>
                      <a:endParaRPr lang="en-CA" sz="950" dirty="0">
                        <a:effectLst/>
                        <a:latin typeface="Arial"/>
                        <a:ea typeface="Times New Roman" panose="02020603050405020304" pitchFamily="18" charset="0"/>
                      </a:endParaRPr>
                    </a:p>
                  </a:txBody>
                  <a:tcPr marL="59040" marR="59040" marT="0" marB="0" anchor="ctr"/>
                </a:tc>
                <a:tc>
                  <a:txBody>
                    <a:bodyPr/>
                    <a:lstStyle/>
                    <a:p>
                      <a:pPr>
                        <a:spcAft>
                          <a:spcPts val="0"/>
                        </a:spcAft>
                      </a:pPr>
                      <a:endParaRPr lang="en-US" sz="950" dirty="0">
                        <a:effectLst/>
                        <a:latin typeface="Arial"/>
                      </a:endParaRPr>
                    </a:p>
                    <a:p>
                      <a:pPr lvl="0">
                        <a:spcAft>
                          <a:spcPts val="0"/>
                        </a:spcAft>
                        <a:buNone/>
                      </a:pPr>
                      <a:r>
                        <a:rPr lang="en-US" sz="950" dirty="0">
                          <a:effectLst/>
                          <a:latin typeface="Arial"/>
                        </a:rPr>
                        <a:t>Primary members of the E2E/Regression team dedicated to  functional testing domain</a:t>
                      </a:r>
                      <a:endParaRPr lang="en-CA" sz="950" dirty="0">
                        <a:effectLst/>
                        <a:latin typeface="Arial"/>
                      </a:endParaRPr>
                    </a:p>
                    <a:p>
                      <a:pPr>
                        <a:spcAft>
                          <a:spcPts val="0"/>
                        </a:spcAft>
                      </a:pPr>
                      <a:endParaRPr lang="en-CA" sz="950" dirty="0">
                        <a:effectLst/>
                        <a:latin typeface="Arial"/>
                      </a:endParaRPr>
                    </a:p>
                    <a:p>
                      <a:pPr>
                        <a:spcAft>
                          <a:spcPts val="0"/>
                        </a:spcAft>
                      </a:pPr>
                      <a:endParaRPr lang="en-CA" sz="950" dirty="0">
                        <a:effectLst/>
                        <a:latin typeface="Arial"/>
                      </a:endParaRPr>
                    </a:p>
                    <a:p>
                      <a:pPr>
                        <a:spcAft>
                          <a:spcPts val="0"/>
                        </a:spcAft>
                      </a:pPr>
                      <a:endParaRPr lang="en-CA" sz="950" dirty="0">
                        <a:effectLst/>
                        <a:latin typeface="Arial"/>
                      </a:endParaRPr>
                    </a:p>
                    <a:p>
                      <a:pPr>
                        <a:spcAft>
                          <a:spcPts val="0"/>
                        </a:spcAft>
                      </a:pPr>
                      <a:endParaRPr lang="en-CA" sz="950" dirty="0">
                        <a:effectLst/>
                        <a:latin typeface="Arial"/>
                        <a:ea typeface="Times New Roman" panose="02020603050405020304" pitchFamily="18" charset="0"/>
                      </a:endParaRPr>
                    </a:p>
                  </a:txBody>
                  <a:tcPr marL="59040" marR="59040" marT="0" marB="0" anchor="ctr"/>
                </a:tc>
                <a:tc>
                  <a:txBody>
                    <a:bodyPr/>
                    <a:lstStyle/>
                    <a:p>
                      <a:pPr marL="0" lvl="0" indent="0">
                        <a:spcAft>
                          <a:spcPts val="0"/>
                        </a:spcAft>
                        <a:buFont typeface="Times New Roman" panose="02020603050405020304" pitchFamily="18" charset="0"/>
                        <a:buNone/>
                      </a:pPr>
                      <a:endParaRPr lang="en-US" sz="950" dirty="0">
                        <a:effectLst/>
                        <a:latin typeface="Arial"/>
                      </a:endParaRPr>
                    </a:p>
                    <a:p>
                      <a:pPr marL="0" lvl="0" indent="0">
                        <a:spcAft>
                          <a:spcPts val="0"/>
                        </a:spcAft>
                        <a:buFont typeface="Times New Roman" panose="02020603050405020304" pitchFamily="18" charset="0"/>
                        <a:buNone/>
                        <a:tabLst>
                          <a:tab pos="228600" algn="l"/>
                        </a:tabLst>
                      </a:pPr>
                      <a:r>
                        <a:rPr lang="en-US" sz="950" dirty="0">
                          <a:effectLst/>
                          <a:latin typeface="Arial"/>
                        </a:rPr>
                        <a:t>Analyze acceptance criteria and develop test scenarios &amp; test conditions for E2E, Regression, UAT, and</a:t>
                      </a:r>
                      <a:r>
                        <a:rPr lang="en-US" sz="950" baseline="0" dirty="0">
                          <a:effectLst/>
                          <a:latin typeface="Arial"/>
                        </a:rPr>
                        <a:t> DVT</a:t>
                      </a:r>
                      <a:endParaRPr lang="en-CA" sz="950" dirty="0">
                        <a:effectLst/>
                        <a:latin typeface="Arial"/>
                      </a:endParaRPr>
                    </a:p>
                    <a:p>
                      <a:pPr marL="0" lvl="0" indent="0">
                        <a:spcAft>
                          <a:spcPts val="0"/>
                        </a:spcAft>
                        <a:buFont typeface="Times New Roman" panose="02020603050405020304" pitchFamily="18" charset="0"/>
                        <a:buNone/>
                        <a:tabLst>
                          <a:tab pos="228600" algn="l"/>
                        </a:tabLst>
                      </a:pPr>
                      <a:r>
                        <a:rPr lang="en-US" sz="950" dirty="0">
                          <a:effectLst/>
                          <a:latin typeface="Arial"/>
                        </a:rPr>
                        <a:t>Execute test conditions and scenarios as per Test Plan and Scrum Master directions for E2E, Regression, DVT </a:t>
                      </a:r>
                    </a:p>
                    <a:p>
                      <a:pPr marL="0" lvl="0" indent="0">
                        <a:spcAft>
                          <a:spcPts val="0"/>
                        </a:spcAft>
                        <a:buFont typeface="Times New Roman" panose="02020603050405020304" pitchFamily="18" charset="0"/>
                        <a:buNone/>
                        <a:tabLst>
                          <a:tab pos="228600" algn="l"/>
                        </a:tabLst>
                      </a:pPr>
                      <a:r>
                        <a:rPr lang="en-US" sz="950" dirty="0">
                          <a:effectLst/>
                          <a:latin typeface="Arial"/>
                        </a:rPr>
                        <a:t>Document test results </a:t>
                      </a:r>
                    </a:p>
                    <a:p>
                      <a:pPr marL="0" lvl="0" indent="0">
                        <a:spcAft>
                          <a:spcPts val="0"/>
                        </a:spcAft>
                        <a:buFont typeface="Times New Roman" panose="02020603050405020304" pitchFamily="18" charset="0"/>
                        <a:buNone/>
                        <a:tabLst>
                          <a:tab pos="228600" algn="l"/>
                        </a:tabLst>
                      </a:pPr>
                      <a:r>
                        <a:rPr lang="en-US" sz="950" dirty="0">
                          <a:effectLst/>
                          <a:latin typeface="Arial"/>
                        </a:rPr>
                        <a:t>Log defects in JIRA for failed test conditions and re-test as these defects are fixed</a:t>
                      </a:r>
                      <a:endParaRPr lang="en-CA" sz="950" dirty="0">
                        <a:effectLst/>
                        <a:latin typeface="Arial"/>
                      </a:endParaRPr>
                    </a:p>
                    <a:p>
                      <a:pPr marL="0" lvl="0" indent="0">
                        <a:spcAft>
                          <a:spcPts val="0"/>
                        </a:spcAft>
                        <a:buFont typeface="Times New Roman" panose="02020603050405020304" pitchFamily="18" charset="0"/>
                        <a:buNone/>
                        <a:tabLst>
                          <a:tab pos="457200" algn="l"/>
                          <a:tab pos="228600" algn="l"/>
                        </a:tabLst>
                      </a:pPr>
                      <a:r>
                        <a:rPr lang="en-CA" sz="950" dirty="0">
                          <a:effectLst/>
                          <a:latin typeface="Arial"/>
                        </a:rPr>
                        <a:t>Support UAT execution</a:t>
                      </a:r>
                    </a:p>
                    <a:p>
                      <a:pPr marL="0" lvl="0" indent="0">
                        <a:spcAft>
                          <a:spcPts val="0"/>
                        </a:spcAft>
                        <a:buFont typeface="Times New Roman" panose="02020603050405020304" pitchFamily="18" charset="0"/>
                        <a:buNone/>
                        <a:tabLst>
                          <a:tab pos="457200" algn="l"/>
                          <a:tab pos="228600" algn="l"/>
                        </a:tabLst>
                      </a:pPr>
                      <a:r>
                        <a:rPr lang="en-CA" sz="950" dirty="0">
                          <a:effectLst/>
                          <a:latin typeface="Arial"/>
                        </a:rPr>
                        <a:t>Report progress to E2E Lead</a:t>
                      </a:r>
                      <a:endParaRPr lang="en-CA" sz="950" dirty="0">
                        <a:effectLst/>
                        <a:latin typeface="Arial"/>
                        <a:ea typeface="Times New Roman" panose="02020603050405020304" pitchFamily="18" charset="0"/>
                      </a:endParaRPr>
                    </a:p>
                  </a:txBody>
                  <a:tcPr marL="59040" marR="59040" marT="0" marB="0"/>
                </a:tc>
                <a:extLst>
                  <a:ext uri="{0D108BD9-81ED-4DB2-BD59-A6C34878D82A}">
                    <a16:rowId xmlns:a16="http://schemas.microsoft.com/office/drawing/2014/main" val="3400134383"/>
                  </a:ext>
                </a:extLst>
              </a:tr>
            </a:tbl>
          </a:graphicData>
        </a:graphic>
      </p:graphicFrame>
      <p:grpSp>
        <p:nvGrpSpPr>
          <p:cNvPr id="10" name="Group 9">
            <a:extLst>
              <a:ext uri="{FF2B5EF4-FFF2-40B4-BE49-F238E27FC236}">
                <a16:creationId xmlns:a16="http://schemas.microsoft.com/office/drawing/2014/main" id="{D944A9D1-7528-563E-51A7-2451BDAECF97}"/>
              </a:ext>
            </a:extLst>
          </p:cNvPr>
          <p:cNvGrpSpPr/>
          <p:nvPr/>
        </p:nvGrpSpPr>
        <p:grpSpPr>
          <a:xfrm>
            <a:off x="1" y="9925"/>
            <a:ext cx="909836" cy="934467"/>
            <a:chOff x="1" y="0"/>
            <a:chExt cx="909836" cy="934467"/>
          </a:xfrm>
        </p:grpSpPr>
        <p:sp>
          <p:nvSpPr>
            <p:cNvPr id="6" name="Rectangle 5">
              <a:extLst>
                <a:ext uri="{FF2B5EF4-FFF2-40B4-BE49-F238E27FC236}">
                  <a16:creationId xmlns:a16="http://schemas.microsoft.com/office/drawing/2014/main" id="{76EAE84B-2394-5D93-DE01-46A4085A220E}"/>
                </a:ext>
              </a:extLst>
            </p:cNvPr>
            <p:cNvSpPr/>
            <p:nvPr/>
          </p:nvSpPr>
          <p:spPr>
            <a:xfrm>
              <a:off x="1" y="0"/>
              <a:ext cx="303279" cy="609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7" name="Rectangle 6">
              <a:extLst>
                <a:ext uri="{FF2B5EF4-FFF2-40B4-BE49-F238E27FC236}">
                  <a16:creationId xmlns:a16="http://schemas.microsoft.com/office/drawing/2014/main" id="{9E381377-D24F-32F3-14EA-B70D143BBDEF}"/>
                </a:ext>
              </a:extLst>
            </p:cNvPr>
            <p:cNvSpPr/>
            <p:nvPr/>
          </p:nvSpPr>
          <p:spPr>
            <a:xfrm rot="5400000">
              <a:off x="289785" y="15111"/>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8" name="Rectangle 7">
              <a:extLst>
                <a:ext uri="{FF2B5EF4-FFF2-40B4-BE49-F238E27FC236}">
                  <a16:creationId xmlns:a16="http://schemas.microsoft.com/office/drawing/2014/main" id="{54174DA6-DA9E-5D0B-4FE3-7D26AB0DD3B5}"/>
                </a:ext>
              </a:extLst>
            </p:cNvPr>
            <p:cNvSpPr/>
            <p:nvPr/>
          </p:nvSpPr>
          <p:spPr>
            <a:xfrm flipH="1" flipV="1">
              <a:off x="606558" y="314646"/>
              <a:ext cx="303279" cy="6097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sp>
          <p:nvSpPr>
            <p:cNvPr id="9" name="Rectangle 8">
              <a:extLst>
                <a:ext uri="{FF2B5EF4-FFF2-40B4-BE49-F238E27FC236}">
                  <a16:creationId xmlns:a16="http://schemas.microsoft.com/office/drawing/2014/main" id="{521E6C73-6B17-6959-F271-E6070383568E}"/>
                </a:ext>
              </a:extLst>
            </p:cNvPr>
            <p:cNvSpPr/>
            <p:nvPr/>
          </p:nvSpPr>
          <p:spPr>
            <a:xfrm rot="5400000" flipH="1" flipV="1">
              <a:off x="316817" y="621283"/>
              <a:ext cx="323088" cy="3032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u="sng"/>
            </a:p>
          </p:txBody>
        </p:sp>
      </p:grpSp>
      <p:grpSp>
        <p:nvGrpSpPr>
          <p:cNvPr id="19" name="Group 18">
            <a:extLst>
              <a:ext uri="{FF2B5EF4-FFF2-40B4-BE49-F238E27FC236}">
                <a16:creationId xmlns:a16="http://schemas.microsoft.com/office/drawing/2014/main" id="{955647A8-06D0-E650-F50C-EBD0F3C8AED7}"/>
              </a:ext>
            </a:extLst>
          </p:cNvPr>
          <p:cNvGrpSpPr/>
          <p:nvPr/>
        </p:nvGrpSpPr>
        <p:grpSpPr>
          <a:xfrm>
            <a:off x="10342891" y="4962097"/>
            <a:ext cx="1845934" cy="1895903"/>
            <a:chOff x="0" y="0"/>
            <a:chExt cx="3161556" cy="3048050"/>
          </a:xfrm>
        </p:grpSpPr>
        <p:grpSp>
          <p:nvGrpSpPr>
            <p:cNvPr id="12" name="Group 11">
              <a:extLst>
                <a:ext uri="{FF2B5EF4-FFF2-40B4-BE49-F238E27FC236}">
                  <a16:creationId xmlns:a16="http://schemas.microsoft.com/office/drawing/2014/main" id="{1DAE34B4-4AAE-7DA4-0E42-8A8DB003493B}"/>
                </a:ext>
              </a:extLst>
            </p:cNvPr>
            <p:cNvGrpSpPr/>
            <p:nvPr/>
          </p:nvGrpSpPr>
          <p:grpSpPr>
            <a:xfrm>
              <a:off x="0" y="0"/>
              <a:ext cx="2090423" cy="2241545"/>
              <a:chOff x="0" y="0"/>
              <a:chExt cx="2090423" cy="2241545"/>
            </a:xfrm>
          </p:grpSpPr>
          <p:sp>
            <p:nvSpPr>
              <p:cNvPr id="17" name="Rectangle 16">
                <a:extLst>
                  <a:ext uri="{FF2B5EF4-FFF2-40B4-BE49-F238E27FC236}">
                    <a16:creationId xmlns:a16="http://schemas.microsoft.com/office/drawing/2014/main" id="{7C0715C9-9CFC-0018-F690-9A44A0CE8821}"/>
                  </a:ext>
                </a:extLst>
              </p:cNvPr>
              <p:cNvSpPr/>
              <p:nvPr/>
            </p:nvSpPr>
            <p:spPr>
              <a:xfrm>
                <a:off x="0" y="0"/>
                <a:ext cx="1053853" cy="22415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Rectangle 17">
                <a:extLst>
                  <a:ext uri="{FF2B5EF4-FFF2-40B4-BE49-F238E27FC236}">
                    <a16:creationId xmlns:a16="http://schemas.microsoft.com/office/drawing/2014/main" id="{9B7CF6B2-6CE7-9C33-5CC1-60DDAC6C0031}"/>
                  </a:ext>
                </a:extLst>
              </p:cNvPr>
              <p:cNvSpPr/>
              <p:nvPr/>
            </p:nvSpPr>
            <p:spPr>
              <a:xfrm rot="5400000">
                <a:off x="1036570" y="0"/>
                <a:ext cx="1053853" cy="10538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3" name="Group 12">
              <a:extLst>
                <a:ext uri="{FF2B5EF4-FFF2-40B4-BE49-F238E27FC236}">
                  <a16:creationId xmlns:a16="http://schemas.microsoft.com/office/drawing/2014/main" id="{E314F4C3-BCC4-764F-0A4E-DE262BD085AB}"/>
                </a:ext>
              </a:extLst>
            </p:cNvPr>
            <p:cNvGrpSpPr/>
            <p:nvPr/>
          </p:nvGrpSpPr>
          <p:grpSpPr>
            <a:xfrm flipH="1" flipV="1">
              <a:off x="1072246" y="1059210"/>
              <a:ext cx="2089310" cy="1988840"/>
              <a:chOff x="1580778" y="1268760"/>
              <a:chExt cx="2089310" cy="1988840"/>
            </a:xfrm>
          </p:grpSpPr>
          <p:sp>
            <p:nvSpPr>
              <p:cNvPr id="15" name="Rectangle 14">
                <a:extLst>
                  <a:ext uri="{FF2B5EF4-FFF2-40B4-BE49-F238E27FC236}">
                    <a16:creationId xmlns:a16="http://schemas.microsoft.com/office/drawing/2014/main" id="{642A8922-42F2-F176-AD2B-092167954ADC}"/>
                  </a:ext>
                </a:extLst>
              </p:cNvPr>
              <p:cNvSpPr/>
              <p:nvPr/>
            </p:nvSpPr>
            <p:spPr>
              <a:xfrm>
                <a:off x="1580778" y="1268760"/>
                <a:ext cx="1053852" cy="198884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524684C6-F3B0-39BD-A018-C8D0E6A39901}"/>
                  </a:ext>
                </a:extLst>
              </p:cNvPr>
              <p:cNvSpPr/>
              <p:nvPr/>
            </p:nvSpPr>
            <p:spPr>
              <a:xfrm rot="5400000">
                <a:off x="2739910" y="1145869"/>
                <a:ext cx="806504" cy="1053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pic>
        <p:nvPicPr>
          <p:cNvPr id="21" name="Picture 20" descr="BEll company logo">
            <a:extLst>
              <a:ext uri="{FF2B5EF4-FFF2-40B4-BE49-F238E27FC236}">
                <a16:creationId xmlns:a16="http://schemas.microsoft.com/office/drawing/2014/main" id="{EF8ADDEB-0E73-D453-4CCD-8763112787BB}"/>
              </a:ext>
            </a:extLst>
          </p:cNvPr>
          <p:cNvPicPr>
            <a:picLocks noChangeAspect="1"/>
          </p:cNvPicPr>
          <p:nvPr/>
        </p:nvPicPr>
        <p:blipFill>
          <a:blip r:embed="rId2"/>
          <a:stretch>
            <a:fillRect/>
          </a:stretch>
        </p:blipFill>
        <p:spPr>
          <a:xfrm>
            <a:off x="11009239" y="635555"/>
            <a:ext cx="514513" cy="400050"/>
          </a:xfrm>
          <a:prstGeom prst="rect">
            <a:avLst/>
          </a:prstGeom>
        </p:spPr>
      </p:pic>
      <p:sp>
        <p:nvSpPr>
          <p:cNvPr id="23" name="TextBox 22">
            <a:extLst>
              <a:ext uri="{FF2B5EF4-FFF2-40B4-BE49-F238E27FC236}">
                <a16:creationId xmlns:a16="http://schemas.microsoft.com/office/drawing/2014/main" id="{F2829543-1990-D690-C93D-F3D58FFED5C7}"/>
              </a:ext>
            </a:extLst>
          </p:cNvPr>
          <p:cNvSpPr txBox="1"/>
          <p:nvPr/>
        </p:nvSpPr>
        <p:spPr>
          <a:xfrm>
            <a:off x="1057050" y="311670"/>
            <a:ext cx="5508757" cy="486287"/>
          </a:xfrm>
          <a:prstGeom prst="rect">
            <a:avLst/>
          </a:prstGeom>
          <a:noFill/>
        </p:spPr>
        <p:txBody>
          <a:bodyPr wrap="square" lIns="91440" tIns="45720" rIns="91440" bIns="45720" rtlCol="0" anchor="t">
            <a:spAutoFit/>
          </a:bodyPr>
          <a:lstStyle/>
          <a:p>
            <a:pPr defTabSz="1218621">
              <a:lnSpc>
                <a:spcPct val="80000"/>
              </a:lnSpc>
            </a:pPr>
            <a:r>
              <a:rPr lang="en-IN" sz="3200" b="1" dirty="0">
                <a:solidFill>
                  <a:schemeClr val="tx2"/>
                </a:solidFill>
                <a:latin typeface="Arial"/>
                <a:ea typeface="Open Sans"/>
                <a:cs typeface="Segoe UI"/>
              </a:rPr>
              <a:t>Roles and </a:t>
            </a:r>
            <a:r>
              <a:rPr lang="en-IN" sz="3200" b="1">
                <a:solidFill>
                  <a:schemeClr val="tx2"/>
                </a:solidFill>
                <a:latin typeface="Arial"/>
                <a:ea typeface="Open Sans"/>
                <a:cs typeface="Segoe UI"/>
              </a:rPr>
              <a:t>Responsibilities</a:t>
            </a:r>
            <a:endParaRPr lang="en-IN" sz="3200" b="1" dirty="0">
              <a:solidFill>
                <a:schemeClr val="tx2"/>
              </a:solidFill>
              <a:latin typeface="Arial"/>
              <a:ea typeface="Open Sans"/>
              <a:cs typeface="Segoe UI"/>
            </a:endParaRPr>
          </a:p>
        </p:txBody>
      </p:sp>
    </p:spTree>
    <p:extLst>
      <p:ext uri="{BB962C8B-B14F-4D97-AF65-F5344CB8AC3E}">
        <p14:creationId xmlns:p14="http://schemas.microsoft.com/office/powerpoint/2010/main" val="306618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8000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SlideModel - Recruitment Strategy">
      <a:dk1>
        <a:sysClr val="windowText" lastClr="000000"/>
      </a:dk1>
      <a:lt1>
        <a:sysClr val="window" lastClr="FFFFFF"/>
      </a:lt1>
      <a:dk2>
        <a:srgbClr val="1F497D"/>
      </a:dk2>
      <a:lt2>
        <a:srgbClr val="EEECE1"/>
      </a:lt2>
      <a:accent1>
        <a:srgbClr val="03256C"/>
      </a:accent1>
      <a:accent2>
        <a:srgbClr val="2541B2"/>
      </a:accent2>
      <a:accent3>
        <a:srgbClr val="1B98E0"/>
      </a:accent3>
      <a:accent4>
        <a:srgbClr val="02C39A"/>
      </a:accent4>
      <a:accent5>
        <a:srgbClr val="00A896"/>
      </a:accent5>
      <a:accent6>
        <a:srgbClr val="E8F1F2"/>
      </a:accent6>
      <a:hlink>
        <a:srgbClr val="0000FF"/>
      </a:hlink>
      <a:folHlink>
        <a:srgbClr val="800080"/>
      </a:folHlink>
    </a:clrScheme>
    <a:fontScheme name="SlideModel Templat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ubjectSME xmlns="7ba3e2e8-712f-4d6c-93e2-24f39b94b423">
      <UserInfo>
        <DisplayName/>
        <AccountId xsi:nil="true"/>
        <AccountType/>
      </UserInfo>
    </SubjectS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5730E4CC956B24597371C541F0D3DA8" ma:contentTypeVersion="10" ma:contentTypeDescription="Create a new document." ma:contentTypeScope="" ma:versionID="9d7a760782673f088331d407c3b50e25">
  <xsd:schema xmlns:xsd="http://www.w3.org/2001/XMLSchema" xmlns:xs="http://www.w3.org/2001/XMLSchema" xmlns:p="http://schemas.microsoft.com/office/2006/metadata/properties" xmlns:ns2="7ba3e2e8-712f-4d6c-93e2-24f39b94b423" targetNamespace="http://schemas.microsoft.com/office/2006/metadata/properties" ma:root="true" ma:fieldsID="cd7a03733dc6ebbfdd75a43ff8bf0f86" ns2:_="">
    <xsd:import namespace="7ba3e2e8-712f-4d6c-93e2-24f39b94b42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SubjectS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a3e2e8-712f-4d6c-93e2-24f39b94b4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SubjectSME" ma:index="16" nillable="true" ma:displayName="Subject SME" ma:description="Key SME who can offer insight to the topic and content" ma:format="Dropdown" ma:list="UserInfo" ma:SharePointGroup="0" ma:internalName="SubjectS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CBEF28-FB0F-4732-B6A6-ACEFCE8D282B}">
  <ds:schemaRefs>
    <ds:schemaRef ds:uri="http://schemas.microsoft.com/sharepoint/v3/contenttype/forms"/>
  </ds:schemaRefs>
</ds:datastoreItem>
</file>

<file path=customXml/itemProps2.xml><?xml version="1.0" encoding="utf-8"?>
<ds:datastoreItem xmlns:ds="http://schemas.openxmlformats.org/officeDocument/2006/customXml" ds:itemID="{68D70172-69E1-4241-8C90-4A84D89EB255}">
  <ds:schemaRefs>
    <ds:schemaRef ds:uri="http://schemas.microsoft.com/office/2006/documentManagement/types"/>
    <ds:schemaRef ds:uri="http://purl.org/dc/terms/"/>
    <ds:schemaRef ds:uri="7ba3e2e8-712f-4d6c-93e2-24f39b94b423"/>
    <ds:schemaRef ds:uri="http://purl.org/dc/dcmitype/"/>
    <ds:schemaRef ds:uri="http://www.w3.org/XML/1998/namespace"/>
    <ds:schemaRef ds:uri="http://purl.org/dc/elements/1.1/"/>
    <ds:schemaRef ds:uri="http://schemas.openxmlformats.org/package/2006/metadata/core-properties"/>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3D60C4F5-4F2C-4F6C-85F2-B0529C88B690}">
  <ds:schemaRefs>
    <ds:schemaRef ds:uri="7ba3e2e8-712f-4d6c-93e2-24f39b94b42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7865</TotalTime>
  <Words>7548</Words>
  <Application>Microsoft Office PowerPoint</Application>
  <PresentationFormat>Custom</PresentationFormat>
  <Paragraphs>1087</Paragraphs>
  <Slides>34</Slides>
  <Notes>2</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50" baseType="lpstr">
      <vt:lpstr>Aptos Narrow</vt:lpstr>
      <vt:lpstr>Arial</vt:lpstr>
      <vt:lpstr>Arial,Sans-Serif</vt:lpstr>
      <vt:lpstr>Calibri</vt:lpstr>
      <vt:lpstr>Open Sans</vt:lpstr>
      <vt:lpstr>Poppins</vt:lpstr>
      <vt:lpstr>Poppins SemiBold</vt:lpstr>
      <vt:lpstr>Segoe UI</vt:lpstr>
      <vt:lpstr>Segoe UI.</vt:lpstr>
      <vt:lpstr>Times New Roman</vt:lpstr>
      <vt:lpstr>Tw Cen MT</vt:lpstr>
      <vt:lpstr>Tw Cen MT Condensed</vt:lpstr>
      <vt:lpstr>Wingdings</vt:lpstr>
      <vt:lpstr>Wingdings,Sans-Serif</vt:lpstr>
      <vt:lpstr>Office Theme</vt:lpstr>
      <vt:lpstr>Worksheet</vt:lpstr>
      <vt:lpstr> Test Strategy</vt:lpstr>
      <vt:lpstr>PowerPoint Presentation</vt:lpstr>
      <vt:lpstr>PowerPoint Presentation</vt:lpstr>
      <vt:lpstr>Play to Win SS Ph1 - Dashboard &amp; Warranty</vt:lpstr>
      <vt:lpstr>PTW SS Ph 1: Dashboard &amp; Warranty – Overview </vt:lpstr>
      <vt:lpstr>Testing Objectives</vt:lpstr>
      <vt:lpstr>Testing Cycles In/Out of Scope (our team) </vt:lpstr>
      <vt:lpstr>Test Cycles</vt:lpstr>
      <vt:lpstr>Test Cycles</vt:lpstr>
      <vt:lpstr>Test Cycles</vt:lpstr>
      <vt:lpstr>Risks, Assumptions and Dependencies</vt:lpstr>
      <vt:lpstr>Testing Support</vt:lpstr>
      <vt:lpstr>Testing Support</vt:lpstr>
      <vt:lpstr>Testing Support</vt:lpstr>
      <vt:lpstr>RACI</vt:lpstr>
      <vt:lpstr>Roles and Responsibilities</vt:lpstr>
      <vt:lpstr>Roles and Responsibilities</vt:lpstr>
      <vt:lpstr>PowerPoint Presentation</vt:lpstr>
      <vt:lpstr>PowerPoint Presentation</vt:lpstr>
      <vt:lpstr>Features In/Out of Scope</vt:lpstr>
      <vt:lpstr>Features In/Out of 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Management – Cadence, Tools &amp; Dashboards</vt:lpstr>
      <vt:lpstr> Test Strategy</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Recruitment Strategy PowerPoint Template</dc:title>
  <dc:creator>Julian</dc:creator>
  <cp:lastModifiedBy>Vishal Kumar, Vishal Kumar</cp:lastModifiedBy>
  <cp:revision>1491</cp:revision>
  <dcterms:created xsi:type="dcterms:W3CDTF">2013-09-12T13:05:01Z</dcterms:created>
  <dcterms:modified xsi:type="dcterms:W3CDTF">2026-01-22T18:04:30Z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0x01010085730E4CC956B24597371C541F0D3DA8</vt:lpwstr>
  </property>
</Properties>
</file>